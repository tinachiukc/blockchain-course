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5e93f29b943c6" /><Relationship Type="http://schemas.openxmlformats.org/officeDocument/2006/relationships/extended-properties" Target="/docProps/app.xml" Id="R8e53664b4c01496f" /><Relationship Type="http://schemas.openxmlformats.org/officeDocument/2006/relationships/officeDocument" Target="/ppt/presentation.xml" Id="Rc74ac7ccb795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c391db1c445c2"/>
  </p:sldMasterIdLst>
  <p:notesMasterIdLst>
    <p:notesMasterId xmlns:r="http://schemas.openxmlformats.org/officeDocument/2006/relationships" r:id="Red68cdaf299a4129"/>
  </p:notesMasterIdLst>
  <p:sldIdLst>
    <p:sldId xmlns:r="http://schemas.openxmlformats.org/officeDocument/2006/relationships" id="256" r:id="R778190f7bf0a4f77"/>
    <p:sldId xmlns:r="http://schemas.openxmlformats.org/officeDocument/2006/relationships" id="257" r:id="Ra1bcdf2a96514b36"/>
    <p:sldId xmlns:r="http://schemas.openxmlformats.org/officeDocument/2006/relationships" id="258" r:id="R091230fd607f4e75"/>
    <p:sldId xmlns:r="http://schemas.openxmlformats.org/officeDocument/2006/relationships" id="259" r:id="R3b6b56f9cac34408"/>
    <p:sldId xmlns:r="http://schemas.openxmlformats.org/officeDocument/2006/relationships" id="260" r:id="R448c4aef38954479"/>
    <p:sldId xmlns:r="http://schemas.openxmlformats.org/officeDocument/2006/relationships" id="261" r:id="Rd92cdeee1ebd4e99"/>
    <p:sldId xmlns:r="http://schemas.openxmlformats.org/officeDocument/2006/relationships" id="262" r:id="Redc574e4b5714755"/>
    <p:sldId xmlns:r="http://schemas.openxmlformats.org/officeDocument/2006/relationships" id="263" r:id="R0cd12fe4a1c743f8"/>
    <p:sldId xmlns:r="http://schemas.openxmlformats.org/officeDocument/2006/relationships" id="264" r:id="R7e983492013e4ff7"/>
    <p:sldId xmlns:r="http://schemas.openxmlformats.org/officeDocument/2006/relationships" id="265" r:id="R8325f04019514291"/>
    <p:sldId xmlns:r="http://schemas.openxmlformats.org/officeDocument/2006/relationships" id="266" r:id="R19bcfdd6828b4f37"/>
    <p:sldId xmlns:r="http://schemas.openxmlformats.org/officeDocument/2006/relationships" id="267" r:id="R552d059f058b4cbd"/>
    <p:sldId xmlns:r="http://schemas.openxmlformats.org/officeDocument/2006/relationships" id="268" r:id="R5994bd00e53a4779"/>
    <p:sldId xmlns:r="http://schemas.openxmlformats.org/officeDocument/2006/relationships" id="269" r:id="R8eee81bb3c794bd0"/>
    <p:sldId xmlns:r="http://schemas.openxmlformats.org/officeDocument/2006/relationships" id="270" r:id="R569fd4d3479a48e0"/>
    <p:sldId xmlns:r="http://schemas.openxmlformats.org/officeDocument/2006/relationships" id="271" r:id="R2bd168f96f0d4f0a"/>
    <p:sldId xmlns:r="http://schemas.openxmlformats.org/officeDocument/2006/relationships" id="272" r:id="Ra974a908554d40a1"/>
    <p:sldId xmlns:r="http://schemas.openxmlformats.org/officeDocument/2006/relationships" id="273" r:id="R4adb001ed1f540ac"/>
    <p:sldId xmlns:r="http://schemas.openxmlformats.org/officeDocument/2006/relationships" id="274" r:id="R4b1d40e2d62f440e"/>
    <p:sldId xmlns:r="http://schemas.openxmlformats.org/officeDocument/2006/relationships" id="275" r:id="R1987fcbd083f471d"/>
    <p:sldId xmlns:r="http://schemas.openxmlformats.org/officeDocument/2006/relationships" id="276" r:id="R08241d8ba4454773"/>
    <p:sldId xmlns:r="http://schemas.openxmlformats.org/officeDocument/2006/relationships" id="277" r:id="R3d696f1098784468"/>
    <p:sldId xmlns:r="http://schemas.openxmlformats.org/officeDocument/2006/relationships" id="278" r:id="Rb28920f2dafe42b7"/>
    <p:sldId xmlns:r="http://schemas.openxmlformats.org/officeDocument/2006/relationships" id="279" r:id="R05588e6e57194ce2"/>
    <p:sldId xmlns:r="http://schemas.openxmlformats.org/officeDocument/2006/relationships" id="280" r:id="R4179b18c388345a4"/>
    <p:sldId xmlns:r="http://schemas.openxmlformats.org/officeDocument/2006/relationships" id="281" r:id="R1fa3a7ac5d9d4335"/>
    <p:sldId xmlns:r="http://schemas.openxmlformats.org/officeDocument/2006/relationships" id="282" r:id="R27b0a6aa93174b0d"/>
    <p:sldId xmlns:r="http://schemas.openxmlformats.org/officeDocument/2006/relationships" id="283" r:id="R6ea286b415da49ce"/>
    <p:sldId xmlns:r="http://schemas.openxmlformats.org/officeDocument/2006/relationships" id="284" r:id="R279b0efc616f4917"/>
    <p:sldId xmlns:r="http://schemas.openxmlformats.org/officeDocument/2006/relationships" id="285" r:id="Ra197a25b7707438b"/>
    <p:sldId xmlns:r="http://schemas.openxmlformats.org/officeDocument/2006/relationships" id="286" r:id="R5b6ca2c88f6a4d6b"/>
    <p:sldId xmlns:r="http://schemas.openxmlformats.org/officeDocument/2006/relationships" id="287" r:id="R06a2ed13d58b444f"/>
    <p:sldId xmlns:r="http://schemas.openxmlformats.org/officeDocument/2006/relationships" id="288" r:id="Re532bd0171404d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5c6ab4b415403a" /><Relationship Type="http://schemas.openxmlformats.org/officeDocument/2006/relationships/slideMaster" Target="/ppt/slideMasters/slideMaster1.xml" Id="Rd7ac391db1c445c2" /><Relationship Type="http://schemas.openxmlformats.org/officeDocument/2006/relationships/notesMaster" Target="/ppt/notesMasters/notesMaster1.xml" Id="Red68cdaf299a4129" /><Relationship Type="http://schemas.openxmlformats.org/officeDocument/2006/relationships/presProps" Target="/ppt/presProps.xml" Id="R463d82a80c3140b4" /><Relationship Type="http://schemas.openxmlformats.org/officeDocument/2006/relationships/tableStyles" Target="/ppt/tableStyles.xml" Id="Re5cc60c695b64874" /><Relationship Type="http://schemas.openxmlformats.org/officeDocument/2006/relationships/slide" Target="/ppt/slides/slide1.xml" Id="R778190f7bf0a4f77" /><Relationship Type="http://schemas.openxmlformats.org/officeDocument/2006/relationships/slide" Target="/ppt/slides/slide2.xml" Id="Ra1bcdf2a96514b36" /><Relationship Type="http://schemas.openxmlformats.org/officeDocument/2006/relationships/slide" Target="/ppt/slides/slide3.xml" Id="R091230fd607f4e75" /><Relationship Type="http://schemas.openxmlformats.org/officeDocument/2006/relationships/slide" Target="/ppt/slides/slide4.xml" Id="R3b6b56f9cac34408" /><Relationship Type="http://schemas.openxmlformats.org/officeDocument/2006/relationships/slide" Target="/ppt/slides/slide5.xml" Id="R448c4aef38954479" /><Relationship Type="http://schemas.openxmlformats.org/officeDocument/2006/relationships/slide" Target="/ppt/slides/slide6.xml" Id="Rd92cdeee1ebd4e99" /><Relationship Type="http://schemas.openxmlformats.org/officeDocument/2006/relationships/slide" Target="/ppt/slides/slide7.xml" Id="Redc574e4b5714755" /><Relationship Type="http://schemas.openxmlformats.org/officeDocument/2006/relationships/slide" Target="/ppt/slides/slide8.xml" Id="R0cd12fe4a1c743f8" /><Relationship Type="http://schemas.openxmlformats.org/officeDocument/2006/relationships/slide" Target="/ppt/slides/slide9.xml" Id="R7e983492013e4ff7" /><Relationship Type="http://schemas.openxmlformats.org/officeDocument/2006/relationships/slide" Target="/ppt/slides/slide10.xml" Id="R8325f04019514291" /><Relationship Type="http://schemas.openxmlformats.org/officeDocument/2006/relationships/slide" Target="/ppt/slides/slide11.xml" Id="R19bcfdd6828b4f37" /><Relationship Type="http://schemas.openxmlformats.org/officeDocument/2006/relationships/slide" Target="/ppt/slides/slide12.xml" Id="R552d059f058b4cbd" /><Relationship Type="http://schemas.openxmlformats.org/officeDocument/2006/relationships/slide" Target="/ppt/slides/slide13.xml" Id="R5994bd00e53a4779" /><Relationship Type="http://schemas.openxmlformats.org/officeDocument/2006/relationships/slide" Target="/ppt/slides/slide14.xml" Id="R8eee81bb3c794bd0" /><Relationship Type="http://schemas.openxmlformats.org/officeDocument/2006/relationships/slide" Target="/ppt/slides/slide15.xml" Id="R569fd4d3479a48e0" /><Relationship Type="http://schemas.openxmlformats.org/officeDocument/2006/relationships/slide" Target="/ppt/slides/slide16.xml" Id="R2bd168f96f0d4f0a" /><Relationship Type="http://schemas.openxmlformats.org/officeDocument/2006/relationships/slide" Target="/ppt/slides/slide17.xml" Id="Ra974a908554d40a1" /><Relationship Type="http://schemas.openxmlformats.org/officeDocument/2006/relationships/slide" Target="/ppt/slides/slide18.xml" Id="R4adb001ed1f540ac" /><Relationship Type="http://schemas.openxmlformats.org/officeDocument/2006/relationships/slide" Target="/ppt/slides/slide19.xml" Id="R4b1d40e2d62f440e" /><Relationship Type="http://schemas.openxmlformats.org/officeDocument/2006/relationships/slide" Target="/ppt/slides/slide20.xml" Id="R1987fcbd083f471d" /><Relationship Type="http://schemas.openxmlformats.org/officeDocument/2006/relationships/slide" Target="/ppt/slides/slide21.xml" Id="R08241d8ba4454773" /><Relationship Type="http://schemas.openxmlformats.org/officeDocument/2006/relationships/slide" Target="/ppt/slides/slide22.xml" Id="R3d696f1098784468" /><Relationship Type="http://schemas.openxmlformats.org/officeDocument/2006/relationships/slide" Target="/ppt/slides/slide23.xml" Id="Rb28920f2dafe42b7" /><Relationship Type="http://schemas.openxmlformats.org/officeDocument/2006/relationships/slide" Target="/ppt/slides/slide24.xml" Id="R05588e6e57194ce2" /><Relationship Type="http://schemas.openxmlformats.org/officeDocument/2006/relationships/slide" Target="/ppt/slides/slide25.xml" Id="R4179b18c388345a4" /><Relationship Type="http://schemas.openxmlformats.org/officeDocument/2006/relationships/slide" Target="/ppt/slides/slide26.xml" Id="R1fa3a7ac5d9d4335" /><Relationship Type="http://schemas.openxmlformats.org/officeDocument/2006/relationships/slide" Target="/ppt/slides/slide27.xml" Id="R27b0a6aa93174b0d" /><Relationship Type="http://schemas.openxmlformats.org/officeDocument/2006/relationships/slide" Target="/ppt/slides/slide28.xml" Id="R6ea286b415da49ce" /><Relationship Type="http://schemas.openxmlformats.org/officeDocument/2006/relationships/slide" Target="/ppt/slides/slide29.xml" Id="R279b0efc616f4917" /><Relationship Type="http://schemas.openxmlformats.org/officeDocument/2006/relationships/slide" Target="/ppt/slides/slide30.xml" Id="Ra197a25b7707438b" /><Relationship Type="http://schemas.openxmlformats.org/officeDocument/2006/relationships/slide" Target="/ppt/slides/slide31.xml" Id="R5b6ca2c88f6a4d6b" /><Relationship Type="http://schemas.openxmlformats.org/officeDocument/2006/relationships/slide" Target="/ppt/slides/slide32.xml" Id="R06a2ed13d58b444f" /><Relationship Type="http://schemas.openxmlformats.org/officeDocument/2006/relationships/slide" Target="/ppt/slides/slide33.xml" Id="Re532bd017140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3c13e1cf37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8c1fa2769e4c63" /><Relationship Type="http://schemas.openxmlformats.org/officeDocument/2006/relationships/notesMaster" Target="/ppt/notesMasters/notesMaster1.xml" Id="Rdbf4e19244ab40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dc9fd009ad4de2" /><Relationship Type="http://schemas.openxmlformats.org/officeDocument/2006/relationships/notesMaster" Target="/ppt/notesMasters/notesMaster1.xml" Id="R2bf25a6ba11a4b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060637ecc417b" /><Relationship Type="http://schemas.openxmlformats.org/officeDocument/2006/relationships/notesMaster" Target="/ppt/notesMasters/notesMaster1.xml" Id="R5fd69c35e5114a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08cc03e17f4f1c" /><Relationship Type="http://schemas.openxmlformats.org/officeDocument/2006/relationships/notesMaster" Target="/ppt/notesMasters/notesMaster1.xml" Id="Re84d2258af1447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5cd7d694a4563" /><Relationship Type="http://schemas.openxmlformats.org/officeDocument/2006/relationships/notesMaster" Target="/ppt/notesMasters/notesMaster1.xml" Id="Rb997b48552db47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a700e874334f3f" /><Relationship Type="http://schemas.openxmlformats.org/officeDocument/2006/relationships/notesMaster" Target="/ppt/notesMasters/notesMaster1.xml" Id="R7379167f1cc644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e743126728482f" /><Relationship Type="http://schemas.openxmlformats.org/officeDocument/2006/relationships/notesMaster" Target="/ppt/notesMasters/notesMaster1.xml" Id="R69e64a88592045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9dd78aadc74195" /><Relationship Type="http://schemas.openxmlformats.org/officeDocument/2006/relationships/notesMaster" Target="/ppt/notesMasters/notesMaster1.xml" Id="Raf2cd5cc493047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de20a0c86140e0" /><Relationship Type="http://schemas.openxmlformats.org/officeDocument/2006/relationships/notesMaster" Target="/ppt/notesMasters/notesMaster1.xml" Id="R8c7ad27d924b47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69e4f331224667" /><Relationship Type="http://schemas.openxmlformats.org/officeDocument/2006/relationships/notesMaster" Target="/ppt/notesMasters/notesMaster1.xml" Id="Rc8a4bed1f29e4f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0bde71c7624ab7" /><Relationship Type="http://schemas.openxmlformats.org/officeDocument/2006/relationships/notesMaster" Target="/ppt/notesMasters/notesMaster1.xml" Id="R6cf347c168cd4c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8f60d5050d4993" /><Relationship Type="http://schemas.openxmlformats.org/officeDocument/2006/relationships/notesMaster" Target="/ppt/notesMasters/notesMaster1.xml" Id="Rd5bf24657e9b4d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6e19a2446c4771" /><Relationship Type="http://schemas.openxmlformats.org/officeDocument/2006/relationships/notesMaster" Target="/ppt/notesMasters/notesMaster1.xml" Id="Rce92e5a5bc0a42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dcb91b35a647b7" /><Relationship Type="http://schemas.openxmlformats.org/officeDocument/2006/relationships/notesMaster" Target="/ppt/notesMasters/notesMaster1.xml" Id="R1d023a18a4ca4d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34c262b5df4a1e" /><Relationship Type="http://schemas.openxmlformats.org/officeDocument/2006/relationships/notesMaster" Target="/ppt/notesMasters/notesMaster1.xml" Id="R29cb7f41256840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3c7beae3fe48d8" /><Relationship Type="http://schemas.openxmlformats.org/officeDocument/2006/relationships/notesMaster" Target="/ppt/notesMasters/notesMaster1.xml" Id="Rf82b2591984d4d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07153fcf794cbc" /><Relationship Type="http://schemas.openxmlformats.org/officeDocument/2006/relationships/notesMaster" Target="/ppt/notesMasters/notesMaster1.xml" Id="R1e8a82015cfc4c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f9ee83e2434032" /><Relationship Type="http://schemas.openxmlformats.org/officeDocument/2006/relationships/notesMaster" Target="/ppt/notesMasters/notesMaster1.xml" Id="R2190d17a5bbc41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91c4c7c12e4ffd" /><Relationship Type="http://schemas.openxmlformats.org/officeDocument/2006/relationships/notesMaster" Target="/ppt/notesMasters/notesMaster1.xml" Id="R9bdb58f572d54b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09fcbbd71f445b" /><Relationship Type="http://schemas.openxmlformats.org/officeDocument/2006/relationships/notesMaster" Target="/ppt/notesMasters/notesMaster1.xml" Id="R03d98b7e8f7645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b0d7bb47da433a" /><Relationship Type="http://schemas.openxmlformats.org/officeDocument/2006/relationships/notesMaster" Target="/ppt/notesMasters/notesMaster1.xml" Id="Ra38f7e950bd74b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bc8a855d814c78" /><Relationship Type="http://schemas.openxmlformats.org/officeDocument/2006/relationships/notesMaster" Target="/ppt/notesMasters/notesMaster1.xml" Id="R4f85386d0c1846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760fcd9f0643a1" /><Relationship Type="http://schemas.openxmlformats.org/officeDocument/2006/relationships/notesMaster" Target="/ppt/notesMasters/notesMaster1.xml" Id="R41915938704f4a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17fb807f8b4648" /><Relationship Type="http://schemas.openxmlformats.org/officeDocument/2006/relationships/notesMaster" Target="/ppt/notesMasters/notesMaster1.xml" Id="R0de1fec994ed4f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3c291cb2d5f40ac" /><Relationship Type="http://schemas.openxmlformats.org/officeDocument/2006/relationships/notesMaster" Target="/ppt/notesMasters/notesMaster1.xml" Id="R0e03f3aef24f4b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6a3e658d014304" /><Relationship Type="http://schemas.openxmlformats.org/officeDocument/2006/relationships/notesMaster" Target="/ppt/notesMasters/notesMaster1.xml" Id="R57f4cf1460e840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c97cec9d2084626" /><Relationship Type="http://schemas.openxmlformats.org/officeDocument/2006/relationships/notesMaster" Target="/ppt/notesMasters/notesMaster1.xml" Id="R760efd4834bf43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b8a5f912874b14" /><Relationship Type="http://schemas.openxmlformats.org/officeDocument/2006/relationships/notesMaster" Target="/ppt/notesMasters/notesMaster1.xml" Id="R39999c45108744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44a2f5555249e8" /><Relationship Type="http://schemas.openxmlformats.org/officeDocument/2006/relationships/notesMaster" Target="/ppt/notesMasters/notesMaster1.xml" Id="R62142962d42e40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29d85002704c80" /><Relationship Type="http://schemas.openxmlformats.org/officeDocument/2006/relationships/notesMaster" Target="/ppt/notesMasters/notesMaster1.xml" Id="R464d754082ab48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8fa1a55fc68426c" /><Relationship Type="http://schemas.openxmlformats.org/officeDocument/2006/relationships/notesMaster" Target="/ppt/notesMasters/notesMaster1.xml" Id="R84cef0dc4aab41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f7a494bcb64a38" /><Relationship Type="http://schemas.openxmlformats.org/officeDocument/2006/relationships/notesMaster" Target="/ppt/notesMasters/notesMaster1.xml" Id="R973edc0dd38044f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1edc9f2d7044bb1" /><Relationship Type="http://schemas.openxmlformats.org/officeDocument/2006/relationships/notesMaster" Target="/ppt/notesMasters/notesMaster1.xml" Id="R101e50c3c3784c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保留舊教材交易所流程與兩套帳本的核心，用金融市場結構重新組織內容。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數位資產平台常把傳統金融中分散於券商、交易所、清算與保管的功能集中在一家公司。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OTC不等於完全沒有中介；做市商、經紀商與託管人常參與其中。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延續舊教材最重要的概念區分：成交不一定立即上鏈。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用戶畫面上的餘額通常是平台對客戶的負債，不是每筆都有獨立鏈上代幣。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流動性不能只看交易量；還要看價差、深度與市場壓力下的韌性。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Maker/Taker是流動性角色，不代表交易者身分固定。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低手續費平台不一定總交易成本較低。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大多數平台內成交只更新資料庫，因此速度與容量不受每筆鏈上確認限制。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保留舊教材四模組，將Web系統改稱客戶與業務系統，較符合非工程課程。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充錯鏈或漏填Memo可能無法自動入帳，救援也不保證成功。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這一步通常不產生區塊鏈Transaction。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提幣延遲可能來自合規審查、錢包流動性、網路壅塞或系統異常。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冷熱錢包比例不是越冷越好，而是安全與流動性的營運取捨。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對帳是持續控制，不是只做一次公開快照。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需搭配財務報告、獨立確信、資產隔離與監理。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更新舊教材：DEX已是成熟市場元件，但去中心化程度要逐層分析。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https://docs.uniswap.org/concepts/protocol/swaps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高年化收益可能同時包含代幣補貼與高風險，不是固定利息。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混合與聚合服務會同時承擔兩邊風險，需拆解每個環節。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平台安全不等於區塊鏈安全；多數損失發生在中介與使用流程。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IOSCO建議涵蓋資產隔離、保管揭露、對帳與獨立確信。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https://www.iosco.org/library/pubdocs/pdf/IOSCOPD734.pdf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需揭露角色、建立資訊隔離並監控不公平交易。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透明鏈上紀錄不會自動防止操縱，仍需市場監控與執法。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使用者錯誤通常不可逆，安全習慣比預測幣價更重要。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FATF 2025年更新顯示各地持續推進Travel Rule，但實施仍不一致。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https://www.fatf-gafi.org/content/dam/fatf-gafi/recommendations/2025-Targeted-Upate-VA-VASPs.pdf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截至2026年9月，部分條文尚待施行。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https://law.fsc.gov.tw/LawContent.aspx?id=GL004301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再檢查財務揭露、費用、上架政策與個資使用；不以排名網站取代查證。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要求學生比較完整付款流程，而非只比較平台手續費。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6cfc074b3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ab74f1f584b54" /><Relationship Type="http://schemas.openxmlformats.org/officeDocument/2006/relationships/slideLayout" Target="/ppt/slideLayouts/slideLayout1.xml" Id="Rbf0bf7bf442846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bf7bf442846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c9464cf24e15" /><Relationship Type="http://schemas.openxmlformats.org/officeDocument/2006/relationships/notesSlide" Target="/ppt/notesSlides/notesSlide1.xml" Id="R85089f1de37140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e741e46f3489c" /><Relationship Type="http://schemas.openxmlformats.org/officeDocument/2006/relationships/notesSlide" Target="/ppt/notesSlides/notesSlide2.xml" Id="R87850ed0ea41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fd435bd164941" /><Relationship Type="http://schemas.openxmlformats.org/officeDocument/2006/relationships/notesSlide" Target="/ppt/notesSlides/notesSlide3.xml" Id="Rff7c6ba1417a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c9a12c6cf43fa" /><Relationship Type="http://schemas.openxmlformats.org/officeDocument/2006/relationships/notesSlide" Target="/ppt/notesSlides/notesSlide4.xml" Id="R378891c1eb7641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4fa37668e4a2e" /><Relationship Type="http://schemas.openxmlformats.org/officeDocument/2006/relationships/notesSlide" Target="/ppt/notesSlides/notesSlide5.xml" Id="Rd6ec67ae8f44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ac3eefeeb4d0b" /><Relationship Type="http://schemas.openxmlformats.org/officeDocument/2006/relationships/notesSlide" Target="/ppt/notesSlides/notesSlide6.xml" Id="R1d96f06227c145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5712e7d4c4132" /><Relationship Type="http://schemas.openxmlformats.org/officeDocument/2006/relationships/notesSlide" Target="/ppt/notesSlides/notesSlide7.xml" Id="R90f2b183437e4d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4c40d1bde4f15" /><Relationship Type="http://schemas.openxmlformats.org/officeDocument/2006/relationships/notesSlide" Target="/ppt/notesSlides/notesSlide8.xml" Id="R8369ab099a9744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59666f99b4efa" /><Relationship Type="http://schemas.openxmlformats.org/officeDocument/2006/relationships/notesSlide" Target="/ppt/notesSlides/notesSlide9.xml" Id="R1d706fa143074f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96cdaab004dae" /><Relationship Type="http://schemas.openxmlformats.org/officeDocument/2006/relationships/notesSlide" Target="/ppt/notesSlides/notesSlide10.xml" Id="Rbcac9bc4dcff40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629e3600b4b42" /><Relationship Type="http://schemas.openxmlformats.org/officeDocument/2006/relationships/notesSlide" Target="/ppt/notesSlides/notesSlide11.xml" Id="R05468cde2c254e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6ba63c5e14d06" /><Relationship Type="http://schemas.openxmlformats.org/officeDocument/2006/relationships/notesSlide" Target="/ppt/notesSlides/notesSlide12.xml" Id="Rd497a6360f4044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15cbd507b4866" /><Relationship Type="http://schemas.openxmlformats.org/officeDocument/2006/relationships/notesSlide" Target="/ppt/notesSlides/notesSlide13.xml" Id="Rc6813f4e0c644a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1f4c2a3604810" /><Relationship Type="http://schemas.openxmlformats.org/officeDocument/2006/relationships/notesSlide" Target="/ppt/notesSlides/notesSlide14.xml" Id="R88a86d3781fd46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3b2d439024fde" /><Relationship Type="http://schemas.openxmlformats.org/officeDocument/2006/relationships/notesSlide" Target="/ppt/notesSlides/notesSlide15.xml" Id="Rc64e4c12bdcd41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dbf2baf794010" /><Relationship Type="http://schemas.openxmlformats.org/officeDocument/2006/relationships/notesSlide" Target="/ppt/notesSlides/notesSlide16.xml" Id="R156e3913ffaa4d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fca3891e441cc" /><Relationship Type="http://schemas.openxmlformats.org/officeDocument/2006/relationships/notesSlide" Target="/ppt/notesSlides/notesSlide17.xml" Id="R3217776350c441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cd7fedf194935" /><Relationship Type="http://schemas.openxmlformats.org/officeDocument/2006/relationships/notesSlide" Target="/ppt/notesSlides/notesSlide18.xml" Id="R5a7d116c18774a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44890ca254450" /><Relationship Type="http://schemas.openxmlformats.org/officeDocument/2006/relationships/notesSlide" Target="/ppt/notesSlides/notesSlide19.xml" Id="R6bb89f1e502c48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9e78b35f441dd" /><Relationship Type="http://schemas.openxmlformats.org/officeDocument/2006/relationships/notesSlide" Target="/ppt/notesSlides/notesSlide20.xml" Id="R19ae1e537b3042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44aeefd4e4963" /><Relationship Type="http://schemas.openxmlformats.org/officeDocument/2006/relationships/notesSlide" Target="/ppt/notesSlides/notesSlide21.xml" Id="R09f683994b7c40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000297bca4380" /><Relationship Type="http://schemas.openxmlformats.org/officeDocument/2006/relationships/notesSlide" Target="/ppt/notesSlides/notesSlide22.xml" Id="Re2fba6fce03447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774bb192f4cfa" /><Relationship Type="http://schemas.openxmlformats.org/officeDocument/2006/relationships/notesSlide" Target="/ppt/notesSlides/notesSlide23.xml" Id="R5d21a3041dca42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3acea7b6e412e" /><Relationship Type="http://schemas.openxmlformats.org/officeDocument/2006/relationships/notesSlide" Target="/ppt/notesSlides/notesSlide24.xml" Id="R45b9009b1b9c473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34410be3457f" /><Relationship Type="http://schemas.openxmlformats.org/officeDocument/2006/relationships/notesSlide" Target="/ppt/notesSlides/notesSlide25.xml" Id="R4faee8e02be743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9711419134a88" /><Relationship Type="http://schemas.openxmlformats.org/officeDocument/2006/relationships/notesSlide" Target="/ppt/notesSlides/notesSlide26.xml" Id="R18e0b493fae443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fbea075f34db7" /><Relationship Type="http://schemas.openxmlformats.org/officeDocument/2006/relationships/notesSlide" Target="/ppt/notesSlides/notesSlide27.xml" Id="Rdf618e5052c143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4149c738c446b" /><Relationship Type="http://schemas.openxmlformats.org/officeDocument/2006/relationships/notesSlide" Target="/ppt/notesSlides/notesSlide28.xml" Id="Re9ea7d2928164f4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23ae800f045b5" /><Relationship Type="http://schemas.openxmlformats.org/officeDocument/2006/relationships/notesSlide" Target="/ppt/notesSlides/notesSlide29.xml" Id="Ra2037244ed9149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4aae4f5664f5a" /><Relationship Type="http://schemas.openxmlformats.org/officeDocument/2006/relationships/notesSlide" Target="/ppt/notesSlides/notesSlide30.xml" Id="Reef5ea8f500946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ab8fdc3f7489d" /><Relationship Type="http://schemas.openxmlformats.org/officeDocument/2006/relationships/notesSlide" Target="/ppt/notesSlides/notesSlide31.xml" Id="R8f4ed704fbe7490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c9ccb462d476e" /><Relationship Type="http://schemas.openxmlformats.org/officeDocument/2006/relationships/notesSlide" Target="/ppt/notesSlides/notesSlide32.xml" Id="Rc8f497db5ef244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28bb650c6403a" /><Relationship Type="http://schemas.openxmlformats.org/officeDocument/2006/relationships/notesSlide" Target="/ppt/notesSlides/notesSlide33.xml" Id="R514097cbaab94e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A316D-01EF-4592-BB72-BAFDDCF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245CD-EBD5-42B4-947F-EE7790C6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763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11</a:t>
            </a:r>
          </a:p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數位資產交易平台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0206C-F2EC-41AB-8BB7-0195BF9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從撮合、帳本到託管與監理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D950F-94DF-4FB8-933A-DF3695C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第一節：平台不只是買賣介面，而是金融基礎設施</a:t>
            </a:r>
          </a:p>
        </p:txBody>
      </p:sp>
    </p:spTree>
    <p:extLst>
      <p:ext uri="{BB962C8B-B14F-4D97-AF65-F5344CB8AC3E}">
        <p14:creationId xmlns:p14="http://schemas.microsoft.com/office/powerpoint/2010/main" val="1208164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01DEC-4877-4CAE-A3F0-E8EE307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E224F-9E2B-4725-BF3D-6002F8E8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交易平台同時提供市場、帳戶與資產服務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8F195-7317-4751-8556-A752FADC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DB68-71C4-4E19-A95C-BA7E467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46080-5CE1-4651-AC38-6FFEEAE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65585-7750-4EF3-8BC6-781007B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F5A4D-F8AE-449A-9993-D4EE4458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市場功能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44CCB-B195-4DA5-98F9-0113F84F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集中買賣意願與價格發現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03AC5-193A-45CA-86AB-1A7888D4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BCE23-D2BC-4AD7-A8FC-73AD3B7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帳戶功能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05476-1B50-4A6D-9C66-AA75039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KYC、餘額與交易紀錄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79E6A-E1C4-4AE3-A7EF-F7E341F0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FC2DC-2218-4C89-94DC-77F2DB5B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資產功能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2F487-035F-4D7C-8412-74445DAB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充幣、提幣、託管與對帳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7B8D0-0E7D-4A4F-B1B1-10F3CD9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52FF5-368B-4CF7-A361-EEA4702D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風控功能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49E10-A29A-43EE-8DC0-1CE48D38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異常偵測、限額與市場管理</a:t>
            </a:r>
          </a:p>
        </p:txBody>
      </p:sp>
    </p:spTree>
    <p:extLst>
      <p:ext uri="{BB962C8B-B14F-4D97-AF65-F5344CB8AC3E}">
        <p14:creationId xmlns:p14="http://schemas.microsoft.com/office/powerpoint/2010/main" val="1103948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EB1A-81E0-4BB1-B0FE-4469290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FE8D1-149B-4E26-84F9-D8B508E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數位資產的場內與OTC差別在成交機制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C5F2D-AE2F-4164-B900-808D8D4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1D7D0-27F3-4147-9DD0-58C1084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C9E2A-C5DD-4035-9EFD-C96953A6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A2249-9C87-4B65-86A3-49E53FD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B7ED1-17D3-4D06-A9B1-D95741A9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D732D-E1CC-408A-AAD6-3CF279B9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集中市場／平台交易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FCA99-2139-4D17-AF07-F4129154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多方訂單集中競價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價格與成交較標準化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適合小額與高頻交易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平台制定上架與交易規則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10680-C4AB-4191-B937-E093B572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OTC場外交易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E33A7-88AC-43B1-BFEE-46C23210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交易雙方或經紀商協商報價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適合大額、客製條件與降低市場衝擊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資訊較不公開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對手方與結算安排更重要</a:t>
            </a:r>
          </a:p>
        </p:txBody>
      </p:sp>
    </p:spTree>
    <p:extLst>
      <p:ext uri="{BB962C8B-B14F-4D97-AF65-F5344CB8AC3E}">
        <p14:creationId xmlns:p14="http://schemas.microsoft.com/office/powerpoint/2010/main" val="610690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2C7EB-90F4-4E7B-83BC-B24A79FB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EFB96-1736-468E-9D0E-C3EB111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Trade與Transaction是兩種不同的交易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EFBFB-7946-4DAC-939E-F8A0604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D4D90-35A2-4736-A935-13CE14BD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E71F2-7D6C-4B79-A4EF-7DA58E04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4F0D4-79A6-4EEF-8D31-E151858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CD82A-0666-4779-A355-9A54E3C3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4E7B3-351B-46B8-85FC-018A33BD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Trade：市場成交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D667-F919-414A-8FA8-B5BE1123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買單與賣單撮合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交換兩種資產的經濟權益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通常先記在平台內部帳本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可在毫秒內大量發生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FCCA4-FFAD-4432-B4B3-0050054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Transaction：鏈上移轉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12252-D100-41D3-B79F-BA8D6BEF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以地址與交易雜湊識別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由區塊鏈節點驗證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通常發生於充幣或提幣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確認時間依網路而異</a:t>
            </a:r>
          </a:p>
        </p:txBody>
      </p:sp>
    </p:spTree>
    <p:extLst>
      <p:ext uri="{BB962C8B-B14F-4D97-AF65-F5344CB8AC3E}">
        <p14:creationId xmlns:p14="http://schemas.microsoft.com/office/powerpoint/2010/main" val="1400692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2C5EE-9521-4FFA-B115-AAE35607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45F84-4B8B-4407-BCD7-B85E4894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CEX依賴平台帳本與區塊鏈帳本同步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EBFD8-302E-4AF6-B3C7-1D31410D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7A46-41C0-4F33-9C21-203E4E9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C14CD-A157-4160-BB13-B6A20C1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11A80-0714-4318-861E-B4D098CD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EA166-D895-48D2-A657-0B1B2D7D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平台總帳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9FC90-3DE0-4D28-992F-F8951BBB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記錄每位客戶餘額與成交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4F0FC-3971-4C3A-875D-35248E14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647F9-4186-45A2-A296-0F13244E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鏈上錢包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3C20C-559B-4099-9D7D-7774E829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記錄平台控制地址的資產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B1F5E-0D4F-4B45-90CF-62E8D1A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01AF8-2DB2-428C-B971-F14CBF1C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法幣帳戶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5C5D8-18E0-4710-B5F7-561CADF6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記錄銀行存款與入出金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1F12F-3367-4FDA-8B44-466AAD5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71FD5-68E6-44F6-8573-83AD145E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對帳控制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2B714-C92E-4C97-A35E-0DCF998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確認客戶負債與實際資產一致</a:t>
            </a:r>
          </a:p>
        </p:txBody>
      </p:sp>
    </p:spTree>
    <p:extLst>
      <p:ext uri="{BB962C8B-B14F-4D97-AF65-F5344CB8AC3E}">
        <p14:creationId xmlns:p14="http://schemas.microsoft.com/office/powerpoint/2010/main" val="1074706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A2F35-FD27-4AC4-8C61-44AEF4B6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9C92A-28A0-45AF-9A2E-6FC4D88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訂單簿把買賣意願依價格與時間排列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89EAC-955D-4999-A1E4-D5F8F934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87C91-8058-4117-86CE-F4F830C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A5DC6-AD94-4C54-AFC2-D50F7BFF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F8B62-367A-4F22-A59C-E5A2750F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81F62-121F-4C5B-AECA-FFC93BA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買價Bid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AE5C8-57FD-4E48-A6C5-175AA50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買方願意支付的最高價格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BB058-E477-4871-8A3D-5EDD4132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976BF-4069-448B-A9ED-2549D7FF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賣價Ask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CD669-16FD-490D-973D-0C066CC5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賣方願意接受的最低價格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9BA87-E9F4-46D1-B44B-F3901169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049CF-870C-4F56-BFDB-B006A6DE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價差Spread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D821F-C192-4023-88F4-D70F8B31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最佳賣價減最佳買價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99D77-4297-420E-B9FD-0663242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A2D1E-2671-49B3-905E-AF425712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深度Depth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BEF86-1251-4A1E-8315-9205231E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各價位可成交的數量</a:t>
            </a:r>
          </a:p>
        </p:txBody>
      </p:sp>
    </p:spTree>
    <p:extLst>
      <p:ext uri="{BB962C8B-B14F-4D97-AF65-F5344CB8AC3E}">
        <p14:creationId xmlns:p14="http://schemas.microsoft.com/office/powerpoint/2010/main" val="14693044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65F91-29C0-4B79-8355-8C2CAF42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BCCAC-93CD-43E6-B697-68ACC2E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限價單控制價格，市價單優先成交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19FCD-F867-488C-AA9D-B6667A16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F4AA3-1C06-4358-94E5-5CAFAFF5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1A6E-FE9F-4CCD-B961-FF48E1F0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AAFE6-B8BB-4237-AE1F-6736B84D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4EB44-9F8A-49B1-B11B-C655D3AD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2C4DD-3FBA-4E82-9A67-8532C01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限價單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6EC59-5179-46BC-81E8-17AAB0E9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指定可接受價格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不保證立即成交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提供訂單簿流動性時可能是Maker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適合控制成交成本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7774E-A92A-4E8B-9F33-C644E18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市價單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786A6-64C0-4CCD-85EB-C11F12B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依當下最優價格逐筆成交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速度快但價格不確定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大量下單可能吃掉多層深度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常支付Taker費用</a:t>
            </a:r>
          </a:p>
        </p:txBody>
      </p:sp>
    </p:spTree>
    <p:extLst>
      <p:ext uri="{BB962C8B-B14F-4D97-AF65-F5344CB8AC3E}">
        <p14:creationId xmlns:p14="http://schemas.microsoft.com/office/powerpoint/2010/main" val="107983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50F9F-8337-4C1F-A8E0-7A379336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54503-F87A-47BB-981B-62CD8F0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滑價是預期價格與實際成交均價的落差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E8632-6B6E-4A53-8824-44C6B71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B112B-6A88-4FF2-8BEF-0EA052F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43138-B6DD-4C38-B8AB-1139B57B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3131C-E972-4F33-87C9-E1E6DD4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A0AF7-5819-4EAE-8DB7-07848039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47DBB-641B-4798-A7C5-2F649BA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造成滑價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232DC-15E8-436C-84CD-A4C4FB1A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訂單過大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市場深度不足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行情快速變動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跨多個價位成交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73FA6-A0E1-441C-9E75-152413C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78D97-431E-4F0B-B420-38058A86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拆分訂單或使用限價單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觀察深度而非只看最後成交價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比較總成本含手續費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極端市場避免過度槓桿</a:t>
            </a:r>
          </a:p>
        </p:txBody>
      </p:sp>
    </p:spTree>
    <p:extLst>
      <p:ext uri="{BB962C8B-B14F-4D97-AF65-F5344CB8AC3E}">
        <p14:creationId xmlns:p14="http://schemas.microsoft.com/office/powerpoint/2010/main" val="1709799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4E84D-8095-4156-B579-B811D1E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54791-0061-4BE6-BB2F-799850A4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一筆CEX交易要經過下單、撮合、記帳與提領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BD702-A97F-43F2-946C-E29523DA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9329-C878-42FE-A46E-88CB0932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0851B-62DC-4548-8739-B6386475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1E418-C8A3-4614-8235-833DA10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8FDD8-D33E-46F1-BC78-E49AA7C1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1 下單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73FBB-6883-4110-9DBE-30152FC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檢查餘額並凍結可用資產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1C5B5-B9FB-45A2-87F7-1247D817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0EC2C-B6DE-46C5-ACEF-4529D192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 撮合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5CE30-B83C-484C-995F-2B445289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依規則配對買賣訂單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61215-F494-40EE-80DA-AD195AD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B1660-AF19-48F2-A4E0-697E4CE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 內部結算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866A0-53A5-40B9-ABE4-AEC2BEA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更新雙方平台帳戶餘額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1DB4D-82C4-470C-B87F-6B0B8890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E12E3-DCBE-4BF3-995D-CD9F3DE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 鏈上提領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64BF2-51FF-4149-BA5F-9FA7753D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通過風控後由平台錢包發送</a:t>
            </a:r>
          </a:p>
        </p:txBody>
      </p:sp>
    </p:spTree>
    <p:extLst>
      <p:ext uri="{BB962C8B-B14F-4D97-AF65-F5344CB8AC3E}">
        <p14:creationId xmlns:p14="http://schemas.microsoft.com/office/powerpoint/2010/main" val="932379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405E5-6E05-4739-8C23-25826C9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第一節｜市場結構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59279-B3D3-4822-B1BA-D3028FB1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CEX的便利來自集中，風險也來自集中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1444B-EC93-4B52-872D-B29F1610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E500E-E8BE-4348-BCF5-9F5640D9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11｜第一節｜市場結構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A1885-780E-43A5-9DF7-AA58321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E85D-CB01-4F52-9BB5-0A5BDD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同一平台可能同時扮演多個角色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2868-F044-475E-A0ED-D6A2B7E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經紀介面、交易場所、做市關係、保管、借貸與上架管理若集中，效率很高，利益衝突也更複雜。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C7D6F-DECC-4229-95BA-AC9BCC5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D592A-6F8A-47BF-A25F-9D56E1D8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7388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判斷平台不能只看使用者體驗；還要看資產隔離、治理、財務透明、交易監控與破產處理。</a:t>
            </a:r>
          </a:p>
        </p:txBody>
      </p:sp>
    </p:spTree>
    <p:extLst>
      <p:ext uri="{BB962C8B-B14F-4D97-AF65-F5344CB8AC3E}">
        <p14:creationId xmlns:p14="http://schemas.microsoft.com/office/powerpoint/2010/main" val="16653711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6A2AC-C5B0-4BCB-8BC7-DD2DC19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5A83D-6CCD-4FE8-9511-A570A565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080E1-C9DA-46A0-AB39-0EEB383C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4C01-1C81-46E3-B105-FD2E7F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F7E73-C1F9-4742-B9F9-CC3E18BF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45742-5024-43B5-939D-A22FCCF8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4E635-B20C-49E8-8A0A-536AF0EC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1C53C-F1D7-4B00-9276-DD60459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696C9-6C64-4C94-952B-ADEBA230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050DC-143F-4396-8764-3F0BF361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39498-BE0A-4C22-9CE3-CC4E3CD4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平台內撮合成交稱為？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6DC4A-7BDF-470F-8046-167E90E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Transaction　B Trade　C Block　D Mining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2175A-26CF-4079-A2BF-CC3E1F8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0A795-F878-42AA-B2CE-A5A7502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答案：B。通常先記內部帳本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86E45-2576-4BD1-A958-0D328583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最佳賣價減最佳買價是？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40041-FFA6-40D1-984F-C004B9EC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深度　B 價差　C 槓桿　D 區塊費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F805B-0801-424D-8F1B-1001DDE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1C287-B51C-4C8F-8156-0D0ED65A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答案：B。Spread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58CDA-7EE0-4BF4-B911-1AA2141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市價單主要優點？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DF5CF-FE1B-4241-A151-64CE63CC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保證價格　B 優先成交　C 免手續費　D 無滑價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3871B-7B0B-442B-BE30-BAE365EB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44FB5-2E7D-45FD-BC18-DCD97559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答案：B。速度快但價格不確定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D18A7-9537-4002-82DF-0F7783CE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CEX用戶餘額通常記在哪裡？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27F15-AF84-4526-912E-90D833E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每筆都主鏈　B 平台內部總帳　C 紙本　D 礦工錢包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48889-4737-4E04-9294-1D05524B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4DD8A-9E86-4790-90FA-53C2269E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答案：B。是平台對客戶的紀錄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F45BE-77B3-487A-A0E6-1A84D17A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流動性應看？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62D3F-7420-4B65-96A0-3CF5B3A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只看交易量　B 價差、深度與韌性　C 只看幣價　D Logo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44DBE-E79F-47EC-BE30-DE56B5F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26A36-2BFB-42BB-A5CE-803AEF01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答案：B。多面向衡量</a:t>
            </a:r>
          </a:p>
        </p:txBody>
      </p:sp>
    </p:spTree>
    <p:extLst>
      <p:ext uri="{BB962C8B-B14F-4D97-AF65-F5344CB8AC3E}">
        <p14:creationId xmlns:p14="http://schemas.microsoft.com/office/powerpoint/2010/main" val="4695285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6CFB9-ECF3-4F65-80A5-1B9FA7E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89F0A-241C-4FAD-81C3-1196BC1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交易平台後端可分成四個核心系統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3A85-E8F3-49C0-B512-55F5B8BD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B7A31-DEB0-496F-8508-093F2292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394AC-7650-4154-9678-7F5F740B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26EF3-723B-402A-B13F-271AE9F8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C907F-D296-42DE-AD94-50EA3831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客戶與業務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62780-891B-4716-AA92-0D9AB1AD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登入、KYC、行情與下單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811C1-493E-41E9-B19C-C9E390A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1BE3A-E6A5-450F-9C59-5FA087DB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撮合引擎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24043-86EE-4629-8E0A-3999B969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訂單簿、成交與市場資料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C86C8-5BE7-4151-80A9-19A483B4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0F1D9-04F8-47FB-A18B-BE074007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1A339-516D-49AF-BC2D-B9A19B45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法幣、錢包、總帳與對帳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01051-CDC3-418D-8541-5B3F8C7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0C7BE-A192-4B32-985B-2193F7A1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營運風控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C939C-ABDC-4EA0-A6D4-C9373D3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上架、監控、審核與稽核軌跡</a:t>
            </a:r>
          </a:p>
        </p:txBody>
      </p:sp>
    </p:spTree>
    <p:extLst>
      <p:ext uri="{BB962C8B-B14F-4D97-AF65-F5344CB8AC3E}">
        <p14:creationId xmlns:p14="http://schemas.microsoft.com/office/powerpoint/2010/main" val="4965457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DCC58-6C8A-47B3-8CF6-17D4CDF4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877E7-9036-4701-A70F-0973C6EE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充幣是鏈上資產轉入平台控制地址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12B83-8731-4436-8CAC-DD3591DA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24342-9D9B-4A81-B512-0FDCA648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5478A-88CF-45C3-A079-9BC9E2B0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CAEC0-A790-4C41-A3A9-9AC3964B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D09B4-7D4C-4A59-ACF5-0671C4A9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取得地址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81068-61B1-443C-AA11-2CE416F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選對資產、網路與Memo/Tag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87FA9-48C5-4F8D-B7DB-5026043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B65DF-F15F-48D8-951B-29D1CC34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鏈上發送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B03C4-5566-4803-9645-8DFD30AF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外部錢包建立Transaction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3F0E0-A854-4E25-AF47-E33AE975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42F2B-9B84-410F-ABAB-34F58456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等待確認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E6997-9FA2-41E6-97C4-3C2FF03B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平台依風險設定確認數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5BBFD-FC8A-430B-A8BA-A9F42BBE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822CC-F66E-4BFB-9AEA-1E7B6499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平台入帳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2BBC0-AF2F-443B-9653-46417122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掃描鏈上紀錄後增加內部餘額</a:t>
            </a:r>
          </a:p>
        </p:txBody>
      </p:sp>
    </p:spTree>
    <p:extLst>
      <p:ext uri="{BB962C8B-B14F-4D97-AF65-F5344CB8AC3E}">
        <p14:creationId xmlns:p14="http://schemas.microsoft.com/office/powerpoint/2010/main" val="1302857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170-F7FB-45C8-9C50-C3CFE60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A6380-1E97-4583-8E35-31036EF4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平台內交易先凍結資產，再由撮合引擎更新餘額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D5CB7-3D10-46C4-8A13-FB933F73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06F9E-C6A1-4314-B40D-DAB8596B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31B7A-F57B-4D61-BDC2-F06E6947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F6C8B-9432-4860-9703-05922B8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D1C9C-5FBF-4945-9AA4-54175DB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B4BDF-D383-48A4-8E8E-F2339D0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成交前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FA24C-7450-4E4A-9FD5-5A9859D1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驗證帳戶與訂單條件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凍結掛單所需資產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訂單進入指定交易對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依價格與時間排序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C2AF-6C77-496D-8054-91EC2895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成交後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83D7D-738C-411B-ADCC-3992755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產生Trade與手續費紀錄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扣減賣方資產、增加計價資產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買方取得標的資產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更新行情與可用餘額</a:t>
            </a:r>
          </a:p>
        </p:txBody>
      </p:sp>
    </p:spTree>
    <p:extLst>
      <p:ext uri="{BB962C8B-B14F-4D97-AF65-F5344CB8AC3E}">
        <p14:creationId xmlns:p14="http://schemas.microsoft.com/office/powerpoint/2010/main" val="564105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4FCF2-5406-4184-8651-848AD06D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BDF87-429B-4616-A925-0B1C881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提幣把平台內部負債轉為鏈上資產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32C16-CCCA-4AD8-951A-4DC684EE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FB18F-EDD4-4298-AF80-CDEC4FF5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DC4B9-FFEA-4E66-A413-883774D6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738EE-7D7F-4C3B-B22B-36546AD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D67D6-C9B0-4D0A-A9AE-2C23D0F6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提出申請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60DD8-50AE-4812-82CD-3B468CC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填入地址、網路與數量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63B3D-7F3A-45A5-827D-7371B0EB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68D0E-7BC5-4E56-8AF7-AAFED9BB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風控審查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A0020-8EF7-4B1C-8A0D-CCF9538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檢查身分、異常與旅行規則資料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17538-99BE-470A-BAC9-418A190C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2414D-F3F7-4C05-A9AE-98AB7D9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錢包簽署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63674-7242-445C-B1EC-81CCDDF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熱錢包或多方流程建立交易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78340-9900-4B0C-84D3-D195ECE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2EEED-9F1B-4B79-B6E4-3788C671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E10DA-678C-4AED-B491-AA33782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提供TxID並更新提領狀態</a:t>
            </a:r>
          </a:p>
        </p:txBody>
      </p:sp>
    </p:spTree>
    <p:extLst>
      <p:ext uri="{BB962C8B-B14F-4D97-AF65-F5344CB8AC3E}">
        <p14:creationId xmlns:p14="http://schemas.microsoft.com/office/powerpoint/2010/main" val="10204070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86F28-E634-4E17-A7FA-AEF0932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60429-3969-478F-8D74-AC4F1A5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熱錢包提供流動性，冷錢包降低線上攻擊面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332FD-15EF-4008-A56C-F370444F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B6F9F-4644-4E91-8D6C-B1111CF0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C130C-48C7-455C-8E49-DCBA792E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E3230-57EB-4609-AD2C-687D421B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A5678-CA96-42CA-B7C6-A711FED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673BA-9F37-41EA-B77D-48C6FF37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熱錢包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6CC42-ED02-4AC1-BD58-9AB8BD28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連線並支援日常充提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自動化程度高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便利但較易遭網路攻擊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需設定限額與即時監控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CE487-F8D8-4B90-A05D-BD1B83B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冷錢包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799B9-ED9F-4574-8085-3B1D0BE6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私鑰離線或嚴格隔離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適合保管大部分儲備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提領速度較慢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需多人授權與備援程序</a:t>
            </a:r>
          </a:p>
        </p:txBody>
      </p:sp>
    </p:spTree>
    <p:extLst>
      <p:ext uri="{BB962C8B-B14F-4D97-AF65-F5344CB8AC3E}">
        <p14:creationId xmlns:p14="http://schemas.microsoft.com/office/powerpoint/2010/main" val="4493766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E71FA-DAD0-469D-924C-3A5BFABA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DFD33-FEE3-43EA-B6EE-A497E5D5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資產對帳要證明平台資產足以支持客戶負債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F3E6D-0FB4-47ED-8DD9-940DE8A3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4DEE7-1F89-4AA6-A839-8BCCF64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8C225-FAC0-496C-BB94-2E3985AD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FD123-99E9-47BD-A123-DDD52885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32612-2F98-4D80-8924-518FF7A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內部總帳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12B72-BDA5-4DDD-8FBE-2B20CD26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所有客戶餘額與平台自有資產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14128-D4D5-4982-A2E4-436BA767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D9364-3EA4-45BE-8857-27CA4D98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鏈上資產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B0C39-4949-46BD-AE8E-37B27877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平台實際控制的各鏈地址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955B5-BE3F-4DD3-956B-EBF77537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56D55-2F43-4173-96EB-A19D1FDE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法幣資金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35BA1-6261-4D8E-B07D-A61F1C0A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銀行專戶、信託或履約保障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16E6B-519A-4C07-8D5E-55DC1645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B456B-16FD-4F49-BB28-0AF35AF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差異調查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F7714-F324-43B2-9B34-3BF41B84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未入帳充幣、待處理提幣與費用</a:t>
            </a:r>
          </a:p>
        </p:txBody>
      </p:sp>
    </p:spTree>
    <p:extLst>
      <p:ext uri="{BB962C8B-B14F-4D97-AF65-F5344CB8AC3E}">
        <p14:creationId xmlns:p14="http://schemas.microsoft.com/office/powerpoint/2010/main" val="13138808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C56FC-0BBE-4125-BD24-1D48135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52E46-62FD-4144-8580-F952165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Proof of Reserves有用，但不能單獨證明平台健全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BA155-9BB9-4805-B494-7ECB477D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CA882-220C-417C-95EF-68444773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E7AAC-2E0F-47D4-95B2-340096C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FB4FD-C24B-4D32-A480-91F8F06D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A94ED-F1D9-40A5-B80E-A0C6037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C2C54-3628-496D-BBA8-10880116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可以協助觀察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627A-FBAE-4AB8-9C47-4915BD5A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特定時點控制哪些鏈上資產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客戶餘額是否被納入負債集合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平台是否允許部分驗證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8B5AB-7063-4E0E-943B-5B421C0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無法完整回答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A3B07-D70A-4A47-8381-836436B6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是否還有未揭露負債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資產是否被借出、質押或重複承諾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關係人交易與流動性缺口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破產時客戶法律順位</a:t>
            </a:r>
          </a:p>
        </p:txBody>
      </p:sp>
    </p:spTree>
    <p:extLst>
      <p:ext uri="{BB962C8B-B14F-4D97-AF65-F5344CB8AC3E}">
        <p14:creationId xmlns:p14="http://schemas.microsoft.com/office/powerpoint/2010/main" val="18894042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8347F-D2E8-493D-B756-234FEC05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6FA45-D2EF-448D-8C56-FA529261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DEX以智能合約讓用戶從自託管錢包交換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E7800-F908-4995-BD7E-10563812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216B0-635D-4C5A-BF75-5A9E7761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C5C51-D8EC-4DA8-B0D1-5A6D3D4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65E66-6D8F-4AC2-BE61-6D0C9283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86B43-4AA7-4155-94DD-A93C326B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DBDFC-EC29-431E-9B65-01395A08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典型AMM流程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8E37D-6B57-4047-B0BF-3EC0A5A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使用者連接錢包並授權代幣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與流動性池交換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價格依池中資產與公式變動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結果直接在鏈上結算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E2FA5-FC33-443A-A5B2-3455C53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並非完全無中介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74102-4305-40F6-BD8D-CFF4006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前端網站與RPC可能集中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預言機、治理與管理金鑰仍有角色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跨鏈橋與穩定幣也帶來外部依賴</a:t>
            </a:r>
          </a:p>
        </p:txBody>
      </p:sp>
    </p:spTree>
    <p:extLst>
      <p:ext uri="{BB962C8B-B14F-4D97-AF65-F5344CB8AC3E}">
        <p14:creationId xmlns:p14="http://schemas.microsoft.com/office/powerpoint/2010/main" val="1818225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02F92-B018-46DC-9D97-F0210637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62857-9608-4780-9EDF-A7C15E61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流動性提供者賺費用，也承擔價格與合約風險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3AC08-39E5-4912-8660-CEFDAF5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DAB84-1CF9-4BF5-A028-8C670A2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05EE5-B92D-48C3-B55D-EE4BB53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7066D-0D73-4DCD-BD05-44C1D16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A750-9BEE-47EB-BDC2-B8CC53C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交易費收入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CD908-62DE-4109-BA5A-FE61EDA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依提供流動性與交易活動取得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EC060-5BA6-462A-A4D7-552F30B5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4B3B8-DD6D-4029-BF14-32BBF930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無常損失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5905C-A11C-4965-AFEC-3355CF1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相對單純持幣可能少賺或多損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EA377-52F2-4101-946B-995F31B0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2E5EF-5B11-407C-9E75-1DD28AFB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價格區間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9AB14-E6BD-4FD9-8424-5BD3C0B4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集中流動性需主動管理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6EA77-2D44-4E10-8B09-436BFAE7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4BE6C-626D-47E7-8EE2-70F5184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2C20A-DA33-4EFF-8CB1-3FDF4C25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漏洞、治理與代幣本身可能失效</a:t>
            </a:r>
          </a:p>
        </p:txBody>
      </p:sp>
    </p:spTree>
    <p:extLst>
      <p:ext uri="{BB962C8B-B14F-4D97-AF65-F5344CB8AC3E}">
        <p14:creationId xmlns:p14="http://schemas.microsoft.com/office/powerpoint/2010/main" val="12382268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7D319-61EF-4CEB-9557-0DFAF44C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第二節｜營運流程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ED04-13DE-48B6-97BE-00657D0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CEX與DEX的風險位置不同，不是誰絕對較安全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485F0-B40A-432F-9342-8B728C00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B94EF-ECF9-4951-B27E-63D85143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11｜第二節｜營運流程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21294-9BF0-472A-8D00-49AC77CA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77EFE-DFC5-4C17-B9E0-9796FC9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82901-A98F-4409-BCCE-E99F34B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CEA75-4001-4378-8D7E-4A4B4E9E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信任平台保管、總帳與風控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3327D-EF93-46AE-8049-909CC68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BABE6-425A-4A53-8B51-FC5EB5F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CA4AB-A0BF-40AC-A8A2-5B12445A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信任合約、錢包操作與鏈上流動性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8172A-B42D-4C9A-9B58-8E275D1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6A62B-2316-40E9-8457-C65D544B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CEX優勢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00A7C-F3B4-4F48-85E5-78934C9E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法幣入口、速度、客服與訂單工具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2EF96-504E-4E71-96D9-0CB8545C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B9CC8-2D28-4BF1-AC57-DF7CEFB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DEX優勢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EAD89-F42D-4D09-B7AD-7AE5FC0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自託管、透明結算與開放接取</a:t>
            </a:r>
          </a:p>
        </p:txBody>
      </p:sp>
    </p:spTree>
    <p:extLst>
      <p:ext uri="{BB962C8B-B14F-4D97-AF65-F5344CB8AC3E}">
        <p14:creationId xmlns:p14="http://schemas.microsoft.com/office/powerpoint/2010/main" val="17575023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72662-2E1B-4448-ADCE-8E6CEDDB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9CD1F-2387-4056-8C59-2C3B9DEB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AA1EE-E475-4172-9523-A5C8CEE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A6BA-46FE-441F-8730-6A313E7B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8915E-51EB-4FB7-A60F-17582E1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A97FF-25C3-4BA8-BDC5-BEE4E16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EB641-B75E-4AC0-BBD8-A443F54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D6140-DB21-4C9F-B490-1D9527FA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87AB0-AE76-40CD-96D5-C2564B04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96F43-6055-4624-982A-8FF8E22D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A6663-CD65-48FE-9A4A-245DF3F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充幣最後何時增加平台餘額？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45FBB-BE8E-44E8-B22F-DE5C5B39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建立地址就算　B 平台偵測足夠鏈上確認後　C 下單後　D 登入後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94B27-E2E6-450A-9C5D-1427B961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72E98-F1E7-4D15-9498-F03F492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答案：B。鏈上確認後內部入帳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4CD22-737A-41F8-9145-178258E6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平台內成交通常會立即上鏈嗎？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846AA-ACD9-41D1-8E3B-3FA68295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會　B 不會，只更新內部總帳　C 只有限價單會　D 只有BTC會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2F696-D78E-47C1-AAF3-38BA9B5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0B5BA-5C13-48DE-AF8C-86000F9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答案：B。提領才常產生鏈上交易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A9BEF-3B34-4856-80B2-67CA5CA2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熱錢包主要用途？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BB75F-D020-4D4A-8A0B-ED2C7CAF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長期完全離線　B 支援日常流動性　C 發行股票　D 管理訂單簿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95A2C-0E19-41DA-BA00-2C214D49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319F8-70E7-49F6-87ED-99CEFE10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答案：B。便利但攻擊面較大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5E4716-8EA1-4B16-98C3-6E9D6CA8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儲備證明能否證明所有負債？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91913-6285-4327-A8CF-7F5A9E0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一定能　B 不一定　C 只要有地址即可　D 不需財報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5F482-90D6-4BCD-8A10-446E2B0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2CC45-B03E-4BC6-B56E-E68FCAB0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答案：B。需搭配完整負債與確信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D0EC6-DADC-47E7-B2F1-A54D81AB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DEX典型結算方式？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B0174-4591-415A-B24E-AEC1B9B1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平台資料庫　B 智能合約鏈上結算　C 紙本　D 中央銀行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BA2B2-111B-41D1-B247-CA42DAC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D9AD5-3C14-4262-9C83-F552E05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答案：B。使用者直接與合約互動</a:t>
            </a:r>
          </a:p>
        </p:txBody>
      </p:sp>
    </p:spTree>
    <p:extLst>
      <p:ext uri="{BB962C8B-B14F-4D97-AF65-F5344CB8AC3E}">
        <p14:creationId xmlns:p14="http://schemas.microsoft.com/office/powerpoint/2010/main" val="1875017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08368-50DD-42B9-B68E-F0DC39BB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6B48-0CA5-4E89-822B-02EF962F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平台風險來自資產、營運、市場與法律四層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4FB43-0BC2-4543-87ED-75C099E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EC08A-D0D0-4F49-9778-D9497DA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C894C-C322-4625-9221-6E52B55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AB48A-13E0-4101-A912-D160916A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5E322-5CF3-465E-B693-8BAC52BD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資產風險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4C6CB-2381-401B-B92B-907D390A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上架代幣可能失效或脫鉤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24F59-FB8F-40B2-88EF-E4F0FB87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EC67F-FB0B-40DB-9E99-CA50068E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7E5CB-FEFC-40C8-A35C-629DD97C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資安、私鑰、系統與人員控制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996F5-2944-43BC-9F91-A425B676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8F908-A7DB-4616-881B-A0E040FE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DACA9-CE81-4427-B70A-DB607228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操縱、流動性、槓桿與清算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047BF-9DED-4AFF-AC83-F2526B5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D7748-4CF0-47A5-96FD-D947DB97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25B6E-A1F7-4696-B345-04479EA4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許可、客戶權利與跨境救濟</a:t>
            </a:r>
          </a:p>
        </p:txBody>
      </p:sp>
    </p:spTree>
    <p:extLst>
      <p:ext uri="{BB962C8B-B14F-4D97-AF65-F5344CB8AC3E}">
        <p14:creationId xmlns:p14="http://schemas.microsoft.com/office/powerpoint/2010/main" val="8846946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12D57-46CF-416B-8911-DC8CAFF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208C0-081B-4E94-A745-7A00290B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客戶資產隔離決定平台破產時的損失路徑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2324B-AB57-4BB5-98F8-712D670C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E72CC-B6A7-417D-A70A-A81DBA68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BC13D-7238-4B4B-A747-B4446F17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F8E0-EB68-4E4A-8A01-21AC50C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88679-196C-4B92-8986-C572920C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7B08B-8036-4E85-A99A-58702CC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真正隔離需要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25A20-F7C2-40D4-A984-0B67F1F7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法律上屬於客戶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與平台自有資產分開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不得任意挪用或再質押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定期對帳與獨立檢查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445A0-B79E-4B22-85DE-C17097D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只寫在網站不夠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7DCBF-B18F-4588-833C-C571F7D7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服務條款可能將資產變成對平台債權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鏈上地址可能混合保管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跨境破產順位難確定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應查監理與契約</a:t>
            </a:r>
          </a:p>
        </p:txBody>
      </p:sp>
    </p:spTree>
    <p:extLst>
      <p:ext uri="{BB962C8B-B14F-4D97-AF65-F5344CB8AC3E}">
        <p14:creationId xmlns:p14="http://schemas.microsoft.com/office/powerpoint/2010/main" val="3648344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62B2B-4DCF-4415-B3EB-3566C59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B2B1C-704E-4768-A19D-94651D75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平台兼營多種角色會產生利益衝突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262C9-4DE1-4855-8F79-A83423F3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5267B-7362-465B-84D2-5965507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73FA1-31E1-4BC5-984C-E7A28668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D2E5F-4393-4300-B1C7-BFDAD312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DF9B-8FD8-4C54-BAE5-BF4A2F9C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自營交易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4D1B8-312D-490B-BA29-CE8ADDE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平台可能與客戶成為對手方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87018-5AB6-42A8-9790-C8262E8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108A0-AD55-4D5A-83D0-03F1EF47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關係做市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C6782-7920-4275-9FD4-9275DA0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成交量與價格可能被影響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3211D-49DE-4EB3-A15B-63FD1B24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9C6C2-FB28-4FB1-951D-64A648F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上架收費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FD323-BD8F-4C9D-8461-E8C874DD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商業利益影響資產審查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3E016-1BA9-444E-A6C9-1B48F57C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FE0B0-27EB-4421-A526-4DC27941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借貸託管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B9D16-1575-41C6-8CC3-7E99DFF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客戶資產可能被再利用</a:t>
            </a:r>
          </a:p>
        </p:txBody>
      </p:sp>
    </p:spTree>
    <p:extLst>
      <p:ext uri="{BB962C8B-B14F-4D97-AF65-F5344CB8AC3E}">
        <p14:creationId xmlns:p14="http://schemas.microsoft.com/office/powerpoint/2010/main" val="12096782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9591F-E624-4BF5-822A-EFE852C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6EF36-42E3-4066-BDDD-4F4E61BA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市場操縱在薄弱市場更容易發生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07365-38D8-4C7D-B2FC-0482707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EF650-AC30-40FF-A259-C697E516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7D2E7-7FD2-4FD2-8281-45087590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09302-1269-4F98-9AE7-59323126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A182A-CC9F-458A-8CAA-5758893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洗售交易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89394-7D27-46E2-B633-03EE837D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同一控制人製造虛假成交量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0C9AD-B878-4E71-AFFC-DDCA99E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DDE04-84EB-4E2F-86B8-B259E4AB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拉高出貨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F11C0-CCE6-464F-8759-79D81319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以社群宣傳推高後倒貨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1ECC-CAA2-4BA3-BFF6-D2E5F0CB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8F4EC-7489-498C-BFAA-39D92390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搶先交易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CABDA-455D-4A1A-88A6-B6C3AD7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利用客戶訂單資訊先行成交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775F3-411E-436A-8229-6822E4C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49A8F-8507-400A-98B4-8DDC181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價格操縱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9F907-C6A0-4919-84EA-A9ADF08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影響指數、清算或抵押品價格</a:t>
            </a:r>
          </a:p>
        </p:txBody>
      </p:sp>
    </p:spTree>
    <p:extLst>
      <p:ext uri="{BB962C8B-B14F-4D97-AF65-F5344CB8AC3E}">
        <p14:creationId xmlns:p14="http://schemas.microsoft.com/office/powerpoint/2010/main" val="11229857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811A7-6865-40BF-AEE6-CD68B36D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5D91B-320A-4399-BC22-44F4968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帳號安全與鏈上操作需要兩套防線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F3B8-8BC2-476C-BA0F-DCE9E81A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E481E-EDF7-49CC-8D57-5887ADE1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4A1C0-2834-4FB5-9308-ACDD20F1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7E66C-1831-4E55-AC96-97A1170C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748CC-781B-4C5A-BD2D-E2B680D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A033C-1A4F-43BB-BE6F-6B0DF69A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平台帳號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7C206-A113-4B28-9F00-0C77ACFD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使用獨立密碼與抗釣魚MFA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設定提領白名單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警覺假客服與SIM交換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檢查登入與API金鑰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CB2F4-E49B-4AE1-929D-0128A29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40C29-698C-4D22-89AA-5E11747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核對網路、地址與Memo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先小額測試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不簽署看不懂的授權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助記詞永不交給他人</a:t>
            </a:r>
          </a:p>
        </p:txBody>
      </p:sp>
    </p:spTree>
    <p:extLst>
      <p:ext uri="{BB962C8B-B14F-4D97-AF65-F5344CB8AC3E}">
        <p14:creationId xmlns:p14="http://schemas.microsoft.com/office/powerpoint/2010/main" val="16536498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8091B-E54A-43AF-905B-7332EE1A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7FDFB-2CB7-4870-B970-AC46EF93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KYC、交易監控與Travel Rule構成AML流程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A972D-D4D9-4B64-AA18-2EE25E69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B0794-85FD-4FBF-930F-017C1FF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D39EB-B473-46E5-8B15-8CED89F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ACC40-32E7-46C6-86E2-9DCE420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BB9FC-D050-49BA-9C26-C46E400E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KYC/CDD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F6817-4AEA-4FDF-9609-A4A0A7FF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辨識客戶與實質受益人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A53B4-4608-4314-A888-9A58B32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808E8-3C10-43BF-8EDC-EF315D9D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交易監控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DFE63-C7B9-4477-B33C-95CC162E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分析異常金流與地址風險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ECFAA-ED0F-46FA-95FA-4BC956F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7515E-DAE2-4E87-8D60-85E49CD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Travel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0C4D4-AA3C-4389-8CF2-171F493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傳遞匯款人與受款人必要資料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838CB-2620-46C2-9352-22B4D4E8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F4B22-356F-4525-A361-571E4B39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申報與凍結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31EC3-706D-4B90-89A9-FF508DB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依法處理可疑或制裁交易</a:t>
            </a:r>
          </a:p>
        </p:txBody>
      </p:sp>
    </p:spTree>
    <p:extLst>
      <p:ext uri="{BB962C8B-B14F-4D97-AF65-F5344CB8AC3E}">
        <p14:creationId xmlns:p14="http://schemas.microsoft.com/office/powerpoint/2010/main" val="1530076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EA12E-5D42-4F4C-9A48-F5CE1F07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63120-E088-4F8B-B212-14B1772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臺灣2026年以專法管理虛擬資產服務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A179A-CEBC-4611-995D-EC1B02FD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45F2F-3B72-4357-9C5E-A6114F6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A849D-371D-40E1-89A3-CF989B3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4E335-E996-4EE0-BCC2-6CF5364F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A629B-69A6-4835-8246-FCE5A13F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94588-5CA2-41A5-A4F3-A452754D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平台義務方向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7C148-96E1-4459-BCF0-3B2EE057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取得相應業務許可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客戶資產與自有財產分離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建立內控、資安與營運持續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上架審查與異常交易偵測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9628C-C150-4242-AC73-86907D4D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客戶要知道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94871-E8EF-49F5-9F21-6A069E7D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公布不等於全部條文立即施行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提領可因疑似不法或異常而暫停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境外平台的法律保障不同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仍須確認最新子法與許可名單</a:t>
            </a:r>
          </a:p>
        </p:txBody>
      </p:sp>
    </p:spTree>
    <p:extLst>
      <p:ext uri="{BB962C8B-B14F-4D97-AF65-F5344CB8AC3E}">
        <p14:creationId xmlns:p14="http://schemas.microsoft.com/office/powerpoint/2010/main" val="5563309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0A6A0-5B55-4410-B3AA-8105601B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D5548-D4CE-4875-B7F4-C09CF3A6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選平台前要完成八項盡職調查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DF7F4-A54E-453A-9CBD-8031960C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0C6CA-F0CE-40F8-A147-A528DDC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D6D08-7AFA-4284-BEBC-EBDFFBC1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6A3A3-ACA4-4759-A7B8-94B27D7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D5F26-3FFB-403E-862B-5067C7D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監理與實體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CDD5E-E2F7-4AF8-8D55-0CE061BD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公司、管轄區、許可與負責人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182D9-F7FA-46C0-8AB9-54B8DFBD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8F238-7E75-4E2A-B9A6-65F5F485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B0C18-3EC2-4144-B9FD-43734A6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隔離、冷熱錢包、保險與對帳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1CF72-85DE-4488-BD63-94BD810E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3596F-A66E-4755-A8F5-3F56F2B4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市場品質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9D705-FD2E-4FC0-9FCC-37158DC5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價差、深度、做市與操縱控制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1DB56-B41A-4A74-BC8C-474D2A68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07FE5-AEF6-4FCB-9282-A509C4B3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退出能力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D489C-4352-4618-BC7F-5A30CC2E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提領規則、限額、停機與客服</a:t>
            </a:r>
          </a:p>
        </p:txBody>
      </p:sp>
    </p:spTree>
    <p:extLst>
      <p:ext uri="{BB962C8B-B14F-4D97-AF65-F5344CB8AC3E}">
        <p14:creationId xmlns:p14="http://schemas.microsoft.com/office/powerpoint/2010/main" val="589517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328A2-2AB5-4310-BEB4-24FC9466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2EE43-B0A0-4D83-B371-3AE70576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案例：企業要用平台買入穩定幣支付供應商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341B1-DD9C-49B9-997C-62462276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429F7-A317-4644-92CA-E6E557B6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CDB80-F17E-4225-A430-FF64B5FB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056CF-799A-4E3D-A341-3DFFE48A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4A13D-12E4-43D8-8669-4A0B928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5B07F-F3E1-4400-9B45-393F3A56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營運需求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DC738-6244-4E4E-99AB-CC65AEC2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法幣入金是否穩定？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市場深度與總成本如何？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誰保管、誰有提領權限？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供應商所在國是否合規？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8EC88-27CE-4EDB-9B1D-804CB281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E0CC9-B2D5-41EE-832E-F09C7AA2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選擇受監理服務商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設定多人授權與限額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測試鏈與地址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建立脫鉤、停提與平台失敗備援</a:t>
            </a:r>
          </a:p>
        </p:txBody>
      </p:sp>
    </p:spTree>
    <p:extLst>
      <p:ext uri="{BB962C8B-B14F-4D97-AF65-F5344CB8AC3E}">
        <p14:creationId xmlns:p14="http://schemas.microsoft.com/office/powerpoint/2010/main" val="72307355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C5B7F-16E8-41FA-B009-B84CAFA4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第三節｜風險監理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11820-8A70-4D47-9F41-238B8B5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本週結論：平台把便利集中，也把責任集中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5FF1D-49A4-4862-B62F-D0D89CD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E0D7F-198E-4CB5-98AF-9A8EC82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11｜第三節｜風險監理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4DD90-C5B8-469D-919D-C0C4E914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A573B-9B7A-4A2C-9A24-7B9A8C65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看懂平台的四張表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B653F-38ED-4172-AE85-DB6236CD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訂單簿顯示市場；內部總帳顯示客戶權益；鏈上地址顯示部分資產；財務與法律文件才說明完整責任。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2FD86-46E2-4B33-B391-B0F95EF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55FB9-D41B-4000-9B13-E80EC751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選擇CEX、DEX或OTC時，要比較交易成本、保管方式、流動性、治理與失敗救濟，而不是只看介面與幣種數量。</a:t>
            </a:r>
          </a:p>
        </p:txBody>
      </p:sp>
    </p:spTree>
    <p:extLst>
      <p:ext uri="{BB962C8B-B14F-4D97-AF65-F5344CB8AC3E}">
        <p14:creationId xmlns:p14="http://schemas.microsoft.com/office/powerpoint/2010/main" val="20281366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16939-9479-4556-A5FF-831A49E9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57020-60B9-4962-B613-BC808BE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9EF59-3360-4D53-A2B8-0AE6138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4EEB3-08AA-4110-86CC-CBD915D5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18176-B48D-417B-8597-DCF535C9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93E2C-B1F7-44F9-ACDC-DC725068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C299E-0517-40BF-864E-C728E8B8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DBAC4-EE8B-4F07-8591-3A40DCFF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1F899-9EC0-467C-8F18-4C0B1F59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11｜第三節｜快問快答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30F4C-2B56-4FF7-9BEA-FFA95468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711C7-32BA-4B9A-9BA7-8390C4E7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平台破產時最重要的制度？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85606-0949-4D99-87DB-4355D9F2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Logo　B 客戶資產法律隔離　C 幣種數　D App顏色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FBBAB-88E0-4B64-B0BE-BC41229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AA3E5-B2C7-4B72-9A41-E3E2657B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答案：B。影響客戶權利與順位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02F5A-C667-4653-889B-B85367D0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洗售交易的目的？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F070C-6746-49D7-ABC5-3572325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降低Gas　B 製造虛假成交量　C 保護私鑰　D 完成KYC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1F2BA-1845-4FA7-8B37-C3B4F3C7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99A8D-A579-41C7-9CD0-7FA2D085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答案：B。扭曲市場資訊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A986F-56D1-41F0-8BD7-8A3A8474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Travel Rule要求？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B443E-0248-45F5-A06B-507E39A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傳遞匯款雙方必要資料　B 公開私鑰　C 保證成交　D 免KYC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BD332-1906-49C0-A84F-9C5EF7E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01B4F-E8D3-4ED3-AC18-E5192B0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答案：A。支援AML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99A0A-83D5-47A1-8BD3-118463EA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臺灣虛擬資產服務法公布於？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FD4D4-56A3-43A3-B2B2-89269218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2026年　B 2010年　C 尚未　D 1995年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8FC8B-8B3C-4347-99E8-A2D999ED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4DDE5-63C1-483C-B953-99B513D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答案：A。部分條文尚待施行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3B3C7-17C2-47DC-9ED1-72CB883E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選平台最完整的方式？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1C0A0-DC3F-4CA0-9669-3D15544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只看手續費　B 查監理、資產安全、市場品質與退出能力　C 看網紅　D 看幣價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12912-5C2C-4239-935E-969DBEF5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A512A-C144-4B26-A754-B4D2FD57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答案：B。完成盡職調查</a:t>
            </a:r>
          </a:p>
        </p:txBody>
      </p:sp>
    </p:spTree>
    <p:extLst>
      <p:ext uri="{BB962C8B-B14F-4D97-AF65-F5344CB8AC3E}">
        <p14:creationId xmlns:p14="http://schemas.microsoft.com/office/powerpoint/2010/main" val="1749504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2026-09-03T05:45:59.5800000Z</dcterms:created>
  <dcterms:modified xsi:type="dcterms:W3CDTF">2026-09-03T05:45:59.5800000Z</dcterms:modified>
</coreProperties>
</file>