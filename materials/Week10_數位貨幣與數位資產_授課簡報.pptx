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997900b0743bb" /><Relationship Type="http://schemas.openxmlformats.org/officeDocument/2006/relationships/extended-properties" Target="/docProps/app.xml" Id="R4af48ef785f145ae" /><Relationship Type="http://schemas.openxmlformats.org/officeDocument/2006/relationships/officeDocument" Target="/ppt/presentation.xml" Id="R70b3a57dd634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3d10cfec044d74"/>
  </p:sldMasterIdLst>
  <p:notesMasterIdLst>
    <p:notesMasterId xmlns:r="http://schemas.openxmlformats.org/officeDocument/2006/relationships" r:id="R035df7c5ce1d43c0"/>
  </p:notesMasterIdLst>
  <p:sldIdLst>
    <p:sldId xmlns:r="http://schemas.openxmlformats.org/officeDocument/2006/relationships" id="256" r:id="R871dc22c795d4261"/>
    <p:sldId xmlns:r="http://schemas.openxmlformats.org/officeDocument/2006/relationships" id="257" r:id="R254eddb510b04735"/>
    <p:sldId xmlns:r="http://schemas.openxmlformats.org/officeDocument/2006/relationships" id="258" r:id="R8b23411261754bc7"/>
    <p:sldId xmlns:r="http://schemas.openxmlformats.org/officeDocument/2006/relationships" id="259" r:id="Rf319454b83784600"/>
    <p:sldId xmlns:r="http://schemas.openxmlformats.org/officeDocument/2006/relationships" id="260" r:id="Rccc9c48f1ba74a92"/>
    <p:sldId xmlns:r="http://schemas.openxmlformats.org/officeDocument/2006/relationships" id="261" r:id="Rd17e338676394925"/>
    <p:sldId xmlns:r="http://schemas.openxmlformats.org/officeDocument/2006/relationships" id="262" r:id="Rcaf30ccc19404775"/>
    <p:sldId xmlns:r="http://schemas.openxmlformats.org/officeDocument/2006/relationships" id="263" r:id="Rb22c8ddf97a04626"/>
    <p:sldId xmlns:r="http://schemas.openxmlformats.org/officeDocument/2006/relationships" id="264" r:id="R9199b093f361492c"/>
    <p:sldId xmlns:r="http://schemas.openxmlformats.org/officeDocument/2006/relationships" id="265" r:id="R17e77664726f412c"/>
    <p:sldId xmlns:r="http://schemas.openxmlformats.org/officeDocument/2006/relationships" id="266" r:id="R52386a82fec544ad"/>
    <p:sldId xmlns:r="http://schemas.openxmlformats.org/officeDocument/2006/relationships" id="267" r:id="Rf546e73c7dd64cbb"/>
    <p:sldId xmlns:r="http://schemas.openxmlformats.org/officeDocument/2006/relationships" id="268" r:id="R605803d6adb548e2"/>
    <p:sldId xmlns:r="http://schemas.openxmlformats.org/officeDocument/2006/relationships" id="269" r:id="R89c6a2e892a244b7"/>
    <p:sldId xmlns:r="http://schemas.openxmlformats.org/officeDocument/2006/relationships" id="270" r:id="Rd50d5f47f4eb4ee8"/>
    <p:sldId xmlns:r="http://schemas.openxmlformats.org/officeDocument/2006/relationships" id="271" r:id="R77ab5c7b334a4a1c"/>
    <p:sldId xmlns:r="http://schemas.openxmlformats.org/officeDocument/2006/relationships" id="272" r:id="Rae3f1886e50b4dbe"/>
    <p:sldId xmlns:r="http://schemas.openxmlformats.org/officeDocument/2006/relationships" id="273" r:id="Rd14a8cde418a4cac"/>
    <p:sldId xmlns:r="http://schemas.openxmlformats.org/officeDocument/2006/relationships" id="274" r:id="R56c6287f87154cf3"/>
    <p:sldId xmlns:r="http://schemas.openxmlformats.org/officeDocument/2006/relationships" id="275" r:id="Reb7fb28a3db04b62"/>
    <p:sldId xmlns:r="http://schemas.openxmlformats.org/officeDocument/2006/relationships" id="276" r:id="Re3d75cb68a9b4e6b"/>
    <p:sldId xmlns:r="http://schemas.openxmlformats.org/officeDocument/2006/relationships" id="277" r:id="R4b4f15d6ddc0468e"/>
    <p:sldId xmlns:r="http://schemas.openxmlformats.org/officeDocument/2006/relationships" id="278" r:id="Ra3edcf3a0eb042d4"/>
    <p:sldId xmlns:r="http://schemas.openxmlformats.org/officeDocument/2006/relationships" id="279" r:id="Ra31be5b2aeed42e4"/>
    <p:sldId xmlns:r="http://schemas.openxmlformats.org/officeDocument/2006/relationships" id="280" r:id="R225392a0121b445f"/>
    <p:sldId xmlns:r="http://schemas.openxmlformats.org/officeDocument/2006/relationships" id="281" r:id="Rc268888340154eb8"/>
    <p:sldId xmlns:r="http://schemas.openxmlformats.org/officeDocument/2006/relationships" id="282" r:id="Raa77c9a087ba4ff2"/>
    <p:sldId xmlns:r="http://schemas.openxmlformats.org/officeDocument/2006/relationships" id="283" r:id="R6e877d905f5c4afc"/>
    <p:sldId xmlns:r="http://schemas.openxmlformats.org/officeDocument/2006/relationships" id="284" r:id="R1cc38f5b5d5e4a7c"/>
    <p:sldId xmlns:r="http://schemas.openxmlformats.org/officeDocument/2006/relationships" id="285" r:id="Rb7e2d90fa9ae4e59"/>
    <p:sldId xmlns:r="http://schemas.openxmlformats.org/officeDocument/2006/relationships" id="286" r:id="Rcdda78dc25ee4120"/>
    <p:sldId xmlns:r="http://schemas.openxmlformats.org/officeDocument/2006/relationships" id="287" r:id="R3cbf17b2fdfc44a3"/>
    <p:sldId xmlns:r="http://schemas.openxmlformats.org/officeDocument/2006/relationships" id="288" r:id="R2f25cfe7956447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3d71be6cc40b9" /><Relationship Type="http://schemas.openxmlformats.org/officeDocument/2006/relationships/slideMaster" Target="/ppt/slideMasters/slideMaster1.xml" Id="R4a3d10cfec044d74" /><Relationship Type="http://schemas.openxmlformats.org/officeDocument/2006/relationships/notesMaster" Target="/ppt/notesMasters/notesMaster1.xml" Id="R035df7c5ce1d43c0" /><Relationship Type="http://schemas.openxmlformats.org/officeDocument/2006/relationships/presProps" Target="/ppt/presProps.xml" Id="Rd42479dd942c4cba" /><Relationship Type="http://schemas.openxmlformats.org/officeDocument/2006/relationships/tableStyles" Target="/ppt/tableStyles.xml" Id="Rbe752bcdc5394e3e" /><Relationship Type="http://schemas.openxmlformats.org/officeDocument/2006/relationships/slide" Target="/ppt/slides/slide1.xml" Id="R871dc22c795d4261" /><Relationship Type="http://schemas.openxmlformats.org/officeDocument/2006/relationships/slide" Target="/ppt/slides/slide2.xml" Id="R254eddb510b04735" /><Relationship Type="http://schemas.openxmlformats.org/officeDocument/2006/relationships/slide" Target="/ppt/slides/slide3.xml" Id="R8b23411261754bc7" /><Relationship Type="http://schemas.openxmlformats.org/officeDocument/2006/relationships/slide" Target="/ppt/slides/slide4.xml" Id="Rf319454b83784600" /><Relationship Type="http://schemas.openxmlformats.org/officeDocument/2006/relationships/slide" Target="/ppt/slides/slide5.xml" Id="Rccc9c48f1ba74a92" /><Relationship Type="http://schemas.openxmlformats.org/officeDocument/2006/relationships/slide" Target="/ppt/slides/slide6.xml" Id="Rd17e338676394925" /><Relationship Type="http://schemas.openxmlformats.org/officeDocument/2006/relationships/slide" Target="/ppt/slides/slide7.xml" Id="Rcaf30ccc19404775" /><Relationship Type="http://schemas.openxmlformats.org/officeDocument/2006/relationships/slide" Target="/ppt/slides/slide8.xml" Id="Rb22c8ddf97a04626" /><Relationship Type="http://schemas.openxmlformats.org/officeDocument/2006/relationships/slide" Target="/ppt/slides/slide9.xml" Id="R9199b093f361492c" /><Relationship Type="http://schemas.openxmlformats.org/officeDocument/2006/relationships/slide" Target="/ppt/slides/slide10.xml" Id="R17e77664726f412c" /><Relationship Type="http://schemas.openxmlformats.org/officeDocument/2006/relationships/slide" Target="/ppt/slides/slide11.xml" Id="R52386a82fec544ad" /><Relationship Type="http://schemas.openxmlformats.org/officeDocument/2006/relationships/slide" Target="/ppt/slides/slide12.xml" Id="Rf546e73c7dd64cbb" /><Relationship Type="http://schemas.openxmlformats.org/officeDocument/2006/relationships/slide" Target="/ppt/slides/slide13.xml" Id="R605803d6adb548e2" /><Relationship Type="http://schemas.openxmlformats.org/officeDocument/2006/relationships/slide" Target="/ppt/slides/slide14.xml" Id="R89c6a2e892a244b7" /><Relationship Type="http://schemas.openxmlformats.org/officeDocument/2006/relationships/slide" Target="/ppt/slides/slide15.xml" Id="Rd50d5f47f4eb4ee8" /><Relationship Type="http://schemas.openxmlformats.org/officeDocument/2006/relationships/slide" Target="/ppt/slides/slide16.xml" Id="R77ab5c7b334a4a1c" /><Relationship Type="http://schemas.openxmlformats.org/officeDocument/2006/relationships/slide" Target="/ppt/slides/slide17.xml" Id="Rae3f1886e50b4dbe" /><Relationship Type="http://schemas.openxmlformats.org/officeDocument/2006/relationships/slide" Target="/ppt/slides/slide18.xml" Id="Rd14a8cde418a4cac" /><Relationship Type="http://schemas.openxmlformats.org/officeDocument/2006/relationships/slide" Target="/ppt/slides/slide19.xml" Id="R56c6287f87154cf3" /><Relationship Type="http://schemas.openxmlformats.org/officeDocument/2006/relationships/slide" Target="/ppt/slides/slide20.xml" Id="Reb7fb28a3db04b62" /><Relationship Type="http://schemas.openxmlformats.org/officeDocument/2006/relationships/slide" Target="/ppt/slides/slide21.xml" Id="Re3d75cb68a9b4e6b" /><Relationship Type="http://schemas.openxmlformats.org/officeDocument/2006/relationships/slide" Target="/ppt/slides/slide22.xml" Id="R4b4f15d6ddc0468e" /><Relationship Type="http://schemas.openxmlformats.org/officeDocument/2006/relationships/slide" Target="/ppt/slides/slide23.xml" Id="Ra3edcf3a0eb042d4" /><Relationship Type="http://schemas.openxmlformats.org/officeDocument/2006/relationships/slide" Target="/ppt/slides/slide24.xml" Id="Ra31be5b2aeed42e4" /><Relationship Type="http://schemas.openxmlformats.org/officeDocument/2006/relationships/slide" Target="/ppt/slides/slide25.xml" Id="R225392a0121b445f" /><Relationship Type="http://schemas.openxmlformats.org/officeDocument/2006/relationships/slide" Target="/ppt/slides/slide26.xml" Id="Rc268888340154eb8" /><Relationship Type="http://schemas.openxmlformats.org/officeDocument/2006/relationships/slide" Target="/ppt/slides/slide27.xml" Id="Raa77c9a087ba4ff2" /><Relationship Type="http://schemas.openxmlformats.org/officeDocument/2006/relationships/slide" Target="/ppt/slides/slide28.xml" Id="R6e877d905f5c4afc" /><Relationship Type="http://schemas.openxmlformats.org/officeDocument/2006/relationships/slide" Target="/ppt/slides/slide29.xml" Id="R1cc38f5b5d5e4a7c" /><Relationship Type="http://schemas.openxmlformats.org/officeDocument/2006/relationships/slide" Target="/ppt/slides/slide30.xml" Id="Rb7e2d90fa9ae4e59" /><Relationship Type="http://schemas.openxmlformats.org/officeDocument/2006/relationships/slide" Target="/ppt/slides/slide31.xml" Id="Rcdda78dc25ee4120" /><Relationship Type="http://schemas.openxmlformats.org/officeDocument/2006/relationships/slide" Target="/ppt/slides/slide32.xml" Id="R3cbf17b2fdfc44a3" /><Relationship Type="http://schemas.openxmlformats.org/officeDocument/2006/relationships/slide" Target="/ppt/slides/slide33.xml" Id="R2f25cfe7956447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8362953b64c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01aeb13dd4979" /><Relationship Type="http://schemas.openxmlformats.org/officeDocument/2006/relationships/notesMaster" Target="/ppt/notesMasters/notesMaster1.xml" Id="R91a8143378cd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ccfb8a5a9d4860" /><Relationship Type="http://schemas.openxmlformats.org/officeDocument/2006/relationships/notesMaster" Target="/ppt/notesMasters/notesMaster1.xml" Id="Rd8c7716e8dda4e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9c6c3bba4c48ac" /><Relationship Type="http://schemas.openxmlformats.org/officeDocument/2006/relationships/notesMaster" Target="/ppt/notesMasters/notesMaster1.xml" Id="R6994868ae2014d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c603e065949e3" /><Relationship Type="http://schemas.openxmlformats.org/officeDocument/2006/relationships/notesMaster" Target="/ppt/notesMasters/notesMaster1.xml" Id="R722af7c0059643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06ce8fdd124266" /><Relationship Type="http://schemas.openxmlformats.org/officeDocument/2006/relationships/notesMaster" Target="/ppt/notesMasters/notesMaster1.xml" Id="Re6071f9bad3c43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8aeaf76e294b06" /><Relationship Type="http://schemas.openxmlformats.org/officeDocument/2006/relationships/notesMaster" Target="/ppt/notesMasters/notesMaster1.xml" Id="R85974808c91a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55db9716a444e6" /><Relationship Type="http://schemas.openxmlformats.org/officeDocument/2006/relationships/notesMaster" Target="/ppt/notesMasters/notesMaster1.xml" Id="Rb901f9c7209b48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05c8ab9e648a3" /><Relationship Type="http://schemas.openxmlformats.org/officeDocument/2006/relationships/notesMaster" Target="/ppt/notesMasters/notesMaster1.xml" Id="R8f36d579d1ff41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000ca4602b461d" /><Relationship Type="http://schemas.openxmlformats.org/officeDocument/2006/relationships/notesMaster" Target="/ppt/notesMasters/notesMaster1.xml" Id="R663839e4c5b24d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2dcbd2d185433f" /><Relationship Type="http://schemas.openxmlformats.org/officeDocument/2006/relationships/notesMaster" Target="/ppt/notesMasters/notesMaster1.xml" Id="Rec376798cfac49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985a9e9c5a4ade" /><Relationship Type="http://schemas.openxmlformats.org/officeDocument/2006/relationships/notesMaster" Target="/ppt/notesMasters/notesMaster1.xml" Id="Rfd929213fe6f4d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d0c6104e09423a" /><Relationship Type="http://schemas.openxmlformats.org/officeDocument/2006/relationships/notesMaster" Target="/ppt/notesMasters/notesMaster1.xml" Id="R69deeab6e1294a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21460df996468d" /><Relationship Type="http://schemas.openxmlformats.org/officeDocument/2006/relationships/notesMaster" Target="/ppt/notesMasters/notesMaster1.xml" Id="R63a1f783772e4e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d9c7d3a8f3440f" /><Relationship Type="http://schemas.openxmlformats.org/officeDocument/2006/relationships/notesMaster" Target="/ppt/notesMasters/notesMaster1.xml" Id="Rc20234d4d38f4d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d19b437bd14f70" /><Relationship Type="http://schemas.openxmlformats.org/officeDocument/2006/relationships/notesMaster" Target="/ppt/notesMasters/notesMaster1.xml" Id="R3488649caece41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d4d9a068b3494d" /><Relationship Type="http://schemas.openxmlformats.org/officeDocument/2006/relationships/notesMaster" Target="/ppt/notesMasters/notesMaster1.xml" Id="R29482545fca44a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1e57918b0e4b86" /><Relationship Type="http://schemas.openxmlformats.org/officeDocument/2006/relationships/notesMaster" Target="/ppt/notesMasters/notesMaster1.xml" Id="Ra5c537ad83414f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19622f1c3a4fde" /><Relationship Type="http://schemas.openxmlformats.org/officeDocument/2006/relationships/notesMaster" Target="/ppt/notesMasters/notesMaster1.xml" Id="R892d51db08e149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fd5b94a3684f5a" /><Relationship Type="http://schemas.openxmlformats.org/officeDocument/2006/relationships/notesMaster" Target="/ppt/notesMasters/notesMaster1.xml" Id="R0a93e47965bd41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dc97c37c044b7a" /><Relationship Type="http://schemas.openxmlformats.org/officeDocument/2006/relationships/notesMaster" Target="/ppt/notesMasters/notesMaster1.xml" Id="Rd6cae21be78942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1f7cc7d7ca4085" /><Relationship Type="http://schemas.openxmlformats.org/officeDocument/2006/relationships/notesMaster" Target="/ppt/notesMasters/notesMaster1.xml" Id="R0a4a12d1ceff41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a93ffb7341e45d1" /><Relationship Type="http://schemas.openxmlformats.org/officeDocument/2006/relationships/notesMaster" Target="/ppt/notesMasters/notesMaster1.xml" Id="R2dd1229f3c034a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0a25d0d3504d83" /><Relationship Type="http://schemas.openxmlformats.org/officeDocument/2006/relationships/notesMaster" Target="/ppt/notesMasters/notesMaster1.xml" Id="R21d83786463545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1ca8fc8a474291" /><Relationship Type="http://schemas.openxmlformats.org/officeDocument/2006/relationships/notesMaster" Target="/ppt/notesMasters/notesMaster1.xml" Id="Rd107c3c2633448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aa5e5d190e2403c" /><Relationship Type="http://schemas.openxmlformats.org/officeDocument/2006/relationships/notesMaster" Target="/ppt/notesMasters/notesMaster1.xml" Id="R3beb8be7d9a345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4302f3653c4475" /><Relationship Type="http://schemas.openxmlformats.org/officeDocument/2006/relationships/notesMaster" Target="/ppt/notesMasters/notesMaster1.xml" Id="Re9094010a23341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7b7a3b1923a4c65" /><Relationship Type="http://schemas.openxmlformats.org/officeDocument/2006/relationships/notesMaster" Target="/ppt/notesMasters/notesMaster1.xml" Id="Rcaf36ca5bcd64c2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615125f1ef4cd8" /><Relationship Type="http://schemas.openxmlformats.org/officeDocument/2006/relationships/notesMaster" Target="/ppt/notesMasters/notesMaster1.xml" Id="Rdc0cb922202a4a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66f57cfbab4d8a" /><Relationship Type="http://schemas.openxmlformats.org/officeDocument/2006/relationships/notesMaster" Target="/ppt/notesMasters/notesMaster1.xml" Id="R5e54ce7538b048f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ab5d74a8724038" /><Relationship Type="http://schemas.openxmlformats.org/officeDocument/2006/relationships/notesMaster" Target="/ppt/notesMasters/notesMaster1.xml" Id="R11b7b1d0c5084c1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451a67d838149f0" /><Relationship Type="http://schemas.openxmlformats.org/officeDocument/2006/relationships/notesMaster" Target="/ppt/notesMasters/notesMaster1.xml" Id="R4db672e2ea0d4c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c5963c3de35470b" /><Relationship Type="http://schemas.openxmlformats.org/officeDocument/2006/relationships/notesMaster" Target="/ppt/notesMasters/notesMaster1.xml" Id="R5a5eaa1ef0d34c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584d774b86740c4" /><Relationship Type="http://schemas.openxmlformats.org/officeDocument/2006/relationships/notesMaster" Target="/ppt/notesMasters/notesMaster1.xml" Id="Ra74fba8064ec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5已談貨幣與信用；本週轉向數位資產的權利結構、代幣化流程與監理判斷。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修正舊教材把數位資產只定義成區塊鏈上的可轉移單位；鏈上紀錄不自動創造法律權利。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分類要看經濟功能與法律效果，而不是名稱中有coin或token。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避免將所有加密資產稱為貨幣；它們也可能是網路資源或投資資產。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不能只因白皮書寫utility就排除投資風險與監理問題。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刪除舊教材把限量NFT直接判定為合法應用的簡化題型。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上鏈不會讓證券自動成為無監管資產。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技術可替代性與法律權利、價格風險是不同維度。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再問如何轉讓、誰保管。這六問可取代死背專案名稱。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BIS將代幣化描述為把傳統帳本中的資產請求權記錄到可程式化平台。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https://www.bis.org/publ/arpdf/ar2025e.pdf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若鏈上紀錄與官方登記衝突，必須事先規定哪一份紀錄優先。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技術效率不能取代信用分析與法律文件。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BlackRock BUIDL等案例顯示傳統基金可在多條鏈發行；仍是受規範基金，不是無發行人的加密貨幣。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https://www.blackrock.com/corporate/compliance/scams-and-fraud/resources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更新舊教材『可隨時轉讓、提高流動性』的過度承諾。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https://www.bis.org/publ/work1311.htm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代幣化資產成功與否，常由可靠的鏈上現金決定。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金融機構常採混合設計：公開結算、許可應用或受控資產。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資產越依賴鏈外權利，越不能只審查智能合約。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互通性不是只建一座橋；還要協調身分、資料、法律與現金結算。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同一代幣放在不同服務商，風險也會不同。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不要把平台顯示的最後成交價當成可大量變現的保證。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代幣化RWA尤其要審查特殊目的載體與資產隔離。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可自動執行也代表錯誤可能自動執行。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合法NFT或RWA不能由外觀判斷；需核實權利與來源。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更新舊教材『2024年起實施』的概括說法。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https://www.esma.europa.eu/publications-and-data/interactive-single-rulebook/mica/article-149-entry-force-and-application</a:t>
            </a:r>
          </a:p>
          <a:p xmlns:a="http://schemas.openxmlformats.org/drawingml/2006/main">
            <a:r>
              <a:t>- https://www.esma.europa.eu/publications-and-data/interactive-single-rulebook/mica/article-143-transitional-measures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截至2026年9月，部分條文尚待施行；實務必須核對最新子法與生效日。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https://law.fsc.gov.tw/LawContent.aspx?id=GL004301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BIS指出代幣化規模仍小但持續成長；價值在流程整合，而非只創造新代幣。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https://www.bis.org/publications/fsi-summary-financial-stability-implications-tokenisation-executive-summary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再檢查估值、稅務、資訊揭露與失敗救濟；不因技術新穎就降低標準。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46ecefe68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e843385e24a35" /><Relationship Type="http://schemas.openxmlformats.org/officeDocument/2006/relationships/slideLayout" Target="/ppt/slideLayouts/slideLayout1.xml" Id="R400418dedf1a47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418dedf1a47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28d30841340f0" /><Relationship Type="http://schemas.openxmlformats.org/officeDocument/2006/relationships/notesSlide" Target="/ppt/notesSlides/notesSlide1.xml" Id="Rc371feb5a15e45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f105d99084b56" /><Relationship Type="http://schemas.openxmlformats.org/officeDocument/2006/relationships/notesSlide" Target="/ppt/notesSlides/notesSlide2.xml" Id="R6f35ff7946e94b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8aeaa2cc14ddb" /><Relationship Type="http://schemas.openxmlformats.org/officeDocument/2006/relationships/notesSlide" Target="/ppt/notesSlides/notesSlide3.xml" Id="Re5afb93b23f647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f9bd49d84b84" /><Relationship Type="http://schemas.openxmlformats.org/officeDocument/2006/relationships/notesSlide" Target="/ppt/notesSlides/notesSlide4.xml" Id="R6d88fe65ccfb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81afb91b3476c" /><Relationship Type="http://schemas.openxmlformats.org/officeDocument/2006/relationships/notesSlide" Target="/ppt/notesSlides/notesSlide5.xml" Id="R7c1dfbc7048a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24b4dfb744a27" /><Relationship Type="http://schemas.openxmlformats.org/officeDocument/2006/relationships/notesSlide" Target="/ppt/notesSlides/notesSlide6.xml" Id="Rd2ef11c6e39f4b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b6c22a4634ce9" /><Relationship Type="http://schemas.openxmlformats.org/officeDocument/2006/relationships/notesSlide" Target="/ppt/notesSlides/notesSlide7.xml" Id="R3573fd062a4248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9ebb12b4148a4" /><Relationship Type="http://schemas.openxmlformats.org/officeDocument/2006/relationships/notesSlide" Target="/ppt/notesSlides/notesSlide8.xml" Id="Rc0d9b66dc1ca4c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21ff81834d6a" /><Relationship Type="http://schemas.openxmlformats.org/officeDocument/2006/relationships/notesSlide" Target="/ppt/notesSlides/notesSlide9.xml" Id="Rf4913fa95e4840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c8c4841a644d7" /><Relationship Type="http://schemas.openxmlformats.org/officeDocument/2006/relationships/notesSlide" Target="/ppt/notesSlides/notesSlide10.xml" Id="Rf8ba84b7f9e244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6422af3e34b42" /><Relationship Type="http://schemas.openxmlformats.org/officeDocument/2006/relationships/notesSlide" Target="/ppt/notesSlides/notesSlide11.xml" Id="R5d827ce803b443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14649b7ce4bbe" /><Relationship Type="http://schemas.openxmlformats.org/officeDocument/2006/relationships/notesSlide" Target="/ppt/notesSlides/notesSlide12.xml" Id="R7a45602723fa46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083c744124bd0" /><Relationship Type="http://schemas.openxmlformats.org/officeDocument/2006/relationships/notesSlide" Target="/ppt/notesSlides/notesSlide13.xml" Id="Rdc3fe50f68e844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ce4973e5440b" /><Relationship Type="http://schemas.openxmlformats.org/officeDocument/2006/relationships/notesSlide" Target="/ppt/notesSlides/notesSlide14.xml" Id="Rc5a4164b9fd34b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f387d0c4417c" /><Relationship Type="http://schemas.openxmlformats.org/officeDocument/2006/relationships/notesSlide" Target="/ppt/notesSlides/notesSlide15.xml" Id="R51fbd483d2314a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eaad2fa14d5f" /><Relationship Type="http://schemas.openxmlformats.org/officeDocument/2006/relationships/notesSlide" Target="/ppt/notesSlides/notesSlide16.xml" Id="Rdfb640a5186e45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d6610a9f34f2d" /><Relationship Type="http://schemas.openxmlformats.org/officeDocument/2006/relationships/notesSlide" Target="/ppt/notesSlides/notesSlide17.xml" Id="Rd589c094abe44d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1db79d7244c5d" /><Relationship Type="http://schemas.openxmlformats.org/officeDocument/2006/relationships/notesSlide" Target="/ppt/notesSlides/notesSlide18.xml" Id="Rc9390760383f4d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f453be34a4e33" /><Relationship Type="http://schemas.openxmlformats.org/officeDocument/2006/relationships/notesSlide" Target="/ppt/notesSlides/notesSlide19.xml" Id="Rf50c0abd04e24a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477f54f5c4a0c" /><Relationship Type="http://schemas.openxmlformats.org/officeDocument/2006/relationships/notesSlide" Target="/ppt/notesSlides/notesSlide20.xml" Id="R71daa6d0937049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dd4b813aa4300" /><Relationship Type="http://schemas.openxmlformats.org/officeDocument/2006/relationships/notesSlide" Target="/ppt/notesSlides/notesSlide21.xml" Id="Rcad2060fe6f541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30b62bcef46b9" /><Relationship Type="http://schemas.openxmlformats.org/officeDocument/2006/relationships/notesSlide" Target="/ppt/notesSlides/notesSlide22.xml" Id="Ra079be0395f641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915dd683e49f1" /><Relationship Type="http://schemas.openxmlformats.org/officeDocument/2006/relationships/notesSlide" Target="/ppt/notesSlides/notesSlide23.xml" Id="R3729ea71a12542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666c18b0746cc" /><Relationship Type="http://schemas.openxmlformats.org/officeDocument/2006/relationships/notesSlide" Target="/ppt/notesSlides/notesSlide24.xml" Id="Rc44e4cbdc2b64e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2be820c834375" /><Relationship Type="http://schemas.openxmlformats.org/officeDocument/2006/relationships/notesSlide" Target="/ppt/notesSlides/notesSlide25.xml" Id="Rab954da97cb74b1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ea9d39144fce" /><Relationship Type="http://schemas.openxmlformats.org/officeDocument/2006/relationships/notesSlide" Target="/ppt/notesSlides/notesSlide26.xml" Id="R1071d69c59ed48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4c991cc5f4caf" /><Relationship Type="http://schemas.openxmlformats.org/officeDocument/2006/relationships/notesSlide" Target="/ppt/notesSlides/notesSlide27.xml" Id="Re48415c7cb0d43e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904af4854967" /><Relationship Type="http://schemas.openxmlformats.org/officeDocument/2006/relationships/notesSlide" Target="/ppt/notesSlides/notesSlide28.xml" Id="Rc6ee18b1c59f4d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27c23d5114632" /><Relationship Type="http://schemas.openxmlformats.org/officeDocument/2006/relationships/notesSlide" Target="/ppt/notesSlides/notesSlide29.xml" Id="R422a9dfbf49c4c5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aa8a1d70448df" /><Relationship Type="http://schemas.openxmlformats.org/officeDocument/2006/relationships/notesSlide" Target="/ppt/notesSlides/notesSlide30.xml" Id="R9c0bcc12872e45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ed8f175a34daf" /><Relationship Type="http://schemas.openxmlformats.org/officeDocument/2006/relationships/notesSlide" Target="/ppt/notesSlides/notesSlide31.xml" Id="R3c7c64c00b4a4c3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4196f015f4073" /><Relationship Type="http://schemas.openxmlformats.org/officeDocument/2006/relationships/notesSlide" Target="/ppt/notesSlides/notesSlide32.xml" Id="R5b524326941c4dc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997eb589b42f5" /><Relationship Type="http://schemas.openxmlformats.org/officeDocument/2006/relationships/notesSlide" Target="/ppt/notesSlides/notesSlide33.xml" Id="R394706a3bbfe43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1C5D2-95A2-489C-AC1A-54064ABB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C7C58-2824-4AB6-A7E4-C7DA929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10</a:t>
            </a:r>
          </a:p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數位貨幣與數位資產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EC84B-6AC0-46D8-B6C8-0FE31B93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看懂代幣背後的權利、現金流與責任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CEEFE-E3F8-448B-8F48-C8C46C9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第一節：名稱相似，不代表經濟性質相同</a:t>
            </a:r>
          </a:p>
        </p:txBody>
      </p:sp>
    </p:spTree>
    <p:extLst>
      <p:ext uri="{BB962C8B-B14F-4D97-AF65-F5344CB8AC3E}">
        <p14:creationId xmlns:p14="http://schemas.microsoft.com/office/powerpoint/2010/main" val="512498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DC5BB-F8E0-4287-85FB-36010D77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77749-9CF6-4DF4-A4FD-150F4A3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數位形式只是載體，真正價值來自背後權利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52F91-495C-4ADD-994D-D897BCF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DE626-F131-4775-A251-0BBA9F64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3F168-C488-4596-9265-FBEDFA18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35206-CF81-4B5F-9300-A9C2AFCB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262C5-84DB-4AF0-BE31-32F82FA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帳本紀錄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2291-0B46-46E5-B446-5B84D5CC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誰持有哪個代幣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92975-5A2F-4C31-84A2-3F3B098E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6A41C-3A4D-4648-A302-25814863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法律權利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7C6C7-8CA2-4142-8894-4BBD673C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能否請求付款、分紅或交付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ABD01-1F26-40FB-8CA7-6456970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B557D-B597-4E78-9756-38D640AD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經濟利益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8286C-6C5E-468C-A64E-7D3FDD5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現金流、使用權或稀缺性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9D93C-1C1C-4EA8-92E7-83D79C78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13890-340C-4D83-8D83-8ECBCA4E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責任主體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FB7D3-DEE3-4520-A5A3-727E6B0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誰發行、保管、贖回與補救</a:t>
            </a:r>
          </a:p>
        </p:txBody>
      </p:sp>
    </p:spTree>
    <p:extLst>
      <p:ext uri="{BB962C8B-B14F-4D97-AF65-F5344CB8AC3E}">
        <p14:creationId xmlns:p14="http://schemas.microsoft.com/office/powerpoint/2010/main" val="123240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C55CA-A729-4EF2-99B6-AADA86D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8694E-0AE4-4395-88EF-A0411B30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數位貨幣是數位資產的一部分，不是同義詞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2F3E2-5A87-4ACD-80B0-2B0619EC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8C556-12A5-4225-9A1C-28463400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B48A0-4433-4C70-A9D3-6D7AD758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1C8F5-881D-404C-ACB9-1390511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A5FBF-B266-433D-98B5-8D517D6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19171-6B78-4F5A-A907-0D861234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偏向貨幣功能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AAC7E-29C0-49AF-A1DB-5ADF73C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CBDC：中央銀行負債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存款代幣：商業銀行負債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穩定幣：私人發行人承諾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BTC等：市場型原生加密資產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27A71-FFA5-4A5A-8564-B0A7303D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偏向其他資產功能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2CEDE-306D-41F6-825E-3F81CC0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證券型代幣：投資與現金流權利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NFT：獨特識別或憑證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功能型代幣：服務使用權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治理代幣：提案或投票權</a:t>
            </a:r>
          </a:p>
        </p:txBody>
      </p:sp>
    </p:spTree>
    <p:extLst>
      <p:ext uri="{BB962C8B-B14F-4D97-AF65-F5344CB8AC3E}">
        <p14:creationId xmlns:p14="http://schemas.microsoft.com/office/powerpoint/2010/main" val="2067729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08820-A07F-4050-98BA-34DF5CA7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C0F2C-1741-4B31-B38B-06A72B40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原生加密資產的價值來自網路與市場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F69A1-4076-43C7-B0A9-C222FA51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7482A-7657-4DF5-9BAE-BC23EF7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F1C69-83DB-4EE8-9747-C560DBC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9C8FE-1705-47AF-BF39-8FAA5103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5444A-93BE-41E6-9C89-98D0BB81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CAE1F-489C-4B4D-AC4D-5C6D0F3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原生於協議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19420-EABA-41C3-AAD5-843AC6E6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BTC、ETH由區塊鏈規則產生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支付網路費或提供安全誘因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沒有傳統發行公司的贖回承諾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000B8-7B40-46CA-89BC-BB750A06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評估重點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5876B-3FBB-477B-AE7E-A837318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供給規則與網路需求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共識安全與開發生態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市場流動性與治理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價格不由面額或儲備固定</a:t>
            </a:r>
          </a:p>
        </p:txBody>
      </p:sp>
    </p:spTree>
    <p:extLst>
      <p:ext uri="{BB962C8B-B14F-4D97-AF65-F5344CB8AC3E}">
        <p14:creationId xmlns:p14="http://schemas.microsoft.com/office/powerpoint/2010/main" val="311360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F07C2-682C-46B6-9AD5-50D0EB85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6B69-E311-4937-835F-4A4F7D32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功能型與治理代幣可能同時具有投資性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07E16-EF58-4540-A43A-5073968F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D05EE-7B71-41E7-A302-85F981C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F6410-6340-4D4B-BCE2-258E236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AC294-B8E5-4995-B525-046F45B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61C4B-4A55-4E57-9339-2CDCF561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CA791-B79B-4203-A82B-DFFBA5E9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功能主張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C8CBD-54B9-4821-8C95-97632121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支付平台費用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存取服務或會員權益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折抵手續費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參與遊戲或數位社群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C66A0-AE6D-467D-B1DC-9257A51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投資與治理現實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2303F-786A-403F-B641-CF0F0D40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可在市場交易並波動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持有人期待升值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投票權可能集中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經濟實質可能觸及證券規範</a:t>
            </a:r>
          </a:p>
        </p:txBody>
      </p:sp>
    </p:spTree>
    <p:extLst>
      <p:ext uri="{BB962C8B-B14F-4D97-AF65-F5344CB8AC3E}">
        <p14:creationId xmlns:p14="http://schemas.microsoft.com/office/powerpoint/2010/main" val="763762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17D1F-1F78-4FCC-902F-15AFD243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81C84-08FB-47C6-9B11-C448EF57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NFT證明代幣歸屬，不自動證明著作權或真品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4CD2C-79A2-4356-A8AB-D8347CA9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BE5D1-1A54-43AF-B069-3E281F46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860F7-894E-417F-9BAB-86AD0DA8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C0645-B783-445A-AF61-4644593E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EBC23-F8F6-4D2D-BE4A-6C128E05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鏈上可證明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7805D-D64A-428F-87B2-B4B9B2B1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合約、編號與轉移紀錄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B4CAB-A0F4-4306-B327-D9BEE5AE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8B145-A60C-4B52-8B0D-D208C5C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鏈外仍需確認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04C38-E53E-4D89-A69E-861832E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創作者、檔案與授權來源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666CA-4FAE-4B94-83AB-2E3627D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AE1FE-044C-424A-83C7-A186DD03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權利靠契約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EECD5-D808-4864-811B-18E8F08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展示、商用、分潤需明確約定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F9E3E-EA8B-4C0C-9D8A-ABFF038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E0002-6426-411A-958C-ED38C73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價格靠市場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D285A-D6F3-4ADC-80F1-F7FACC8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稀缺編號不保證需求與流動性</a:t>
            </a:r>
          </a:p>
        </p:txBody>
      </p:sp>
    </p:spTree>
    <p:extLst>
      <p:ext uri="{BB962C8B-B14F-4D97-AF65-F5344CB8AC3E}">
        <p14:creationId xmlns:p14="http://schemas.microsoft.com/office/powerpoint/2010/main" val="1726981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80547-4334-4E41-8000-1D850CEA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23566-F945-4883-84AD-82467E59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證券代幣把既有投資權利放到新帳本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85CEE-B162-4890-B03A-34D05046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24EAC-6367-4EDC-89ED-892B47C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B1F40-ACB2-4E4A-B9BF-F188122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A2E8-53A9-46D3-9914-203AFCD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4B1E0-04E2-42E5-B8A0-99C1261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51B0D-76BA-44E6-89FB-CDFC590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可能代表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EB4E-22F9-4F4C-AD43-A348F28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股票或基金份額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債券本金與利息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不動產受益權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收益分配契約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14897-779F-4293-A48B-1C4F807D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仍須遵守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C95F1-E5F1-47CA-BF33-0826CFC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發行與公開募集規則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投資人資格與KYC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保管、轉讓與交易限制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公司法、證券法與稅務</a:t>
            </a:r>
          </a:p>
        </p:txBody>
      </p:sp>
    </p:spTree>
    <p:extLst>
      <p:ext uri="{BB962C8B-B14F-4D97-AF65-F5344CB8AC3E}">
        <p14:creationId xmlns:p14="http://schemas.microsoft.com/office/powerpoint/2010/main" val="56102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0CE2B-3ECF-49F1-8501-FA022E4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D7014-52A3-417F-822D-6E05E6D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同質化與非同質化不等於有價與無價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DAC73-BEA9-4AFF-AAC9-AA163665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8C0DE-52E6-4A45-8C94-28563CB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72635-357D-4049-BAC6-54860F49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A39FA-266A-4500-80B8-5FE06F85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BA249-25EA-4D4D-9FCA-B3574D24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98EAC-19FB-45A5-8A43-121479A0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同質化Token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67FA0-874E-40A8-B06C-E57F56C3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同類單位彼此可替代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例如穩定幣、基金份額、治理代幣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適合標準化交易與結算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E833E-515C-4B66-81B0-420A8EF9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非同質化NFT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0E220-FB00-498A-AF47-72B89AF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每一單位有不同識別或屬性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可代表憑證、收藏或特定權利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仍可能分割、抵押或金融化</a:t>
            </a:r>
          </a:p>
        </p:txBody>
      </p:sp>
    </p:spTree>
    <p:extLst>
      <p:ext uri="{BB962C8B-B14F-4D97-AF65-F5344CB8AC3E}">
        <p14:creationId xmlns:p14="http://schemas.microsoft.com/office/powerpoint/2010/main" val="1910122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335B6-A09D-40E8-80E7-B708AEB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C346D-FDA5-4C16-A645-D490B6B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辨識任何代幣，先回答六個問題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393EC-1A68-4D4A-950A-A5537949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47F49-53CF-4DDD-8AC4-882AAA4F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6BD5B-32B2-4346-8437-DAC671E7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ED217-F6AA-488F-A6DD-5F0CA72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E4901-5648-479C-BB15-622E46F6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誰發行？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A0BC7-3BB7-42EE-A82F-BD885D9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政府、銀行、公司、協議或DAO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E75A2-9ACB-4894-94ED-B99625D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14D48-AC40-4B7B-8EDB-05E017F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代表什麼？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D2410-40C7-4788-9DDC-413C969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貨幣、債權、股權、商品或使用權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A01F7-B3B8-4786-85C7-8A5100A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B2004-5FBE-4AA4-8523-F60B526D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如何產生價值？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7C424-9122-48ED-AA70-3D741312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現金流、贖回、效用或市場需求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5F8C7-E07A-42DA-BD4F-2FF6036F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19C72-89BE-4B6D-B3E3-F1645420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如何主張？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A4AA2-1C43-4B58-88A6-2E6D7293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鏈上控制、契約、登記或法律救濟</a:t>
            </a:r>
          </a:p>
        </p:txBody>
      </p:sp>
    </p:spTree>
    <p:extLst>
      <p:ext uri="{BB962C8B-B14F-4D97-AF65-F5344CB8AC3E}">
        <p14:creationId xmlns:p14="http://schemas.microsoft.com/office/powerpoint/2010/main" val="1367672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C2925-003F-4701-8324-DAF968F3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第一節｜辨識資產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E77D-73CC-46EE-8ECA-CCC26C69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案例：一枚代幣可能同時跨越多種分類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498B0-C9D4-4040-B3E6-7E601BFA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40F6D-F695-4278-AA2E-E81B8BF2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10｜第一節｜辨識資產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CDDB4-D3C2-4F54-A70B-E8B32B3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34F91-B2D2-4DC5-8365-33898F9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不要急著貼標籤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0AAB0-D1F8-4CBE-9C78-D877EF37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若代幣可支付服務費、參與治理、分享平台收入並在交易所買賣，它同時具有使用、治理與投資特徵。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0B05B-74B9-49D0-ABC1-F5F996A1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B2FBD-2225-4C1A-A792-09E9F926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5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監理與風險判斷採經濟實質：權利如何設計、投資人期待什麼、誰承擔義務，比名稱更重要。</a:t>
            </a:r>
          </a:p>
        </p:txBody>
      </p:sp>
    </p:spTree>
    <p:extLst>
      <p:ext uri="{BB962C8B-B14F-4D97-AF65-F5344CB8AC3E}">
        <p14:creationId xmlns:p14="http://schemas.microsoft.com/office/powerpoint/2010/main" val="1914479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A19FD-6D2A-41DE-9AE0-CF849734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B1EF3-B648-4300-9264-172F300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7794C-E1EC-403C-97CC-C837098B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3CA36-74EA-4BBD-8A5E-3F0C37A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4DE49-E96E-431C-A25F-5C52616F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A95B-95ED-4205-9B5E-A2065C7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9F9CB-5BCD-4094-8D23-5ABD698B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B5E4E-A473-40AF-BAF7-A2828CE4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E2B55-3A45-4D56-A847-70480200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51059-805F-4DBE-B768-B2B467E4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B3454-A856-4AED-A8A3-59973D5E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鏈上紀錄是否自動等於法律所有權？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F7C01-668E-410B-885A-5F9ACE4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只有NFT是　D 只要公開就是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A5CA6-D14F-4DEE-BF54-09AF613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337A4-216A-4051-B553-AA32829C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答案：B。仍需契約與法律承認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1D9CB-B283-4B59-9710-B1765498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CBDC是誰的負債？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6B468-F56A-4C29-B81C-A95678B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礦工　B 中央銀行　C 交易所　D DAO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84582-CC2B-42E0-92E7-E9BFCDB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47FE6-9D3F-43B6-A42B-64645BC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答案：B。中央銀行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9A0D3-05D4-4709-977B-872BECA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功能型代幣一定不具投資性嗎？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1279F-17C9-4DAD-8329-BC30CE72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　B 不一定　C 不能交易　D 沒有價格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745B1-4967-4F82-BDF6-2B7E390D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F7557-C094-4002-BFE2-A14E7E08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答案：B。要看經濟實質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592F8-E5AA-44B1-B059-4302C9FC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NFT通常直接證明？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71819-051F-474D-8FCB-E8C7AE9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著作權　B 特定代幣歸屬紀錄　C 實體真品　D 保證獲利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BAB82-25F2-456F-9E1E-C2666A0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AE2E-14D2-4047-B083-2EDC3FF6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答案：B。其他權利需另確認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7AFD3-9ABA-4448-B4F0-E9BCCBBF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分類代幣最重要看？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D27321-136F-49FD-9DDE-62A0095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名稱　B 背後權利與責任　C Logo　D 社群人數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B3933-B1AC-4F2E-A984-AB109B92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90029E-BAC2-4348-9D19-D9C3F262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答案：B。經濟與法律實質</a:t>
            </a:r>
          </a:p>
        </p:txBody>
      </p:sp>
    </p:spTree>
    <p:extLst>
      <p:ext uri="{BB962C8B-B14F-4D97-AF65-F5344CB8AC3E}">
        <p14:creationId xmlns:p14="http://schemas.microsoft.com/office/powerpoint/2010/main" val="16628721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46FF-3CB0-4771-B289-FB542D13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FDE99-B997-44BE-A8A1-7B4269E5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代幣化是把資產權利記錄到可程式化平台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1A74B-3782-4D3E-A3CE-00BF2179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BD331-BDF6-4EE2-A29A-25102A0B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8F091-A5A3-40FA-A5EF-8B7B893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0E660-AB87-4D61-83C8-10AB7DE0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C954D-5791-4C70-834F-E3A87B0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7AE9A-BC22-40E0-B9DC-4333748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不是掃描成圖片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78797-FDBE-428F-B608-737F564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先界定資產與權利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建立法律載體與持有人名冊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把權利映射成代幣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設計轉讓與贖回規則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E282C-91B8-4A51-888E-5D5DA29C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可能的價值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D9501-85E8-4842-9E21-4C56ECF4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交易與所有權紀錄整合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條件式付款與自動化作業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縮短對帳流程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支援更細的資產單位</a:t>
            </a:r>
          </a:p>
        </p:txBody>
      </p:sp>
    </p:spTree>
    <p:extLst>
      <p:ext uri="{BB962C8B-B14F-4D97-AF65-F5344CB8AC3E}">
        <p14:creationId xmlns:p14="http://schemas.microsoft.com/office/powerpoint/2010/main" val="1942831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F66B2-A7B7-4361-8179-B9F607D6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369EA-BB1B-460B-9EAC-D76C5AA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完整流程從資產確認開始，不從鑄造代幣開始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8808C-F438-4848-87EB-D765BD59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7F557-C89D-44E4-918D-7F10CE8A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159C1-D998-47A7-81E3-967E5678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974CD-5C4A-43AD-A5D3-4845B08E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93055-43B5-4EE6-8F56-10FF34A4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1 法律設計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5F15-E311-4530-AB95-5A402117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確認所有權、受益權與發行主體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71AC1-79FA-4A58-92EE-3A6CB325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A87FA-8E13-498C-857E-770C257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 數位發行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6E7D-63C6-4642-8744-29CA4E3A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建立代幣、名冊與合規規則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6E246-DA85-44A7-B144-1E6E686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2D956-0C00-4082-BA24-0B9BFF16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 流通保管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840FB-FFC4-421B-827D-BEACE26B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錢包、託管、交易與轉讓限制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C7C8E-474F-491F-B666-D86FE708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AF5AF-E4D1-4AD8-A05D-955A84B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 贖回終止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BD266-4A0E-48A8-ABA1-1B7B4C6C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交付資產、現金或註銷代幣</a:t>
            </a:r>
          </a:p>
        </p:txBody>
      </p:sp>
    </p:spTree>
    <p:extLst>
      <p:ext uri="{BB962C8B-B14F-4D97-AF65-F5344CB8AC3E}">
        <p14:creationId xmlns:p14="http://schemas.microsoft.com/office/powerpoint/2010/main" val="21312946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1DC9-9F8E-46D5-BBA0-30D4B281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AF4DC-0084-4036-8018-D5AF5151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代幣化債券把發行、付息與交割流程串起來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EF5CB-2274-4CE2-A62B-13B94B8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7BC75-B023-4B61-8522-F558BEE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665F2-D958-4AAD-A444-42AE426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342A1-C318-4A44-A4BC-D31F7417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DAD9C-0FD2-46CC-9A99-EEF443AE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A6513-FC82-4E52-B999-D3A87601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可程式化環節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008E8-9243-48C5-B167-AA8C4AB1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投資人白名單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利息與到期款計算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企業行動通知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轉讓限制自動檢查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AC15F-99FE-41FF-AA60-AB908EBE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金融前提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98BA2-4DF3-4F5B-A3D6-14FE3E51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發行條件合法有效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現金交割資產可靠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託管與名冊具法律效力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違約與更正流程仍需制度</a:t>
            </a:r>
          </a:p>
        </p:txBody>
      </p:sp>
    </p:spTree>
    <p:extLst>
      <p:ext uri="{BB962C8B-B14F-4D97-AF65-F5344CB8AC3E}">
        <p14:creationId xmlns:p14="http://schemas.microsoft.com/office/powerpoint/2010/main" val="267027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E0DFE-950D-45C8-8F5F-BC344776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D171-2210-4A93-8662-B36215B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代幣化基金讓份額與現金管理更接近即時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2651C-FE71-4ADC-A3CF-60F07FC1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A038C-F9B7-415E-BE75-6199C8F9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71FE4-8E51-4405-9DD0-C115F0BA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3B626-4EAC-447D-B1FC-DABC1EB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293EE-1A43-4264-A931-7669A120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申購贖回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AC720-26DF-4D68-968B-90D5BD06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流程可自動化與延長服務時間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E6094-92AE-40CA-B906-032DB66B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80A07-77FB-4AA7-AD63-E07076D7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份額紀錄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1AA24-9628-4B2D-AC2B-4057D2F0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投資人權益可在共享帳本核對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D14F5-E430-446F-8C2F-0875C06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C092F-69C7-4864-9452-0A186236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合規控制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63F68-DCAA-422F-880A-A380AAE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地址白名單與資格限制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E7931-05DF-4DB3-9B99-8A42403B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47FF9-2A61-4836-BA86-7A353E11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多鏈發行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B64B3-4500-444A-AD8E-BA1667E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擴大觸及也增加橋接與作業風險</a:t>
            </a:r>
          </a:p>
        </p:txBody>
      </p:sp>
    </p:spTree>
    <p:extLst>
      <p:ext uri="{BB962C8B-B14F-4D97-AF65-F5344CB8AC3E}">
        <p14:creationId xmlns:p14="http://schemas.microsoft.com/office/powerpoint/2010/main" val="8859810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FAED6-0088-4F36-95D3-F30236B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95F59-9716-44D0-AAFC-10C64D19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不動產代幣通常代表法律載體權益，不是磚瓦本身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5AC19-E1E6-4A34-BD00-A7408ED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00A21-F761-410D-B109-E2E1823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81731-11A8-49F0-BF03-FA20AF3C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79B03-CA5C-43BD-B215-58D988AF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CB51C-8F08-4177-A957-C9027D4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4E56B-9C50-4B4F-874A-8E101D1D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常見結構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9005C-2F72-474E-959A-0048096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公司或信託持有不動產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代幣代表股份、受益權或債權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租金依契約分配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轉讓受法規與平台限制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B9CCB-8E37-4A3B-B4C5-10FA97AC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容易誤解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6775A-209D-42F2-949D-7455E723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小額切割不保證有買方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估值與維修成本仍存在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產權登記不一定在鏈上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跨境投資涉及稅務與資格</a:t>
            </a:r>
          </a:p>
        </p:txBody>
      </p:sp>
    </p:spTree>
    <p:extLst>
      <p:ext uri="{BB962C8B-B14F-4D97-AF65-F5344CB8AC3E}">
        <p14:creationId xmlns:p14="http://schemas.microsoft.com/office/powerpoint/2010/main" val="5356265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9B690-4D63-42EA-BC11-CF298845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7FCA-25CD-425E-920A-5201DCF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交割最重要的是資產腿與現金腿同步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5ED6F-6FFB-42CA-BA60-D0C4717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F0D94-3DF6-40E8-AB64-9A10EFFB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A8AB6-3CF0-4881-B6D7-268B70A4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12431-167F-4E3E-A3AB-8CCA0904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8C6AF-A45D-47B5-8F5E-173A219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C527F-62FA-4D2D-951B-3A230CA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DvP目標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86A89-A335-48E1-B718-7771FF27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證券交付與付款互為條件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降低一方先履約的本金風險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縮短等待與對帳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可在同一或互通平台完成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10C2F-8FD5-4A0A-A569-DE198216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現金腿選擇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1E28C-1BE3-415D-A29F-F682B080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央行貨幣或批發型CBDC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商業銀行存款代幣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受規範穩定幣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不同信用帶來不同最終性</a:t>
            </a:r>
          </a:p>
        </p:txBody>
      </p:sp>
    </p:spTree>
    <p:extLst>
      <p:ext uri="{BB962C8B-B14F-4D97-AF65-F5344CB8AC3E}">
        <p14:creationId xmlns:p14="http://schemas.microsoft.com/office/powerpoint/2010/main" val="19585683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6DD07-F403-4E4C-AE2F-032C80C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0EF1E-A817-4755-AFB4-4A3FF216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公有鏈與許可型網路服務不同需求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983C5-AA58-4F66-84BB-000A3653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D2003-4DEE-4012-ABDF-164D77C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071F9-D833-4ED4-9A2E-4AA6098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96039-93E9-4CAB-9AEF-EE1E75FC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13A56-C776-4757-B91B-4D31D7D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00844-03D8-4C22-B5FE-F287B9AD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公有鏈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DD687-1232-436F-A5B1-7D9FB708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全球可接取與流動性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共享基礎設施與可組合性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治理、隱私和合規控制較難客製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CEE83-D201-4B85-BDA1-28FC4B4E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許可型網路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4BF09-D52D-4805-B1CE-FA1EEF1A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參與者與權限明確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較容易配合法律契約與隱私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可能形成封閉孤島與較弱網路效應</a:t>
            </a:r>
          </a:p>
        </p:txBody>
      </p:sp>
    </p:spTree>
    <p:extLst>
      <p:ext uri="{BB962C8B-B14F-4D97-AF65-F5344CB8AC3E}">
        <p14:creationId xmlns:p14="http://schemas.microsoft.com/office/powerpoint/2010/main" val="10857439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A3C76-54D5-4A65-B382-3E9DF27F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00A6A-F32A-49EE-9CE3-7BEEBE7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預言機與鏈外資料決定代幣能否連接真實世界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D28A-A770-41B0-998A-F0C0F3F6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0373E-C52D-471A-AB6A-CCD814BE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221A0-A822-436F-B766-EE925CE7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A4839-3F21-41EC-874B-536107B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3C65D-2E8F-460F-9687-5F499C9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價格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DE5B2-2AF2-401A-8EA1-BC1D205D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估值、抵押率與清算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F936A-3E16-4C1C-874F-73C1DD8E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F39A7-12DE-46A1-851D-63D92A83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E6E87-2B17-4011-8FD2-C26B57B9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投資人資格與制裁篩檢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3E549-3CA9-45A4-AD54-310EC17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5DC16-9DCF-4479-98AD-FF4E51E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8407E-19D0-4B0F-8F33-2E8F1D9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付息、違約、交付與保險理賠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5BCA8-0588-44A6-BA8A-A2A1290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F7D93-E9C8-40F4-8AE0-F3F76691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D2C7E-D516-4BCE-91AE-6863F46D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資料錯誤、延遲與單點控制</a:t>
            </a:r>
          </a:p>
        </p:txBody>
      </p:sp>
    </p:spTree>
    <p:extLst>
      <p:ext uri="{BB962C8B-B14F-4D97-AF65-F5344CB8AC3E}">
        <p14:creationId xmlns:p14="http://schemas.microsoft.com/office/powerpoint/2010/main" val="6693125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756B7-63B3-434F-A5AE-E3575EE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2E1ED-170F-415B-96EA-B0C7098C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碎片化可能抵銷代幣化帶來的效率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479D4-BD3A-4A58-AE67-0EF40C6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59C66-5817-4DDC-AF67-3F24E7D5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4D878-E069-4EC9-919F-1887CAA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B0F92-D7AA-4AE7-A07A-7875FC24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E09DC-9BB3-4983-B7FA-42F439FC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多條鏈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7789-5697-4B0E-A263-0FEE58B6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同類資產散落不同帳本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7D1B4-E3D3-4094-9687-F4C471EC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CC01F-A2C0-4F6F-BE42-E27C4768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多種標準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4E11A-CEBE-4F1B-B238-D6EB511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錢包與合約介面不相容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6C175-AAF4-4DDC-BCE2-B8A59424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C59BA-A297-4DA0-944B-CA0AAB7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F5D9A-B406-4845-B1E9-D677F4C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每個市場深度不足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18E0E-589B-4124-AE21-C9221C19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6653A-2ABD-4098-858C-942950D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法律分歧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047D1-6C9E-4BD2-A46E-D0B038D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跨境權利與最終性不一致</a:t>
            </a:r>
          </a:p>
        </p:txBody>
      </p:sp>
    </p:spTree>
    <p:extLst>
      <p:ext uri="{BB962C8B-B14F-4D97-AF65-F5344CB8AC3E}">
        <p14:creationId xmlns:p14="http://schemas.microsoft.com/office/powerpoint/2010/main" val="8249806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C2D28-6C9A-43C1-8641-E29C957E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第二節｜代幣化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65837-E58C-4575-B88B-4E00543A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案例：公司要把綠色債券代幣化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BFA44-B9D9-43A0-A626-C093B09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41E96-99D0-4153-8D21-F8681CF9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10｜第二節｜代幣化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C0AF2-E829-47DF-83DE-26950AE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CF67C-E9C1-4ED2-BFDE-F9A7B77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技術選鏈之前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CD723-F0F6-4E51-91EE-8664E191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先確認發行人信用、投資人資格、資訊揭露、現金交割資產、託管名冊與違約處理。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783E0-A140-47EA-81E8-439637E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DBEC3-0319-4BEA-AF62-564603A5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49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只有當代幣化能改善發行、交易、對帳或交割中的具體成本，才有商業價值；上鏈本身不是目的。</a:t>
            </a:r>
          </a:p>
        </p:txBody>
      </p:sp>
    </p:spTree>
    <p:extLst>
      <p:ext uri="{BB962C8B-B14F-4D97-AF65-F5344CB8AC3E}">
        <p14:creationId xmlns:p14="http://schemas.microsoft.com/office/powerpoint/2010/main" val="4421127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6E716F-7B69-4795-A9D9-9C0FF2AC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84213-B3F8-46C4-8A92-584F8B1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B2AA3-AC96-42F2-A766-824894E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68A13-CEAB-47DC-B857-39AEF37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347B-47E9-4379-A42D-3D11A64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12FEA-7091-4ED6-811A-9627844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B5A50-C973-4CF1-B067-7B75A124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AC535-6A75-4EF9-9D0F-33CFDE6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552E2-24D0-402B-B006-78514EFB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67DC-6C70-4FC4-9E20-3173E5E1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52758-4350-4E51-AEEC-7329AC49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代幣化第一步？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5C9EC-6929-4E6F-A5CD-880BF1C1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鑄造NFT　B 界定資產與法律權利　C 上交易所　D 發廣告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54C26-2DF5-4F08-A099-A9D40682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06B4B-069C-4AF2-9D2E-070AF4E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答案：B。權利先於技術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CBDF6-F49F-48B1-AC24-7646F568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DvP要降低？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8517B-024C-430C-829F-21618D73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本金交割風險　B 幣價波動　C 稅率　D 網速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7BFE4-C14C-4035-A768-A2D370F7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E48E2-089D-4FD1-B3A2-F965E414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答案：A。券款同步交割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5204C-AE8F-459E-BFB4-22B9DCCF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不動產代幣通常代表？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66C35-8860-416C-898C-7A75B29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磚瓦本身　B 法律載體的股份、受益權或債權　C 土地憑空增加　D 穩定幣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81EBD-BBBB-4E1B-BB94-A7F5FD58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1812C-969B-4E8E-8C45-CFB9B64B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答案：B。權利依結構而定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CF5A7-C1AA-404A-9536-AC5301D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切割資產是否保證流動性？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61891-670A-4426-84A5-BD058C19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只要上鏈　D 只要小額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2146B-44F4-447C-9ACC-3D15FCC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B25F1-B978-46E9-833F-7F3478D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答案：B。仍需買方與市場深度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43CEC-283D-43A3-887D-28A9C3DD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預言機主要連接？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240CC-E4A2-4748-B37B-5A5D61C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鏈外資料與鏈上合約　B 私鑰與密碼　C 礦機與電網　D 股票與債券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F74C5-D43F-4E8D-B7E9-101F7C9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6C475-CA69-4C71-8ADD-F522623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答案：A。資料可信度很重要</a:t>
            </a:r>
          </a:p>
        </p:txBody>
      </p:sp>
    </p:spTree>
    <p:extLst>
      <p:ext uri="{BB962C8B-B14F-4D97-AF65-F5344CB8AC3E}">
        <p14:creationId xmlns:p14="http://schemas.microsoft.com/office/powerpoint/2010/main" val="14698239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5A0EF-A7C8-45F4-9F51-C22982C8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31970-589A-444F-A37B-4017460D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數位資產風險來自資產、發行人、技術與服務四層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9AB11-3E43-4986-9140-F831F09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37132-7CEA-4CDC-9881-FC7875C4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4760C-7F7A-4FBD-8A36-64AB2DAA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F52DC-AFA2-4904-843B-5D10BCC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0DBC6-ADD1-43D8-986D-4DAE04E5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資產層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91AD2-F5DF-45BD-B861-6C6CF914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價值、現金流與流動性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148E5-0B2C-4199-B776-18F6B796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5C1BB-0EFE-4BBF-B00D-8EBA6254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發行人層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6BC2F-6A9E-434D-B74F-EE94491B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信用、儲備、治理與贖回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EAB0D-DAEA-4946-BEBA-3362850A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90CE7-5753-40BC-B857-946E7999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技術層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71E1E-94FF-45C9-A15C-190ECFB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鏈、合約、金鑰與橋接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2B0D4-E792-4AAF-8698-6C184BEE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85E91-98B7-4A1B-A795-93853AC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250C4-A216-4928-8918-F6B8A2F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交易平台、託管與法幣入口</a:t>
            </a:r>
          </a:p>
        </p:txBody>
      </p:sp>
    </p:spTree>
    <p:extLst>
      <p:ext uri="{BB962C8B-B14F-4D97-AF65-F5344CB8AC3E}">
        <p14:creationId xmlns:p14="http://schemas.microsoft.com/office/powerpoint/2010/main" val="11749844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B394B-EB43-4C4D-89B2-6C877ABA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5384D-1EEC-4B5E-ABC1-03F1BC8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價格波動與流動性不足會互相放大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3BD5-919D-4D0B-8703-B31976EB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F0C34-88CB-43EC-9AC3-95C6ED70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B1AEB-0757-4C6C-8DF2-AE266F3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BB9E4-B3AB-449B-95B1-C1548794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E830-833A-4F56-A251-BDEBD7AC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39347-4567-4186-925D-EE67A190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正常市場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D9B9A-EC9E-4EAE-818E-7217A6F5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報價連續、買賣價差較小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可依預期價格成交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槓桿與抵押品仍需管理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416B3-5060-4DC3-917B-7062DD5E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壓力市場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30C47-2647-4B31-BF9B-A80AB318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賣方集中、深度快速消失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滑價與清算互相推動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價格短暫偏離基本權利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NFT與小型代幣尤其明顯</a:t>
            </a:r>
          </a:p>
        </p:txBody>
      </p:sp>
    </p:spTree>
    <p:extLst>
      <p:ext uri="{BB962C8B-B14F-4D97-AF65-F5344CB8AC3E}">
        <p14:creationId xmlns:p14="http://schemas.microsoft.com/office/powerpoint/2010/main" val="12922889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42C9D-29B8-477D-9FF5-164A61E1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CA932-6E8F-4BC1-87A8-7584B357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發行白皮書不能取代可執行的法律權利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67CC3-ED48-4718-81E8-05DA933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2B764-8DF9-4219-96CA-7839E3C7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FC67D-6C57-4A77-81A8-79FCCE1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8A33D-7E52-45C9-B9A4-1D636173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FA500-6E45-464F-9F1D-2251B5BA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真實性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9CDA5-D7D9-48D9-8DA2-3AE2A9A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資產是否存在且未重複抵押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EEF1D-6246-4798-8F85-0062801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04DA6-3805-469D-A0F6-048D797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順位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59CE3-A5B6-47F4-AE12-CD02EDBA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破產時持有人排在何處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558B3-6B27-4A44-8325-53707CA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B73E4-21ED-4171-AE6C-AF674293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贖回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FB4A2-0810-41A3-BC9B-E30C45DC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條件、費用、時程與限制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BA299-0D03-4B06-B351-119121C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05490-7E4B-4A1E-8327-1B53428A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030A3-F5D7-4D7F-A4B8-4C33AEC4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爭議適用哪國法律與法院</a:t>
            </a:r>
          </a:p>
        </p:txBody>
      </p:sp>
    </p:spTree>
    <p:extLst>
      <p:ext uri="{BB962C8B-B14F-4D97-AF65-F5344CB8AC3E}">
        <p14:creationId xmlns:p14="http://schemas.microsoft.com/office/powerpoint/2010/main" val="8966188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7DF90-50BA-4882-ACD9-6DC8CF1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4A987-166B-4EA2-92D7-6186C75E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智能合約與私鑰會把作業錯誤快速放大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18439-B0B2-46F0-A425-F6E0A46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2B36C-E3B5-4B02-9916-8999F5C1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15BF7-E1A4-4015-A17D-406CD32E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68174-316A-449E-8B59-045E058C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8A135-F1EA-43A3-9D2A-06E22E89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合約漏洞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33F02-3401-40B6-B262-EB8A769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規則錯誤可直接移轉資產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E493-449A-4554-A814-540BF698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5E55A-C88B-4F91-97E8-ED50C9E1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管理金鑰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DA74F-4085-4C6F-B446-A9BDFB3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少數人可能升級、凍結或鑄造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081E6-D042-436E-8D49-2A0BC343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F2842-AE34-4E9F-AFB8-71717E18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使用者錯誤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69AFD-31F2-4B6A-88A5-C1108756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誤簽、錯鏈與地址投毒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1C93F-82BD-46D6-98EB-A4B70B97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0CE18-A028-432D-89A9-BBF35C92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橋接風險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165CC-481D-4209-898F-7C8C803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跨鏈驗證失效導致映射資產失去支持</a:t>
            </a:r>
          </a:p>
        </p:txBody>
      </p:sp>
    </p:spTree>
    <p:extLst>
      <p:ext uri="{BB962C8B-B14F-4D97-AF65-F5344CB8AC3E}">
        <p14:creationId xmlns:p14="http://schemas.microsoft.com/office/powerpoint/2010/main" val="4260658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EA366-E741-4CF1-A7DF-32DC3D69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9217C-402D-4C87-A0B7-A274EED9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詐騙常利用『代幣名稱相同』與名人背書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52B09-16CF-4ED0-997C-DF7EAE2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E9DB5-EEEE-46FA-8B2D-497C93EB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1E3C9-6A00-4B41-82DF-496301E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E88EA-32EB-4F2D-90A2-DC9F949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C2080-555D-4CD5-9E36-E786386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A5FE6-1CE0-4326-9336-597E55EE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常見手法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244FD-7A63-4C31-B796-76D23E2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假空投與釣魚簽名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仿冒代幣與合約地址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保證收益與拉人獎金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偽造資產、審計或名人授權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C4B7A-09D5-4FDF-8790-CA3E4C1D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基本防線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F99F-1E59-47F7-8378-58596DF3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核對官方合約地址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確認發行人與監理身分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小額測試並限制授權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不交付助記詞與私鑰</a:t>
            </a:r>
          </a:p>
        </p:txBody>
      </p:sp>
    </p:spTree>
    <p:extLst>
      <p:ext uri="{BB962C8B-B14F-4D97-AF65-F5344CB8AC3E}">
        <p14:creationId xmlns:p14="http://schemas.microsoft.com/office/powerpoint/2010/main" val="16948353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331D3-3EF5-4292-9B50-3712524F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2E5E7-0FD2-47B9-B586-4E49260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歐盟MiCA已進入全面適用與授權轉換階段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52078-DFFB-4F0F-AF78-098C248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8EAFA-5FA0-4257-851F-1BF6A45A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DDB9E-6017-4F32-B126-E7CD251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C27B6-8227-4E58-9420-F480AAA3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E6AF7-CE15-4E9E-83BB-90E9BDD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5D451-BC5C-463C-8001-95E2D94F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主要進程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EEE5B-034E-47BB-847C-299C9042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穩定幣相關規則自2024年6月適用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MiCA整體自2024年12月適用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部分既有服務商過渡期可至2026年7月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803A9-50CC-4D93-B0D5-8EDB996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AFBBB-2329-44EF-A7F5-8DB8863D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發行揭露與市場行為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穩定幣治理與儲備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服務商授權與客戶保護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各國過渡安排仍需查證</a:t>
            </a:r>
          </a:p>
        </p:txBody>
      </p:sp>
    </p:spTree>
    <p:extLst>
      <p:ext uri="{BB962C8B-B14F-4D97-AF65-F5344CB8AC3E}">
        <p14:creationId xmlns:p14="http://schemas.microsoft.com/office/powerpoint/2010/main" val="12744177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31608-99C1-4E2E-A5C8-D064F874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C3BDB-D488-4D1C-B090-781121E2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臺灣2026年公布《虛擬資產服務法》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A54F6-4524-40C4-A176-BBD7592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CD604-C2E7-4E54-8BEC-B97B8E7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2FED2-78C9-4BF6-A22B-91196C8F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70A94-4C6E-402E-BEF2-D3967E7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25AD-1A5D-4BD8-8EC3-F0D9F7F4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930CC-920A-46EB-AB2C-F2D198F0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法律涵蓋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564C5-A4E2-4BA0-BDA3-173EFC9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交換、移轉、保管、發行銷售與借貸等服務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服務商許可與監督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客戶資產分離與法幣保障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穩定幣及交易市場規範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FC114-9E78-4B8B-8AB2-CF9F430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授課要注意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C37D2-A507-456D-BCF7-C9F0AEA0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公布不等於所有條文立即施行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有價證券與依法發行金融資產另依其他法令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NFT是否納入須看定義與經濟實質</a:t>
            </a:r>
          </a:p>
        </p:txBody>
      </p:sp>
    </p:spTree>
    <p:extLst>
      <p:ext uri="{BB962C8B-B14F-4D97-AF65-F5344CB8AC3E}">
        <p14:creationId xmlns:p14="http://schemas.microsoft.com/office/powerpoint/2010/main" val="3408556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792BC-76B0-4A9A-B763-1261CBEE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AA2C-91D7-428F-9497-658CD339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2026年的重點已從『發幣』轉向制度整合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1B3E5-01D2-4FF2-8014-C2150C7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E758A-96EE-422D-A986-238FB51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2816D-2AC6-424A-85B9-1AF64FB6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86A2E-8120-40A0-8EFF-9AD16C4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CEFF5-A493-42C4-86C0-01743D44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代幣化存款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861BC-ED94-4B19-84F2-50ED627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銀行貨幣進入可程式化平台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A640B-5838-4298-9992-5554CD71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B1FDB-60AA-4DB0-AE99-462AA954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代幣化基金債券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0A8A9-9FDB-43BA-9C7E-25CD9AE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傳統金融資產改用新型帳本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CBBFC-A054-43F1-9CCB-DAD21BE6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3D529-8FB0-4C21-86B2-BD5D815C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可互通結算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5B0F4-B9D8-4A06-8DBF-A80133EE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資產、現金與身分共同運作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77208-393E-4585-B87A-80128DA4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38DAD-3C33-4E59-9E0B-6B30D427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受監管服務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E797C-A5D3-4B17-BCB3-C65E624D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託管、揭露與客戶保護成為基礎</a:t>
            </a:r>
          </a:p>
        </p:txBody>
      </p:sp>
    </p:spTree>
    <p:extLst>
      <p:ext uri="{BB962C8B-B14F-4D97-AF65-F5344CB8AC3E}">
        <p14:creationId xmlns:p14="http://schemas.microsoft.com/office/powerpoint/2010/main" val="17582636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8C3E3-CB4E-4886-87C2-52CF874D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FBCB-FD3A-4FCB-B3F5-9600F02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投資或導入前，用八格完成盡職調查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C94E9-A5DD-43CE-B468-230E8CB1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B1910-733F-403E-AD03-18A8162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61C8-5FA0-4E28-A360-A5E7688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A8389-F692-4263-B1D9-B29CFA7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FCC06-CF78-4005-8121-D916D61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權利與現金流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68505-47E3-4F6B-8DF3-7A5758F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持有人究竟得到什麼？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DED89-98D7-4BC2-85DD-B2F7142B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19AFA-2D25-41C5-8735-86A3BBE0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發行與治理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AF2EC-4584-49E5-BF03-DCA993C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誰負責、誰能改規則？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E9D7-0880-4B20-95F8-78C4F259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36A21-595A-4024-9A04-4B349FEA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保管與技術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DE405-2DBE-48CE-A5A5-745EF80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私鑰、合約與備援如何？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D345F-9B97-4D0F-9370-1580557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03EF7-69BC-48A0-A7CB-3EE465E2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流動性與合規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0B77A-DFA1-413E-94EE-63E511B6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如何退出、在哪裡受監管？</a:t>
            </a:r>
          </a:p>
        </p:txBody>
      </p:sp>
    </p:spTree>
    <p:extLst>
      <p:ext uri="{BB962C8B-B14F-4D97-AF65-F5344CB8AC3E}">
        <p14:creationId xmlns:p14="http://schemas.microsoft.com/office/powerpoint/2010/main" val="924067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01DBB-4553-4245-AC81-249F8EBD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B9538-7368-4624-A001-27AAA352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本週結論：先看權利，再看代幣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75E99-92C9-4082-892A-B759E5EE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78425-77CF-4F3E-9630-846C34D5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B5657-1719-4350-8B7F-BB2D4284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3EDE4-E34F-478E-8592-874E5B77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數位資產分析順序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876B8-7461-4BFB-A6D5-35BDFB7A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辨識發行人與權利，確認價值來源及現金流，再評估帳本、託管、交易與監理。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84F1D-AC19-4ACC-94DB-4003C6A5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D0215-275A-4DAB-8699-35B8D23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5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代幣化可以改善流程，但不會自動創造流動性、法律效力或低風險；金融專業仍是判斷核心。</a:t>
            </a:r>
          </a:p>
        </p:txBody>
      </p:sp>
    </p:spTree>
    <p:extLst>
      <p:ext uri="{BB962C8B-B14F-4D97-AF65-F5344CB8AC3E}">
        <p14:creationId xmlns:p14="http://schemas.microsoft.com/office/powerpoint/2010/main" val="4936916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B0337-89A8-4290-892F-4B1871B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2463A-28AD-48A1-B3EE-B1315011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115DE-8EAA-4E2F-ACC9-9B5DB2E0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05E4A-D7A1-4431-94E8-E418E594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AC2BA-06AD-4D0C-93CF-709FACCA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52074-095D-4ED8-9614-56049616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F61FE-5EDA-40AC-88E8-2307B78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12211-2E05-47CA-A3C4-38A2DC3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7D9A4-7AF9-4EE0-ACB8-EFA9B498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10｜第三節｜快問快答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DB19D-1B1E-49E9-A08C-E46049BD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D2581-1A94-4BA3-9EC7-0CD6CB2D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數位資產風險應分幾層看？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51910-CCAC-4FBE-A783-167FEF5C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只看價格　B 資產、發行人、技術、服務　C 只看鏈　D 只看平台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54A83-3399-4D33-AD65-A1B3F6FF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1BFD4-B2A8-483A-A297-60E4FF8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答案：B。四層責任地圖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7FFE9-C9A9-4E2F-8D31-36E62F0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白皮書是否等於可執行法律權利？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CF9E6-79AB-456F-A71F-6620680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有Logo就是　D 上鏈就是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4CA14-AEC6-4BAD-84F6-B584D657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36876-1CE2-4D43-9D62-8C5B90E0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答案：B。需看契約與管轄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6CD2F-4BE8-474F-B76F-B28E106F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MiCA整體自何時適用？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D30B9-C041-4360-9BE0-E3C2B58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2024年12月　B 2010年　C 2035年　D 尚未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033EF-8E17-4FB4-AF5E-7C2177D4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C936B-093A-4924-AD27-1C46B432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答案：A。部分穩定幣規則更早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1C911-2608-4E0A-BFB5-E484316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臺灣虛擬資產服務法公布於？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8E362-F67A-44D9-BB29-448A6725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2026年　B 2009年　C 2017年　D 尚未公布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8ACEE-48DF-477A-A207-41772F74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C023E-D405-4C1C-9163-DAC5E8B5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答案：A。部分條文尚待施行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D4A053-6B0A-472F-976B-9D10C5D9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代幣化最合理的判斷順序？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4BE43-B483-47BE-8E4F-C5A76309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先看幣價　B 先看權利與責任　C 先看社群　D 先看鏈名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0F573-CDD9-4783-80E7-7D2AF38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8801E-B376-4C76-840F-D3F5EEFD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7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答案：B。技術載體排在經濟實質之後</a:t>
            </a:r>
          </a:p>
        </p:txBody>
      </p:sp>
    </p:spTree>
    <p:extLst>
      <p:ext uri="{BB962C8B-B14F-4D97-AF65-F5344CB8AC3E}">
        <p14:creationId xmlns:p14="http://schemas.microsoft.com/office/powerpoint/2010/main" val="1659826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2026-09-03T05:36:37.7140000Z</dcterms:created>
  <dcterms:modified xsi:type="dcterms:W3CDTF">2026-09-03T05:36:37.7140000Z</dcterms:modified>
</coreProperties>
</file>