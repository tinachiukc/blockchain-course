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4bc96d39c84353" /><Relationship Type="http://schemas.openxmlformats.org/officeDocument/2006/relationships/extended-properties" Target="/docProps/app.xml" Id="Rde024c046edd44ac" /><Relationship Type="http://schemas.openxmlformats.org/officeDocument/2006/relationships/officeDocument" Target="/ppt/presentation.xml" Id="Rfdce65b2294d46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fdbd09295647a0"/>
  </p:sldMasterIdLst>
  <p:notesMasterIdLst>
    <p:notesMasterId xmlns:r="http://schemas.openxmlformats.org/officeDocument/2006/relationships" r:id="Ree65a10a45ff48f2"/>
  </p:notesMasterIdLst>
  <p:sldIdLst>
    <p:sldId xmlns:r="http://schemas.openxmlformats.org/officeDocument/2006/relationships" id="256" r:id="R07d801757d514f77"/>
    <p:sldId xmlns:r="http://schemas.openxmlformats.org/officeDocument/2006/relationships" id="257" r:id="R56af3cff697c4bb6"/>
    <p:sldId xmlns:r="http://schemas.openxmlformats.org/officeDocument/2006/relationships" id="258" r:id="R3bdc40b0c5d14288"/>
    <p:sldId xmlns:r="http://schemas.openxmlformats.org/officeDocument/2006/relationships" id="259" r:id="R797b118034494063"/>
    <p:sldId xmlns:r="http://schemas.openxmlformats.org/officeDocument/2006/relationships" id="260" r:id="R8791364102b24d52"/>
    <p:sldId xmlns:r="http://schemas.openxmlformats.org/officeDocument/2006/relationships" id="261" r:id="Rbac256bfff254436"/>
    <p:sldId xmlns:r="http://schemas.openxmlformats.org/officeDocument/2006/relationships" id="262" r:id="R223be7253d4e4f24"/>
    <p:sldId xmlns:r="http://schemas.openxmlformats.org/officeDocument/2006/relationships" id="263" r:id="R504dcec83e0c4bb5"/>
    <p:sldId xmlns:r="http://schemas.openxmlformats.org/officeDocument/2006/relationships" id="264" r:id="R9b18d2204be8440c"/>
    <p:sldId xmlns:r="http://schemas.openxmlformats.org/officeDocument/2006/relationships" id="265" r:id="R63c7b55862374928"/>
    <p:sldId xmlns:r="http://schemas.openxmlformats.org/officeDocument/2006/relationships" id="266" r:id="R453a534689914058"/>
    <p:sldId xmlns:r="http://schemas.openxmlformats.org/officeDocument/2006/relationships" id="267" r:id="Re262da7d6f3e4dff"/>
    <p:sldId xmlns:r="http://schemas.openxmlformats.org/officeDocument/2006/relationships" id="268" r:id="Ref07e9f4aa0b416f"/>
    <p:sldId xmlns:r="http://schemas.openxmlformats.org/officeDocument/2006/relationships" id="269" r:id="R7998200fc1854b21"/>
    <p:sldId xmlns:r="http://schemas.openxmlformats.org/officeDocument/2006/relationships" id="270" r:id="R1f960af5405f4852"/>
    <p:sldId xmlns:r="http://schemas.openxmlformats.org/officeDocument/2006/relationships" id="271" r:id="R91dbf68457f24d13"/>
    <p:sldId xmlns:r="http://schemas.openxmlformats.org/officeDocument/2006/relationships" id="272" r:id="R7397cd938ea741c5"/>
    <p:sldId xmlns:r="http://schemas.openxmlformats.org/officeDocument/2006/relationships" id="273" r:id="Ra1d1fc5bd4994fb2"/>
    <p:sldId xmlns:r="http://schemas.openxmlformats.org/officeDocument/2006/relationships" id="274" r:id="R0708ce0244844d5c"/>
    <p:sldId xmlns:r="http://schemas.openxmlformats.org/officeDocument/2006/relationships" id="275" r:id="R1888dd6d22924943"/>
    <p:sldId xmlns:r="http://schemas.openxmlformats.org/officeDocument/2006/relationships" id="276" r:id="R6053ce07b4a841d4"/>
    <p:sldId xmlns:r="http://schemas.openxmlformats.org/officeDocument/2006/relationships" id="277" r:id="R366a0723aee243b7"/>
    <p:sldId xmlns:r="http://schemas.openxmlformats.org/officeDocument/2006/relationships" id="278" r:id="Rc1feb40e7d1f45ad"/>
    <p:sldId xmlns:r="http://schemas.openxmlformats.org/officeDocument/2006/relationships" id="279" r:id="R24d87610e1aa40ad"/>
    <p:sldId xmlns:r="http://schemas.openxmlformats.org/officeDocument/2006/relationships" id="280" r:id="R26b987f0b0374062"/>
    <p:sldId xmlns:r="http://schemas.openxmlformats.org/officeDocument/2006/relationships" id="281" r:id="R129faa55d5f24595"/>
    <p:sldId xmlns:r="http://schemas.openxmlformats.org/officeDocument/2006/relationships" id="282" r:id="R54882d23dcb84e30"/>
    <p:sldId xmlns:r="http://schemas.openxmlformats.org/officeDocument/2006/relationships" id="283" r:id="Rce12036847544c60"/>
    <p:sldId xmlns:r="http://schemas.openxmlformats.org/officeDocument/2006/relationships" id="284" r:id="R82b8b2663f5543ed"/>
    <p:sldId xmlns:r="http://schemas.openxmlformats.org/officeDocument/2006/relationships" id="285" r:id="R296a092f1b364025"/>
    <p:sldId xmlns:r="http://schemas.openxmlformats.org/officeDocument/2006/relationships" id="286" r:id="R24a157d4bb6642ab"/>
    <p:sldId xmlns:r="http://schemas.openxmlformats.org/officeDocument/2006/relationships" id="287" r:id="R8cba97e3caeb4422"/>
    <p:sldId xmlns:r="http://schemas.openxmlformats.org/officeDocument/2006/relationships" id="288" r:id="Ra831215079bc4e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24cfe407fb4d3e" /><Relationship Type="http://schemas.openxmlformats.org/officeDocument/2006/relationships/slideMaster" Target="/ppt/slideMasters/slideMaster1.xml" Id="R42fdbd09295647a0" /><Relationship Type="http://schemas.openxmlformats.org/officeDocument/2006/relationships/notesMaster" Target="/ppt/notesMasters/notesMaster1.xml" Id="Ree65a10a45ff48f2" /><Relationship Type="http://schemas.openxmlformats.org/officeDocument/2006/relationships/presProps" Target="/ppt/presProps.xml" Id="R36bddc203d394f63" /><Relationship Type="http://schemas.openxmlformats.org/officeDocument/2006/relationships/tableStyles" Target="/ppt/tableStyles.xml" Id="Rc7189ed5df2643d4" /><Relationship Type="http://schemas.openxmlformats.org/officeDocument/2006/relationships/slide" Target="/ppt/slides/slide1.xml" Id="R07d801757d514f77" /><Relationship Type="http://schemas.openxmlformats.org/officeDocument/2006/relationships/slide" Target="/ppt/slides/slide2.xml" Id="R56af3cff697c4bb6" /><Relationship Type="http://schemas.openxmlformats.org/officeDocument/2006/relationships/slide" Target="/ppt/slides/slide3.xml" Id="R3bdc40b0c5d14288" /><Relationship Type="http://schemas.openxmlformats.org/officeDocument/2006/relationships/slide" Target="/ppt/slides/slide4.xml" Id="R797b118034494063" /><Relationship Type="http://schemas.openxmlformats.org/officeDocument/2006/relationships/slide" Target="/ppt/slides/slide5.xml" Id="R8791364102b24d52" /><Relationship Type="http://schemas.openxmlformats.org/officeDocument/2006/relationships/slide" Target="/ppt/slides/slide6.xml" Id="Rbac256bfff254436" /><Relationship Type="http://schemas.openxmlformats.org/officeDocument/2006/relationships/slide" Target="/ppt/slides/slide7.xml" Id="R223be7253d4e4f24" /><Relationship Type="http://schemas.openxmlformats.org/officeDocument/2006/relationships/slide" Target="/ppt/slides/slide8.xml" Id="R504dcec83e0c4bb5" /><Relationship Type="http://schemas.openxmlformats.org/officeDocument/2006/relationships/slide" Target="/ppt/slides/slide9.xml" Id="R9b18d2204be8440c" /><Relationship Type="http://schemas.openxmlformats.org/officeDocument/2006/relationships/slide" Target="/ppt/slides/slide10.xml" Id="R63c7b55862374928" /><Relationship Type="http://schemas.openxmlformats.org/officeDocument/2006/relationships/slide" Target="/ppt/slides/slide11.xml" Id="R453a534689914058" /><Relationship Type="http://schemas.openxmlformats.org/officeDocument/2006/relationships/slide" Target="/ppt/slides/slide12.xml" Id="Re262da7d6f3e4dff" /><Relationship Type="http://schemas.openxmlformats.org/officeDocument/2006/relationships/slide" Target="/ppt/slides/slide13.xml" Id="Ref07e9f4aa0b416f" /><Relationship Type="http://schemas.openxmlformats.org/officeDocument/2006/relationships/slide" Target="/ppt/slides/slide14.xml" Id="R7998200fc1854b21" /><Relationship Type="http://schemas.openxmlformats.org/officeDocument/2006/relationships/slide" Target="/ppt/slides/slide15.xml" Id="R1f960af5405f4852" /><Relationship Type="http://schemas.openxmlformats.org/officeDocument/2006/relationships/slide" Target="/ppt/slides/slide16.xml" Id="R91dbf68457f24d13" /><Relationship Type="http://schemas.openxmlformats.org/officeDocument/2006/relationships/slide" Target="/ppt/slides/slide17.xml" Id="R7397cd938ea741c5" /><Relationship Type="http://schemas.openxmlformats.org/officeDocument/2006/relationships/slide" Target="/ppt/slides/slide18.xml" Id="Ra1d1fc5bd4994fb2" /><Relationship Type="http://schemas.openxmlformats.org/officeDocument/2006/relationships/slide" Target="/ppt/slides/slide19.xml" Id="R0708ce0244844d5c" /><Relationship Type="http://schemas.openxmlformats.org/officeDocument/2006/relationships/slide" Target="/ppt/slides/slide20.xml" Id="R1888dd6d22924943" /><Relationship Type="http://schemas.openxmlformats.org/officeDocument/2006/relationships/slide" Target="/ppt/slides/slide21.xml" Id="R6053ce07b4a841d4" /><Relationship Type="http://schemas.openxmlformats.org/officeDocument/2006/relationships/slide" Target="/ppt/slides/slide22.xml" Id="R366a0723aee243b7" /><Relationship Type="http://schemas.openxmlformats.org/officeDocument/2006/relationships/slide" Target="/ppt/slides/slide23.xml" Id="Rc1feb40e7d1f45ad" /><Relationship Type="http://schemas.openxmlformats.org/officeDocument/2006/relationships/slide" Target="/ppt/slides/slide24.xml" Id="R24d87610e1aa40ad" /><Relationship Type="http://schemas.openxmlformats.org/officeDocument/2006/relationships/slide" Target="/ppt/slides/slide25.xml" Id="R26b987f0b0374062" /><Relationship Type="http://schemas.openxmlformats.org/officeDocument/2006/relationships/slide" Target="/ppt/slides/slide26.xml" Id="R129faa55d5f24595" /><Relationship Type="http://schemas.openxmlformats.org/officeDocument/2006/relationships/slide" Target="/ppt/slides/slide27.xml" Id="R54882d23dcb84e30" /><Relationship Type="http://schemas.openxmlformats.org/officeDocument/2006/relationships/slide" Target="/ppt/slides/slide28.xml" Id="Rce12036847544c60" /><Relationship Type="http://schemas.openxmlformats.org/officeDocument/2006/relationships/slide" Target="/ppt/slides/slide29.xml" Id="R82b8b2663f5543ed" /><Relationship Type="http://schemas.openxmlformats.org/officeDocument/2006/relationships/slide" Target="/ppt/slides/slide30.xml" Id="R296a092f1b364025" /><Relationship Type="http://schemas.openxmlformats.org/officeDocument/2006/relationships/slide" Target="/ppt/slides/slide31.xml" Id="R24a157d4bb6642ab" /><Relationship Type="http://schemas.openxmlformats.org/officeDocument/2006/relationships/slide" Target="/ppt/slides/slide32.xml" Id="R8cba97e3caeb4422" /><Relationship Type="http://schemas.openxmlformats.org/officeDocument/2006/relationships/slide" Target="/ppt/slides/slide33.xml" Id="Ra831215079bc4e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76755c0c540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23cd97dc446bd" /><Relationship Type="http://schemas.openxmlformats.org/officeDocument/2006/relationships/notesMaster" Target="/ppt/notesMasters/notesMaster1.xml" Id="Rb004dff6e26b43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77bb2f20974b42" /><Relationship Type="http://schemas.openxmlformats.org/officeDocument/2006/relationships/notesMaster" Target="/ppt/notesMasters/notesMaster1.xml" Id="Ra3d7229ea70242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24dabedea04eaf" /><Relationship Type="http://schemas.openxmlformats.org/officeDocument/2006/relationships/notesMaster" Target="/ppt/notesMasters/notesMaster1.xml" Id="R6f26bb466cea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f6897f3ba8406b" /><Relationship Type="http://schemas.openxmlformats.org/officeDocument/2006/relationships/notesMaster" Target="/ppt/notesMasters/notesMaster1.xml" Id="R418e028ea3d743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1b7e382da84dfe" /><Relationship Type="http://schemas.openxmlformats.org/officeDocument/2006/relationships/notesMaster" Target="/ppt/notesMasters/notesMaster1.xml" Id="R62e24216777740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865a9ae4b49e5" /><Relationship Type="http://schemas.openxmlformats.org/officeDocument/2006/relationships/notesMaster" Target="/ppt/notesMasters/notesMaster1.xml" Id="R02a209aa3f7f44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95c14814b04daa" /><Relationship Type="http://schemas.openxmlformats.org/officeDocument/2006/relationships/notesMaster" Target="/ppt/notesMasters/notesMaster1.xml" Id="R47da744b897c49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89551d0e5e4ca3" /><Relationship Type="http://schemas.openxmlformats.org/officeDocument/2006/relationships/notesMaster" Target="/ppt/notesMasters/notesMaster1.xml" Id="R0c59284d2b3a48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9fa26637744138" /><Relationship Type="http://schemas.openxmlformats.org/officeDocument/2006/relationships/notesMaster" Target="/ppt/notesMasters/notesMaster1.xml" Id="Rb436a746828549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96754d0e4343cf" /><Relationship Type="http://schemas.openxmlformats.org/officeDocument/2006/relationships/notesMaster" Target="/ppt/notesMasters/notesMaster1.xml" Id="Rb2cfeadf2dad4a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8ade232b9243d9" /><Relationship Type="http://schemas.openxmlformats.org/officeDocument/2006/relationships/notesMaster" Target="/ppt/notesMasters/notesMaster1.xml" Id="Rac0c050d988f45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33f7a92223489f" /><Relationship Type="http://schemas.openxmlformats.org/officeDocument/2006/relationships/notesMaster" Target="/ppt/notesMasters/notesMaster1.xml" Id="Rd31358f5658545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e28dc3264b4882" /><Relationship Type="http://schemas.openxmlformats.org/officeDocument/2006/relationships/notesMaster" Target="/ppt/notesMasters/notesMaster1.xml" Id="R05def0623c1141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90469de71e4f23" /><Relationship Type="http://schemas.openxmlformats.org/officeDocument/2006/relationships/notesMaster" Target="/ppt/notesMasters/notesMaster1.xml" Id="Ra8a3072edb5b4e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9a25ccaf474936" /><Relationship Type="http://schemas.openxmlformats.org/officeDocument/2006/relationships/notesMaster" Target="/ppt/notesMasters/notesMaster1.xml" Id="R67e19eea8e4f45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46ce36a1144a23" /><Relationship Type="http://schemas.openxmlformats.org/officeDocument/2006/relationships/notesMaster" Target="/ppt/notesMasters/notesMaster1.xml" Id="R1319ed38e65849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598fb0ef4c4981" /><Relationship Type="http://schemas.openxmlformats.org/officeDocument/2006/relationships/notesMaster" Target="/ppt/notesMasters/notesMaster1.xml" Id="Reb4716adb87d45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5a700288244d85" /><Relationship Type="http://schemas.openxmlformats.org/officeDocument/2006/relationships/notesMaster" Target="/ppt/notesMasters/notesMaster1.xml" Id="R99a3b9d0a7f84a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826426db404daf" /><Relationship Type="http://schemas.openxmlformats.org/officeDocument/2006/relationships/notesMaster" Target="/ppt/notesMasters/notesMaster1.xml" Id="Rf86e79260f1449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f8c91288e54463" /><Relationship Type="http://schemas.openxmlformats.org/officeDocument/2006/relationships/notesMaster" Target="/ppt/notesMasters/notesMaster1.xml" Id="R89d8c5b64f1b477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45abcdd76f434c" /><Relationship Type="http://schemas.openxmlformats.org/officeDocument/2006/relationships/notesMaster" Target="/ppt/notesMasters/notesMaster1.xml" Id="Rdc32cd9dc9b94f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c79d4fed564d3b" /><Relationship Type="http://schemas.openxmlformats.org/officeDocument/2006/relationships/notesMaster" Target="/ppt/notesMasters/notesMaster1.xml" Id="R0e95809825d349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a78e9d855a47bb" /><Relationship Type="http://schemas.openxmlformats.org/officeDocument/2006/relationships/notesMaster" Target="/ppt/notesMasters/notesMaster1.xml" Id="R9c0ea4b9ed094d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f2cb7fb93b4171" /><Relationship Type="http://schemas.openxmlformats.org/officeDocument/2006/relationships/notesMaster" Target="/ppt/notesMasters/notesMaster1.xml" Id="Rcc30f691bed34dc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80242f6d03a4216" /><Relationship Type="http://schemas.openxmlformats.org/officeDocument/2006/relationships/notesMaster" Target="/ppt/notesMasters/notesMaster1.xml" Id="Rdca4a2fd168c4e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58190e94424dbf" /><Relationship Type="http://schemas.openxmlformats.org/officeDocument/2006/relationships/notesMaster" Target="/ppt/notesMasters/notesMaster1.xml" Id="R6154e21d923d463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d3c68eff1364875" /><Relationship Type="http://schemas.openxmlformats.org/officeDocument/2006/relationships/notesMaster" Target="/ppt/notesMasters/notesMaster1.xml" Id="R6a2ed9c1656c4da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657156d1ae246ec" /><Relationship Type="http://schemas.openxmlformats.org/officeDocument/2006/relationships/notesMaster" Target="/ppt/notesMasters/notesMaster1.xml" Id="Ra69242dde31a496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829b67d6a464dad" /><Relationship Type="http://schemas.openxmlformats.org/officeDocument/2006/relationships/notesMaster" Target="/ppt/notesMasters/notesMaster1.xml" Id="R33ddcbb86b2e43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39714250e324e97" /><Relationship Type="http://schemas.openxmlformats.org/officeDocument/2006/relationships/notesMaster" Target="/ppt/notesMasters/notesMaster1.xml" Id="R8679ee978021440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76d7fe465ae4c97" /><Relationship Type="http://schemas.openxmlformats.org/officeDocument/2006/relationships/notesMaster" Target="/ppt/notesMasters/notesMaster1.xml" Id="R9e83e24658ed46a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ed452f23424bcb" /><Relationship Type="http://schemas.openxmlformats.org/officeDocument/2006/relationships/notesMaster" Target="/ppt/notesMasters/notesMaster1.xml" Id="R2ec45ed6e58e4e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edd7ff5693a453a" /><Relationship Type="http://schemas.openxmlformats.org/officeDocument/2006/relationships/notesMaster" Target="/ppt/notesMasters/notesMaster1.xml" Id="R87fb28955e434b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舊教材的區塊鏈金融案例多強調去中介與降成本；新版改以支付、清算、交割及風險分配來判斷。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區塊鏈可能整合部分流程，但不會使法律責任與流動性需求消失。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移除中介的功能，往往只是把它的責任轉移給其他參與者或程式。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不可竄改是紀錄特性，不是資料真實性的保證。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比較支付系統時要用相同的完成定義。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共享帳本能改善協調，但仍需法幣流動性與跨境法規合作。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更快不是免費午餐；要比較本金風險與流動性成本。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只有資產上鏈而付款仍在鏈下，會留下同步與對手方風險。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選擇帳本要配合產品、參與者、隱私與法律要求。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今日多數資產本來已數位化；代幣化的差異在共享與可程式化帳本。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https://www.imf.org/en/publications/fintech-notes/issues/2025/01/29/tokenization-and-financial-market-inefficiencies-561256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要逐環節量化成本，不要用『效率提升』概括全部價值。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https://www.imf.org/en/publications/fintech-notes/issues/2025/01/29/tokenization-and-financial-market-inefficiencies-561256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鏈上紀錄改善流程，不會提高發行人的償債能力。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名稱都可稱為數位貨幣，但法律請求權、信用與贖回機制不同。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BIS 2025調查顯示，93家央行中91%正探索零售型、批發型或兩者。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https://www.bis.org/publications/paper-159-advancing-tandem-results-2024-bis-survey-central-bank-digital-currencies-and-crypto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代幣形式不改變核心問題：一元銀行貨幣能否穩定等值於一元法幣。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BIS認為穩定幣在單一性、彈性與完整性上仍難成為貨幣體系核心。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https://www.bis.org/publications/aer-2025/next-generation-monetary-financial-system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實作可以是單一平台或互通網路；重點是維持貨幣信任與治理。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https://www.bis.org/media-releases/20250624-next-generation-monetary-and-financial-system-takes-shape-based-tokenised-unified-ledger-bis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把資產搬到更多鏈上，不等於市場自然整合。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DeFi降低部分進入門檻，但沒有消除市場、信用、流動性與操作風險。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不做身分授信並非沒有信用問題，而是用更多抵押與自動清算取代。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透明程式碼不代表一般投資人能理解整條依賴鏈。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IMF指出部分市場無效率會下降，另一些仍存在或轉為新風險。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https://www.imf.org/en/publications/fintech-notes/issues/2025/01/29/tokenization-and-financial-market-inefficiencies-561256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單一協議事故不必然是系統風險；關鍵是衝擊傳遞到實體與金融體系的能力。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『使用者自己簽名』不代表服務商可免除誤導、控制或資安責任。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FSB 2025檢視認為已有進展，但重大缺口與不一致仍存在。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https://www.fsb.org/2025/10/thematic-review-on-fsb-global-regulatory-framework-for-crypto-asset-activities/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技術架構只有在四張表能對上時，才可能成為可持續的金融服務。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要求學生提出有條件採用、試辦或不採用的建議，而非追逐熱門名詞。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https://www.bis.org/publications/iii-anchoring-trust-money-innovation-beyond-stablecoins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6183daa2d47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264280e32e4471" /><Relationship Type="http://schemas.openxmlformats.org/officeDocument/2006/relationships/slideLayout" Target="/ppt/slideLayouts/slideLayout1.xml" Id="Rc4b54436194e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b54436194e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9772c985f4579" /><Relationship Type="http://schemas.openxmlformats.org/officeDocument/2006/relationships/notesSlide" Target="/ppt/notesSlides/notesSlide1.xml" Id="R4507419c6adc49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9f8d6324d4426" /><Relationship Type="http://schemas.openxmlformats.org/officeDocument/2006/relationships/notesSlide" Target="/ppt/notesSlides/notesSlide2.xml" Id="R258e8138e1d341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b9e8cfe70473b" /><Relationship Type="http://schemas.openxmlformats.org/officeDocument/2006/relationships/notesSlide" Target="/ppt/notesSlides/notesSlide3.xml" Id="R80635e74416e46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2ea17c0fa4d9a" /><Relationship Type="http://schemas.openxmlformats.org/officeDocument/2006/relationships/notesSlide" Target="/ppt/notesSlides/notesSlide4.xml" Id="R1086e4a01c3d43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ae63e725f4f05" /><Relationship Type="http://schemas.openxmlformats.org/officeDocument/2006/relationships/notesSlide" Target="/ppt/notesSlides/notesSlide5.xml" Id="R54de12ff58424e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5c5e3ce304979" /><Relationship Type="http://schemas.openxmlformats.org/officeDocument/2006/relationships/notesSlide" Target="/ppt/notesSlides/notesSlide6.xml" Id="Rdbaff87ee37c45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99191614241be" /><Relationship Type="http://schemas.openxmlformats.org/officeDocument/2006/relationships/notesSlide" Target="/ppt/notesSlides/notesSlide7.xml" Id="Rc92d21992b8c4a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b68bb20974585" /><Relationship Type="http://schemas.openxmlformats.org/officeDocument/2006/relationships/notesSlide" Target="/ppt/notesSlides/notesSlide8.xml" Id="R951ee172de404f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12612f6e14a01" /><Relationship Type="http://schemas.openxmlformats.org/officeDocument/2006/relationships/notesSlide" Target="/ppt/notesSlides/notesSlide9.xml" Id="R4a216229f2a442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dffb29765423e" /><Relationship Type="http://schemas.openxmlformats.org/officeDocument/2006/relationships/notesSlide" Target="/ppt/notesSlides/notesSlide10.xml" Id="R5521e77968d04d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4204f1676465c" /><Relationship Type="http://schemas.openxmlformats.org/officeDocument/2006/relationships/notesSlide" Target="/ppt/notesSlides/notesSlide11.xml" Id="R2562c12a32764c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09f72c1234c00" /><Relationship Type="http://schemas.openxmlformats.org/officeDocument/2006/relationships/notesSlide" Target="/ppt/notesSlides/notesSlide12.xml" Id="R597efea243b94e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789a5626442f1" /><Relationship Type="http://schemas.openxmlformats.org/officeDocument/2006/relationships/notesSlide" Target="/ppt/notesSlides/notesSlide13.xml" Id="Rf5ca170e387f41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26d35b5274848" /><Relationship Type="http://schemas.openxmlformats.org/officeDocument/2006/relationships/notesSlide" Target="/ppt/notesSlides/notesSlide14.xml" Id="R1d4188431f5344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d090a7beb4788" /><Relationship Type="http://schemas.openxmlformats.org/officeDocument/2006/relationships/notesSlide" Target="/ppt/notesSlides/notesSlide15.xml" Id="R2a6ad56ee5244c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ba5b2c53b480a" /><Relationship Type="http://schemas.openxmlformats.org/officeDocument/2006/relationships/notesSlide" Target="/ppt/notesSlides/notesSlide16.xml" Id="R051ba640d54744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1f008b8294f63" /><Relationship Type="http://schemas.openxmlformats.org/officeDocument/2006/relationships/notesSlide" Target="/ppt/notesSlides/notesSlide17.xml" Id="R840d3ffff8e74f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1833d5239426e" /><Relationship Type="http://schemas.openxmlformats.org/officeDocument/2006/relationships/notesSlide" Target="/ppt/notesSlides/notesSlide18.xml" Id="R503e8cb59a8643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30023fe62480c" /><Relationship Type="http://schemas.openxmlformats.org/officeDocument/2006/relationships/notesSlide" Target="/ppt/notesSlides/notesSlide19.xml" Id="R41b000b6e67e4e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86d62b8f9493d" /><Relationship Type="http://schemas.openxmlformats.org/officeDocument/2006/relationships/notesSlide" Target="/ppt/notesSlides/notesSlide20.xml" Id="Rb9d4022f259f44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44b18c40546da" /><Relationship Type="http://schemas.openxmlformats.org/officeDocument/2006/relationships/notesSlide" Target="/ppt/notesSlides/notesSlide21.xml" Id="R98cc0014b7ca45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bc9695fd44e89" /><Relationship Type="http://schemas.openxmlformats.org/officeDocument/2006/relationships/notesSlide" Target="/ppt/notesSlides/notesSlide22.xml" Id="R03394e1e336847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7b750141e45d3" /><Relationship Type="http://schemas.openxmlformats.org/officeDocument/2006/relationships/notesSlide" Target="/ppt/notesSlides/notesSlide23.xml" Id="Rb3c9cdceff444f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9c5e8ba8b4002" /><Relationship Type="http://schemas.openxmlformats.org/officeDocument/2006/relationships/notesSlide" Target="/ppt/notesSlides/notesSlide24.xml" Id="R3d182b4b9b6a44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a7d00f59247dd" /><Relationship Type="http://schemas.openxmlformats.org/officeDocument/2006/relationships/notesSlide" Target="/ppt/notesSlides/notesSlide25.xml" Id="R15948e59847b46d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cc17b0afd412e" /><Relationship Type="http://schemas.openxmlformats.org/officeDocument/2006/relationships/notesSlide" Target="/ppt/notesSlides/notesSlide26.xml" Id="R8d1cf562eba94f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a415545634723" /><Relationship Type="http://schemas.openxmlformats.org/officeDocument/2006/relationships/notesSlide" Target="/ppt/notesSlides/notesSlide27.xml" Id="Rfecfd8e4ab5f47e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9760ba4324b4a" /><Relationship Type="http://schemas.openxmlformats.org/officeDocument/2006/relationships/notesSlide" Target="/ppt/notesSlides/notesSlide28.xml" Id="R92205d5de851478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08b4a815d47c9" /><Relationship Type="http://schemas.openxmlformats.org/officeDocument/2006/relationships/notesSlide" Target="/ppt/notesSlides/notesSlide29.xml" Id="R6f25a9df7eab45e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b7904d20d4c6d" /><Relationship Type="http://schemas.openxmlformats.org/officeDocument/2006/relationships/notesSlide" Target="/ppt/notesSlides/notesSlide30.xml" Id="Rdce03a91291443a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d4a89591e42e9" /><Relationship Type="http://schemas.openxmlformats.org/officeDocument/2006/relationships/notesSlide" Target="/ppt/notesSlides/notesSlide31.xml" Id="Ra066adf7e83941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4b54ae34943a2" /><Relationship Type="http://schemas.openxmlformats.org/officeDocument/2006/relationships/notesSlide" Target="/ppt/notesSlides/notesSlide32.xml" Id="R5007dea4f73044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bd0b86cd04f26" /><Relationship Type="http://schemas.openxmlformats.org/officeDocument/2006/relationships/notesSlide" Target="/ppt/notesSlides/notesSlide33.xml" Id="R8109522cbba042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1BFD4-AC99-4391-BAC7-B186B0BE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C2A61-22AE-4211-87A7-CC6CD944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104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15</a:t>
            </a:r>
          </a:p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區塊鏈與金融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EE5E3-909B-42F8-AE2D-C5AE7547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52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金融創新不只追求更快，也要維持貨幣與市場的信任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07C8C-750C-407A-8007-43B5F845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第一節：從支付、清算與交割理解區塊鏈價值</a:t>
            </a:r>
          </a:p>
        </p:txBody>
      </p:sp>
    </p:spTree>
    <p:extLst>
      <p:ext uri="{BB962C8B-B14F-4D97-AF65-F5344CB8AC3E}">
        <p14:creationId xmlns:p14="http://schemas.microsoft.com/office/powerpoint/2010/main" val="2129576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22C01-CEE9-43AF-99EB-4035981A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89C3A-51E2-4A5A-A1EF-F51F10DD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金融交易完成前，訊息、清算與交割各有不同任務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5D4D9-A126-4638-9280-73DA39F8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3D9D8-10E4-4AF5-9624-719FA65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44A23-ACED-495D-B156-22411D79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2A472-C0F9-428D-8406-CA3361E3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8D4A0-1CF7-4198-910D-E3B3CF3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交易 Trade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1367D-925D-4A69-A6BD-7EA5F5B8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買賣雙方約定資產、價格與數量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BA2C5-7511-4768-A6ED-71A79D2B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37AF-9F4C-48A3-AFB8-D2DED3D9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訊息 Messaging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523B2-5A07-4305-BE49-BC4AAB5B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傳遞指令、身分與付款資料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92D75-389D-4AA3-AC95-14781D0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8DD42-E7C0-43EF-8AEB-220E2EE7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清算 Clearing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A0DA5-7A4B-4AA0-A492-A7012D64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計算權利義務、淨額與風險部位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C591A-0A21-44B7-882E-020A5D4F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96417-0EB0-4EE9-AD3B-163D888B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交割 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007C8-15EC-4705-AF08-EE0EB7CA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資產與資金最終移轉完成</a:t>
            </a:r>
          </a:p>
        </p:txBody>
      </p:sp>
    </p:spTree>
    <p:extLst>
      <p:ext uri="{BB962C8B-B14F-4D97-AF65-F5344CB8AC3E}">
        <p14:creationId xmlns:p14="http://schemas.microsoft.com/office/powerpoint/2010/main" val="31327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1965D-CEBB-4E0C-B572-8CFE3239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B528C-98CD-4FDF-9D1A-1E6B4FFC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傳統金融中介不只傳資料，也吸收風險與提供信任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F8F30-2F74-4987-83DF-3031CF14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77113-E694-426F-ADD7-5D0CEB18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7F4A7-51B7-4DB6-AC8A-17EA3191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DC9D-B7D3-45C3-BC64-D17CDFE0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0AA64-AB4F-48ED-9809-44DE0847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銀行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16A38-3F09-4078-8FF9-41ADE26C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帳戶、信用創造、支付與流動性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7264B-5E09-4AB7-9388-1F612164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6C83C-E4F2-406A-BEE6-C89239A7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清算機構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00C89-E5E6-4389-9B45-E220845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淨額、保證金與違約管理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78C98-E4F8-4578-8890-87E84C06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D76DC-1110-4D85-BFA4-C54B3B9B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保管機構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FB57B-DE1A-4B43-B7F2-E8C00747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資產安全、權利紀錄與公司行動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3B5D6-87B4-4902-A632-E3151F85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D8B37-5704-41BB-80CF-4151981A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中央銀行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53A88-49AA-4F57-870D-1AA019C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最終清算資產與系統穩定</a:t>
            </a:r>
          </a:p>
        </p:txBody>
      </p:sp>
    </p:spTree>
    <p:extLst>
      <p:ext uri="{BB962C8B-B14F-4D97-AF65-F5344CB8AC3E}">
        <p14:creationId xmlns:p14="http://schemas.microsoft.com/office/powerpoint/2010/main" val="950054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6B197-78A3-431D-914B-5EF4553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81B77-FA5F-4B90-8C3B-B1A6281C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共享帳本的直接價值是減少多套紀錄反覆對帳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29FBB-C79C-4965-93FC-C9A4FDF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5FAA1-2501-4955-BD9C-ABCA78D7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0E76C-49AB-4125-BE18-193F04EC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4EF4A-ECE2-49C4-9AE6-37EA0CB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958EC-8133-4F8B-99A3-D08794B6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6B2D3-09C0-45EA-AB66-661D71B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DE4FC-90E6-47B5-AE1D-63A9292B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多方使用一致交易狀態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減少訊息重複與人工核對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即時追蹤流程與權利變化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規則可自動執行並留痕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158BE-A846-4C47-9567-422850DD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不能自動解決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71663-3679-4444-B0F1-2396F522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錯誤或造假的鏈下輸入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參與者信用與違約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法律最終性及爭議處理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市場流動性與價格形成</a:t>
            </a:r>
          </a:p>
        </p:txBody>
      </p:sp>
    </p:spTree>
    <p:extLst>
      <p:ext uri="{BB962C8B-B14F-4D97-AF65-F5344CB8AC3E}">
        <p14:creationId xmlns:p14="http://schemas.microsoft.com/office/powerpoint/2010/main" val="1300931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A6A25-3DCD-4BAE-87D9-886EFE29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52975-F5B0-48DF-BD07-B70888FA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支付速度快，不代表清算與最終交割已完成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075EE-7909-4B25-81FD-B6B4D5D2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886C0-E160-40CB-A0A8-2E3E71C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50EE1-13C6-4B7D-AA37-511B90C4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887DA-BBBB-4CF0-9288-1C95679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8E199-9B9F-4091-B3FD-5B1C2766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A8C2E-14C4-4B7C-930A-246213C3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使用者看到的完成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F28D4-9B84-4365-9DDB-BF2DE5C5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介面顯示已付款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商家收到授權通知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平台內部帳戶先更新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可能仍可退款或撤銷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EB7CC-FBBC-477F-A095-FE63C0E8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金融上的最終性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BDCDF-0FEF-425E-BF79-CA40EEBF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資金權利不可撤回地移轉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參與機構資產負債表已更新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法律承認交易完成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信用與流動性風險已處理</a:t>
            </a:r>
          </a:p>
        </p:txBody>
      </p:sp>
    </p:spTree>
    <p:extLst>
      <p:ext uri="{BB962C8B-B14F-4D97-AF65-F5344CB8AC3E}">
        <p14:creationId xmlns:p14="http://schemas.microsoft.com/office/powerpoint/2010/main" val="1963039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2BDDE-AF65-4572-AC81-FB48260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A990B-AC7B-4A2E-9CFF-614A1AD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跨境支付的摩擦來自多層制度，不只是資料庫老舊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065F5-AA95-481D-AF69-368FD04D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638F3-FF55-42D5-9CC5-FE07472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982B7-C31C-4568-B6D4-9CD4A7A5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C5792-4C0C-40E1-9BD4-BBBAE7A4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8DCB0-4C3B-4912-A043-F04C5B8E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中介鏈條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ECDA3-CCE1-41DC-B7AA-83B206F3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代理銀行與多個服務商逐段處理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E23B6-0828-4237-88D3-F2EBCC4B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42202-7B3F-49B9-8E6F-0C017174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法規差異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F4E2D-CA7D-4063-8185-112F4D69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KYC、制裁、外匯與資料規則不同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4B679-D69D-43B6-B4E1-9B6046F6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DE32A-8F46-40A5-9F97-C980C183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825CC-E648-447E-BE10-94ED822F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多種貨幣需預先備付與管理時區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0C7F9-B7E3-4DCA-94C2-912A97B9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0C015-EEF4-43B2-98C3-D51E603C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資訊不透明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F8CE5-4164-41B5-9320-FE7BFFDE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費用、狀態及失敗原因難即時掌握</a:t>
            </a:r>
          </a:p>
        </p:txBody>
      </p:sp>
    </p:spTree>
    <p:extLst>
      <p:ext uri="{BB962C8B-B14F-4D97-AF65-F5344CB8AC3E}">
        <p14:creationId xmlns:p14="http://schemas.microsoft.com/office/powerpoint/2010/main" val="568705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9386E-1544-4508-9282-53C75E2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4DBBA-CF96-4571-9292-8B9CDF76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原子交割可降低本金風險，但可能增加流動性壓力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F23E2-4DFA-47BC-94B2-34F6D4B3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E689F-092A-46DF-BC4E-500016B7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F500C-ED16-49B9-9A6B-EB8189E6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5C8AB-75C2-4302-9C56-BCBB0F3C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1472B-CF26-4DC6-956E-020C6B7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DBB46-C05D-4B2E-B854-1F524F90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DvP／PvP概念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264A8-49B5-476F-B617-08AB9D41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資產與資金同時交換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任一方未交付則整體不完成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降低一方付出而未收回的本金風險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智能合約可執行條件連動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61DAF-402D-4D43-9B38-8362B6A3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新的權衡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9153E-73F2-4734-9439-CF64DC12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即時總額交割需要隨時有資金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無法利用延後與淨額節省流動性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系統故障可能同時卡住兩邊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仍需處理法律與操作例外</a:t>
            </a:r>
          </a:p>
        </p:txBody>
      </p:sp>
    </p:spTree>
    <p:extLst>
      <p:ext uri="{BB962C8B-B14F-4D97-AF65-F5344CB8AC3E}">
        <p14:creationId xmlns:p14="http://schemas.microsoft.com/office/powerpoint/2010/main" val="1265603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19E69-FF3C-47EE-B4E2-C9EB84E9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88C0E-F534-428C-ACDF-F140F5CF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區塊鏈金融架構同時需要資產腿與貨幣腿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C2D14-E870-4122-916E-410A1575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783BE-1369-407C-9440-C7D3D863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BECA5-8C5A-406A-85E0-2992D254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51887-1AAC-425B-8793-6899CDC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9CF5A-65C2-44BF-B9E2-6B71566E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資產腿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5A351-2CEA-4029-AFE9-AD689C0F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證券、債券、基金或其他權利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2C4DC-4B52-464D-9A71-7E80C93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06D12-2C6B-4757-8A78-543A0C1F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貨幣腿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14013-131E-4D4B-B15E-BDE4151D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央行貨幣、銀行存款或穩定幣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5D26D-6420-49A5-A3A1-72E5297E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FDCC2-3A3D-4099-9194-BDD3DC10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橋接機制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A0823-2375-4514-9662-51577723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兩端狀態與條件同步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A3AF0-9EE2-47CD-9A04-81C5E1D9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D7123-7ED1-443D-9274-7080B779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最終性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66451-BBFD-4D0A-A10B-30E867C7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法律上何時完成且不得撤回</a:t>
            </a:r>
          </a:p>
        </p:txBody>
      </p:sp>
    </p:spTree>
    <p:extLst>
      <p:ext uri="{BB962C8B-B14F-4D97-AF65-F5344CB8AC3E}">
        <p14:creationId xmlns:p14="http://schemas.microsoft.com/office/powerpoint/2010/main" val="1510270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76FBC-57A4-43EC-969E-523FA70C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9A836-8F34-4248-B01A-C8EE43A6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聯盟鏈與公有鏈適合的金融場景不同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5F29A-405E-4ED6-9681-C9FE0B1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7F462-7EC4-47E4-9492-BB14FE97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318AF-0AB0-48EB-A069-D85C0346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12432-458A-4C60-9661-97288830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45046-7274-4BC5-A21F-A7145E01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B736B-CB53-43BE-98BF-1823DD85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許可制／聯盟鏈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29B11-C22B-43BC-B1B4-E87AE649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參與者身分明確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資料可見性與責任可約定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易連接既有監理與法律體系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常用於機構間流程與試驗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A2D59-CC75-487E-9730-709A93CC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公有鏈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91334-625E-4AA3-AA95-2E22041B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全球可存取且可組合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市場與資產全天候運作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治理、費用與技術風險較外部化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常見於加密資產與DeFi</a:t>
            </a:r>
          </a:p>
        </p:txBody>
      </p:sp>
    </p:spTree>
    <p:extLst>
      <p:ext uri="{BB962C8B-B14F-4D97-AF65-F5344CB8AC3E}">
        <p14:creationId xmlns:p14="http://schemas.microsoft.com/office/powerpoint/2010/main" val="422706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F427F-D929-4167-9ABB-48EBAAA5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第一節｜金融基礎設施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1B7FE-BD8F-4653-9C91-F5B69D61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評估區塊鏈金融應先畫出價值與風險的轉移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F9166-86B7-4204-A0AA-33FA8C5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6934A-5877-458D-B4AD-B39BE00E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15｜第一節｜金融基礎設施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BD716-0CA7-4FAA-A18B-79F920BA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31C66-7F54-41AC-A990-45FED4DD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不要只問流程能否變快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4A6BF-01C7-4918-8445-D8B0DE1C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要問減少了哪一種對帳、信用或作業風險，又新增哪些流動性、程式、治理、網路與第三方風險。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C3C29-69A5-4E62-BE28-8A7C6BD2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16B58-EAA2-4303-990D-766FC23D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7388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只有當整體社會成本與風險下降，且責任邊界可治理，區塊鏈才構成金融基礎設施的進步。</a:t>
            </a:r>
          </a:p>
        </p:txBody>
      </p:sp>
    </p:spTree>
    <p:extLst>
      <p:ext uri="{BB962C8B-B14F-4D97-AF65-F5344CB8AC3E}">
        <p14:creationId xmlns:p14="http://schemas.microsoft.com/office/powerpoint/2010/main" val="821829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B8FF2-CF1B-4F74-BE63-D6AAE09E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D9A29-1C79-43EC-B8DE-28D0EF50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A0988-015F-4DB8-BE0E-FE7EA3F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4DC4D-4F00-46DD-8A68-E6E8573B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9973C-EA20-478B-97A3-903BE0B0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E4E89-3DB4-4A99-AF21-ABAA7B70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A9721-E02A-409D-B045-B517BA51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411D8-4117-43A9-8F91-05683815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4637E-F23E-4C31-AB4E-B7258555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87A56-E64C-48C6-A42F-933A22B8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1DA67-56FB-45B2-98DB-1934EF52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清算主要在做什麼？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84FC6-79AB-466B-AA38-2A0064D3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顯示App　B 計算權利義務與風險部位　C 保存私鑰　D 發行NFT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C4C6A-A98C-4F6A-82A3-C4378CE8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BA307-85DB-48DD-8F08-EFEA896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答案：B。交割前確定應收應付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BF2F5-C468-4492-8549-7F2FDB7C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中介被移除後其功能？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54B09-293F-49D4-8C37-CD4120BB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一定消失　B 常轉移給其他角色或程式　C 變成免費　D 不需治理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80696-35D4-4290-AC9D-AEFF73FD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81D6F-9259-44DF-89EE-44B833B2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答案：B。功能與責任仍存在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7C08F-EE0A-468B-BC04-19A16DE6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付款畫面成功等於最終交割？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04190-02C6-4B67-BF83-2929F5D6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　B 不一定　C 只有假日是　D 只有區塊鏈不是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0021D-57EF-4649-944E-34A28A3C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ECA42-4919-4C4D-B32F-6472AD9A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答案：B。要看系統與法律最終性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98B4D-F8EC-40A3-839F-4C4D8CB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原子交割主要降低？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6C0EF-DBB9-43C0-AA03-A8D901AE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本金風險　B 所有市場風險　C 匯率波動　D 稅負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29C40-EC40-47BA-8BAF-07C3686E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186AB-9FB3-491D-BA8B-C7ECD6A4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答案：A。避免單邊交付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720A5-A493-45D5-8F13-A48F8E42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即時交割可能增加？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6B758-585C-4EE1-84FC-888F6496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流動性需求　B 紙張　C 地址長度　D 挖礦獎勵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A9A530-6273-4220-9D97-F54C3F3B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926C1-A4B3-40B2-AD8E-8068A7A8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答案：A。少了淨額與延後空間</a:t>
            </a:r>
          </a:p>
        </p:txBody>
      </p:sp>
    </p:spTree>
    <p:extLst>
      <p:ext uri="{BB962C8B-B14F-4D97-AF65-F5344CB8AC3E}">
        <p14:creationId xmlns:p14="http://schemas.microsoft.com/office/powerpoint/2010/main" val="1106635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EA9C7-B352-41A5-B5EF-A3D2BB9C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4DBF3-757F-4830-B5F7-A637C059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代幣化是把權利與移轉規則記錄在可程式化帳本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72EF6-1BB0-44D6-8D77-D0120005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53FFB-B5E9-4431-9585-72C4E782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2EA03-6620-4CF3-A3A6-922207F5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C9739-CAE9-4219-B5A8-43EB1680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EF795-8875-492C-A6D5-509F3D0A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618AC-5A3A-4C34-8851-FD389223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可能被代幣化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0EAA3-55BE-4645-983F-A2AC4C31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銀行存款與央行準備金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政府債券、公司債與基金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不動產或商品的部分權利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抵押品與交易憑證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1A40A-B72F-450E-8F39-477CA4E6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不是只做數位圖片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609EB-B463-441E-A110-EFFFB215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代幣必須連結法律權利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需要發行、交易、服務與贖回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權利變更要與現實世界同步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持有人保護及責任必須清楚</a:t>
            </a:r>
          </a:p>
        </p:txBody>
      </p:sp>
    </p:spTree>
    <p:extLst>
      <p:ext uri="{BB962C8B-B14F-4D97-AF65-F5344CB8AC3E}">
        <p14:creationId xmlns:p14="http://schemas.microsoft.com/office/powerpoint/2010/main" val="20264979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8BD7C-FED4-4C54-8FDC-4BC92F0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51121-7CE4-4E54-A469-0AC2B169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代幣化可改善資產生命週期，但不會平均改善所有環節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B93E9-EBEE-4858-BDAC-9D2A6A5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34088-57C2-4345-BC90-FD46A5AB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F66AF-A18C-4CDD-8699-A7A981EA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F8299-6A0A-4BDF-ADC6-D8E1D197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74E7D-86EB-41EE-A209-F43565EC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發行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9D06E-9403-4D75-ADCC-FF04FE0F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自動化登記、配售與資訊揭露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B843A-116E-460B-A359-4EA8C714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B8018-32A0-453D-946F-884AB95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46FFA-0370-41AD-B3AE-F910E6EF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延長時間、拆分單位與降低搜尋摩擦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C47DD-E17D-45DF-9CA0-2A010413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AADFA-0F17-4E61-B707-CC685B03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C4558-D048-45D7-95C8-9565D9C5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資產與付款條件式同步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B2E5D-8709-4AB8-9B56-238882F6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A6005-47A6-4CCA-8C1B-C383626D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服務／贖回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65B85-506B-483E-89EC-8AF378EE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利息、股息、公司行動與到期處理</a:t>
            </a:r>
          </a:p>
        </p:txBody>
      </p:sp>
    </p:spTree>
    <p:extLst>
      <p:ext uri="{BB962C8B-B14F-4D97-AF65-F5344CB8AC3E}">
        <p14:creationId xmlns:p14="http://schemas.microsoft.com/office/powerpoint/2010/main" val="2078349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FC124-D2E9-4522-A550-AAD9512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B1C05-6E4A-444B-BF0A-5E57D4B5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代幣化債券仍需處理發行人信用與現金流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80126-4C62-4660-9F3B-38C5B16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0A58-9A26-4DB2-A269-3B3C8C3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B9214-04F6-4B4B-88C0-94F584BE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77850-A602-4124-9516-C0F6544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3D99C-9F2B-44DB-96F9-4A7FE11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33B23-9560-4272-96B2-0337458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35C12-22F1-4C10-9BD7-E18C48C0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投資人名冊與持有權更新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利息與到期付款自動化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抵押品調度與即時查核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跨機構共享交易狀態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2781A-4AB3-448E-A40A-E32A8FB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不會消失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63E60-CF31-4531-BF80-16C5B3C2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發行人違約與信用評等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承銷、定價與投資人適合度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現金腿與流動性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法律管轄及債權執行</a:t>
            </a:r>
          </a:p>
        </p:txBody>
      </p:sp>
    </p:spTree>
    <p:extLst>
      <p:ext uri="{BB962C8B-B14F-4D97-AF65-F5344CB8AC3E}">
        <p14:creationId xmlns:p14="http://schemas.microsoft.com/office/powerpoint/2010/main" val="13173945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BAF35-5544-42A3-A09A-D2FAA1A0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CB3AE-3536-42EB-9ED5-77D0EE50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三種數位貨幣代表不同發行人與信用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EC8F1-1854-4939-8E57-88734C8E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F63CA-3FC7-4090-AB34-0600404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78FD6-2196-4067-A76C-9F89870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D1DD6-445B-4853-8500-6531B13F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ED6B1-1DFD-4FC8-A4D0-4CA378F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央行數位貨幣 CBDC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08BC2-B833-4920-B708-C19302CB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中央銀行負債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E49F1-19FC-4D56-90B6-1B8E6ED2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3C72-52C8-4E68-A986-7A5F2CBF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代幣化銀行存款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C7BF3-0A2A-435C-A58F-7013FD3B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商業銀行負債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02190-D5EB-41FC-8183-CCE53E34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69710-1CA4-4997-94C9-9CF9414A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法幣儲備型穩定幣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173B3-2741-4813-84A5-117BA470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私人發行人負債或贖回承諾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7B9F2-DEAB-4AEE-A2C1-645BA464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A5494-7E68-4B4F-9D54-56D41241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無擔保加密資產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4767C-2C61-4586-891A-9E775F58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通常不是任何機構負債</a:t>
            </a:r>
          </a:p>
        </p:txBody>
      </p:sp>
    </p:spTree>
    <p:extLst>
      <p:ext uri="{BB962C8B-B14F-4D97-AF65-F5344CB8AC3E}">
        <p14:creationId xmlns:p14="http://schemas.microsoft.com/office/powerpoint/2010/main" val="6403272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4119E-1035-4ACF-A963-9B0473D9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06788-6CAC-409C-90A1-D1C7FCBC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CBDC可分為零售型與批發型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C4F14-947E-4786-9387-F47A28C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672CF-4FF7-4D32-8DAD-F8DD108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F169B-4D53-458D-B0D2-40A5E2D8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9DA3A-6131-4EC1-8C0F-5259E0AA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09F17-7F3E-46BA-BEFA-24ADDC89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56765-095D-4589-8BF0-56BE4958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零售型 CBDC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9CBEA-974B-447A-AC73-EC9EEBCB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面向一般民眾或企業支付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關注隱私、普惠與銀行中介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需承受大量使用者與交易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設計可能採帳戶或代幣模式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16F71-9077-4B49-A9E0-3AA081D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批發型 CBDC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77C89-5A99-43EF-9071-2C921C9D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面向金融機構間交割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連接證券、外匯與跨境支付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重視流動性與最終性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目前探索進度通常較成熟</a:t>
            </a:r>
          </a:p>
        </p:txBody>
      </p:sp>
    </p:spTree>
    <p:extLst>
      <p:ext uri="{BB962C8B-B14F-4D97-AF65-F5344CB8AC3E}">
        <p14:creationId xmlns:p14="http://schemas.microsoft.com/office/powerpoint/2010/main" val="20330425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D549C-32E3-4E87-9627-850E6ACA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7DBE0-E3FD-42A5-A9ED-606BF290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代幣化存款保留銀行貨幣的兩層架構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3A679-96BE-442B-A48A-6728B0B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EBA56-AAB9-456F-93AF-F766EADE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25087-40D1-42DA-BE34-CE97ABBE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A2035-7563-44EE-A6AE-E5B095A8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5FBF0-F5A3-4E65-B576-922D09F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30D7B-B127-45CD-B680-7256155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運作邏輯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EE6A5-9EB5-430D-914A-01057744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銀行把存款權利表示為代幣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客戶仍對商業銀行有請求權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可在許可平台執行可程式交易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最終以央行貨幣維持銀行間清算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B44EC-5951-4F02-A7FE-DC508715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關鍵問題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13EA4-5530-434A-9F71-9BFDF579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跨銀行能否按面額互換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存款保險與法律地位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平台互通與身分治理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離線、錯誤與流動性支持</a:t>
            </a:r>
          </a:p>
        </p:txBody>
      </p:sp>
    </p:spTree>
    <p:extLst>
      <p:ext uri="{BB962C8B-B14F-4D97-AF65-F5344CB8AC3E}">
        <p14:creationId xmlns:p14="http://schemas.microsoft.com/office/powerpoint/2010/main" val="4923446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B3602-420D-4E06-8207-3EB3E788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01A09-646F-4CA0-AD2C-A35E51B7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穩定幣降低加密市場波動摩擦，但不是無風險現金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8CD1A-AE13-426F-841A-A410B12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E8924-388B-4C13-B184-29968B34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92F79-0218-4849-A096-76BCA97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696B6-0905-4A41-9DC3-0A0DD67E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A8AC2-D68D-45A4-BE01-AEC1B6FF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儲備風險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362B0-9FC3-444F-B77D-B02F868C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資產品質、期限與透明度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6FB8E-EA00-4350-A15D-F6A0F914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367DE-4DA4-4741-BED5-6294CF52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贖回風險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15471-1EA3-457C-BCD2-88E56F65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壓力時能否按面額快速兌回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618B0-EBD1-4972-BBF0-755BDCE7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DB71B-0808-4105-B362-681C8464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6DF5C-4D65-454A-8602-C92B8090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保管、銀行、合約與網路中斷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313E3-1052-4111-B487-C46FD21A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141EA-FB99-4A77-A5E5-4894F9D7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宏觀風險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6AE01-3383-4F03-94E9-456B2A60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貨幣替代、跨境流動與監管套利</a:t>
            </a:r>
          </a:p>
        </p:txBody>
      </p:sp>
    </p:spTree>
    <p:extLst>
      <p:ext uri="{BB962C8B-B14F-4D97-AF65-F5344CB8AC3E}">
        <p14:creationId xmlns:p14="http://schemas.microsoft.com/office/powerpoint/2010/main" val="19991826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02BAF-C70C-4D32-ACF3-78E439F0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40EEB-8CD8-425F-8A9D-58AA3A2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統一帳本構想把貨幣與資產放入可協調的平台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BD0E8-8C81-4BF6-AF00-757A1E4A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850D2-A1DD-4AEE-B943-E6846D76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52018-D5E0-4B3C-ACAA-7142007B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6C21D-600F-4D9C-B615-B3C66121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336C8-60FB-43E3-A46C-C32A605C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央行準備金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55569-C621-47C9-8C6C-0D5DA808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提供可信的最終清算資產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C9A86-B5F5-4A7D-82D2-99359E88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CFADC-D5C9-49C8-9334-75E2978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商業銀行貨幣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C863B-14F6-406F-9EE1-9C4EF58E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支援信用與客戶支付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E2946-A4D4-472A-85FF-AFDA406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B10F5-9478-4254-9C30-1558AD7C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代幣化資產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DDDC1-65B5-4167-ADEC-BD0D2B1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政府債券及其他金融權利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3B639-069D-41DF-8668-486670C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2FF77-5084-4FF8-B40A-03A80820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可程式交易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FBC12-A456-4BEE-933B-919AFC28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整合訊息、對帳與交割條件</a:t>
            </a:r>
          </a:p>
        </p:txBody>
      </p:sp>
    </p:spTree>
    <p:extLst>
      <p:ext uri="{BB962C8B-B14F-4D97-AF65-F5344CB8AC3E}">
        <p14:creationId xmlns:p14="http://schemas.microsoft.com/office/powerpoint/2010/main" val="3826503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011D3-BE60-4C6C-8CB1-57B593C0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9C085-E0B9-4DB7-B27C-7471A59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碎片化會抵銷代幣化帶來的網路效益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B874E-F5EF-4058-9883-18024053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B391E-275E-4F8E-BF27-B64BF643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95F5F-231E-4222-8DE9-8B08FAB8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30A09-6239-48C5-A4AD-C8F87DBF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224E3-467A-4576-84F1-F71D8DFA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1714B-731F-4A07-9BFA-DCB94E2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碎片來源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3C370-B03F-47C1-A738-3705D0BF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不同鏈與資產標準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各自的身分及法規邊界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流動性分散在多個市場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橋接與Oracle形成新依賴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5D5A3-BBF7-469F-95EA-845AF09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改善方向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D2559-88CD-405E-BF17-CBBE18C9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共同資料與訊息標準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可信的互通與交割安排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一致的法律權利與監理協作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保留可移轉與退出能力</a:t>
            </a:r>
          </a:p>
        </p:txBody>
      </p:sp>
    </p:spTree>
    <p:extLst>
      <p:ext uri="{BB962C8B-B14F-4D97-AF65-F5344CB8AC3E}">
        <p14:creationId xmlns:p14="http://schemas.microsoft.com/office/powerpoint/2010/main" val="20040156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BB5AA-2053-4D17-9255-90CAE889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第二節｜代幣化金融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56D14-5E6F-49A5-87E2-2062C413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代幣化的決策問題是摩擦是否真的減少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343D2-C260-4319-AD24-CF45A3A5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9F41B-DA27-4791-A586-3408883D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15｜第二節｜代幣化金融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F4D0D-B101-4079-8C5F-F2759AE5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9286D-E7CC-441D-A4E1-30278F9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先找出原流程的具體摩擦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C161C-938F-4797-97A7-C92D6E9E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是對帳、交割等待、最低投資門檻、抵押品調度、跨境資訊，還是法規與流動性？不同摩擦需要不同解方。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D7C96-3155-4254-8485-28C5CBD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ADB77-85DB-403D-87C6-21F935B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9698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若主要問題是法律限制、信用不足或市場沒有買方，單純把資產做成代幣不會創造價值。</a:t>
            </a:r>
          </a:p>
        </p:txBody>
      </p:sp>
    </p:spTree>
    <p:extLst>
      <p:ext uri="{BB962C8B-B14F-4D97-AF65-F5344CB8AC3E}">
        <p14:creationId xmlns:p14="http://schemas.microsoft.com/office/powerpoint/2010/main" val="14502035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87AA9-E6CE-4940-B58C-EF6C3A4E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F9571-7845-4592-B1C0-48BA62CC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DC7E8-F7A2-40CF-BBAC-802E2F21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1C339-B8AE-4A43-B7C5-7EE2767B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A759F-8836-4502-81C3-267855F7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3041D-7A1F-44C4-89D0-A9F408D2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8DDC9-2DCC-4601-ACEB-A89DB2A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204B0-4BAB-4132-ADA8-314150D3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35B65-2355-4459-B393-85865B2F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3A46E-5DAB-426B-85F9-EFEC1E13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3131F-0D50-4393-99C9-64D5267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代幣化與一般數位化的主要差異？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98BB7-689B-4797-9A02-5FB04127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顏色　B 共享可程式化帳本　C 必須匿名　D 必須挖礦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67BEC-D7DA-4C97-AAE5-E89F2C86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D91B7-3222-4BDE-8B5D-1267F423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22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答案：B。權利與規則可在共享帳本運作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2C568-D7E3-4A12-A5C0-74B92356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代幣化債券會消除信用風險嗎？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4509C-B2A3-459D-9B38-FAEF5C32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會　B 不會　C 只有公有鏈會　D 只要即時交割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3BEE7-A890-4589-82A5-8A331B7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14573-1B86-49E1-ACAF-864CB85A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答案：B。發行人仍可能違約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AC594-F99E-4340-8A56-433A365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批發型CBDC主要服務？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CE687-7FE9-45A3-88B0-D669427C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遊戲玩家　B 金融機構間交割　C 社群貼文　D NFT收藏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46917-BFBE-4CB2-B99D-7D806E67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9AD84A-2FA4-47D2-9E42-EFFF7D7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2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答案：B。著重機構與市場基礎設施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79E57-5446-4C7F-93EA-A9EB120D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穩定幣等於無風險現金嗎？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7CCB74-09D5-4314-9C00-80868168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有區塊鏈就是　D 市值大就是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FA58F-EC1F-4353-B4F6-CDDB5D73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4AF26-BB5E-4651-B508-09214336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2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答案：B。有儲備、贖回與營運風險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C15B6-44BA-48DE-B3BE-2334300C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多鏈並存可能造成？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A5AF1B-1A84-4E2A-B477-494E6229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流動性碎片化　B 自動統一　C 零成本　D 法規消失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7B413-7D8A-4790-804C-5B2251C8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8ACF5-52B0-499E-AB60-6E8BC58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12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答案：A。市場與資料可能被分割</a:t>
            </a:r>
          </a:p>
        </p:txBody>
      </p:sp>
    </p:spTree>
    <p:extLst>
      <p:ext uri="{BB962C8B-B14F-4D97-AF65-F5344CB8AC3E}">
        <p14:creationId xmlns:p14="http://schemas.microsoft.com/office/powerpoint/2010/main" val="7791122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688E0-4B8C-4E90-AC96-0038268D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52C5F-9A13-4413-A577-E79005FB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DeFi把交易、借貸與資產管理規則部署到鏈上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6BDD4-AD04-4FE9-844E-43CC10CD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F9683-1ACA-4216-9BA6-36566B04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CD4C1-D722-4527-B894-03E63A52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32475-94DD-4AF4-A611-2D92FBD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89313-6D4D-4A0C-8516-44F35360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去中心化交易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E5BBB-E21C-42FE-9EA4-566A02D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以流動性池或訂單機制交換代幣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76B76-9F46-4002-B117-2A62B000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645AC-4964-46F1-9177-939B8969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借貸市場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C0FD9-E7FF-4104-B86E-0B7AAE0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抵押資產後自動借入與清算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F78E3-DBD2-4EE6-A3B4-18538927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6335D-8E00-440D-B77D-1E61CA0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衍生與結構商品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863AE-CE9D-4C64-A1CB-9E5C659A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用合約表達價格與風險曝險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C686F-660F-4ED3-95C2-4F7335B9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03ACF-E02C-40B1-A056-7B6E18E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收益與資產管理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85004-5157-49F3-9E9C-12F7F27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策略組合、質押與流動性提供</a:t>
            </a:r>
          </a:p>
        </p:txBody>
      </p:sp>
    </p:spTree>
    <p:extLst>
      <p:ext uri="{BB962C8B-B14F-4D97-AF65-F5344CB8AC3E}">
        <p14:creationId xmlns:p14="http://schemas.microsoft.com/office/powerpoint/2010/main" val="844756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BF027-FBE8-4378-B58F-BE5D92A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C2924-F09C-4229-A9E7-BB0A12C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超額抵押降低信用需求，但放大價格與清算風險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D21C5-94FB-4129-8E62-2FE9F196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8CECD-727A-4AD8-8A18-3F72D5FE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747AA-ED8C-4D58-9D5D-4BE031D6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71498-640C-4118-B6CD-C770AD2F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F5CA6-27F8-4B51-B521-4E9EBC7A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抵押率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9DD1F-5FEA-4C81-AA63-D97B3DD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借款價值低於抵押品價值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ED68D-1DFE-4249-8A54-33A17B6F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5DBEE-9EE9-4F35-9D5A-964D1D9C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0C9F7-AEF3-4924-A814-156740A3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Oracle決定抵押品是否不足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61968-AD53-454B-B1DD-A5714D3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BA69F-AE8F-42B1-BB61-7B81BD88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自動清算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A8CFB-34B7-444F-868A-F945F3FE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跌破門檻就出售抵押品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61638-9731-4EA0-B18E-6C07386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2F842-703D-4CFE-827B-766881B8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連鎖效應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9AB9F-B362-4A33-91C7-0D9E7190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下跌、清算、賣壓可能互相強化</a:t>
            </a:r>
          </a:p>
        </p:txBody>
      </p:sp>
    </p:spTree>
    <p:extLst>
      <p:ext uri="{BB962C8B-B14F-4D97-AF65-F5344CB8AC3E}">
        <p14:creationId xmlns:p14="http://schemas.microsoft.com/office/powerpoint/2010/main" val="15484389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71B4D-6F7D-4B68-B736-A1584789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88F5D-23A4-45DF-ACBD-CE0CC312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可組合性提升創新速度，也讓風險快速傳染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16BB0-1DE6-455F-9DD6-36661DC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6FDE4-BB18-435F-AE73-8E654906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6FF0-BBAC-499C-BAC8-CF103C94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ABDA4-CB71-4AE9-983C-4B10517C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94B5B-194F-4D79-9E54-02683B73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897A2-6F45-45CA-8A8B-F0793C43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正面效果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56549-54B5-478E-A58A-3911CDEA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不同協議像積木互相呼叫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資產可跨服務重複運用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降低新產品建置門檻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市場全天候自動執行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BFE1D-62C1-4E75-81A6-E30B10DB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系統風險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662E0-6764-4CD9-A963-EA57E23C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底層協議故障影響上層產品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槓桿與再抵押難以看清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Oracle或穩定幣失效連鎖傳染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治理變更可突然改變風險</a:t>
            </a:r>
          </a:p>
        </p:txBody>
      </p:sp>
    </p:spTree>
    <p:extLst>
      <p:ext uri="{BB962C8B-B14F-4D97-AF65-F5344CB8AC3E}">
        <p14:creationId xmlns:p14="http://schemas.microsoft.com/office/powerpoint/2010/main" val="1531010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A7905-2DEE-48F0-A240-87FA726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423B0-360D-4F8D-BDAA-5D2747BB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代幣化可能降低摩擦，也可能放大速度、槓桿與集中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994D4-8639-4D2C-A7E7-14611D5A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67CCE-DC4F-4531-B548-4D204903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AB902-05C5-491D-8A62-DC43D4D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D5FE4-30CF-4A75-9C6C-A815403C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A0D51-1CBA-470D-9109-D93F4C48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1F61D-A14A-421B-8797-D09458EB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快速交割節省時間，也加快擠兌與傳染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C6BD2-BD5F-4F78-9BD7-7BBE59DE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5760B-2185-4C2F-9B27-B46B75F7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BB7B9-2659-4741-BC11-91252932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降低人工成本，也可能自動放大錯誤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82386-2A5C-4C75-BBBC-313E52B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90ED2-CAA5-4E0F-B7F3-07A70840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可組合性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1D9F9-09CB-40DE-B824-F45A01F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創造產品，也形成複雜依賴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77031-02CD-490C-B697-718B2CA1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8BC0F-24EB-4695-9B3F-F8525679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網路效應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048A0-77DE-4940-B2EC-57EB9581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提升流動性，也可能集中平台權力</a:t>
            </a:r>
          </a:p>
        </p:txBody>
      </p:sp>
    </p:spTree>
    <p:extLst>
      <p:ext uri="{BB962C8B-B14F-4D97-AF65-F5344CB8AC3E}">
        <p14:creationId xmlns:p14="http://schemas.microsoft.com/office/powerpoint/2010/main" val="11942817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6381B-11D0-43A3-843F-F98E81CE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389BC-67E1-47BC-A29A-D4C5E8FF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金融穩定要觀察規模、關聯性、槓桿與替代性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BA396-3280-400E-804B-86853839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5B971-0F82-48EA-9633-7E8BFD8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BE38A-E060-48A1-87CB-7DAD38C1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2B892-A5F1-4DB5-BB86-3B7094C4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0EEF1-912C-45CB-9A64-69159682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規模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9A8DC-C6C8-4A87-A4D8-97513AE1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損失是否足以影響重要機構或民眾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C5706-35D9-4218-920C-6A29993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533A6-424D-483A-9E2D-BDC63148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關聯性 Linkage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75C7D-1145-4984-982C-78690D7C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與銀行、基金、支付及市場的連結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02E2A-6990-4480-B781-DD816616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49E76-3233-44FC-9AC5-63F3B517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槓桿 Leverage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94D06-E19E-46C6-BC77-70D722F3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價格波動是否引發追繳與被迫出售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F14DE-CED4-46E3-8499-4E631BC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48D44-1B9A-4BC5-B3E3-8C480380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替代性 Substitutability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51BC0-8C64-41A0-8B6B-62E720FA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服務中斷後是否有可用替代方案</a:t>
            </a:r>
          </a:p>
        </p:txBody>
      </p:sp>
    </p:spTree>
    <p:extLst>
      <p:ext uri="{BB962C8B-B14F-4D97-AF65-F5344CB8AC3E}">
        <p14:creationId xmlns:p14="http://schemas.microsoft.com/office/powerpoint/2010/main" val="5196010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63A2C-99DB-4452-99C2-F18DCFF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4A8C4-C5A9-49A5-87ED-4CD9E7ED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消費者保護要補足程式碼無法提供的權利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3255F-D8BA-4A97-B6D9-2621FADE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B06A6-C780-49F4-921F-35E2E0E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5FC37-B80F-416B-B1B4-DB5A8B0A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9555E-1301-4C32-9579-1D3418CF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8ACC1-84A5-449C-A7B0-1163526B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資訊揭露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85B4C-A810-431E-AD58-41ABF466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費用、資產權利、風險與利益衝突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2CF43-2067-4333-B96A-EFE7DE5C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85DA6-66CC-435D-9336-EB0059B9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B353A-50E5-41CB-B29E-F29F0378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產品複雜度與客戶承受能力匹配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B7847-8414-4983-ACE5-CE353FC0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CFA87-67A6-436E-BA35-1DC69F36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資產保障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A75ED-967D-40FC-8A5B-0D047D53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隔離、保管、返還與破產安排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B0C44-85F0-496F-BE0C-FC25FA5F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17CA0-A7F0-4FFB-8DB1-662CE4A8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申訴救濟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A6A84-CE3C-42D7-BC32-2418E5AC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錯誤、詐欺與爭議有處理管道</a:t>
            </a:r>
          </a:p>
        </p:txBody>
      </p:sp>
    </p:spTree>
    <p:extLst>
      <p:ext uri="{BB962C8B-B14F-4D97-AF65-F5344CB8AC3E}">
        <p14:creationId xmlns:p14="http://schemas.microsoft.com/office/powerpoint/2010/main" val="10401594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5E1D2-CFDF-4693-A570-CFCE26B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2934F-5234-48B9-883C-9281A6A5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全球監理方向逐漸一致，但落實速度仍不平均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94FC2-5DDC-491E-9C41-0415F27F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53D1D-80B9-4EAD-864B-4B7216D3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A1302-CF56-43A3-AD14-F750F1D1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AC0D6-4C2A-4F1B-8815-D58581AA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8B44A-D875-49F6-89D7-D7E131A4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06DF8-8AB2-4BFD-B260-149C783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共同方向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8750B-8923-4538-9ABA-6B34AB22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相同活動、相同風險、相同監理結果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強化治理、風險管理與資訊揭露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穩定幣需要贖回、儲備與營運保障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跨境資料與監理合作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74116-AB6E-499D-AFBE-C414568C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2026仍存在的問題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A6184-9285-4C3E-BB43-AD01402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各地定義與許可範圍不同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執法與資料能力不一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跨境活動容易監理套利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新產品演變快於規則落地</a:t>
            </a:r>
          </a:p>
        </p:txBody>
      </p:sp>
    </p:spTree>
    <p:extLst>
      <p:ext uri="{BB962C8B-B14F-4D97-AF65-F5344CB8AC3E}">
        <p14:creationId xmlns:p14="http://schemas.microsoft.com/office/powerpoint/2010/main" val="6158274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B914F-5C43-49D8-AA57-95688B8F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F0B56-1069-4CE3-9DA3-2EDF642E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金融管理者應用四張表評估區塊鏈金融專案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85BE1-725E-44B8-97CD-5B712724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B1FFF-617F-4F5D-9442-7A6AA75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66163-F5C1-4A7A-B4AE-4AB678E4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F0F34-CCF3-42FE-9678-62442320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2C7BA-137A-4252-93C9-548E25C9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價值表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A8AC4-512B-4518-BEF2-1BC69D3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摩擦、受益者、KPI與替代方案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5AC93-AA4A-4516-9CDE-C938EF52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A0472-062A-41C5-B3FC-546F1C68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資產負債表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D606F-7440-404A-B89B-E20E234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誰的資產、負債、信用與流動性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4B7D9-0291-472F-82B5-413AECC3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1CDD4-34D1-4488-BF6F-62F97EB7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CA2A8-E5F0-4A49-98D1-0633DBC4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市場、信用、作業、法律與資安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901DD-DACE-49AB-B154-D24B6EFB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2480D-83DA-4AD0-8E53-2E6FB6AC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責任表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A8A5A-9B26-4947-B38D-B0509701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發行、保管、交易、失效與救濟由誰負責</a:t>
            </a:r>
          </a:p>
        </p:txBody>
      </p:sp>
    </p:spTree>
    <p:extLst>
      <p:ext uri="{BB962C8B-B14F-4D97-AF65-F5344CB8AC3E}">
        <p14:creationId xmlns:p14="http://schemas.microsoft.com/office/powerpoint/2010/main" val="21456516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EA344-600E-4746-BDAE-3438B25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59297-21F1-476C-B2B5-63125D51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情境評估：銀行是否應發行代幣化存款？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73CD5-CBCE-48B6-9FFD-D2D4C70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D187A-80D3-45CA-A0C2-AFB50D8F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21D79-6344-455B-BD16-0A99AF5A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10643-876D-48E5-9171-511EF01E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67D66-052B-4960-BAFC-3528A858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07601-1CA2-4D6B-8CAA-5AAD37A5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可能商業價值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E7B07-33E2-48E2-9C80-875B1A0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企業客戶全天候條件式支付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連接代幣化債券的現金腿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降低機構間對帳與交割延遲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建立新型資金管理服務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A9E0F-DF3F-4D77-BD6C-6D32D7A3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決策前提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031A5-4971-427B-8D63-1CBAF450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法律地位與存款保障清楚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同業及央行貨幣可按面額互換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客戶需求足以負擔整合成本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資安、流動性與退出控制可行</a:t>
            </a:r>
          </a:p>
        </p:txBody>
      </p:sp>
    </p:spTree>
    <p:extLst>
      <p:ext uri="{BB962C8B-B14F-4D97-AF65-F5344CB8AC3E}">
        <p14:creationId xmlns:p14="http://schemas.microsoft.com/office/powerpoint/2010/main" val="130604215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27F59-5EB8-4E67-BD61-5193D4F9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第三節｜創新與風險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908FD-DD15-4E9F-9702-47A4ADBB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本週結論：金融創新的底線是維持可信的貨幣與權利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CD785-308D-45DC-9B94-FBB4F060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76D3A-43DA-4388-AB8D-6DBD594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15｜第三節｜創新與風險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42082-00C0-446C-AE5A-B1C7915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42BAB-6170-45CA-A592-FE415169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區塊鏈帶來共享、可程式化與更緊密交割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3DDFB-8895-4AEE-ABF6-88FA500B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但金融價值仍來自可按面額使用的貨幣、清楚的法律權利、充足流動性、可信中介與可執行的風險治理。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F580F-4C35-47D5-8F44-E759ACAC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22A37-739F-4178-BA55-662C5739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好的區塊鏈金融不只是把流程搬上鏈，而是明確降低摩擦、保留救濟，並避免把速度與連結變成新的系統性脆弱。</a:t>
            </a:r>
          </a:p>
        </p:txBody>
      </p:sp>
    </p:spTree>
    <p:extLst>
      <p:ext uri="{BB962C8B-B14F-4D97-AF65-F5344CB8AC3E}">
        <p14:creationId xmlns:p14="http://schemas.microsoft.com/office/powerpoint/2010/main" val="17222312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4D3AA-BDD7-4088-A622-5B9077B4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04C90-6A16-4D1E-B0A2-708BC135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D4F03-D7B6-4F0A-A95E-1A353CEA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0C80A-8F0E-4761-A13D-36C9A01E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24381-EF61-416E-8746-1A5821DC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4C390-62AD-4F43-BDAE-D082B7B8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75222-CE60-4E9E-80F3-5DF9FB69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19251-0319-4BEB-BA9F-D1EDED64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49B43-D7A2-427C-8E99-140C491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15｜第三節｜快問快答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3FF11-D5AA-499B-9AFF-0F1044FA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B9C34-2438-4E1C-A650-9B0D179B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DeFi高收益應理解為？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B9738-1177-4797-AA2E-59598398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無風險利息　B 承擔資本、波動與技術風險的補償　C 政府保證　D 免費報酬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2B9D1-B8B6-40CA-A88F-0AA974D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F7E03-AF1F-4C53-86AC-8CC0FEC5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答案：B。先辨識風險來源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605D4-E69E-40A7-8862-07744A9D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超額抵押借貸的核心風險？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8C0A6-C8BB-4360-B16C-E5BDD779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紙張不足　B 價格下跌與連鎖清算　C 沒有地址　D 交易太慢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DC886-EBB7-48B8-A25C-20B704BC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4BB95-4E68-462A-A24A-EA8CB626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答案：B。抵押價值可能急跌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00D07-7572-4FA8-9439-6FACBC86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可組合性只帶來好處嗎？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F2AFA-C60A-4719-A3D1-DCDD5C18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否，也會傳遞依賴與風險　C 只有銀行有風險　D 程式碼透明即無風險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B42FA-DB35-4D06-B276-70874CBB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9119A-10CB-44B3-8713-8ED69C67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答案：B。故障可跨協議擴散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9B583-5713-41C8-9F9F-B09230F1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判斷系統風險要看？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B90A9-5D4D-45ED-AEB0-E961EBE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顏色　B 規模、關聯、槓桿與替代性　C 代幣名稱　D 社群人數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3CD84-3510-4599-A036-2E75CC9E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54C35-5CEA-44E4-9BE9-CDE39410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答案：B。看衝擊傳遞能力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BA1AA-B565-4C17-A5DD-21473E85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區塊鏈金融的核心底線？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E8B25-18A2-42AE-ACFE-D927D3EF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越快越好　B 貨幣與權利可信且風險可治理　C 全部公有鏈　D 不需救濟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02140-541D-48B1-8A13-98F44789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503F6-D264-4DA0-86C9-90BFD77E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答案：B。效率不能犧牲信任</a:t>
            </a:r>
          </a:p>
        </p:txBody>
      </p:sp>
    </p:spTree>
    <p:extLst>
      <p:ext uri="{BB962C8B-B14F-4D97-AF65-F5344CB8AC3E}">
        <p14:creationId xmlns:p14="http://schemas.microsoft.com/office/powerpoint/2010/main" val="1699412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2026-09-03T08:30:11.6920000Z</dcterms:created>
  <dcterms:modified xsi:type="dcterms:W3CDTF">2026-09-03T08:30:11.6920000Z</dcterms:modified>
</coreProperties>
</file>