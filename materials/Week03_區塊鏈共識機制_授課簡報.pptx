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0" r:id="rId7"/>
    <p:sldId id="261" r:id="rId8"/>
    <p:sldId id="291" r:id="rId9"/>
    <p:sldId id="262" r:id="rId10"/>
    <p:sldId id="263" r:id="rId11"/>
    <p:sldId id="264" r:id="rId12"/>
    <p:sldId id="265" r:id="rId13"/>
    <p:sldId id="298" r:id="rId14"/>
    <p:sldId id="299" r:id="rId15"/>
    <p:sldId id="267" r:id="rId16"/>
    <p:sldId id="268" r:id="rId17"/>
    <p:sldId id="269" r:id="rId18"/>
    <p:sldId id="292" r:id="rId19"/>
    <p:sldId id="270" r:id="rId20"/>
    <p:sldId id="293" r:id="rId21"/>
    <p:sldId id="271" r:id="rId22"/>
    <p:sldId id="272" r:id="rId23"/>
    <p:sldId id="273" r:id="rId24"/>
    <p:sldId id="294" r:id="rId25"/>
    <p:sldId id="274" r:id="rId26"/>
    <p:sldId id="295" r:id="rId27"/>
    <p:sldId id="275" r:id="rId28"/>
    <p:sldId id="296" r:id="rId29"/>
    <p:sldId id="276" r:id="rId30"/>
    <p:sldId id="277" r:id="rId31"/>
    <p:sldId id="278" r:id="rId32"/>
    <p:sldId id="300" r:id="rId33"/>
    <p:sldId id="301" r:id="rId34"/>
    <p:sldId id="280" r:id="rId35"/>
    <p:sldId id="281" r:id="rId36"/>
    <p:sldId id="282" r:id="rId37"/>
    <p:sldId id="283" r:id="rId38"/>
    <p:sldId id="297" r:id="rId39"/>
    <p:sldId id="284" r:id="rId40"/>
    <p:sldId id="285" r:id="rId41"/>
    <p:sldId id="286" r:id="rId42"/>
    <p:sldId id="287" r:id="rId43"/>
    <p:sldId id="302" r:id="rId44"/>
    <p:sldId id="303" r:id="rId45"/>
    <p:sldId id="289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280160"/>
            <a:ext cx="10058400" cy="10058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4300" b="1">
                <a:solidFill>
                  <a:srgbClr val="FFFFFF"/>
                </a:solidFill>
                <a:latin typeface="Microsoft JhengHei"/>
              </a:defRPr>
            </a:pPr>
            <a:r>
              <a:t>第三週｜區塊鏈共識機制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0"/>
            <a:ext cx="10058400" cy="1371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B3E7E1"/>
                </a:solidFill>
                <a:latin typeface="Microsoft JhengHei"/>
              </a:defRPr>
            </a:pPr>
            <a:r>
              <a:t>誰有權記帳？如何讓大家接受同一份帳本？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9144000" cy="2743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500" b="0">
                <a:solidFill>
                  <a:srgbClr val="B3E7E1"/>
                </a:solidFill>
                <a:latin typeface="Microsoft JhengHei"/>
              </a:defRPr>
            </a:pPr>
            <a:r>
              <a:t>區塊鏈概論  ·  第三週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280160"/>
            <a:ext cx="10058400" cy="10058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4300" b="1">
                <a:solidFill>
                  <a:srgbClr val="FFFFFF"/>
                </a:solidFill>
                <a:latin typeface="Microsoft JhengHei"/>
              </a:defRPr>
            </a:pPr>
            <a:r>
              <a:t>第一節｜為什麼需要共識？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0"/>
            <a:ext cx="10058400" cy="1371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B3E7E1"/>
                </a:solidFill>
                <a:latin typeface="Microsoft JhengHei"/>
              </a:defRPr>
            </a:pPr>
            <a:r>
              <a:t>從 11 個村莊與信鴿傳信，理解分散式記帳的難題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9144000" cy="2743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500" b="0">
                <a:solidFill>
                  <a:srgbClr val="B3E7E1"/>
                </a:solidFill>
                <a:latin typeface="Microsoft JhengHei"/>
              </a:defRPr>
            </a:pPr>
            <a:r>
              <a:t>區塊鏈概論  ·  第三週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第一節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從前兩週的交易開始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我們已學過：交易建立、簽章、廣播，以及把交易打包成區塊。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但是：不同節點可能收到不同訊息；若同時出現兩份紀錄，大家應接受哪一份？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本節要回答：誰有權提出區塊？其他節點憑什麼接受？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第一節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什麼是共識機制？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假設 10 位朋友共同記帳，沒有一個大家都必須相信的總帳管理員。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共識機制就是一套共同遵守的規則：檢查交易是否有效、決定紀錄順序，並讓節點逐漸接受一致的帳本。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「有人提出紀錄」與「大家驗證、接受紀錄」是兩回事。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第一節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故事：11 個村莊的相親大會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原本的一個大村莊，發展成分散各地的 11 個小村莊。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每年由 A 村或 B 村舉辦相親大會，大家投票決定。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村莊相距太遠，只能靠信鴿傳信；一隻信鴿無法跑遍所有村莊，必須透過中繼村轉送訊息。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問題：如果傳話的人不可靠，最後每個村莊會得到相同的投票結果嗎？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0584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337A8E"/>
                </a:solidFill>
                <a:latin typeface="Microsoft JhengHei"/>
              </a:defRPr>
            </a:pPr>
            <a:r>
              <a:t>區塊鏈概論  /  WEEK 03  /  第一節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14C"/>
                </a:solidFill>
                <a:latin typeface="Microsoft JhengHei"/>
              </a:defRPr>
            </a:pPr>
            <a:r>
              <a:t>故事全貌｜11 個村莊投票的情境故事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3611880"/>
          </a:xfrm>
          <a:prstGeom prst="roundRect">
            <a:avLst/>
          </a:prstGeom>
          <a:solidFill>
            <a:srgbClr val="EB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965960"/>
            <a:ext cx="10469880" cy="32918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3042"/>
                </a:solidFill>
                <a:latin typeface="Microsoft JhengHei"/>
              </a:defRPr>
            </a:pPr>
            <a:r>
              <a:t>從前有一個大村莊，隨著人口增加，逐漸分成散居各地的 11 個小村莊。每年大家都要合辦一次相親大會，候選主辦地點是 A 村和 B 村，最後由各村投票決定。</a:t>
            </a:r>
          </a:p>
          <a:p>
            <a:pPr>
              <a:spcAft>
                <a:spcPts val="900"/>
              </a:spcAft>
              <a:defRPr sz="1900" b="0">
                <a:solidFill>
                  <a:srgbClr val="233042"/>
                </a:solidFill>
                <a:latin typeface="Microsoft JhengHei"/>
              </a:defRPr>
            </a:pPr>
            <a:r>
              <a:t>然而，村莊之間距離遙遠，通訊只能依靠信鴿。一隻信鴿無法逐一飛到所有村莊，所以投票訊息必須先交給中繼村，再由中繼村轉送。每個村莊都得根據收到的訊息統計結果，卻沒有一位能隨時核對全部原始投票的總管理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504688"/>
            <a:ext cx="10972800" cy="804672"/>
          </a:xfrm>
          <a:prstGeom prst="roundRect">
            <a:avLst/>
          </a:prstGeom>
          <a:solidFill>
            <a:srgbClr val="E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5586984"/>
            <a:ext cx="10561320" cy="5943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245D43"/>
                </a:solidFill>
                <a:latin typeface="Microsoft JhengHei"/>
              </a:defRPr>
            </a:pPr>
            <a:r>
              <a:t>導入區塊鏈｜各節點也可能只能看到部分交易資訊；需要共同規則，才能判定接受哪份帳本。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第一節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故事：傳信時出現兩種作弊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情況一｜某村向東邊說「我投 A」，卻向西邊說「我投 B」。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情況二｜中繼村收到「投 A」，卻偷偷改成「投 B」再轉交。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即使大家都想遵守規則，還可能遇到信鴿晚到、訊息遺失或村莊暫時失聯。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拜占庭問題：有成員故障或故意傳送矛盾訊息時，如何仍依規則取得一致結果？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0584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337A8E"/>
                </a:solidFill>
                <a:latin typeface="Microsoft JhengHei"/>
              </a:defRPr>
            </a:pPr>
            <a:r>
              <a:t>區塊鏈概論  /  WEEK 03  /  第一節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14C"/>
                </a:solidFill>
                <a:latin typeface="Microsoft JhengHei"/>
              </a:defRPr>
            </a:pPr>
            <a:r>
              <a:t>故事轉折｜同一場投票，為何出現兩種結果？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3611880"/>
          </a:xfrm>
          <a:prstGeom prst="roundRect">
            <a:avLst/>
          </a:prstGeom>
          <a:solidFill>
            <a:srgbClr val="EB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965960"/>
            <a:ext cx="10469880" cy="32918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3042"/>
                </a:solidFill>
                <a:latin typeface="Microsoft JhengHei"/>
              </a:defRPr>
            </a:pPr>
            <a:r>
              <a:t>第一種情況：某個村莊把「投 A」的紙條送往東邊，卻把「投 B」的紙條送往西邊。它對不同收件人傳送互相矛盾的資訊，讓大家以為自己收到的才是真正投票。</a:t>
            </a:r>
          </a:p>
          <a:p>
            <a:pPr>
              <a:spcAft>
                <a:spcPts val="900"/>
              </a:spcAft>
              <a:defRPr sz="1900" b="0">
                <a:solidFill>
                  <a:srgbClr val="233042"/>
                </a:solidFill>
                <a:latin typeface="Microsoft JhengHei"/>
              </a:defRPr>
            </a:pPr>
            <a:r>
              <a:t>第二種情況：中繼村明明收到「投 A」，卻偷偷改寫成「投 B」再轉送。即使投票村誠實，收件村仍可能拿到被竄改的結果。</a:t>
            </a:r>
          </a:p>
          <a:p>
            <a:pPr>
              <a:spcAft>
                <a:spcPts val="900"/>
              </a:spcAft>
              <a:defRPr sz="1900" b="0">
                <a:solidFill>
                  <a:srgbClr val="233042"/>
                </a:solidFill>
                <a:latin typeface="Microsoft JhengHei"/>
              </a:defRPr>
            </a:pPr>
            <a:r>
              <a:t>再加上信鴿晚到、紙條遺失或村莊暫時失聯，最後各村可能宣布不同的主辦村。這不是單純再投一次票就能消除的通訊難題。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504688"/>
            <a:ext cx="10972800" cy="804672"/>
          </a:xfrm>
          <a:prstGeom prst="roundRect">
            <a:avLst/>
          </a:prstGeom>
          <a:solidFill>
            <a:srgbClr val="E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5586984"/>
            <a:ext cx="10561320" cy="5943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245D43"/>
                </a:solidFill>
                <a:latin typeface="Microsoft JhengHei"/>
              </a:defRPr>
            </a:pPr>
            <a:r>
              <a:t>導入區塊鏈｜拜占庭故障可包含矛盾訊息或惡意行為；共識規則須在既定故障假設下維持安全。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第一節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課堂活動：拜占庭傳信遊戲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分組扮演投票村、中繼村及收件村。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各村把 A／B 選擇寫在紙條上，交給中繼村轉送；其中一組可收到延遲或被更改的訊息。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公布各村最後收到的結果，討論為什麼彼此不一致。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討論：如果不能只相信中繼村，應增加哪些驗證或共同決定規則？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第一節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從村莊傳信到區塊鏈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村莊＝分散在各地的節點；信鴿＝網路傳播；投票結果＝各節點看到的紀錄。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區塊鏈不能只靠某個中繼者宣布「我說了算」。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節點需要共同的有效性規則、提出區塊的方法，以及出現衝突時的選擇規則。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故事是理解通訊風險的類比；區塊鏈共識不等於每人一票的民主投票。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第一節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共識必須兼顧安全性與活性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安全性（Safety）：不讓誠實節點把互相衝突的結果都視為已完成。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活性（Liveness）：在系統假設成立時，即使部分節點故障，仍能繼續處理新交易。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金融情境：安全性關乎錯帳與逆轉；活性關乎付款停擺與結算延遲。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第一節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暫時分叉與最終性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兩個礦工可能幾乎同時提出不同區塊：部分節點先收到 A，其他節點先收到 B。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這叫暫時分叉，不一定有人作弊。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節點依共識規則選擇鏈頭，後續可能發生重組；最終性則回答「何時能把交易視為完成」。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先記住問題；第二節再用比特幣的累積工作量與確認數解釋。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14C"/>
                </a:solidFill>
                <a:latin typeface="Microsoft JhengHei"/>
              </a:defRPr>
            </a:pPr>
            <a:r>
              <a:t>第一節｜課堂搶答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43000"/>
            <a:ext cx="10835640" cy="914400"/>
          </a:xfrm>
          <a:prstGeom prst="roundRect">
            <a:avLst/>
          </a:prstGeom>
          <a:solidFill>
            <a:srgbClr val="E7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216152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1. 村莊傳信故事主要說明哪種困境？</a:t>
            </a:r>
          </a:p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A 幣價波動　B 訊息不一致　C 電費上漲　D 稅率不同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67128"/>
            <a:ext cx="10835640" cy="914400"/>
          </a:xfrm>
          <a:prstGeom prst="roundRect">
            <a:avLst/>
          </a:prstGeom>
          <a:solidFill>
            <a:srgbClr val="E7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2. 中繼村把「投 A」改成「投 B」，屬於什麼？</a:t>
            </a:r>
          </a:p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A 竄改訊息　B 正常確認　C 挖礦　D 質押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91256"/>
            <a:ext cx="10835640" cy="914400"/>
          </a:xfrm>
          <a:prstGeom prst="roundRect">
            <a:avLst/>
          </a:prstGeom>
          <a:solidFill>
            <a:srgbClr val="E7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264408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3. 拜占庭故障只包含故意說謊。</a:t>
            </a:r>
          </a:p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是非題：○ 正確　× 錯誤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215384"/>
            <a:ext cx="10835640" cy="914400"/>
          </a:xfrm>
          <a:prstGeom prst="roundRect">
            <a:avLst/>
          </a:prstGeom>
          <a:solidFill>
            <a:srgbClr val="E7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288536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4. 共識等於所有節點一人一票。</a:t>
            </a:r>
          </a:p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是非題：○ 正確　× 錯誤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239512"/>
            <a:ext cx="10835640" cy="914400"/>
          </a:xfrm>
          <a:prstGeom prst="roundRect">
            <a:avLst/>
          </a:prstGeom>
          <a:solidFill>
            <a:srgbClr val="E7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312664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5. 兩個有效區塊同時出現，一定有人作弊。</a:t>
            </a:r>
          </a:p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是非題：○ 正確　× 錯誤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14C"/>
                </a:solidFill>
                <a:latin typeface="Microsoft JhengHei"/>
              </a:defRPr>
            </a:pPr>
            <a:r>
              <a:t>第一節｜搶答答案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43000"/>
            <a:ext cx="10835640" cy="914400"/>
          </a:xfrm>
          <a:prstGeom prst="roundRect">
            <a:avLst/>
          </a:prstGeom>
          <a:solidFill>
            <a:srgbClr val="E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216152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E3749"/>
                </a:solidFill>
                <a:latin typeface="Microsoft JhengHei"/>
              </a:defRPr>
            </a:pPr>
            <a:r>
              <a:t>1. 答案：B　分散節點可能收到不同版本。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67128"/>
            <a:ext cx="10835640" cy="914400"/>
          </a:xfrm>
          <a:prstGeom prst="roundRect">
            <a:avLst/>
          </a:prstGeom>
          <a:solidFill>
            <a:srgbClr val="E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E3749"/>
                </a:solidFill>
                <a:latin typeface="Microsoft JhengHei"/>
              </a:defRPr>
            </a:pPr>
            <a:r>
              <a:t>2. 答案：A　傳遞途中改寫原始資訊。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91256"/>
            <a:ext cx="10835640" cy="914400"/>
          </a:xfrm>
          <a:prstGeom prst="roundRect">
            <a:avLst/>
          </a:prstGeom>
          <a:solidFill>
            <a:srgbClr val="E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264408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E3749"/>
                </a:solidFill>
                <a:latin typeface="Microsoft JhengHei"/>
              </a:defRPr>
            </a:pPr>
            <a:r>
              <a:t>3. 答案：×　還可能涉及任意故障與矛盾訊息。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215384"/>
            <a:ext cx="10835640" cy="914400"/>
          </a:xfrm>
          <a:prstGeom prst="roundRect">
            <a:avLst/>
          </a:prstGeom>
          <a:solidFill>
            <a:srgbClr val="E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288536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E3749"/>
                </a:solidFill>
                <a:latin typeface="Microsoft JhengHei"/>
              </a:defRPr>
            </a:pPr>
            <a:r>
              <a:t>4. 答案：×　PoW、PoS 有不同權重與規則。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239512"/>
            <a:ext cx="10835640" cy="914400"/>
          </a:xfrm>
          <a:prstGeom prst="roundRect">
            <a:avLst/>
          </a:prstGeom>
          <a:solidFill>
            <a:srgbClr val="E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312664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E3749"/>
                </a:solidFill>
                <a:latin typeface="Microsoft JhengHei"/>
              </a:defRPr>
            </a:pPr>
            <a:r>
              <a:t>5. 答案：×　網路延遲也可能造成暫時分叉。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280160"/>
            <a:ext cx="10058400" cy="10058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4300" b="1">
                <a:solidFill>
                  <a:srgbClr val="FFFFFF"/>
                </a:solidFill>
                <a:latin typeface="Microsoft JhengHei"/>
              </a:defRPr>
            </a:pPr>
            <a:r>
              <a:t>第二節｜PoW 工作量證明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0"/>
            <a:ext cx="10058400" cy="1371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B3E7E1"/>
                </a:solidFill>
                <a:latin typeface="Microsoft JhengHei"/>
              </a:defRPr>
            </a:pPr>
            <a:r>
              <a:t>從《24 點》與李四的超強算盤，理解挖礦、難度與雙花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9144000" cy="2743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500" b="0">
                <a:solidFill>
                  <a:srgbClr val="B3E7E1"/>
                </a:solidFill>
                <a:latin typeface="Microsoft JhengHei"/>
              </a:defRPr>
            </a:pPr>
            <a:r>
              <a:t>區塊鏈概論  ·  第三週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第二節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PoW：用算力競爭提出區塊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比特幣採用工作量證明（Proof of Work，PoW）。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礦工投入運算資源，反覆嘗試找到符合目標的區塊雜湊值；先找到合格結果者，可以廣播候選區塊。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其他節點仍須獨立驗證交易與區塊。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挖到區塊不等於有權修改別人的交易或偽造簽章。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第二節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用《24 點》理解「競爭」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老師給大家四個數字，例如 2、9、1、5，大家搶先算出 24。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這個遊戲可以比喻：許多人同時競爭，答案一旦提出，其他人容易檢查。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但真正的 PoW 不是解有用的數學題，而是反覆調整 nonce 等欄位，計算雜湊直到低於目標值。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保留《24 點》的競賽趣味，但不要把「算 24」誤當成比特幣挖礦演算法。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0584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337A8E"/>
                </a:solidFill>
                <a:latin typeface="Microsoft JhengHei"/>
              </a:defRPr>
            </a:pPr>
            <a:r>
              <a:t>區塊鏈概論  /  WEEK 03  /  第二節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14C"/>
                </a:solidFill>
                <a:latin typeface="Microsoft JhengHei"/>
              </a:defRPr>
            </a:pPr>
            <a:r>
              <a:t>故事全貌｜全村一起玩《24 點》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3611880"/>
          </a:xfrm>
          <a:prstGeom prst="roundRect">
            <a:avLst/>
          </a:prstGeom>
          <a:solidFill>
            <a:srgbClr val="EB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965960"/>
            <a:ext cx="10469880" cy="32918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3042"/>
                </a:solidFill>
                <a:latin typeface="Microsoft JhengHei"/>
              </a:defRPr>
            </a:pPr>
            <a:r>
              <a:t>老師給每個人同樣四個數字，例如 2、9、1、5，大家只能用加減乘除組成 24。有人算得快，有人算得慢；先提出正確算式的人贏得這一回合，其他人很容易檢查答案是否正確。</a:t>
            </a:r>
          </a:p>
          <a:p>
            <a:pPr>
              <a:spcAft>
                <a:spcPts val="900"/>
              </a:spcAft>
              <a:defRPr sz="1900" b="0">
                <a:solidFill>
                  <a:srgbClr val="233042"/>
                </a:solidFill>
                <a:latin typeface="Microsoft JhengHei"/>
              </a:defRPr>
            </a:pPr>
            <a:r>
              <a:t>把這場遊戲想成村民競爭提出下一本帳：每個人都能參加，但不是每個人都能在同一回合獲勝。贏家先把交易裝進信封，交給其他村民檢查。這個故事只用來理解「尋找答案不易、驗證答案容易」及「競爭提出區塊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504688"/>
            <a:ext cx="10972800" cy="804672"/>
          </a:xfrm>
          <a:prstGeom prst="roundRect">
            <a:avLst/>
          </a:prstGeom>
          <a:solidFill>
            <a:srgbClr val="E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5586984"/>
            <a:ext cx="10561320" cy="5943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245D43"/>
                </a:solidFill>
                <a:latin typeface="Microsoft JhengHei"/>
              </a:defRPr>
            </a:pPr>
            <a:r>
              <a:t>導入區塊鏈｜真正 PoW 不解《24 點》；礦工反覆調整 nonce 等欄位，尋找低於目標值的雜湊。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第二節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李四的超強算盤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全村還在用手指計算《24 點》，李四發明了一台超強算盤。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別人要花很久才算出答案，他卻能快速嘗試許多次，因此更常搶到記帳機會。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對應到挖礦：算力越大，找到合格雜湊的機會通常越高，但不是保證每次獲勝。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如果大量算力集中在少數人或礦池，便可能形成集中化風險。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0584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337A8E"/>
                </a:solidFill>
                <a:latin typeface="Microsoft JhengHei"/>
              </a:defRPr>
            </a:pPr>
            <a:r>
              <a:t>區塊鏈概論  /  WEEK 03  /  第二節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14C"/>
                </a:solidFill>
                <a:latin typeface="Microsoft JhengHei"/>
              </a:defRPr>
            </a:pPr>
            <a:r>
              <a:t>故事全貌｜李四的超強算盤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3611880"/>
          </a:xfrm>
          <a:prstGeom prst="roundRect">
            <a:avLst/>
          </a:prstGeom>
          <a:solidFill>
            <a:srgbClr val="EB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965960"/>
            <a:ext cx="10469880" cy="32918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3042"/>
                </a:solidFill>
                <a:latin typeface="Microsoft JhengHei"/>
              </a:defRPr>
            </a:pPr>
            <a:r>
              <a:t>原本全村都靠手指玩《24 點》，李四卻發明了一台超強算盤，能在別人還在思考時快速嘗試許多種組合。李四每回合贏得記帳機會的機率因此提高，其他村民開始擔心：如果他經常贏，帳本會不會逐漸由少數人主導？</a:t>
            </a:r>
          </a:p>
          <a:p>
            <a:pPr>
              <a:spcAft>
                <a:spcPts val="900"/>
              </a:spcAft>
              <a:defRPr sz="1900" b="0">
                <a:solidFill>
                  <a:srgbClr val="233042"/>
                </a:solidFill>
                <a:latin typeface="Microsoft JhengHei"/>
              </a:defRPr>
            </a:pPr>
            <a:r>
              <a:t>假設這台算盤加入後，大家平均更快完成一回合，村莊就約定下一輪提高題目難度，讓比賽節奏回到原本水準。不過，李四即使贏得一回合，也不能任意改寫張三的簽名；其他人仍會逐項檢查他交出的帳本。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504688"/>
            <a:ext cx="10972800" cy="804672"/>
          </a:xfrm>
          <a:prstGeom prst="roundRect">
            <a:avLst/>
          </a:prstGeom>
          <a:solidFill>
            <a:srgbClr val="E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5586984"/>
            <a:ext cx="10561320" cy="5943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245D43"/>
                </a:solidFill>
                <a:latin typeface="Microsoft JhengHei"/>
              </a:defRPr>
            </a:pPr>
            <a:r>
              <a:t>導入區塊鏈｜算力影響出塊機率；比特幣按週期調整難度，而有效性仍由各節點獨立驗證。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第二節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李四太快，難度怎麼辦？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假設大家原本平均約每 10 分鐘找到一個區塊。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李四帶來超強算盤後，全網算力增加，區塊暫時產生得更快。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比特幣會按既定週期調整難度，讓長期平均出塊時間回到約 10 分鐘。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《24 點》變難只是比喻；實際上是調整雜湊必須低於的目標值。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第二節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取得記帳機會，可以亂改帳嗎？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李四先找到合格雜湊，可以提出區塊，卻不能憑空花掉張三的比特幣。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每個節點仍會檢查：交易簽章、資產是否已花費、區塊格式與獎勵是否符合規則。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不合法的區塊，即使投入大量算力，也會被遵守規則的節點拒絕。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算力攻擊主要威脅交易排序、審查與近期歷史重組，不會直接破解他人的私鑰。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第二節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李四為什麼願意誠實挖礦？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誠實礦工成功產出被接受的區塊，可以取得協議允許的區塊獎勵與交易手續費。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但要負擔設備、電費、場地與維護成本。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攻擊者也必須衡量攻擊成本、成功機率、資產價格與其他風險。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誠實不保證一定賺錢；經濟誘因是提高攻擊成本，而非完全消除攻擊。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0584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337A8E"/>
                </a:solidFill>
                <a:latin typeface="Microsoft JhengHei"/>
              </a:defRPr>
            </a:pPr>
            <a:r>
              <a:t>區塊鏈概論  /  WEEK 03  /  第二節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14C"/>
                </a:solidFill>
                <a:latin typeface="Microsoft JhengHei"/>
              </a:defRPr>
            </a:pPr>
            <a:r>
              <a:t>故事全貌｜李四想作弊，真的划算嗎？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3611880"/>
          </a:xfrm>
          <a:prstGeom prst="roundRect">
            <a:avLst/>
          </a:prstGeom>
          <a:solidFill>
            <a:srgbClr val="EB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965960"/>
            <a:ext cx="10469880" cy="32918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3042"/>
                </a:solidFill>
                <a:latin typeface="Microsoft JhengHei"/>
              </a:defRPr>
            </a:pPr>
            <a:r>
              <a:t>李四發現自己的算盤很快，於是動起歪腦筋：既然自己較常取得記帳機會，能不能把先前付給商家的款項取消，讓錢重新回到自己手上？</a:t>
            </a:r>
          </a:p>
          <a:p>
            <a:pPr>
              <a:spcAft>
                <a:spcPts val="900"/>
              </a:spcAft>
              <a:defRPr sz="1900" b="0">
                <a:solidFill>
                  <a:srgbClr val="233042"/>
                </a:solidFill>
                <a:latin typeface="Microsoft JhengHei"/>
              </a:defRPr>
            </a:pPr>
            <a:r>
              <a:t>但要讓大家接受另一段交易歷史，他不只要提出新信封，還得投入大量算力，與其他村民持續建立的帳本競爭。這會消耗設備、電力和時間；若失敗，花費可能全部落空。反過來說，他若按規則挖礦，成功提出被接受的區塊，便可能取得區塊獎勵與手續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504688"/>
            <a:ext cx="10972800" cy="804672"/>
          </a:xfrm>
          <a:prstGeom prst="roundRect">
            <a:avLst/>
          </a:prstGeom>
          <a:solidFill>
            <a:srgbClr val="E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5586984"/>
            <a:ext cx="10561320" cy="5943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245D43"/>
                </a:solidFill>
                <a:latin typeface="Microsoft JhengHei"/>
              </a:defRPr>
            </a:pPr>
            <a:r>
              <a:t>導入區塊鏈｜經濟誘因提高攻擊成本，但不保證所有情況下誠實挖礦都比較賺錢。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第二節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雙花：同一筆錢想花兩次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假設李四用自己控制的比特幣付款給咖啡店（交易 A），拿到商品後，又企圖讓同一筆資產轉回自己（交易 B）。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A 與 B 互相衝突，不能同時成為有效的最終帳本紀錄。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攻擊者試圖讓包含 B 的替代鏈取代原本包含 A 的鏈。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雙花不必偷取咖啡店或他人的私鑰；攻擊者可利用自己控制的資產。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0584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337A8E"/>
                </a:solidFill>
                <a:latin typeface="Microsoft JhengHei"/>
              </a:defRPr>
            </a:pPr>
            <a:r>
              <a:t>區塊鏈概論  /  WEEK 03  /  第二節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14C"/>
                </a:solidFill>
                <a:latin typeface="Microsoft JhengHei"/>
              </a:defRPr>
            </a:pPr>
            <a:r>
              <a:t>故事全貌｜一筆錢，想付給咖啡店又留給自己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3611880"/>
          </a:xfrm>
          <a:prstGeom prst="roundRect">
            <a:avLst/>
          </a:prstGeom>
          <a:solidFill>
            <a:srgbClr val="EB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965960"/>
            <a:ext cx="10469880" cy="32918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3042"/>
                </a:solidFill>
                <a:latin typeface="Microsoft JhengHei"/>
              </a:defRPr>
            </a:pPr>
            <a:r>
              <a:t>李四拿自己控制的一筆比特幣到咖啡店買東西，先廣播交易 A，將這筆錢付給老闆。老闆看見付款通知，就把咖啡交給李四。</a:t>
            </a:r>
          </a:p>
          <a:p>
            <a:pPr>
              <a:spcAft>
                <a:spcPts val="900"/>
              </a:spcAft>
              <a:defRPr sz="1900" b="0">
                <a:solidFill>
                  <a:srgbClr val="233042"/>
                </a:solidFill>
                <a:latin typeface="Microsoft JhengHei"/>
              </a:defRPr>
            </a:pPr>
            <a:r>
              <a:t>李四卻另外準備互相衝突的交易 B，企圖把同一筆尚未最終確認的資產轉回自己。他想辦法讓包含 B 的替代區塊鏈取代包含 A 的原鏈。若商家已交貨、原先的付款卻因重組失去確認，商家就可能蒙受損失。</a:t>
            </a:r>
          </a:p>
          <a:p>
            <a:pPr>
              <a:spcAft>
                <a:spcPts val="900"/>
              </a:spcAft>
              <a:defRPr sz="1900" b="0">
                <a:solidFill>
                  <a:srgbClr val="233042"/>
                </a:solidFill>
                <a:latin typeface="Microsoft JhengHei"/>
              </a:defRPr>
            </a:pPr>
            <a:r>
              <a:t>李四不需要偷咖啡店的私鑰；這個攻擊利用的是他自己控制的同一筆資產，以及交易尚未穩定確認的時間差。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504688"/>
            <a:ext cx="10972800" cy="804672"/>
          </a:xfrm>
          <a:prstGeom prst="roundRect">
            <a:avLst/>
          </a:prstGeom>
          <a:solidFill>
            <a:srgbClr val="E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5586984"/>
            <a:ext cx="10561320" cy="5943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245D43"/>
                </a:solidFill>
                <a:latin typeface="Microsoft JhengHei"/>
              </a:defRPr>
            </a:pPr>
            <a:r>
              <a:t>導入區塊鏈｜有效帳本不能同時接受兩筆花費同一輸出的衝突交易；商家須管理確認風險。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第二節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交易確認：商家為什麼要等？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未確認：交易已廣播，但尚未被有效區塊納入。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首次確認：交易進入被接受的區塊。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後續確認：更多區塊接在其後；若要逆轉該交易，攻擊者通常須追上更多累積工作量。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比特幣常見的六次確認是風險管理慣例，不是絕對安全保證。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0584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337A8E"/>
                </a:solidFill>
                <a:latin typeface="Microsoft JhengHei"/>
              </a:defRPr>
            </a:pPr>
            <a:r>
              <a:t>區塊鏈概論  /  WEEK 03  /  第二節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14C"/>
                </a:solidFill>
                <a:latin typeface="Microsoft JhengHei"/>
              </a:defRPr>
            </a:pPr>
            <a:r>
              <a:t>故事延伸｜為什麼咖啡店要等六次確認？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3611880"/>
          </a:xfrm>
          <a:prstGeom prst="roundRect">
            <a:avLst/>
          </a:prstGeom>
          <a:solidFill>
            <a:srgbClr val="EB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965960"/>
            <a:ext cx="10469880" cy="32918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3042"/>
                </a:solidFill>
                <a:latin typeface="Microsoft JhengHei"/>
              </a:defRPr>
            </a:pPr>
            <a:r>
              <a:t>咖啡店老闆發現，收到交易通知不等於款項已穩妥入帳。當交易 A 第一次進入被接受的區塊，稱為首次確認；後面每增加一個區塊，想撤銷 A 的攻擊者通常就得追上更多累積工作量。</a:t>
            </a:r>
          </a:p>
          <a:p>
            <a:pPr>
              <a:spcAft>
                <a:spcPts val="900"/>
              </a:spcAft>
              <a:defRPr sz="1900" b="0">
                <a:solidFill>
                  <a:srgbClr val="233042"/>
                </a:solidFill>
                <a:latin typeface="Microsoft JhengHei"/>
              </a:defRPr>
            </a:pPr>
            <a:r>
              <a:t>老闆因此依交易金額及風險決定等候多久。比特幣常見「六次確認」的作業慣例，但它不是保證，也不能用攻擊者算力比例直接計算成「連贏六次」的精確成功率。對昂貴商品或異常交易，商家可能採用不同標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504688"/>
            <a:ext cx="10972800" cy="804672"/>
          </a:xfrm>
          <a:prstGeom prst="roundRect">
            <a:avLst/>
          </a:prstGeom>
          <a:solidFill>
            <a:srgbClr val="E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5586984"/>
            <a:ext cx="10561320" cy="5943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245D43"/>
                </a:solidFill>
                <a:latin typeface="Microsoft JhengHei"/>
              </a:defRPr>
            </a:pPr>
            <a:r>
              <a:t>導入區塊鏈｜確認數越多通常越難重組；實際風險仍受攻擊者算力、網路與交易情境影響。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第二節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分叉時選哪一條鏈？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若兩個有效區塊幾乎同時產生，部分節點可能暫時選擇不同鏈頭。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比特幣節點會依累積工作量等規則，選擇有效鏈。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不是只比較某個信封的難度，也不是「誰的區塊比較長就一定贏」。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一旦另一條鏈累積工作量超過原鏈，近期交易可能因重組而失去確認。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第二節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51% 攻擊與礦池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若單一攻擊者或協調團體掌握很高比例算力，可能重組近期區塊、嘗試雙花或審查交易。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但不能直接偽造別人的有效簽章，也不能讓守規則節點接受違反發行規則的區塊。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礦池能降低個別礦工收入波動，也可能集中區塊模板與交易選擇權。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「51%」是常用簡稱；攻擊可行性仍取決於網路、成本與具體目標。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第二節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活動：雙花防衛戰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全班分成商家、誠實礦工、攻擊者與觀察者。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商家先收到交易 A；攻擊者另外建立衝突交易 B。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各組用紙卡排出不同鏈，逐輪加入區塊，觀察確認數增加與鏈重組對商家的影響。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骰子僅模擬出塊機會；不要把「連續贏六次」當作真實雙花成功率公式。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14C"/>
                </a:solidFill>
                <a:latin typeface="Microsoft JhengHei"/>
              </a:defRPr>
            </a:pPr>
            <a:r>
              <a:t>第二節｜課堂搶答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43000"/>
            <a:ext cx="10835640" cy="914400"/>
          </a:xfrm>
          <a:prstGeom prst="roundRect">
            <a:avLst/>
          </a:prstGeom>
          <a:solidFill>
            <a:srgbClr val="E7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216152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1. 真實 PoW 礦工主要反覆做什麼？</a:t>
            </a:r>
          </a:p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A 解《24 點》　B 嘗試雜湊　C 偽造簽章　D 修改幣價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67128"/>
            <a:ext cx="10835640" cy="914400"/>
          </a:xfrm>
          <a:prstGeom prst="roundRect">
            <a:avLst/>
          </a:prstGeom>
          <a:solidFill>
            <a:srgbClr val="E7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2. 李四算力較大，代表每次一定挖到區塊。</a:t>
            </a:r>
          </a:p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是非題：○ 正確　× 錯誤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91256"/>
            <a:ext cx="10835640" cy="914400"/>
          </a:xfrm>
          <a:prstGeom prst="roundRect">
            <a:avLst/>
          </a:prstGeom>
          <a:solidFill>
            <a:srgbClr val="E7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264408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3. 挖到區塊就能任意花掉別人的幣。</a:t>
            </a:r>
          </a:p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是非題：○ 正確　× 錯誤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215384"/>
            <a:ext cx="10835640" cy="914400"/>
          </a:xfrm>
          <a:prstGeom prst="roundRect">
            <a:avLst/>
          </a:prstGeom>
          <a:solidFill>
            <a:srgbClr val="E7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288536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4. 雙花攻擊一定需要偷取商家的私鑰。</a:t>
            </a:r>
          </a:p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是非題：○ 正確　× 錯誤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239512"/>
            <a:ext cx="10835640" cy="914400"/>
          </a:xfrm>
          <a:prstGeom prst="roundRect">
            <a:avLst/>
          </a:prstGeom>
          <a:solidFill>
            <a:srgbClr val="E7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312664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5. 比特幣六次確認代表絕對不可能重組。</a:t>
            </a:r>
          </a:p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是非題：○ 正確　× 錯誤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14C"/>
                </a:solidFill>
                <a:latin typeface="Microsoft JhengHei"/>
              </a:defRPr>
            </a:pPr>
            <a:r>
              <a:t>第二節｜搶答答案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43000"/>
            <a:ext cx="10835640" cy="914400"/>
          </a:xfrm>
          <a:prstGeom prst="roundRect">
            <a:avLst/>
          </a:prstGeom>
          <a:solidFill>
            <a:srgbClr val="E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216152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E3749"/>
                </a:solidFill>
                <a:latin typeface="Microsoft JhengHei"/>
              </a:defRPr>
            </a:pPr>
            <a:r>
              <a:t>1. 答案：B　反覆改變 nonce 等欄位。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67128"/>
            <a:ext cx="10835640" cy="914400"/>
          </a:xfrm>
          <a:prstGeom prst="roundRect">
            <a:avLst/>
          </a:prstGeom>
          <a:solidFill>
            <a:srgbClr val="E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E3749"/>
                </a:solidFill>
                <a:latin typeface="Microsoft JhengHei"/>
              </a:defRPr>
            </a:pPr>
            <a:r>
              <a:t>2. 答案：×　只有較高機率，並非保證。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91256"/>
            <a:ext cx="10835640" cy="914400"/>
          </a:xfrm>
          <a:prstGeom prst="roundRect">
            <a:avLst/>
          </a:prstGeom>
          <a:solidFill>
            <a:srgbClr val="E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264408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E3749"/>
                </a:solidFill>
                <a:latin typeface="Microsoft JhengHei"/>
              </a:defRPr>
            </a:pPr>
            <a:r>
              <a:t>3. 答案：×　其他節點仍檢查簽章及有效性。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215384"/>
            <a:ext cx="10835640" cy="914400"/>
          </a:xfrm>
          <a:prstGeom prst="roundRect">
            <a:avLst/>
          </a:prstGeom>
          <a:solidFill>
            <a:srgbClr val="E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288536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E3749"/>
                </a:solidFill>
                <a:latin typeface="Microsoft JhengHei"/>
              </a:defRPr>
            </a:pPr>
            <a:r>
              <a:t>4. 答案：×　可用自己控制的資產建立衝突交易。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239512"/>
            <a:ext cx="10835640" cy="914400"/>
          </a:xfrm>
          <a:prstGeom prst="roundRect">
            <a:avLst/>
          </a:prstGeom>
          <a:solidFill>
            <a:srgbClr val="E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312664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E3749"/>
                </a:solidFill>
                <a:latin typeface="Microsoft JhengHei"/>
              </a:defRPr>
            </a:pPr>
            <a:r>
              <a:t>5. 答案：×　是常見風險管理慣例，不是保證。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280160"/>
            <a:ext cx="10058400" cy="10058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4300" b="1">
                <a:solidFill>
                  <a:srgbClr val="FFFFFF"/>
                </a:solidFill>
                <a:latin typeface="Microsoft JhengHei"/>
              </a:defRPr>
            </a:pPr>
            <a:r>
              <a:t>第三節｜PoS 與金融應用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0"/>
            <a:ext cx="10058400" cy="1371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B3E7E1"/>
                </a:solidFill>
                <a:latin typeface="Microsoft JhengHei"/>
              </a:defRPr>
            </a:pPr>
            <a:r>
              <a:t>從「投入算力」轉向「質押資產」，比較不同共識設計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9144000" cy="2743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500" b="0">
                <a:solidFill>
                  <a:srgbClr val="B3E7E1"/>
                </a:solidFill>
                <a:latin typeface="Microsoft JhengHei"/>
              </a:defRPr>
            </a:pPr>
            <a:r>
              <a:t>區塊鏈概論  ·  第三週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第三節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PoS：不用比誰的算盤最快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權益證明（Proof of Stake，PoS）讓參與者質押資產，依協議規則參與提出區塊與驗證。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以 Ethereum 為例，驗證者可能獲得獎勵；若出現可證明的特定違規行為，質押資產可能被扣減。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PoW 以算力成本建立安全；PoS 以質押資本與懲罰建立經濟約束。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第三節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以 Ethereum 為例：誰來記帳？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每個時槽由協議選出區塊提議者。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提議者建立候選區塊；其他驗證者檢查內容，並依規則對鏈頭等事項提交證明（attestation）。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足夠權重的驗證者對檢查點投票，可進一步形成最終性。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提出區塊、驗證交易與投票確認，是不同的工作。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第三節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質押者離線，一定會被沒收嗎？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情況一｜按規則參與：有機會取得驗證獎勵。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情況二｜暫時離線：通常失去獎勵，並可能受到一般懲罰。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情況三｜可證明的特定違規，例如雙重投票：可能觸發 slashing（削減質押）。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不是所有離線都會被 slashing；處罰依行為與協議規則而異。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7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0584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337A8E"/>
                </a:solidFill>
                <a:latin typeface="Microsoft JhengHei"/>
              </a:defRPr>
            </a:pPr>
            <a:r>
              <a:t>區塊鏈概論  /  WEEK 03  /  第三節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14C"/>
                </a:solidFill>
                <a:latin typeface="Microsoft JhengHei"/>
              </a:defRPr>
            </a:pPr>
            <a:r>
              <a:t>情境故事｜驗證者質押 ETH，卻突然斷線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3611880"/>
          </a:xfrm>
          <a:prstGeom prst="roundRect">
            <a:avLst/>
          </a:prstGeom>
          <a:solidFill>
            <a:srgbClr val="EB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965960"/>
            <a:ext cx="10469880" cy="32918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3042"/>
                </a:solidFill>
                <a:latin typeface="Microsoft JhengHei"/>
              </a:defRPr>
            </a:pPr>
            <a:r>
              <a:t>假設小林想參與 Ethereum 的區塊驗證，便依協議要求質押 ETH，啟動驗證者。系統按規則安排驗證者提出區塊或對其他人的區塊提交證明；小林正常參與，就有機會得到獎勵。</a:t>
            </a:r>
          </a:p>
          <a:p>
            <a:pPr>
              <a:spcAft>
                <a:spcPts val="900"/>
              </a:spcAft>
              <a:defRPr sz="1900" b="0">
                <a:solidFill>
                  <a:srgbClr val="233042"/>
                </a:solidFill>
                <a:latin typeface="Microsoft JhengHei"/>
              </a:defRPr>
            </a:pPr>
            <a:r>
              <a:t>有一天，小林家裡停電，驗證者短暫離線。他可能失去原本可取得的獎勵，並承擔一般離線懲罰；但這不等於一定遭到 slashing。若小林為了作弊，對同一情境做出可證明的違規雙重投票，才可能觸發削減質押的處分。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504688"/>
            <a:ext cx="10972800" cy="804672"/>
          </a:xfrm>
          <a:prstGeom prst="roundRect">
            <a:avLst/>
          </a:prstGeom>
          <a:solidFill>
            <a:srgbClr val="E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5586984"/>
            <a:ext cx="10561320" cy="5943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245D43"/>
                </a:solidFill>
                <a:latin typeface="Microsoft JhengHei"/>
              </a:defRPr>
            </a:pPr>
            <a:r>
              <a:t>導入區塊鏈｜PoS 的正常獎勵、離線懲罰與特定違規的 slashing 是不同機制。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第三節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什麼叫最終性？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在比特幣 PoW 中，隨著後續區塊增加，重組通常變得更困難，屬機率型最終性。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Ethereum PoS 使用驗證者投票與檢查點：達到協議要求的超級多數權重，檢查點可逐步被確認並最終化。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Ethereum 的約三分之二權重門檻是特定協議設計，不是所有 PoS 的通則。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第三節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如果是幾家銀行共同記帳？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假設只有幾家身分已知的銀行共同維護帳本，成員彼此有契約、監管及明確權責。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這類許可型網路可以使用 BFT 類共識：各銀行節點依規則交換提議與投票，達到門檻後完成紀錄。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成員已知，仍要處理故障、矛盾訊息、責任歸屬與治理問題。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第三節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PoW、PoS、許可型 BFT 怎麼選？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PoW：開放參與，以累積工作量與資源成本抵禦攻擊。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PoS：依質押、投票與經濟懲罰維護安全。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許可型 BFT：已知參與者依身分與投票門檻形成共同紀錄。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金融機構應依交易最終性、效率、成本、集中度及法遵需求選擇。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第三節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金融機構的五個問題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1. 誰能提出紀錄？誰有權驗證？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2. 遇到節點失聯或惡意行為，系統如何應對？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3. 何時可以認列交易完成？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4. 算力、質押或投票權是否過度集中？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5. 升級、爭議及事故發生時，由誰負責？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技術共識解決共同帳本；社群治理與法律責任仍須另外安排。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14C"/>
                </a:solidFill>
                <a:latin typeface="Microsoft JhengHei"/>
              </a:defRPr>
            </a:pPr>
            <a:r>
              <a:t>第三節｜課堂搶答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43000"/>
            <a:ext cx="10835640" cy="914400"/>
          </a:xfrm>
          <a:prstGeom prst="roundRect">
            <a:avLst/>
          </a:prstGeom>
          <a:solidFill>
            <a:srgbClr val="E7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216152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1. PoS 主要利用什麼建立經濟約束？</a:t>
            </a:r>
          </a:p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A 算盤　B 質押資產　C 信鴿　D 紙本簽名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67128"/>
            <a:ext cx="10835640" cy="914400"/>
          </a:xfrm>
          <a:prstGeom prst="roundRect">
            <a:avLst/>
          </a:prstGeom>
          <a:solidFill>
            <a:srgbClr val="E7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2. Ethereum 驗證者短暫離線一定遭 slashing。</a:t>
            </a:r>
          </a:p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是非題：○ 正確　× 錯誤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91256"/>
            <a:ext cx="10835640" cy="914400"/>
          </a:xfrm>
          <a:prstGeom prst="roundRect">
            <a:avLst/>
          </a:prstGeom>
          <a:solidFill>
            <a:srgbClr val="E7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264408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3. Ethereum 檢查點最終性與何者有關？</a:t>
            </a:r>
          </a:p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A 驗證者投票權重　B 礦機數量　C 信鴿速度　D 一人一票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215384"/>
            <a:ext cx="10835640" cy="914400"/>
          </a:xfrm>
          <a:prstGeom prst="roundRect">
            <a:avLst/>
          </a:prstGeom>
          <a:solidFill>
            <a:srgbClr val="E7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288536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4. 已知成員的銀行聯盟可考慮何種共識？</a:t>
            </a:r>
          </a:p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A 許可型 BFT　B 只能 PoW　C 不需共識　D 只靠幣價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239512"/>
            <a:ext cx="10835640" cy="914400"/>
          </a:xfrm>
          <a:prstGeom prst="roundRect">
            <a:avLst/>
          </a:prstGeom>
          <a:solidFill>
            <a:srgbClr val="E7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312664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5. 有了技術共識，就不需要治理與法律責任。</a:t>
            </a:r>
          </a:p>
          <a:p>
            <a:pPr>
              <a:spcAft>
                <a:spcPts val="900"/>
              </a:spcAft>
              <a:defRPr sz="1700" b="0">
                <a:solidFill>
                  <a:srgbClr val="1E3749"/>
                </a:solidFill>
                <a:latin typeface="Microsoft JhengHei"/>
              </a:defRPr>
            </a:pPr>
            <a:r>
              <a:t>是非題：○ 正確　× 錯誤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14C"/>
                </a:solidFill>
                <a:latin typeface="Microsoft JhengHei"/>
              </a:defRPr>
            </a:pPr>
            <a:r>
              <a:t>第三節｜搶答答案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43000"/>
            <a:ext cx="10835640" cy="914400"/>
          </a:xfrm>
          <a:prstGeom prst="roundRect">
            <a:avLst/>
          </a:prstGeom>
          <a:solidFill>
            <a:srgbClr val="E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216152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E3749"/>
                </a:solidFill>
                <a:latin typeface="Microsoft JhengHei"/>
              </a:defRPr>
            </a:pPr>
            <a:r>
              <a:t>1. 答案：B　依協議質押與參與驗證。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67128"/>
            <a:ext cx="10835640" cy="914400"/>
          </a:xfrm>
          <a:prstGeom prst="roundRect">
            <a:avLst/>
          </a:prstGeom>
          <a:solidFill>
            <a:srgbClr val="E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E3749"/>
                </a:solidFill>
                <a:latin typeface="Microsoft JhengHei"/>
              </a:defRPr>
            </a:pPr>
            <a:r>
              <a:t>2. 答案：×　離線懲罰與特定違規削減不同。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91256"/>
            <a:ext cx="10835640" cy="914400"/>
          </a:xfrm>
          <a:prstGeom prst="roundRect">
            <a:avLst/>
          </a:prstGeom>
          <a:solidFill>
            <a:srgbClr val="E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264408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E3749"/>
                </a:solidFill>
                <a:latin typeface="Microsoft JhengHei"/>
              </a:defRPr>
            </a:pPr>
            <a:r>
              <a:t>3. 答案：A　依協議要求的超級多數權重。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215384"/>
            <a:ext cx="10835640" cy="914400"/>
          </a:xfrm>
          <a:prstGeom prst="roundRect">
            <a:avLst/>
          </a:prstGeom>
          <a:solidFill>
            <a:srgbClr val="E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288536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E3749"/>
                </a:solidFill>
                <a:latin typeface="Microsoft JhengHei"/>
              </a:defRPr>
            </a:pPr>
            <a:r>
              <a:t>4. 答案：A　已知身分可採提議與投票門檻。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239512"/>
            <a:ext cx="10835640" cy="914400"/>
          </a:xfrm>
          <a:prstGeom prst="roundRect">
            <a:avLst/>
          </a:prstGeom>
          <a:solidFill>
            <a:srgbClr val="E6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312664"/>
            <a:ext cx="10287000" cy="78638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E3749"/>
                </a:solidFill>
                <a:latin typeface="Microsoft JhengHei"/>
              </a:defRPr>
            </a:pPr>
            <a:r>
              <a:t>5. 答案：×　規則升級、事故與責任仍需治理。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8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0058400" cy="32004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300" b="1">
                <a:solidFill>
                  <a:srgbClr val="10898E"/>
                </a:solidFill>
                <a:latin typeface="Microsoft JhengHei"/>
              </a:defRPr>
            </a:pPr>
            <a:r>
              <a:t>區塊鏈概論  /  WEEK 03  /  本週回顧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0972800" cy="105156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2253D"/>
                </a:solidFill>
                <a:latin typeface="Microsoft JhengHei"/>
              </a:defRPr>
            </a:pPr>
            <a:r>
              <a:t>本週重點回顧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828800"/>
            <a:ext cx="110185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66543"/>
            <a:ext cx="10451592" cy="2688336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11 個村莊提醒我們：訊息不一致時，需要共同的驗證與決定規則。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李四的超強算盤提醒我們：PoW 以算力競爭，但所有節點仍須檢查區塊是否合法。</a:t>
            </a:r>
          </a:p>
          <a:p>
            <a:pPr>
              <a:spcAft>
                <a:spcPts val="1100"/>
              </a:spcAft>
              <a:defRPr sz="2700" b="0">
                <a:solidFill>
                  <a:srgbClr val="223040"/>
                </a:solidFill>
                <a:latin typeface="Microsoft JhengHei"/>
              </a:defRPr>
            </a:pPr>
            <a:r>
              <a:t>PoS 與 BFT 則展示：不同參與者與信任條件，可以採取不同的共識設計。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5138928"/>
            <a:ext cx="10972800" cy="987552"/>
          </a:xfrm>
          <a:prstGeom prst="roundRect">
            <a:avLst/>
          </a:prstGeom>
          <a:solidFill>
            <a:srgbClr val="DE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5276088"/>
            <a:ext cx="10515600" cy="73152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12253D"/>
                </a:solidFill>
                <a:latin typeface="Microsoft JhengHei"/>
              </a:defRPr>
            </a:pPr>
            <a:r>
              <a:t>共識的核心：共同規則、有效驗證、攻擊成本與交易最終性。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37376"/>
            <a:ext cx="731520" cy="228600"/>
          </a:xfrm>
          <a:prstGeom prst="rect">
            <a:avLst/>
          </a:prstGeom>
          <a:noFill/>
        </p:spPr>
        <p:txBody>
          <a:bodyPr wrap="square" lIns="27432" tIns="27432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5C6D7D"/>
                </a:solidFill>
                <a:latin typeface="Microsoft JhengHei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1783</Words>
  <Application>Microsoft Office PowerPoint</Application>
  <PresentationFormat>寬螢幕</PresentationFormat>
  <Paragraphs>290</Paragraphs>
  <Slides>45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>generated using python-pptx</dc:description>
  <cp:lastModifiedBy>桂珍 邱</cp:lastModifiedBy>
  <cp:revision>1</cp:revision>
  <dcterms:created xsi:type="dcterms:W3CDTF">2013-01-27T09:14:16Z</dcterms:created>
  <dcterms:modified xsi:type="dcterms:W3CDTF">2026-09-28T07:17:37Z</dcterms:modified>
  <cp:category/>
</cp:coreProperties>
</file>