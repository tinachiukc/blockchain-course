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4ad24f689e48c7" /><Relationship Type="http://schemas.openxmlformats.org/officeDocument/2006/relationships/extended-properties" Target="/docProps/app.xml" Id="Rfa1de1f881a94851" /><Relationship Type="http://schemas.openxmlformats.org/officeDocument/2006/relationships/officeDocument" Target="/ppt/presentation.xml" Id="Rb8b66ef2b8284b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591ea00be54da2"/>
  </p:sldMasterIdLst>
  <p:notesMasterIdLst>
    <p:notesMasterId xmlns:r="http://schemas.openxmlformats.org/officeDocument/2006/relationships" r:id="Rcf8161c966914d92"/>
  </p:notesMasterIdLst>
  <p:sldIdLst>
    <p:sldId xmlns:r="http://schemas.openxmlformats.org/officeDocument/2006/relationships" id="256" r:id="R9f696853b24b4d99"/>
    <p:sldId xmlns:r="http://schemas.openxmlformats.org/officeDocument/2006/relationships" id="257" r:id="R084490e10efd42f6"/>
    <p:sldId xmlns:r="http://schemas.openxmlformats.org/officeDocument/2006/relationships" id="258" r:id="R010d868e79394b83"/>
    <p:sldId xmlns:r="http://schemas.openxmlformats.org/officeDocument/2006/relationships" id="259" r:id="R334aac1472264e92"/>
    <p:sldId xmlns:r="http://schemas.openxmlformats.org/officeDocument/2006/relationships" id="260" r:id="R87c5f4cc7d914032"/>
    <p:sldId xmlns:r="http://schemas.openxmlformats.org/officeDocument/2006/relationships" id="261" r:id="R32f829cb7f9e4f61"/>
    <p:sldId xmlns:r="http://schemas.openxmlformats.org/officeDocument/2006/relationships" id="262" r:id="R6bf503e02be04e06"/>
    <p:sldId xmlns:r="http://schemas.openxmlformats.org/officeDocument/2006/relationships" id="263" r:id="R53b986dd3e384260"/>
    <p:sldId xmlns:r="http://schemas.openxmlformats.org/officeDocument/2006/relationships" id="264" r:id="R99c95938b2954869"/>
    <p:sldId xmlns:r="http://schemas.openxmlformats.org/officeDocument/2006/relationships" id="265" r:id="Rf145fa347b70457f"/>
    <p:sldId xmlns:r="http://schemas.openxmlformats.org/officeDocument/2006/relationships" id="266" r:id="Rc86db96c6e2b4e4a"/>
    <p:sldId xmlns:r="http://schemas.openxmlformats.org/officeDocument/2006/relationships" id="267" r:id="Red225328f2164de3"/>
    <p:sldId xmlns:r="http://schemas.openxmlformats.org/officeDocument/2006/relationships" id="268" r:id="R4282bcf8c00a449d"/>
    <p:sldId xmlns:r="http://schemas.openxmlformats.org/officeDocument/2006/relationships" id="269" r:id="R4a6f760693084a49"/>
    <p:sldId xmlns:r="http://schemas.openxmlformats.org/officeDocument/2006/relationships" id="270" r:id="R45b137b926744707"/>
    <p:sldId xmlns:r="http://schemas.openxmlformats.org/officeDocument/2006/relationships" id="271" r:id="Rc89c90e71f304174"/>
    <p:sldId xmlns:r="http://schemas.openxmlformats.org/officeDocument/2006/relationships" id="272" r:id="R2d5777327c8c44e8"/>
    <p:sldId xmlns:r="http://schemas.openxmlformats.org/officeDocument/2006/relationships" id="273" r:id="R097e13eb6c3443e6"/>
    <p:sldId xmlns:r="http://schemas.openxmlformats.org/officeDocument/2006/relationships" id="274" r:id="R46869435eaeb4ff9"/>
    <p:sldId xmlns:r="http://schemas.openxmlformats.org/officeDocument/2006/relationships" id="275" r:id="Rbe6c95400f3d48a5"/>
    <p:sldId xmlns:r="http://schemas.openxmlformats.org/officeDocument/2006/relationships" id="276" r:id="R0597e6f95dc54e1f"/>
    <p:sldId xmlns:r="http://schemas.openxmlformats.org/officeDocument/2006/relationships" id="277" r:id="R86d79796dccc4085"/>
    <p:sldId xmlns:r="http://schemas.openxmlformats.org/officeDocument/2006/relationships" id="278" r:id="Ra91ac010d0e147cc"/>
    <p:sldId xmlns:r="http://schemas.openxmlformats.org/officeDocument/2006/relationships" id="279" r:id="Ra2ce4eeff2234ce5"/>
    <p:sldId xmlns:r="http://schemas.openxmlformats.org/officeDocument/2006/relationships" id="280" r:id="R8fe6911746fb4686"/>
    <p:sldId xmlns:r="http://schemas.openxmlformats.org/officeDocument/2006/relationships" id="281" r:id="R2dd6fffb159d4aca"/>
    <p:sldId xmlns:r="http://schemas.openxmlformats.org/officeDocument/2006/relationships" id="282" r:id="Rf7d414fa235a4a7d"/>
    <p:sldId xmlns:r="http://schemas.openxmlformats.org/officeDocument/2006/relationships" id="283" r:id="R195783d772724e92"/>
    <p:sldId xmlns:r="http://schemas.openxmlformats.org/officeDocument/2006/relationships" id="284" r:id="R4d216e4fdf094929"/>
    <p:sldId xmlns:r="http://schemas.openxmlformats.org/officeDocument/2006/relationships" id="285" r:id="R855f9ca1b91d4207"/>
    <p:sldId xmlns:r="http://schemas.openxmlformats.org/officeDocument/2006/relationships" id="286" r:id="Radca54fb401f412f"/>
    <p:sldId xmlns:r="http://schemas.openxmlformats.org/officeDocument/2006/relationships" id="287" r:id="R9a2319dccc48496a"/>
    <p:sldId xmlns:r="http://schemas.openxmlformats.org/officeDocument/2006/relationships" id="288" r:id="R13a242fe0c2a4f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144836d95f4c9f" /><Relationship Type="http://schemas.openxmlformats.org/officeDocument/2006/relationships/slideMaster" Target="/ppt/slideMasters/slideMaster1.xml" Id="Ra9591ea00be54da2" /><Relationship Type="http://schemas.openxmlformats.org/officeDocument/2006/relationships/notesMaster" Target="/ppt/notesMasters/notesMaster1.xml" Id="Rcf8161c966914d92" /><Relationship Type="http://schemas.openxmlformats.org/officeDocument/2006/relationships/presProps" Target="/ppt/presProps.xml" Id="R8f3a28e675b7470e" /><Relationship Type="http://schemas.openxmlformats.org/officeDocument/2006/relationships/tableStyles" Target="/ppt/tableStyles.xml" Id="Rd18d70ea93aa4efa" /><Relationship Type="http://schemas.openxmlformats.org/officeDocument/2006/relationships/slide" Target="/ppt/slides/slide1.xml" Id="R9f696853b24b4d99" /><Relationship Type="http://schemas.openxmlformats.org/officeDocument/2006/relationships/slide" Target="/ppt/slides/slide2.xml" Id="R084490e10efd42f6" /><Relationship Type="http://schemas.openxmlformats.org/officeDocument/2006/relationships/slide" Target="/ppt/slides/slide3.xml" Id="R010d868e79394b83" /><Relationship Type="http://schemas.openxmlformats.org/officeDocument/2006/relationships/slide" Target="/ppt/slides/slide4.xml" Id="R334aac1472264e92" /><Relationship Type="http://schemas.openxmlformats.org/officeDocument/2006/relationships/slide" Target="/ppt/slides/slide5.xml" Id="R87c5f4cc7d914032" /><Relationship Type="http://schemas.openxmlformats.org/officeDocument/2006/relationships/slide" Target="/ppt/slides/slide6.xml" Id="R32f829cb7f9e4f61" /><Relationship Type="http://schemas.openxmlformats.org/officeDocument/2006/relationships/slide" Target="/ppt/slides/slide7.xml" Id="R6bf503e02be04e06" /><Relationship Type="http://schemas.openxmlformats.org/officeDocument/2006/relationships/slide" Target="/ppt/slides/slide8.xml" Id="R53b986dd3e384260" /><Relationship Type="http://schemas.openxmlformats.org/officeDocument/2006/relationships/slide" Target="/ppt/slides/slide9.xml" Id="R99c95938b2954869" /><Relationship Type="http://schemas.openxmlformats.org/officeDocument/2006/relationships/slide" Target="/ppt/slides/slide10.xml" Id="Rf145fa347b70457f" /><Relationship Type="http://schemas.openxmlformats.org/officeDocument/2006/relationships/slide" Target="/ppt/slides/slide11.xml" Id="Rc86db96c6e2b4e4a" /><Relationship Type="http://schemas.openxmlformats.org/officeDocument/2006/relationships/slide" Target="/ppt/slides/slide12.xml" Id="Red225328f2164de3" /><Relationship Type="http://schemas.openxmlformats.org/officeDocument/2006/relationships/slide" Target="/ppt/slides/slide13.xml" Id="R4282bcf8c00a449d" /><Relationship Type="http://schemas.openxmlformats.org/officeDocument/2006/relationships/slide" Target="/ppt/slides/slide14.xml" Id="R4a6f760693084a49" /><Relationship Type="http://schemas.openxmlformats.org/officeDocument/2006/relationships/slide" Target="/ppt/slides/slide15.xml" Id="R45b137b926744707" /><Relationship Type="http://schemas.openxmlformats.org/officeDocument/2006/relationships/slide" Target="/ppt/slides/slide16.xml" Id="Rc89c90e71f304174" /><Relationship Type="http://schemas.openxmlformats.org/officeDocument/2006/relationships/slide" Target="/ppt/slides/slide17.xml" Id="R2d5777327c8c44e8" /><Relationship Type="http://schemas.openxmlformats.org/officeDocument/2006/relationships/slide" Target="/ppt/slides/slide18.xml" Id="R097e13eb6c3443e6" /><Relationship Type="http://schemas.openxmlformats.org/officeDocument/2006/relationships/slide" Target="/ppt/slides/slide19.xml" Id="R46869435eaeb4ff9" /><Relationship Type="http://schemas.openxmlformats.org/officeDocument/2006/relationships/slide" Target="/ppt/slides/slide20.xml" Id="Rbe6c95400f3d48a5" /><Relationship Type="http://schemas.openxmlformats.org/officeDocument/2006/relationships/slide" Target="/ppt/slides/slide21.xml" Id="R0597e6f95dc54e1f" /><Relationship Type="http://schemas.openxmlformats.org/officeDocument/2006/relationships/slide" Target="/ppt/slides/slide22.xml" Id="R86d79796dccc4085" /><Relationship Type="http://schemas.openxmlformats.org/officeDocument/2006/relationships/slide" Target="/ppt/slides/slide23.xml" Id="Ra91ac010d0e147cc" /><Relationship Type="http://schemas.openxmlformats.org/officeDocument/2006/relationships/slide" Target="/ppt/slides/slide24.xml" Id="Ra2ce4eeff2234ce5" /><Relationship Type="http://schemas.openxmlformats.org/officeDocument/2006/relationships/slide" Target="/ppt/slides/slide25.xml" Id="R8fe6911746fb4686" /><Relationship Type="http://schemas.openxmlformats.org/officeDocument/2006/relationships/slide" Target="/ppt/slides/slide26.xml" Id="R2dd6fffb159d4aca" /><Relationship Type="http://schemas.openxmlformats.org/officeDocument/2006/relationships/slide" Target="/ppt/slides/slide27.xml" Id="Rf7d414fa235a4a7d" /><Relationship Type="http://schemas.openxmlformats.org/officeDocument/2006/relationships/slide" Target="/ppt/slides/slide28.xml" Id="R195783d772724e92" /><Relationship Type="http://schemas.openxmlformats.org/officeDocument/2006/relationships/slide" Target="/ppt/slides/slide29.xml" Id="R4d216e4fdf094929" /><Relationship Type="http://schemas.openxmlformats.org/officeDocument/2006/relationships/slide" Target="/ppt/slides/slide30.xml" Id="R855f9ca1b91d4207" /><Relationship Type="http://schemas.openxmlformats.org/officeDocument/2006/relationships/slide" Target="/ppt/slides/slide31.xml" Id="Radca54fb401f412f" /><Relationship Type="http://schemas.openxmlformats.org/officeDocument/2006/relationships/slide" Target="/ppt/slides/slide32.xml" Id="R9a2319dccc48496a" /><Relationship Type="http://schemas.openxmlformats.org/officeDocument/2006/relationships/slide" Target="/ppt/slides/slide33.xml" Id="R13a242fe0c2a4f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176a2f9fe9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7ef5ec2e8e4774" /><Relationship Type="http://schemas.openxmlformats.org/officeDocument/2006/relationships/notesMaster" Target="/ppt/notesMasters/notesMaster1.xml" Id="R946ab2ca3a694b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175e0246ca4616" /><Relationship Type="http://schemas.openxmlformats.org/officeDocument/2006/relationships/notesMaster" Target="/ppt/notesMasters/notesMaster1.xml" Id="R8731c069898e4b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abd0bb84eb457c" /><Relationship Type="http://schemas.openxmlformats.org/officeDocument/2006/relationships/notesMaster" Target="/ppt/notesMasters/notesMaster1.xml" Id="R8ba4102f733e46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0e8be6247343a7" /><Relationship Type="http://schemas.openxmlformats.org/officeDocument/2006/relationships/notesMaster" Target="/ppt/notesMasters/notesMaster1.xml" Id="Rdda4d22dd92e43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523848dee24421" /><Relationship Type="http://schemas.openxmlformats.org/officeDocument/2006/relationships/notesMaster" Target="/ppt/notesMasters/notesMaster1.xml" Id="Rec6814281a5d4c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25cca2e4eb44a0" /><Relationship Type="http://schemas.openxmlformats.org/officeDocument/2006/relationships/notesMaster" Target="/ppt/notesMasters/notesMaster1.xml" Id="Ra871e87443394f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536dc82dce4f9f" /><Relationship Type="http://schemas.openxmlformats.org/officeDocument/2006/relationships/notesMaster" Target="/ppt/notesMasters/notesMaster1.xml" Id="R962ed40ad0e846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8b83e4c0c74830" /><Relationship Type="http://schemas.openxmlformats.org/officeDocument/2006/relationships/notesMaster" Target="/ppt/notesMasters/notesMaster1.xml" Id="R6fa4549bbafc42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940d78cb8d4bc7" /><Relationship Type="http://schemas.openxmlformats.org/officeDocument/2006/relationships/notesMaster" Target="/ppt/notesMasters/notesMaster1.xml" Id="Rc1843090b13249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9a15943dc34166" /><Relationship Type="http://schemas.openxmlformats.org/officeDocument/2006/relationships/notesMaster" Target="/ppt/notesMasters/notesMaster1.xml" Id="Rd038336648ee46d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d0d5cbbd7741b7" /><Relationship Type="http://schemas.openxmlformats.org/officeDocument/2006/relationships/notesMaster" Target="/ppt/notesMasters/notesMaster1.xml" Id="Rb06faae9b38a4d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f51a6466ad4b9e" /><Relationship Type="http://schemas.openxmlformats.org/officeDocument/2006/relationships/notesMaster" Target="/ppt/notesMasters/notesMaster1.xml" Id="R327c26bf3a2e44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1e18226bcc4d6f" /><Relationship Type="http://schemas.openxmlformats.org/officeDocument/2006/relationships/notesMaster" Target="/ppt/notesMasters/notesMaster1.xml" Id="Rcece2804c2b7406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429ffa8c3644fa" /><Relationship Type="http://schemas.openxmlformats.org/officeDocument/2006/relationships/notesMaster" Target="/ppt/notesMasters/notesMaster1.xml" Id="R6e877c82465c4c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4e4aa1d0f74223" /><Relationship Type="http://schemas.openxmlformats.org/officeDocument/2006/relationships/notesMaster" Target="/ppt/notesMasters/notesMaster1.xml" Id="R7cae0fa520e745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aa4b79dba3a4876" /><Relationship Type="http://schemas.openxmlformats.org/officeDocument/2006/relationships/notesMaster" Target="/ppt/notesMasters/notesMaster1.xml" Id="R5ab0b374aab042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9ff97cc476642e6" /><Relationship Type="http://schemas.openxmlformats.org/officeDocument/2006/relationships/notesMaster" Target="/ppt/notesMasters/notesMaster1.xml" Id="Re5a14b6e2c64439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7d68e0791914edb" /><Relationship Type="http://schemas.openxmlformats.org/officeDocument/2006/relationships/notesMaster" Target="/ppt/notesMasters/notesMaster1.xml" Id="Rbf63c09e9c1f434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069d59a3fa4642" /><Relationship Type="http://schemas.openxmlformats.org/officeDocument/2006/relationships/notesMaster" Target="/ppt/notesMasters/notesMaster1.xml" Id="R5f3497351fa249b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a992e16d4164fac" /><Relationship Type="http://schemas.openxmlformats.org/officeDocument/2006/relationships/notesMaster" Target="/ppt/notesMasters/notesMaster1.xml" Id="Rdf10399c1a524d7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f8e8b6197b64ee8" /><Relationship Type="http://schemas.openxmlformats.org/officeDocument/2006/relationships/notesMaster" Target="/ppt/notesMasters/notesMaster1.xml" Id="Re5a285863ff74fc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677c1a771034d71" /><Relationship Type="http://schemas.openxmlformats.org/officeDocument/2006/relationships/notesMaster" Target="/ppt/notesMasters/notesMaster1.xml" Id="Rc84bcae08c5b453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b4128c71ef645a4" /><Relationship Type="http://schemas.openxmlformats.org/officeDocument/2006/relationships/notesMaster" Target="/ppt/notesMasters/notesMaster1.xml" Id="R33b623fe3f9448e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a55930caa147ba" /><Relationship Type="http://schemas.openxmlformats.org/officeDocument/2006/relationships/notesMaster" Target="/ppt/notesMasters/notesMaster1.xml" Id="Re868e3c9d08b40f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c89a458542347a7" /><Relationship Type="http://schemas.openxmlformats.org/officeDocument/2006/relationships/notesMaster" Target="/ppt/notesMasters/notesMaster1.xml" Id="R18841d4fb50e443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27a9a8dae684e4e" /><Relationship Type="http://schemas.openxmlformats.org/officeDocument/2006/relationships/notesMaster" Target="/ppt/notesMasters/notesMaster1.xml" Id="R02b15fa9b7094f3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cf0194b6de34d05" /><Relationship Type="http://schemas.openxmlformats.org/officeDocument/2006/relationships/notesMaster" Target="/ppt/notesMasters/notesMaster1.xml" Id="R2d29b52900e1457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f062d148c354223" /><Relationship Type="http://schemas.openxmlformats.org/officeDocument/2006/relationships/notesMaster" Target="/ppt/notesMasters/notesMaster1.xml" Id="R4de6dcad775d48e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cea107244f54633" /><Relationship Type="http://schemas.openxmlformats.org/officeDocument/2006/relationships/notesMaster" Target="/ppt/notesMasters/notesMaster1.xml" Id="R96384ce538604c9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172b88287a949f8" /><Relationship Type="http://schemas.openxmlformats.org/officeDocument/2006/relationships/notesMaster" Target="/ppt/notesMasters/notesMaster1.xml" Id="R6c4aa2faf779423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04cda76940b461b" /><Relationship Type="http://schemas.openxmlformats.org/officeDocument/2006/relationships/notesMaster" Target="/ppt/notesMasters/notesMaster1.xml" Id="R0884dd8d8bce418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12339214a8a4456" /><Relationship Type="http://schemas.openxmlformats.org/officeDocument/2006/relationships/notesMaster" Target="/ppt/notesMasters/notesMaster1.xml" Id="R1372926afc7846c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f4d780b51e44ddb" /><Relationship Type="http://schemas.openxmlformats.org/officeDocument/2006/relationships/notesMaster" Target="/ppt/notesMasters/notesMaster1.xml" Id="R5edff8e1ca2447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以舊教材的拜占庭將軍問題為起點，將共識重新界定為狀態一致、故障容忍與最終性問題。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舊教材以誰有權記帳、如何避免作弊概括；新版補入排序、故障與最終性。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保留故事的教學價值，但不把共識簡化成一般民主投票。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PoW與PoS常被口語稱為共識，但更精確地說，它們只是完整共識堆疊的重要部分。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金融語言：安全性重錯帳與逆轉風險；活性重服務中斷與結算延遲。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分叉不一定是攻擊，也可能只是正常網路延遲造成的短暫狀況。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修正舊教材『選擇挖礦難度較大的信封』說法；應看整條鏈的累積工作或相應權重。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業務流程應依鏈、金額與風險設定確認標準，不可照抄固定次數。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https://ethereum.org/developers/docs/consensus-mechanisms/pos/faqs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修正舊教材將consensus延伸成民主的說法：社群治理可討論民主性，但協議共識是技術與經濟機制。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保留舊教材24點故事，但用雜湊與目標值取代容易誤導的數學解題比喻。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https://nvlpubs.nist.gov/nistpubs/ir/2018/NIST.IR.8202.pdf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計算結果本身主要用來證明投入工作，不是為其他業務求解。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難度不是由單一礦工任意決定；不同PoW鏈的目標時間與調整規則不同。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修正『取得記帳權即可篡改交易』的過度簡化。攻擊者能影響排序與審查，不代表能偽造他人簽章。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https://bitcoin.org/bitcoin.pdf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誘因設計假設參與者會比較誠實收益與攻擊收益，但現實還有監管、聲譽與策略行為。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算力分布要看實際控制與協調能力，不能只看礦工帳號數量。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雙花不必先竊取受害者私鑰；攻擊者通常使用自己控制的資產建立衝突交易。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六次確認是Bitcoin常見慣例，不是跨鏈通用定律；舊教材的固定機率推算不宜當成精確保證。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『51%』是簡化稱呼；實際門檻、成本與攻擊能力依網路與情境而異。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將技術機制轉成金融機構的成本、集中度與作業風險問題。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以Ethereum現行PoS作為案例，不把所有PoS鏈視為同一設計。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只理解角色與流程，不教授Gasper演算法細節。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避免把所有離線都說成slash；懲罰程度依行為與協議而異。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https://ethereum.org/developers/docs/consensus-mechanisms/pos/rewards-and-penalties/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數字以Ethereum為例，不是所有PoS鏈共同參數。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https://ethereum.org/developers/docs/consensus-mechanisms/pos/gasper/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不深入PBFT演算法步驟；重點是已知成員可採不同信任與故障假設。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https://nvlpubs.nist.gov/nistpubs/ir/2018/NIST.IR.8202.pdf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新或熱門不是自動採用理由；要看業務場景與風險承受度。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https://www.nccoe.nist.gov/sites/default/files/2026-04/Read-Ahead_NIST%20Workshop%20on%20Blockchain%20and%20DLT_16%20Apr%202026.pdf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衡量去中心化需同時看資源、營運、軟體與治理。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承接舊教材的社群共識觀點，但清楚區分協議層與治理層。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把技術選型轉成風險與控制框架。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c4c3d7c79249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81ab2a9af54ec3" /><Relationship Type="http://schemas.openxmlformats.org/officeDocument/2006/relationships/slideLayout" Target="/ppt/slideLayouts/slideLayout1.xml" Id="R1a451284e8b14d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451284e8b14d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fb69e004d4fc9" /><Relationship Type="http://schemas.openxmlformats.org/officeDocument/2006/relationships/notesSlide" Target="/ppt/notesSlides/notesSlide1.xml" Id="R7e6390aecd3a43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9719fbe584e8e" /><Relationship Type="http://schemas.openxmlformats.org/officeDocument/2006/relationships/notesSlide" Target="/ppt/notesSlides/notesSlide2.xml" Id="R24cf99a47ae449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41ce1456149f1" /><Relationship Type="http://schemas.openxmlformats.org/officeDocument/2006/relationships/notesSlide" Target="/ppt/notesSlides/notesSlide3.xml" Id="R9d5e753b8aa247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2ce9836024806" /><Relationship Type="http://schemas.openxmlformats.org/officeDocument/2006/relationships/notesSlide" Target="/ppt/notesSlides/notesSlide4.xml" Id="R2d57ed4478774f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55ca48edb4cf3" /><Relationship Type="http://schemas.openxmlformats.org/officeDocument/2006/relationships/notesSlide" Target="/ppt/notesSlides/notesSlide5.xml" Id="Rc4f10671631b4b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68a70d20f4d9d" /><Relationship Type="http://schemas.openxmlformats.org/officeDocument/2006/relationships/notesSlide" Target="/ppt/notesSlides/notesSlide6.xml" Id="Rda06c3e9b1d84d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c8df28e0c434f" /><Relationship Type="http://schemas.openxmlformats.org/officeDocument/2006/relationships/notesSlide" Target="/ppt/notesSlides/notesSlide7.xml" Id="R78ca8ea5f28746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496b26f954f27" /><Relationship Type="http://schemas.openxmlformats.org/officeDocument/2006/relationships/notesSlide" Target="/ppt/notesSlides/notesSlide8.xml" Id="Recae3337460548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21d67e3494fcd" /><Relationship Type="http://schemas.openxmlformats.org/officeDocument/2006/relationships/notesSlide" Target="/ppt/notesSlides/notesSlide9.xml" Id="Rbb814bf59bbc4f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affc4ece34cbc" /><Relationship Type="http://schemas.openxmlformats.org/officeDocument/2006/relationships/notesSlide" Target="/ppt/notesSlides/notesSlide10.xml" Id="Rf504b4df34234e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b5e4603eb4d36" /><Relationship Type="http://schemas.openxmlformats.org/officeDocument/2006/relationships/notesSlide" Target="/ppt/notesSlides/notesSlide11.xml" Id="R6e6fac91012341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7b88fe8754f4d" /><Relationship Type="http://schemas.openxmlformats.org/officeDocument/2006/relationships/notesSlide" Target="/ppt/notesSlides/notesSlide12.xml" Id="R62e64a691e4845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827c6800a4356" /><Relationship Type="http://schemas.openxmlformats.org/officeDocument/2006/relationships/notesSlide" Target="/ppt/notesSlides/notesSlide13.xml" Id="R312388af2b8846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2492484b54f49" /><Relationship Type="http://schemas.openxmlformats.org/officeDocument/2006/relationships/notesSlide" Target="/ppt/notesSlides/notesSlide14.xml" Id="Rb1fc70813b7347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46eaee40549f7" /><Relationship Type="http://schemas.openxmlformats.org/officeDocument/2006/relationships/notesSlide" Target="/ppt/notesSlides/notesSlide15.xml" Id="Ra05a51a53416473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07b34216147ee" /><Relationship Type="http://schemas.openxmlformats.org/officeDocument/2006/relationships/notesSlide" Target="/ppt/notesSlides/notesSlide16.xml" Id="R7de8cbb175db467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501d4d5ea4b8b" /><Relationship Type="http://schemas.openxmlformats.org/officeDocument/2006/relationships/notesSlide" Target="/ppt/notesSlides/notesSlide17.xml" Id="Ra8dfb2381749497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c73f9e17c446a" /><Relationship Type="http://schemas.openxmlformats.org/officeDocument/2006/relationships/notesSlide" Target="/ppt/notesSlides/notesSlide18.xml" Id="R8ba1d50bd73b4dd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1f44aed76488d" /><Relationship Type="http://schemas.openxmlformats.org/officeDocument/2006/relationships/notesSlide" Target="/ppt/notesSlides/notesSlide19.xml" Id="R9513844d3d5d4ee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25efa11ca49cd" /><Relationship Type="http://schemas.openxmlformats.org/officeDocument/2006/relationships/notesSlide" Target="/ppt/notesSlides/notesSlide20.xml" Id="R232d3aefb15f440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c85e297744ee7" /><Relationship Type="http://schemas.openxmlformats.org/officeDocument/2006/relationships/notesSlide" Target="/ppt/notesSlides/notesSlide21.xml" Id="R7e067d4ac1fb4fa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f9b7c499747f0" /><Relationship Type="http://schemas.openxmlformats.org/officeDocument/2006/relationships/notesSlide" Target="/ppt/notesSlides/notesSlide22.xml" Id="R8cd97dc1ccba427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ae9f8ab4840a0" /><Relationship Type="http://schemas.openxmlformats.org/officeDocument/2006/relationships/notesSlide" Target="/ppt/notesSlides/notesSlide23.xml" Id="R6607500ac41441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ddace46334731" /><Relationship Type="http://schemas.openxmlformats.org/officeDocument/2006/relationships/notesSlide" Target="/ppt/notesSlides/notesSlide24.xml" Id="Rebd3a15efc4d48a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0ef4da7d743ea" /><Relationship Type="http://schemas.openxmlformats.org/officeDocument/2006/relationships/notesSlide" Target="/ppt/notesSlides/notesSlide25.xml" Id="R268e58540a99415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55e0eac0a413a" /><Relationship Type="http://schemas.openxmlformats.org/officeDocument/2006/relationships/notesSlide" Target="/ppt/notesSlides/notesSlide26.xml" Id="R677d53039c3c4b4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5dfb8226f4e4c" /><Relationship Type="http://schemas.openxmlformats.org/officeDocument/2006/relationships/notesSlide" Target="/ppt/notesSlides/notesSlide27.xml" Id="R1caa6555e348405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2f3860e7f41dc" /><Relationship Type="http://schemas.openxmlformats.org/officeDocument/2006/relationships/notesSlide" Target="/ppt/notesSlides/notesSlide28.xml" Id="Red105c6dd29a42a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cf3815d3a43fc" /><Relationship Type="http://schemas.openxmlformats.org/officeDocument/2006/relationships/notesSlide" Target="/ppt/notesSlides/notesSlide29.xml" Id="R7c6d6759a47e4e8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bbd704bc54368" /><Relationship Type="http://schemas.openxmlformats.org/officeDocument/2006/relationships/notesSlide" Target="/ppt/notesSlides/notesSlide30.xml" Id="Rad1e27bf8260421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f06f89e394772" /><Relationship Type="http://schemas.openxmlformats.org/officeDocument/2006/relationships/notesSlide" Target="/ppt/notesSlides/notesSlide31.xml" Id="R6b0cb4fbcf85405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0419800f0410b" /><Relationship Type="http://schemas.openxmlformats.org/officeDocument/2006/relationships/notesSlide" Target="/ppt/notesSlides/notesSlide32.xml" Id="R6029599ad705456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981e393504e9f" /><Relationship Type="http://schemas.openxmlformats.org/officeDocument/2006/relationships/notesSlide" Target="/ppt/notesSlides/notesSlide33.xml" Id="R7b9a4b8e08cd47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0F46F-639E-4F84-A224-CB822B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區塊鏈概論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D1AC7-0821-4BAB-9366-7C36A1BA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Week 3</a:t>
            </a:r>
          </a:p>
          <a:p xmlns:a="http://schemas.openxmlformats.org/drawingml/2006/main">
            <a:pPr algn="l">
              <a:def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區塊鏈共識機制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3BF1E-C445-40F0-B044-5C33BD52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1962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誰能提出紀錄？大家如何接受同一個版本？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BE617-151E-4A28-952F-0470D0EB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第一節：分散式系統為什麼需要共識</a:t>
            </a:r>
          </a:p>
        </p:txBody>
      </p:sp>
    </p:spTree>
    <p:extLst>
      <p:ext uri="{BB962C8B-B14F-4D97-AF65-F5344CB8AC3E}">
        <p14:creationId xmlns:p14="http://schemas.microsoft.com/office/powerpoint/2010/main" val="19029208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A3238-88F9-44B9-A837-7D921B72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2C9BF-B2BF-43F5-9BA4-172C2C10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共識要解決的不是投票，而是共同帳本狀態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198AE-E2A6-4FD8-A760-86C42591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F696-9FD0-43BE-8882-65748108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6D9E1-FEE7-4D5B-9CA4-F4B813C4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45A9B-067C-4BB1-80EE-6EA3F0A5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59382-9445-47DF-88E6-4143C821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1E60E-8603-4681-9024-94B8D3BF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分散式環境的現實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D7579-4E3B-4E79-AFB0-81F36FEA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節點看到訊息的時間不同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部分節點可能離線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訊息可能延遲或遺失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也可能有惡意參與者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01F43-5F11-4B79-B985-1B4509E3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共識的工作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607D11-A64D-4A83-BC47-C1BA621C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判斷交易是否有效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決定紀錄先後順序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選擇共同接受的鏈或狀態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持續處理新交易</a:t>
            </a:r>
          </a:p>
        </p:txBody>
      </p:sp>
    </p:spTree>
    <p:extLst>
      <p:ext uri="{BB962C8B-B14F-4D97-AF65-F5344CB8AC3E}">
        <p14:creationId xmlns:p14="http://schemas.microsoft.com/office/powerpoint/2010/main" val="10820818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15382-32E0-41AD-9F79-9063AC64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0615A-C6C1-42CE-B727-83332717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拜占庭將軍問題：有人失聯或說謊時如何一致？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53AE2-AC61-464E-A7B6-71BFCCBA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BFCE2-F852-456E-96AB-569CA674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65C44-6F6E-48ED-BD82-F7640F40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389DC-9AA5-4DBC-983A-91B016DE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經典分散式系統難題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CCBE00-5C02-473F-B214-870C795A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多個參與者只能交換訊息，其中有人可能故障、延遲，甚至向不同對象傳送矛盾資訊。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E7ADD-9417-4419-8049-EC5F8E75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C9C519-A50D-45A2-9504-31A060B8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目標不是猜出誰最善良，而是在既定假設下仍能形成安全、可持續的共同決定。</a:t>
            </a:r>
          </a:p>
        </p:txBody>
      </p:sp>
    </p:spTree>
    <p:extLst>
      <p:ext uri="{BB962C8B-B14F-4D97-AF65-F5344CB8AC3E}">
        <p14:creationId xmlns:p14="http://schemas.microsoft.com/office/powerpoint/2010/main" val="11141613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0143BB-763D-4F54-BB30-46FD75B2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86F9F-838D-47E1-BB70-6BC59C0F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舊教材的村莊投票故事，可以拆成四種風險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FFB27-9C77-4F12-A0A3-D52DDE54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F251D3-97AF-4D24-948C-413D200F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6606B-7066-49A6-9062-4F21DDB8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F41BCA-07D2-4052-B54A-80C3EC59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51928-BFF2-4FBE-A169-5B913AC7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訊息不一致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E60C4-A262-4B73-855B-F2447A2C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同一村莊對不同對象投不同票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CF503-3F1D-4F2A-8266-539C47D7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B0041-3B9A-42D0-A325-A0F366EF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中繼者竄改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3639A-A4E3-4EAA-889B-3CAD290E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傳遞途中改變原始訊息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A6BA96-95DB-4945-A004-D10920E3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D9CA1-AE75-4105-A5DA-B3546CFB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網路延遲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2BD430-891D-4221-899E-21C33BF9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各村收到訊息的時間不同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ACEA4-72DF-43D8-8B82-448476D2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6D9A96-7F73-4B20-A896-FC588F67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節點失效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4206E-F379-4719-AE81-0A6BFEAF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部分村莊無法回應或暫時離線</a:t>
            </a:r>
          </a:p>
        </p:txBody>
      </p:sp>
    </p:spTree>
    <p:extLst>
      <p:ext uri="{BB962C8B-B14F-4D97-AF65-F5344CB8AC3E}">
        <p14:creationId xmlns:p14="http://schemas.microsoft.com/office/powerpoint/2010/main" val="8253761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4DFC79-C01D-4084-A6A6-3027C66A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91AEF-9D99-41D7-B783-E53B128E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共識機制由多個元件組成，不只PoW或PoS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E39F0-F0F1-493B-B735-0C43F646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A9B11-7B12-4FB9-AF50-689DD820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7FD4F-737B-4855-9569-4B804B68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83B20-FF6C-4EEB-89C7-FA7D945A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3B03AF-10C5-41DE-B701-ECBACDF8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有效性規則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F21883-9E21-43D7-86E4-87AB4425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什麼交易與區塊可以被接受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A00921-9D86-4B82-9402-88A42287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AEC76D-BE7C-4AA9-A240-55A93186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提議者選擇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B3EDD-88EF-46CD-AB29-3E5100AE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誰有機會提出下一個區塊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36DC9-A630-475E-9CC5-CCDE09B8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F8CE2-2968-46AE-B134-FD9642FD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分叉選擇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EAA3BA-6DE4-4E57-A1C7-6B4D4A34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同時出現候選紀錄時如何選擇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9AA994-9CE6-41E3-90D7-C57C08B2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AB092-0048-42A7-8D0D-EAE9B611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誘因與懲罰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1A39B-25A9-4B2B-B9B9-1C753C0C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如何提高誠實行為、增加攻擊成本</a:t>
            </a:r>
          </a:p>
        </p:txBody>
      </p:sp>
    </p:spTree>
    <p:extLst>
      <p:ext uri="{BB962C8B-B14F-4D97-AF65-F5344CB8AC3E}">
        <p14:creationId xmlns:p14="http://schemas.microsoft.com/office/powerpoint/2010/main" val="6630634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C1DCB-C77F-4D57-B102-507FD78E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F87CF-F72C-4E88-ABEB-CE8D8110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安全性與活性，是共識最重要的兩個目標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EC471-AEE4-4D1F-9E23-524795C1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9BCC2-AB78-4373-92FB-814F8522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B7864-ED7A-439B-9F19-B82626EF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79A53F-0150-4168-A173-85E39061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01412-AC14-4D6F-A785-C9CE8A47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DBC41-3F3B-4166-ACED-9A94F8F2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安全性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70561-9D5A-47AF-8F6A-3D7DE4AF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誠實節點不會接受彼此衝突的已完成狀態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避免同一資產同時出現兩個有效去向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240EA-C395-4592-9DC2-643E3B3F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活性 Liveness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1ABB3-7C27-4040-AF04-647B5ACD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只要條件允許，系統能持續處理新交易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不因少數節點故障而永遠停擺</a:t>
            </a:r>
          </a:p>
        </p:txBody>
      </p:sp>
    </p:spTree>
    <p:extLst>
      <p:ext uri="{BB962C8B-B14F-4D97-AF65-F5344CB8AC3E}">
        <p14:creationId xmlns:p14="http://schemas.microsoft.com/office/powerpoint/2010/main" val="1579768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DBE53E-773F-4171-936A-BB1792B9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5203CD-D928-4F97-A775-2B9BA36D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網路延遲會讓誠實節點暫時看到不同版本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F9118-7078-4C04-A10D-3AA54F42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B4035-2798-4735-8A5B-4A641700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DC453-6915-4226-AA7C-94364122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528E1-FF31-470E-9073-8CE07DE3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95E22-978C-4B85-8BA4-746F5BC9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59AE6-0D7A-49A0-ACA2-6D8D65BB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D70B8-D28B-4627-97B7-D225C9B5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9E40B-1DB8-450A-89C7-B0D7EF1B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0EC6B-172F-45E2-9B49-9C32B70D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D2A55-A7E6-46E2-A62C-87681DD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區塊A出現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DB84E-821A-4B7F-AE57-E10EFE1B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部分節點先收到A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B0DBD-7B1B-43F0-97D0-0B0668B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C90D1E-D902-49CB-BBCD-C14794D0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AD871-5D68-441F-B0C8-A26B8F7E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區塊B出現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3229C-D394-4678-A570-12FC96D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另一部分先收到B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9DBDF2-10D9-48D5-8295-AE4C6DBE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41BB6C-523A-4C8E-B35F-70507635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5BD016-5F7F-4210-B24A-B6BEAD9E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暫時分叉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B7D93F-69A5-498F-8E18-28BFF6E2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兩個候選頭部並存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5F4554-4E89-4A5D-A5B4-3438D037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C81BDD-F80F-4365-AB2E-A6DA2FEE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31367D-36B2-4D50-BDE1-E54629D1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規則選擇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8E2EB1-B1D4-4234-8EDF-A7AFF56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節點依權重或投票判斷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7A74D-01E8-44D2-8CA9-153E85FF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C386D1-B7B9-4D97-9C50-A5CEE40C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38A268-74F0-4E75-8DDD-8FFEEC27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重新收斂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1B6063-F122-485E-BA27-3BA15FA9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多數節點回到共同歷史</a:t>
            </a:r>
          </a:p>
        </p:txBody>
      </p:sp>
    </p:spTree>
    <p:extLst>
      <p:ext uri="{BB962C8B-B14F-4D97-AF65-F5344CB8AC3E}">
        <p14:creationId xmlns:p14="http://schemas.microsoft.com/office/powerpoint/2010/main" val="11000915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69F98-4021-4D6E-B81B-2230B25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F2E32-6010-4861-B894-E3147A3F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分叉選擇規則回答：接下來應在哪一條鏈工作？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80F33-354C-4166-81A2-4C8B3888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66B7D-25F9-43A1-937D-5C929C69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6DDE5-87CE-4962-A05E-BB512CE7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76B4A-0DC5-495A-9C45-AE16F0A1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02C92-DA55-47DC-84FB-8B1B602E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8746F-8941-4FC0-B701-9BDC1762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PoW常見判斷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6350D-2B75-437F-BEA3-97C18E4A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依累積工作量選擇鏈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不是只比較區塊數量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短暫分叉可能產生重組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D815C-CED3-4257-98AA-F208E667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PoS常見判斷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04F96-2508-49A3-9C09-38F530AD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依驗證者投票權重選擇鏈頭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再搭配檢查點與最終性規則</a:t>
            </a:r>
          </a:p>
        </p:txBody>
      </p:sp>
    </p:spTree>
    <p:extLst>
      <p:ext uri="{BB962C8B-B14F-4D97-AF65-F5344CB8AC3E}">
        <p14:creationId xmlns:p14="http://schemas.microsoft.com/office/powerpoint/2010/main" val="15561990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D74541-0036-46D6-B382-B7D49B3B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C27EC-66D6-4F13-9766-8998D0F1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最終性回答：何時可以把交易視為不再逆轉？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B00EC-27F4-4F22-A26B-889EA7A2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3C5A9-92C1-46D4-81AD-8C050105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9FDF8-323C-47E4-92C0-3642D9B0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ACC16-89C2-426B-8D81-7AD313F9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B85BC-18F0-409C-B250-2C789766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E2E6D-C9FF-4453-9F28-334278CD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機率型最終性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B4274-A72B-4C8D-BABF-A4AFC479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後續區塊越多，重組機率通常越低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沒有單一瞬間從可逆變成絕對不可逆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685BB-5469-43EE-976C-09F2CC19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確定型或經濟最終性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3E140-55E2-4225-8EDB-D4E1A309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達成特定投票門檻後明確標記完成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逆轉需要違反協議並付出重大代價</a:t>
            </a:r>
          </a:p>
        </p:txBody>
      </p:sp>
    </p:spTree>
    <p:extLst>
      <p:ext uri="{BB962C8B-B14F-4D97-AF65-F5344CB8AC3E}">
        <p14:creationId xmlns:p14="http://schemas.microsoft.com/office/powerpoint/2010/main" val="12955490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486A1-3EB1-44F7-9BA8-987E06A8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671DF-95FE-4D08-BFCF-C5659A9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共識是在已知規則下形成一致，不等於所有人同意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5E69A-817D-409A-A921-687C82ED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72826-BBC9-4BCA-8776-F4414103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CAF59-D9DF-4746-81A0-5FCD1688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E7D44-F685-492A-8A3B-A3CB509C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A026AF-5CE2-4D54-877F-82B2579F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不是民意調查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971DA-BDC7-4DC9-9AA7-B17D69AC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權重通常來自算力、質押或成員資格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CBA11F-2B8C-4FBE-A1D5-EF8732BD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EBEFA-11EF-4594-80AA-28029A41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不是內容真實保證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64A8B-63E0-45E8-8501-3E714894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只能確認符合鏈上規則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6FB98-E8FD-4DB7-89F0-8B6944D6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79C34-D371-4B88-B72F-1BF7B08E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不是治理全貌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FD7EF6-570C-4407-864A-ED5FE62E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升級與爭議仍有鏈下協調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64EF7-B13C-47D1-8257-F0B9F354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1CD64-0A0A-4119-9830-D8C12368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不是零信任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FCADB-378B-477E-A35F-D4A3D899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仍信任軟體、金鑰、網路與假設</a:t>
            </a:r>
          </a:p>
        </p:txBody>
      </p:sp>
    </p:spTree>
    <p:extLst>
      <p:ext uri="{BB962C8B-B14F-4D97-AF65-F5344CB8AC3E}">
        <p14:creationId xmlns:p14="http://schemas.microsoft.com/office/powerpoint/2010/main" val="10752838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1EAC42-EFF3-49C2-AE8A-428DF452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847DA-7325-44F5-B146-1CD0D8E3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0FE6C-9D78-45BC-90EF-276A290F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F1AEA-68E7-4F82-8FE5-56E6329B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92419-E128-44A1-BE75-9F3AFB94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107E7-EAD7-475A-8F1B-14DCF9BA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91FA0-5487-4F1F-B94E-912CBFE5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301E4-1437-4379-88D5-1C81CD17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AC062-9ED7-40D1-BD8F-A783115E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3｜第一節｜快問快答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FE193-6080-4CC4-A860-B027ABC6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76D8A8-A997-4997-BED8-394A1A13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共識最核心的目標？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57FC0-D3DB-4F86-BF1A-DAA724BD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預測幣價　B 讓節點接受共同狀態　C 取消風險　D 取代法院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92C60-984B-49E0-A729-52BA0B74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337B2E-1486-4503-A8EF-74E49CD8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答案：B。共同狀態與順序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4F5BFF-7149-4CD4-B540-F73D2169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拜占庭故障包含？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4B1F5-28D5-42AE-9507-8775DA34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只有停電　B 傳送矛盾或惡意訊息　C 只有漲價　D 只有手續費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7A996B-1791-4111-92CF-6106A753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68B910-3F49-494E-AFCB-B89FFC85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答案：B。可能故障或說謊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616BE6-222A-49F4-8EB1-45C5B9DF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安全性主要關注？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10258C-440C-486F-BE7F-6DEDC8AA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不接受衝突完成狀態　B 一定最快　C 免費　D 匿名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F2568F-2259-48CA-9BFB-0537BB00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DCE9BA-A860-48FB-A242-7E0F51D7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答案：A。避免衝突帳本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CAD6E1-BEDC-428C-A3AC-43BC4A36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活性主要關注？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50E5DD-A4A6-4DE5-B944-14E86940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顏色　B 系統能持續處理交易　C 法定姓名　D 挖礦機品牌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8A521D-8D95-4F26-9865-2B64B4AF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3B4861-E1B9-4720-A01D-E5EDE35E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答案：B。避免永久停擺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1A122E-3CF8-451A-8786-44920174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短暫分叉必然是攻擊嗎？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A75BD1-2D76-46E1-8551-F6D3D437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只在白天　D 只在私有鏈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2A94DF-1CBC-4CA2-8B6B-084C6F22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1E43A3-01A8-4EED-AB0E-4464A693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答案：B。也可能源自網路延遲</a:t>
            </a:r>
          </a:p>
        </p:txBody>
      </p:sp>
    </p:spTree>
    <p:extLst>
      <p:ext uri="{BB962C8B-B14F-4D97-AF65-F5344CB8AC3E}">
        <p14:creationId xmlns:p14="http://schemas.microsoft.com/office/powerpoint/2010/main" val="17112114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3CB9B-F87E-4C74-AF2E-8EC17ACB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D48518-0293-4683-9685-D44EF7CE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PoW用實際計算成本爭取提出區塊的機會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415FD-4D7B-48CB-8A75-9A2CABE7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BBED5-8528-48A4-8942-CAB189F8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ED62F-DBB2-4F95-8222-202DB463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D4482-AFDE-47F3-8ABC-C167D534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工作量證明的核心交換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DAB9C-3719-4C1A-BFB6-9E598A6C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參與者反覆計算區塊標頭的雜湊，找到符合難度條件的結果，才有資格提出候選區塊。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593BE4-DA24-45B4-9645-D697EAC1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D49C4-C831-4349-948E-8BD51DF8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驗證答案容易，找到答案成本高；安全性來自重做累積工作需要付出大量資源。</a:t>
            </a:r>
          </a:p>
        </p:txBody>
      </p:sp>
    </p:spTree>
    <p:extLst>
      <p:ext uri="{BB962C8B-B14F-4D97-AF65-F5344CB8AC3E}">
        <p14:creationId xmlns:p14="http://schemas.microsoft.com/office/powerpoint/2010/main" val="5689533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0F73CA-DE9C-4BFC-9E2D-3A866CE9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2112E-0A17-402C-A5EB-E9B8ECC5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PoW不是解出有用數學題，而是不斷嘗試nonce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95DDC-E033-40B4-9CB6-84879141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946657-26AB-4233-B187-E66CFFEB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105A8-6061-4B04-8FDC-E7C6CB1D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19E32-B44A-41A5-9D85-26FE2BD0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15B9D-275E-492D-97BB-F57EB850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09BD3-5760-4E73-A9E3-27A3BF41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8EE30-C2E0-4163-9ECC-02EC532E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BE05BB-6BF0-433F-BAC7-32CA9465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35051-8458-48D1-A3D8-699C6645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30A81-42DD-4E97-93E1-EF338844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組成標頭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8BC8E-5009-49E6-9E3B-68586C9A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放入前區塊與交易摘要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15B84-B776-4540-AF8A-05DB199B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B08E5-4885-4B24-B4B5-EC1DD00B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652319-4834-49D6-906D-27C9691F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改變nonce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C26F8-D0CA-4B10-87C3-EEC6EEC2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調整可變欄位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940DB1-81BB-465E-967D-6DFE89BB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92CB59-5445-431A-A912-FBE95E68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89388-E2DE-40AC-ABCE-43440A5D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計算雜湊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DB2E58-8FCA-4002-8DD1-E170980B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取得新的摘要結果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D2CCF-F4C0-42A2-8539-2ACED243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B1739-A839-4346-8EB9-F982A36F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DC3A20-3330-426E-A677-2F6DB682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比較目標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4F6F60-6613-4C96-9882-66CD5C1C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檢查是否低於難度目標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F94F11-1AAD-4037-A890-80F5565C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A78646-EF7C-4271-99CA-EAA732CD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85B79E-945D-48EF-9598-DB571A57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成功廣播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3DC89B-E4C8-42C7-9C1C-B9B04376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提出區塊供節點驗證</a:t>
            </a:r>
          </a:p>
        </p:txBody>
      </p:sp>
    </p:spTree>
    <p:extLst>
      <p:ext uri="{BB962C8B-B14F-4D97-AF65-F5344CB8AC3E}">
        <p14:creationId xmlns:p14="http://schemas.microsoft.com/office/powerpoint/2010/main" val="9618680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E421EA-6166-43BE-B4D4-3FA77FC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CEC00-3C26-4FA1-A5BB-79EFEA60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難度調整的目標，是穩定平均出塊節奏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4AE060-CCDE-4350-AD54-D80130ED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F8CB9-B809-4130-99E9-656FCB80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28D79-A025-4505-95DB-46AA4969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5FCCB-5C9A-4E8C-B9D1-FF268460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CEFBB-C056-4243-B188-D0CECAFA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2E8F9D-9048-44B4-875B-AF31B05C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算力突然增加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731E6-7C5F-4178-8C19-7D23B222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合格雜湊更快被找到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系統在調整週期提高難度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94AC3-D038-42AE-AA73-888BD3E0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算力突然下降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42BA1-3608-471D-AE1B-6F57F602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找到合格結果變慢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系統在調整週期降低難度</a:t>
            </a:r>
          </a:p>
        </p:txBody>
      </p:sp>
    </p:spTree>
    <p:extLst>
      <p:ext uri="{BB962C8B-B14F-4D97-AF65-F5344CB8AC3E}">
        <p14:creationId xmlns:p14="http://schemas.microsoft.com/office/powerpoint/2010/main" val="135242740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8CC572-D439-48EF-9E23-F56C0736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65005-A943-4086-B9EB-682062BF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贏得出塊權不代表可以隨意造假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5DE20-44D3-42EC-BB42-606B83C6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285E7-E43E-459B-84BA-63240481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D1828-0AA6-47DD-83D2-1681B2F3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19E6E-8E31-4715-90CE-EEEEF1E7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329D6-727E-4500-988E-8727F541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所有權規則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2CE4C-8367-4753-92FC-473EFCC6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不能花費自己無權使用的輸出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2E579-F54A-4B96-91CF-79B75D27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9C6B8-A370-43CF-997B-1A842803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簽章規則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52E8A-F4F2-4E94-AE9A-4275F645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交易授權必須有效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FD91C-3DB9-41DC-B64A-A9CAA46E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643574-524F-4A6C-908A-C0EB6D07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區塊規則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EA1EF-DEA9-4068-A7AA-35AAB3C7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大小、格式與獎勵必須合規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5891E-3D8E-4154-B8A6-F04BD70D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236CD-11EA-4638-BE94-287AA66F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節點獨立驗證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8BAE6-992C-4FB7-B1ED-621B76E4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無效區塊會被誠實節點拒絕</a:t>
            </a:r>
          </a:p>
        </p:txBody>
      </p:sp>
    </p:spTree>
    <p:extLst>
      <p:ext uri="{BB962C8B-B14F-4D97-AF65-F5344CB8AC3E}">
        <p14:creationId xmlns:p14="http://schemas.microsoft.com/office/powerpoint/2010/main" val="428123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19EF8-E1CA-46FA-BB7F-0DD5D41F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BE27D-6CD5-4675-894D-C9121BB4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區塊獎勵與交易費，讓誠實出塊具有收入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215BD-F5F9-40F6-A3A9-A5680DB8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470FA-009D-4342-AFCC-FF9C586D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27870D-E121-4C21-AE56-1FED38D1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D92703-EF97-4F0A-A1BE-05C97FB0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6F301-AED3-41F9-A37B-BB4E9D6F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0D549-059A-402D-A19E-96F9548F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礦工收入來源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4E821-C7BC-4123-87E7-3AB8C1D8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協議允許的新發行獎勵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區塊中交易支付的手續費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0AE1B-8346-40D3-AF48-66A22854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礦工成本來源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D4632-A236-4CDD-BA09-F4FA196A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設備與折舊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電力與場地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網路、維護與營運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挖不到區塊的機會成本</a:t>
            </a:r>
          </a:p>
        </p:txBody>
      </p:sp>
    </p:spTree>
    <p:extLst>
      <p:ext uri="{BB962C8B-B14F-4D97-AF65-F5344CB8AC3E}">
        <p14:creationId xmlns:p14="http://schemas.microsoft.com/office/powerpoint/2010/main" val="3283502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632192-086D-43AC-B751-8B65325A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7D6BA-79D0-4897-8FCE-3A304AD0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礦池降低個別收益波動，也帶來集中化風險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6097F-6EBD-4BDF-A018-A5752568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1B520-0B14-4913-A2E5-EBE74AF3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CC21A-9803-4EB3-A8E7-5E4C05AC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6F6F2F-FBDB-4619-A188-88DA2469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1C084-857F-4732-90C2-6D92B518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0604C6-5E7F-4AF6-B58C-6B94E88B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為什麼加入礦池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57435-50E5-4770-BA95-3E54BE6C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單一礦工找到區塊的時間不穩定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多人合作可按貢獻分享收益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E9BC8-0CEA-481E-9D90-F9AEFBA1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需要監控什麼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59319F-93BA-476D-A8BA-22A9607F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少數礦池掌握大量算力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模板與交易選擇權集中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協調攻擊或審查風險上升</a:t>
            </a:r>
          </a:p>
        </p:txBody>
      </p:sp>
    </p:spTree>
    <p:extLst>
      <p:ext uri="{BB962C8B-B14F-4D97-AF65-F5344CB8AC3E}">
        <p14:creationId xmlns:p14="http://schemas.microsoft.com/office/powerpoint/2010/main" val="15360081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3A6F8B-BD52-4894-A056-B57A7591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27D03-338D-46F3-A74A-7D96BAAC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雙花不是複製代幣，而是讓兩筆衝突交易競爭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33AEC-A8D3-478F-B2B0-EA943BBF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9A1DC-5C8A-4E4D-ACBD-15A3BC87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FDB59-8D50-4DDB-8D70-F1C633A3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F78C0-9BFD-4CC3-A2B2-2BBB46EF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F8A2F-DC3F-4A86-95DA-4E9E6AB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93233E-E297-4063-B6E1-A827D265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90F1B9-77B0-459C-BBAF-C03D60AD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A06910-4B48-49F8-8C91-37098303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2A295A-2D12-44CA-B427-FDEE2D0B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4FFD8-3112-4F17-8384-614DAB22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交易A付款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65C121-92E5-4277-AB50-AB2F07AD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商家看到未確認交易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C7567-C65A-4E34-BEAB-C7B59B8C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F6F62-44EE-4BA5-B900-DCC5B7A3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02C2C6-C690-43FD-98A2-47747248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交易B衝突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999B6-E97C-487A-B589-B776DDC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同一輸出轉向攻擊者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F58B2-5886-4AED-878C-E04AEB54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C88177-B710-41E8-8A4F-85A54D7A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4516FA-EBCA-44FE-89A6-AF0FE91C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6846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建立替代歷史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F59156-15DD-4105-996C-9749D3B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攻擊者嘗試讓B所在鏈勝出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72F8BF-829D-4806-9FE1-36DC956E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A185C8-2F65-4E52-A51C-2E988CD6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47933-AD80-445E-95CD-3208BB55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鏈發生重組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01D80C-0C08-4224-9663-088E4A9F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原先A可能被移除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6E346-BED2-44A2-9A83-5CA71768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49535C-437E-4575-8ACD-CD4CD702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0E7884-9830-458D-8635-E38A90A6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6846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商家承受損失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F82CF8-F299-46EE-B61F-F1F6D7E8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商品已交付但付款失效</a:t>
            </a:r>
          </a:p>
        </p:txBody>
      </p:sp>
    </p:spTree>
    <p:extLst>
      <p:ext uri="{BB962C8B-B14F-4D97-AF65-F5344CB8AC3E}">
        <p14:creationId xmlns:p14="http://schemas.microsoft.com/office/powerpoint/2010/main" val="775469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40452-F973-4FF7-A8D0-C7535900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A8114-8A63-429D-A49B-D2383324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確認數越多，PoW交易被重組的風險通常越低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5687F-E8F6-4C85-8383-0D63737F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3A8B6-F4A5-49A6-AC34-BB0187DC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D09ABB-5042-4EDA-B570-8154B48B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C2703-1300-454D-B30C-CF073F0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6BE96-3CEC-4598-B0A1-866A4FF0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2A032-1CAB-4780-B8BB-8302D05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為什麼風險下降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5112D-2EB4-4ADE-BBB1-5949E444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攻擊者必須追上並超越後續累積工作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區塊越深，所需成本與成功難度通常上升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A10BA-63A9-49F8-B475-98862057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為什麼不是保證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1980F-05D9-4F2E-9EF4-0A2A80B5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攻擊者算力、網路狀況與接受政策不同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高價值交易可能需要更高安全門檻</a:t>
            </a:r>
          </a:p>
        </p:txBody>
      </p:sp>
    </p:spTree>
    <p:extLst>
      <p:ext uri="{BB962C8B-B14F-4D97-AF65-F5344CB8AC3E}">
        <p14:creationId xmlns:p14="http://schemas.microsoft.com/office/powerpoint/2010/main" val="118987197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0DE3E-7CEB-4736-B76F-494C5B6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2378E-F7B0-4282-96F5-AFFC487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多數算力攻擊能影響鏈的未來，能力仍有邊界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8F501-2173-485C-9B20-B4D75ED2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FD3B3-5449-4033-83AC-B9C492DA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2832F9-26FD-4D7C-97DD-E86F0398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340E3-4BD7-4E99-92AA-00EEFD9E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40822-6629-4B4C-B67A-53166B25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可能做到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9A3C9-D4F5-4B73-B866-3087438E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重組近期區塊或進行雙花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CBA47-FDD4-4D06-AA4C-074FD782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E965F-1DE2-473E-AC65-B7486AD9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可能做到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37F404-7847-4C25-A2BB-BC4A54E6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延遲或審查特定交易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0896D-8D1D-49F9-A61C-922856F0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0FDA95-E691-4BCF-B40A-81639859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不能直接做到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BF361-C48D-4F83-8B6F-61B899C0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憑空偽造他人的有效簽章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DA6CC-2FA8-488B-A910-5E5E2E82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18F67-BDD7-4104-A7B9-ECD30B34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不能直接做到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049379-C93B-4BC7-BB18-DCC93F0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違反節點接受的資產發行規則</a:t>
            </a:r>
          </a:p>
        </p:txBody>
      </p:sp>
    </p:spTree>
    <p:extLst>
      <p:ext uri="{BB962C8B-B14F-4D97-AF65-F5344CB8AC3E}">
        <p14:creationId xmlns:p14="http://schemas.microsoft.com/office/powerpoint/2010/main" val="5338559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C07D5E-9B26-48BD-B74C-169047A0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CEE5F-A58F-49D3-BF51-B518BDF7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PoW的管理評估不能只看技術安全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6816A-7887-48D7-A3D8-A5EB321C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5E42B-66B9-458F-9699-476E8B25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CE4B1-32A6-4516-AE05-D5D7A93F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4A2FFE-148F-45BE-A0B1-961F7698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9C7DA-4F5F-44B3-AEE0-DCAD4F78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能源與成本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EA631-F60D-44C7-80B4-C81541D3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安全預算伴隨持續資源消耗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DA634-0963-4B2D-9F50-66B7F079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749336-6582-4A85-A66C-34197AC3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硬體與地理集中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44C29-E0E8-421C-BBB5-5C2BBD4A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設備、能源與礦場可能集中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7031A6-C23C-4D85-94D2-C6FF8C9F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ED165-80DE-4F69-AD48-77969B7C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收益結構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3F192-FBE9-47B8-B8FE-24E47AF2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獎勵下降後更依賴交易費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D6B13-4142-489B-8C33-C3C6861E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9F86C5-367A-4E3E-B71C-6E4180C1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結算政策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D9650E-2247-45F5-9535-222B514B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機構須設定確認數與異常處理</a:t>
            </a:r>
          </a:p>
        </p:txBody>
      </p:sp>
    </p:spTree>
    <p:extLst>
      <p:ext uri="{BB962C8B-B14F-4D97-AF65-F5344CB8AC3E}">
        <p14:creationId xmlns:p14="http://schemas.microsoft.com/office/powerpoint/2010/main" val="204858349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A2F4F4-2C28-410B-9541-57619D3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CEAA3-F500-41F9-965F-28E1DC17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A7DEF-C909-4CF2-9934-90BFFC05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97598-48F0-4B65-8D73-F71E3A24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8F1B2-4874-49AF-8EB0-3380EDDE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ED513-9A1A-41B3-9B94-AB649C48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A80370-7551-4CF8-89E2-299C6E87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5AB76-1221-4175-9778-CA7CF160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D31A5C-876E-445D-8837-F9FE6F5D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3｜第二節｜快問快答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19534-0F78-4A2D-A4F6-D708C861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0E4B6-9356-4316-A53D-371AEB6C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PoW礦工主要反覆改變什麼？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E07A56-3150-477D-AD3E-931BCEB0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法律　B nonce等欄位　C 私鑰主人　D 幣名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4FDCE-E708-4436-B7E6-8602EA28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96100D-96B2-433B-8558-DA29A656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答案：B。嘗試找到合格雜湊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F5B57-E971-4D15-9499-7106766D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算力增加後，難度通常如何調整？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4FD26-6937-42A2-A98F-F1E052FD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降低　B 提高　C 歸零　D 不一定有區塊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CB5C82-893A-4C36-B800-88515896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5EB6AB-020B-4835-A3DB-C6D68B4C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答案：B。維持平均出塊節奏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4CB1A1-7999-4571-9DBE-4B48ADE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取得出塊權能偽造他人簽章嗎？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F7B13E-F730-453D-944E-7889FBEC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能　B 不能　C 只要一次　D 只在白天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701A0F-5302-4877-B1B6-7728C656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40F143-F489-41A5-AA29-520E2288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答案：B。無效交易仍會被拒絕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D4D94-9B39-4F94-AE84-ACD4DDEE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雙花一定要先偷私鑰嗎？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C7B967-2E81-40E3-95EF-3AABD05F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只在PoS　D 只在銀行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60EEFF-D5F7-45C5-9AC8-5D3E9777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68083E-5DF8-4B2F-9FFC-5FE098B7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2216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答案：B。可用自己的資產建立衝突交易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089901-F034-4BE5-BB61-29BFBB3E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六次確認是所有鏈的安全定律嗎？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F6F6E6-0FAA-4086-9541-1BF610E4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只有私有鏈　D 只有穩定幣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8D1077-FE03-4820-AD0E-B224782B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4F1388-0886-47A0-9FBD-F866E2CA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答案：B。是特定情境慣例</a:t>
            </a:r>
          </a:p>
        </p:txBody>
      </p:sp>
    </p:spTree>
    <p:extLst>
      <p:ext uri="{BB962C8B-B14F-4D97-AF65-F5344CB8AC3E}">
        <p14:creationId xmlns:p14="http://schemas.microsoft.com/office/powerpoint/2010/main" val="17201738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79B0A-F4AB-4B9A-829F-4E64F498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E24DC-AD66-4431-B5CA-5B7C50BC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PoS以質押資產與懲罰建立經濟安全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60D28-7416-49CD-B110-7A1A4D53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8C709-D212-42D5-9A10-66AEB187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B4339-DE90-4F44-8BE4-113D87E9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C6F87-6AAD-4F65-A41D-6957111A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權益證明的核心交換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E8574-3E3E-483D-944F-1310ACD8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驗證者鎖定資產，依協議被選為區塊提議者或投票者；不當行為可能被扣減或沒收質押。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83062D-2641-4AE2-A2CA-CAC9C381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33BD5-5B38-4CF8-A29A-67EDBBDE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安全資源從算力與能源轉為鏈上資本，但集中度、託管與治理風險仍需評估。</a:t>
            </a:r>
          </a:p>
        </p:txBody>
      </p:sp>
    </p:spTree>
    <p:extLst>
      <p:ext uri="{BB962C8B-B14F-4D97-AF65-F5344CB8AC3E}">
        <p14:creationId xmlns:p14="http://schemas.microsoft.com/office/powerpoint/2010/main" val="97516218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92F241-E925-4BF5-BB73-609238AC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76EB5-4B98-4C2E-8870-BCC8BDF6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Ethereum PoS把提議、投票與最終性分開處理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35102-8656-4576-8722-F482209D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6D0CD-CBAA-45E6-BFD9-E0259B5C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EFE98-54CB-4E80-8F0B-0B969EF7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12F5B-BAFD-4EE7-879A-0DEA96A3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8B5B1-6FD4-429C-A118-70D4AE0A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BCAC8D-CF26-41D7-A22C-82AC885F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B22AD4-37DA-4FFE-B471-D9942A8E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BE974-E7C9-447C-8E9A-537BEE8D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EB618-02E7-4641-8F41-206AB11D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6A030-9D52-442D-8003-1CF81EF0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選出提議者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82071-C6A8-4883-A61C-6F02238E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每個時槽選一名驗證者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4DD82-F345-4F3E-A924-0C34A852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89511C-DB1E-4ACF-95D4-54981D65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CAB9D1-01E3-44C3-8041-4F6D2EEC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提出區塊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7CD1BE-EC6D-406B-AF57-F8D69753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打包交易與狀態變更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5485EE-D8F0-486E-96D7-02E4D0E1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E43F1-8606-479F-BEDA-A9BB83B0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BF12D7-4ADE-4CC3-85D1-948A6066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其他人驗證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9F29ED-72CF-4C7B-87D2-6C988A51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重新執行並檢查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114937-D2FE-439E-AE23-73A4373D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830F0F-D383-4AFC-B486-8E0D1379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827F5E-9033-4FEC-AECD-C9EC035C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提交證明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42E289-31DF-4D49-B547-8D465107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驗證者對鏈頭投票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3076CD-D71F-44BF-B842-171A25EB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5E5F2C-A99E-4553-B6FA-E2208596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168A37-5CBF-41E6-BA34-213E0262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6846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檢查點最終化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4FF17A-3D54-448F-865D-B92409C9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達門檻後形成經濟最終性</a:t>
            </a:r>
          </a:p>
        </p:txBody>
      </p:sp>
    </p:spTree>
    <p:extLst>
      <p:ext uri="{BB962C8B-B14F-4D97-AF65-F5344CB8AC3E}">
        <p14:creationId xmlns:p14="http://schemas.microsoft.com/office/powerpoint/2010/main" val="124393527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19B58-8317-43BE-BAA6-D43BC0F9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9231E-55DF-46BF-A07F-22F3506C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獎勵、一般懲罰與slashing處理不同風險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71C8F4-FAF6-40C6-AD0F-09EB9F35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AF2E25-9493-4049-9DD6-1FCF8843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F897F2-03F2-4A29-B333-BA0499E9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3F430-0E9F-471D-9CD9-BB4F005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7808D-E126-473D-A7DB-D8EF84F0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正確參與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D39E3-657A-4667-96C8-8B8F6DE6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及時提議與投票可獲獎勵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30EE48-A430-4DCC-A044-A748C6F2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C9D07-C3ED-41B5-AC77-6FE1B76B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離線或延遲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56FD8-D46E-4647-BEE6-B8FE72F8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可能失去部分預期收益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91A44-8D89-44E6-B610-E9219CB1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80DE4E-855C-4099-8773-3845FDB0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可證明的惡意行為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48E21-0533-47D8-88BF-A9572769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雙重投票等可能觸發slashing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EA1BA-B460-48C2-BAB2-98B0FD8B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B3894-1588-420C-855D-C9FC78BD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大量驗證者同時失效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6ED53-2180-4B59-81D0-6FB120AF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相關性懲罰可能提高損失</a:t>
            </a:r>
          </a:p>
        </p:txBody>
      </p:sp>
    </p:spTree>
    <p:extLst>
      <p:ext uri="{BB962C8B-B14F-4D97-AF65-F5344CB8AC3E}">
        <p14:creationId xmlns:p14="http://schemas.microsoft.com/office/powerpoint/2010/main" val="8830119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FE45AD-1585-42B4-891E-E2AFB6D2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27004-E124-4E59-8BD1-94B5BF13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PoS的最終性以超級多數投票建立明確檢查點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E9123-93A8-4C68-8390-BC5E47CF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A5019-C267-4932-AED9-727941F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2996B-184C-4546-82F4-6196090D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8C4CB-EEF0-4DF8-BDEC-5A9D48AE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6BFDC-90B9-498B-800D-A3DF8307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E5413-2B7B-47A1-88F4-1625A438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達到約三分之二權重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90452-6959-4CAE-9EBD-0192A442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檢查點可被justified並進一步finalized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使用者取得明確的完成狀態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23263-CF3C-4339-B8AE-F097F559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超過三分之一不配合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DAF04-1FDE-4C85-9107-8DBEC60E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可能延遲最終性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惡意雙重投票會面臨經濟懲罰</a:t>
            </a:r>
          </a:p>
        </p:txBody>
      </p:sp>
    </p:spTree>
    <p:extLst>
      <p:ext uri="{BB962C8B-B14F-4D97-AF65-F5344CB8AC3E}">
        <p14:creationId xmlns:p14="http://schemas.microsoft.com/office/powerpoint/2010/main" val="16316491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36B78A-E6D9-4206-A8ED-3D7D0D42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7BBFF-2593-4C2C-A49A-727836B5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許可型網路可以使用較直接的BFT式共識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6C093-B0CE-468E-98C1-3A018AD8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37969-6E63-431C-A5C2-9E571156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2F7DA-5368-4A4B-9BF7-67D36780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B889B-BD40-458A-A87A-F271FB3C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949E3-B2E6-49C2-B904-883C7BCC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BFC8DF-00F7-44CE-B4D4-D26BACDE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適用背景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8987D-D886-41F5-914C-2E83E890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參與者身分已知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驗證節點數量有限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法律與契約提供額外約束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719BF-C906-4E65-8A76-E61E9CF4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常見特性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48A3D6-8BAF-4F69-BF3C-B70FC96E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節點交換提議與投票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達到門檻後形成確定性最終結果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效能較高但成員治理更重要</a:t>
            </a:r>
          </a:p>
        </p:txBody>
      </p:sp>
    </p:spTree>
    <p:extLst>
      <p:ext uri="{BB962C8B-B14F-4D97-AF65-F5344CB8AC3E}">
        <p14:creationId xmlns:p14="http://schemas.microsoft.com/office/powerpoint/2010/main" val="85700994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3C2C5C-F093-4C16-9F67-FBF474DE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453EB-B1C4-4D35-B95C-6D853EAF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PoW、PoS與許可型BFT沒有單一排名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93BCC-CD6B-43AB-963F-7387EBE5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6B9EF-A21E-4B68-953B-97793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004A8-AEF5-4783-9B67-0A374CAE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658077-7649-4CFA-8BDB-3F9B4C03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3DCD36-99FE-4BEE-93E4-0FA0986C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PoW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28CDE1-1E1D-4DE9-969D-48A44379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開放參與；以算力成本防Sybil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C9BA2-24FE-4C69-B0E6-2840D904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2F761-4394-41E7-85C6-880F565C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FB045-A732-48BC-B131-E6CF599F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開放或半開放；以質押與懲罰防Sybil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3600F-BFF5-475F-B801-23C002B7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BC3DD1-F2EC-4692-8AC1-099E5FF7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許可型BFT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A420F-4BAA-464C-A169-63BAF369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已知成員；以身分、投票門檻與治理約束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253E5-168E-4853-BF33-AB67BBBC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292307-0D8F-4970-8F24-86807009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選擇依據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B4D3E-0BF9-45A4-B5C6-9CDFF4DB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安全假設、最終性、效能、治理與合規</a:t>
            </a:r>
          </a:p>
        </p:txBody>
      </p:sp>
    </p:spTree>
    <p:extLst>
      <p:ext uri="{BB962C8B-B14F-4D97-AF65-F5344CB8AC3E}">
        <p14:creationId xmlns:p14="http://schemas.microsoft.com/office/powerpoint/2010/main" val="173696095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D5401-978A-4D6F-8C77-0933C304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C3B16-2E94-41E5-810C-AF9AA1FF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共識風險常以集中度的不同形式出現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41865-A5B1-48A4-AA9F-AB8EA7FC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811B8-011E-416A-B4F1-0C39A8FA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D2A5B-00E0-4C10-8BE7-4AE2457D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D38D4-AE72-48D0-BE7C-F9E1DB6A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A4A40-D714-49B2-A44B-C4B18079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PoW算力集中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E3114-B041-44EE-BD68-DFC01DDC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大型礦池與硬體供應可能形成控制點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1BD5C-88B2-44B6-B1DB-6AEE49D8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E6755-C6A7-45C0-8AA0-9E2CD544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PoS質押集中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5DE51-04F2-47BD-A9B0-DB0DD170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大型託管商、交易平台或流動質押協議集中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4A843-5B35-4641-8C56-41FDACAE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EE2D5-71E7-46A8-A09E-B01C04B8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客戶端集中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E9146-AA49-494E-907B-E7225CAA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共同軟體漏洞可能同時影響大量節點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19A6A-64F1-4679-8125-CDE397B5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5EBF9-9C4E-4034-A455-E4878F08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治理集中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59110A-8947-4A36-BBEE-15323B04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少數開發者或機構主導升級與緊急決策</a:t>
            </a:r>
          </a:p>
        </p:txBody>
      </p:sp>
    </p:spTree>
    <p:extLst>
      <p:ext uri="{BB962C8B-B14F-4D97-AF65-F5344CB8AC3E}">
        <p14:creationId xmlns:p14="http://schemas.microsoft.com/office/powerpoint/2010/main" val="55154071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05B7B7-DE87-4025-8667-F21DF1A9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22BC9-88E0-48B3-90AA-3A4B3949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共識、治理與社會協調是三個不同層次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666E0-95D6-4348-8E2D-A3AAEAB8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F94A3-EE84-4884-A211-9C0276DA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902B1-F25A-4363-BEAA-900B3B9F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93B4B-92FD-47D0-B82C-9EAF7706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9ABB0B-7805-475E-89F4-E57F743F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協議共識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27929-8BF2-4569-92C9-77263109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節點依現行規則接受帳本狀態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2D410-8868-493A-8C66-C9FFB600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247142-7044-49E6-8856-D79A93A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BA2C45-B0D0-4755-9F79-619E28C3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以代幣或成員投票決定部分參數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B17CBB-3B23-4DA6-8374-E65B9F44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3D7F2-969B-42A2-938D-8F998CF1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鏈下治理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71275-85E5-4FCE-9C8C-EC3F2B9C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開發者、節點、基金會與使用者協調升級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23E497-C6DF-401E-A228-021667BA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A7C82-BF8B-4E95-897F-0BE69AC6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社會復原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5A23B4-AD05-4E05-B153-964200DC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重大攻擊時可能靠社群選擇接受哪個版本</a:t>
            </a:r>
          </a:p>
        </p:txBody>
      </p:sp>
    </p:spTree>
    <p:extLst>
      <p:ext uri="{BB962C8B-B14F-4D97-AF65-F5344CB8AC3E}">
        <p14:creationId xmlns:p14="http://schemas.microsoft.com/office/powerpoint/2010/main" val="44087980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D66C02-9A8F-4301-B704-EB04C17E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F9B61-291B-406C-9FA6-5AD05DB0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金融機構選擇共識機制時應比較五件事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9165D-4062-4A42-9E04-79F6FEEA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85544-E40D-4586-83BB-021A89BA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6637F-FEED-4361-A2C3-693D3787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130AA-DD28-42EB-9BB4-DF9DAEDE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4AB42-8B62-4B50-B284-BC7F7F14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C0909-EEBF-4026-8A92-453EF513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CDBCD-488C-4BAF-8AB4-70915C7A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E2FC7-B70D-40AF-A7E7-AF6BD824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2C0BB-54DD-4634-878A-F2BB3CFD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BFA5E3-7384-4016-BD73-0486A2CA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威脅模型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3CD761-5C30-4256-8757-80FACB06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誰可能故障或攻擊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7E7D48-20F7-4EEE-B95A-F5551977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6134C8-406F-4D79-8E50-D8984E1C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893C5E-3343-48A5-9E1C-88885973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最終性需求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1E7D16-828C-445D-9548-4DBAD4E7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何時可認列完成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7EDA3-AFC2-425F-A61B-B2E6122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EF2509-0B8E-48A8-B38B-A0D50F04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28A163-C992-4351-B76B-46EADB3F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效能成本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D69646-DC91-44BC-A0F1-1C4C5C5D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速度、容量與資源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272D10-1DDE-4CEB-BDAB-4733F602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974F1B-E23F-4422-9792-F969ED8E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7F4405-6667-45AE-898F-528C73C4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集中度風險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FAADC7-24B8-4632-8474-BF3D9757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誰掌握關鍵權力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720306-8BC0-4D24-8ADA-868CCDFA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F14248-9B91-4D3D-BF66-20AAB9FD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27408E-3C21-421E-9455-DF655F22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治理與合規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0F41DA-54FC-45FB-A24D-F2F64096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升級、責任與監理</a:t>
            </a:r>
          </a:p>
        </p:txBody>
      </p:sp>
    </p:spTree>
    <p:extLst>
      <p:ext uri="{BB962C8B-B14F-4D97-AF65-F5344CB8AC3E}">
        <p14:creationId xmlns:p14="http://schemas.microsoft.com/office/powerpoint/2010/main" val="98802150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074B1-5587-4A61-A84F-90A5EC91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C067A1-AC18-4E64-8F4F-08A683E5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本週結論：共識是安全假設、規則與誘因的組合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8B602-87E5-45A2-B99D-67198502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74C38-DBD0-4733-A834-B30A09BE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EDC3E-B487-4664-9618-6629C8D8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C5B33-6FF7-4C80-9C0B-EE973969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三個判斷句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0B299-ACC8-4C61-B794-68B099DF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共識決定共同狀態；PoW與PoS只是完整機制的一部分；確認與最終性必須依鏈與風險判斷。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DAFFC-668B-41E6-87EE-C5F6DCC2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F0640-04AF-4838-A4B9-F7A622F3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金融管理者最重要的能力，是辨識誰有權、攻擊成本、完成標準，以及失敗時誰負責。</a:t>
            </a:r>
          </a:p>
        </p:txBody>
      </p:sp>
    </p:spTree>
    <p:extLst>
      <p:ext uri="{BB962C8B-B14F-4D97-AF65-F5344CB8AC3E}">
        <p14:creationId xmlns:p14="http://schemas.microsoft.com/office/powerpoint/2010/main" val="191554934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06815A-0A3A-4F0C-BE67-BC9C06CA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C3DB85-7586-4AE8-B2C0-1D87BDCC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95C17-4845-45C4-B380-61693390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D3417-9D88-4F2E-907C-1B2412DC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133A6-BEB3-4447-8F4F-2339CF18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EDD82-9CC3-4642-B6EF-DF22308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EEC15-FD16-442B-A5AF-B10BDEDA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2E741-9E6D-4CA0-AEA4-8C569324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B0B35-FE2B-484E-8A8B-F3FCD452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3｜第三節｜快問快答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190A5-5034-41EA-A7B8-401EBC27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A74B9-385E-4B08-8C1A-A0664A5F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PoS主要用什麼提高攻擊成本？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AB282-4CEA-4A28-A18B-50C1647F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算盤　B 質押與懲罰　C 紙張　D 廣告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8DAF1C-96B0-4C52-9C61-9C791945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89E56-64E2-4037-A1DB-32CE7E4D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答案：B。以鏈上資本形成約束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625163-C6D2-455A-BF79-8544679D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驗證者離線一定會被slash嗎？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BEECE-75A4-4CB5-A6EC-FF43BBC6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只看幣價　D 一律沒收全部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33ABA-64AD-48FD-963D-B4797A0B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DB33A-E45F-44B7-A4E9-78E7114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227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答案：B。一般離線與惡意行為不同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022243-D413-4D51-80F7-FAFFD0A9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Ethereum最終性門檻以何者為權重？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264A91-9264-47F9-94DD-DF0213AE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人數　B 質押ETH　C 國籍　D 裝置數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64FE95-A275-42E0-97E4-73AE91D5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562391-12FC-446F-BA36-A563FAF0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答案：B。以質押權重投票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0D8D5-7540-495C-B6D1-E3F25235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許可型BFT最適合哪種背景？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7A52A2-D3AA-4590-BFAD-208B5A27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成員身分已知　B 完全無規則　C 只比算力　D 無需治理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6B50B1-8849-406F-8E0C-D32562BF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5C5A04-5B02-4595-9563-329CF5DE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答案：A。可用身分與門檻約束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164125-57BB-4208-9EF0-39586924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共識與治理是同一件事嗎？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451205-8417-4F13-8662-55300FD8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完全相同　B 不同但彼此影響　C 毫無關係　D 只在PoW相同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43349F-124E-4464-A021-61FB852E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F66D3E-F7F8-492D-AFB1-8ABD2370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227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答案：B。狀態一致與規則變更不同</a:t>
            </a:r>
          </a:p>
        </p:txBody>
      </p:sp>
    </p:spTree>
    <p:extLst>
      <p:ext uri="{BB962C8B-B14F-4D97-AF65-F5344CB8AC3E}">
        <p14:creationId xmlns:p14="http://schemas.microsoft.com/office/powerpoint/2010/main" val="10829056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2026-09-03T04:55:59.0950000Z</dcterms:created>
  <dcterms:modified xsi:type="dcterms:W3CDTF">2026-09-03T04:55:59.0950000Z</dcterms:modified>
</coreProperties>
</file>