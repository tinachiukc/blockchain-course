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25" r:id="rId5"/>
    <p:sldId id="583" r:id="rId6"/>
    <p:sldId id="582" r:id="rId7"/>
    <p:sldId id="395" r:id="rId8"/>
    <p:sldId id="646" r:id="rId9"/>
    <p:sldId id="647" r:id="rId10"/>
    <p:sldId id="648" r:id="rId11"/>
    <p:sldId id="649" r:id="rId12"/>
    <p:sldId id="424" r:id="rId13"/>
    <p:sldId id="463" r:id="rId14"/>
    <p:sldId id="584" r:id="rId15"/>
    <p:sldId id="634" r:id="rId16"/>
    <p:sldId id="585" r:id="rId17"/>
    <p:sldId id="586" r:id="rId18"/>
    <p:sldId id="588" r:id="rId19"/>
    <p:sldId id="513" r:id="rId20"/>
    <p:sldId id="589" r:id="rId21"/>
    <p:sldId id="590" r:id="rId22"/>
    <p:sldId id="592" r:id="rId23"/>
    <p:sldId id="593" r:id="rId24"/>
    <p:sldId id="595" r:id="rId25"/>
    <p:sldId id="596" r:id="rId26"/>
    <p:sldId id="597" r:id="rId27"/>
    <p:sldId id="598" r:id="rId28"/>
    <p:sldId id="599" r:id="rId29"/>
    <p:sldId id="631" r:id="rId30"/>
    <p:sldId id="630" r:id="rId31"/>
    <p:sldId id="600" r:id="rId32"/>
    <p:sldId id="632" r:id="rId33"/>
    <p:sldId id="633" r:id="rId34"/>
    <p:sldId id="601" r:id="rId35"/>
    <p:sldId id="602" r:id="rId36"/>
    <p:sldId id="604" r:id="rId37"/>
    <p:sldId id="606" r:id="rId38"/>
    <p:sldId id="635" r:id="rId39"/>
    <p:sldId id="608" r:id="rId40"/>
    <p:sldId id="609" r:id="rId41"/>
    <p:sldId id="610" r:id="rId42"/>
    <p:sldId id="611" r:id="rId43"/>
    <p:sldId id="636" r:id="rId44"/>
    <p:sldId id="637" r:id="rId45"/>
    <p:sldId id="614" r:id="rId46"/>
    <p:sldId id="638" r:id="rId47"/>
    <p:sldId id="639" r:id="rId48"/>
    <p:sldId id="640" r:id="rId49"/>
    <p:sldId id="641" r:id="rId50"/>
    <p:sldId id="642" r:id="rId51"/>
    <p:sldId id="643" r:id="rId52"/>
    <p:sldId id="622" r:id="rId53"/>
    <p:sldId id="623" r:id="rId54"/>
    <p:sldId id="624" r:id="rId55"/>
    <p:sldId id="625" r:id="rId56"/>
    <p:sldId id="626" r:id="rId57"/>
    <p:sldId id="627" r:id="rId58"/>
    <p:sldId id="644" r:id="rId59"/>
    <p:sldId id="645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93C88D7-532A-4ED5-8B3A-2AC66097AD0C}">
          <p14:sldIdLst>
            <p14:sldId id="325"/>
            <p14:sldId id="583"/>
            <p14:sldId id="582"/>
            <p14:sldId id="395"/>
            <p14:sldId id="646"/>
            <p14:sldId id="647"/>
            <p14:sldId id="648"/>
            <p14:sldId id="649"/>
            <p14:sldId id="424"/>
            <p14:sldId id="463"/>
            <p14:sldId id="584"/>
            <p14:sldId id="634"/>
            <p14:sldId id="585"/>
            <p14:sldId id="586"/>
            <p14:sldId id="588"/>
            <p14:sldId id="513"/>
            <p14:sldId id="589"/>
            <p14:sldId id="590"/>
            <p14:sldId id="592"/>
            <p14:sldId id="593"/>
            <p14:sldId id="595"/>
            <p14:sldId id="596"/>
            <p14:sldId id="597"/>
            <p14:sldId id="598"/>
            <p14:sldId id="599"/>
            <p14:sldId id="631"/>
            <p14:sldId id="630"/>
            <p14:sldId id="600"/>
            <p14:sldId id="632"/>
            <p14:sldId id="633"/>
            <p14:sldId id="601"/>
            <p14:sldId id="602"/>
            <p14:sldId id="604"/>
            <p14:sldId id="606"/>
            <p14:sldId id="635"/>
            <p14:sldId id="608"/>
            <p14:sldId id="609"/>
            <p14:sldId id="610"/>
            <p14:sldId id="611"/>
            <p14:sldId id="636"/>
            <p14:sldId id="637"/>
            <p14:sldId id="614"/>
            <p14:sldId id="638"/>
            <p14:sldId id="639"/>
            <p14:sldId id="640"/>
            <p14:sldId id="641"/>
            <p14:sldId id="642"/>
            <p14:sldId id="643"/>
            <p14:sldId id="622"/>
            <p14:sldId id="623"/>
            <p14:sldId id="624"/>
            <p14:sldId id="625"/>
            <p14:sldId id="626"/>
            <p14:sldId id="627"/>
            <p14:sldId id="644"/>
            <p14:sldId id="64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F5F9F9"/>
    <a:srgbClr val="3399FF"/>
    <a:srgbClr val="FEEBCA"/>
    <a:srgbClr val="D9FFFF"/>
    <a:srgbClr val="685135"/>
    <a:srgbClr val="BDA07D"/>
    <a:srgbClr val="627272"/>
    <a:srgbClr val="93A5A8"/>
    <a:srgbClr val="3E7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7292A2E-F333-43FB-9621-5CBBE7FDCDCB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 autoAdjust="0"/>
    <p:restoredTop sz="95238" autoAdjust="0"/>
  </p:normalViewPr>
  <p:slideViewPr>
    <p:cSldViewPr snapToGrid="0">
      <p:cViewPr varScale="1">
        <p:scale>
          <a:sx n="108" d="100"/>
          <a:sy n="108" d="100"/>
        </p:scale>
        <p:origin x="82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AF03AE-1CC2-475F-B909-50970E9699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3C45E-73BA-4C86-A24F-A5006B4E7B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7A4CE-17BB-4BB2-AC7B-97495293E2AC}" type="datetimeFigureOut">
              <a:rPr lang="en-US" smtClean="0"/>
              <a:t>10/30/2026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DB874-DF6A-4AFA-8055-4AD7EE4CE3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7078F-04CB-4625-B536-5BCAA2EC6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EF92D-82DD-4142-BCE8-036B91487D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70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6C8F5-2FDA-4718-81AA-24F4816BBD56}" type="datetimeFigureOut">
              <a:rPr lang="en-US" smtClean="0"/>
              <a:t>10/30/2026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EC616-C518-4358-9496-6C33B2F5FA5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2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827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7D143-18D4-B538-075B-5E4C0AD2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B32C442-BC2C-BE03-1C87-F37558F1C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27A317-A836-DF90-9328-56054B12E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35F3C4-B603-BEC3-5B78-1DD23A852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95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17E49-B769-8BB7-AE71-10E35562D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2922FD-96FD-629A-72F3-F49E2D08E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E507B68-A81A-BEA4-ABEC-CEFC25A90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5B960D-60BA-0541-2531-276E6709C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129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F2867-D118-18AE-89C9-BCBEFF4B7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CEE3BDD-5DC4-515E-5968-6A9A02BFE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E38FF4C-F395-6D4A-B507-7E91DC58F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11F6F6-59B7-F8B1-ED7C-F2AFFBA60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550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0E1F5-347D-5E15-9ABD-779DD31C3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BBA0E23-0DF8-4F66-E8A4-9B2F8250E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C1E7953-2F6E-F976-299D-92A4B99EB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02F65C-5356-9AEB-89B5-506B1225A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889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6911-E385-0EAF-925A-6FAB9375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6E274C8-72AA-8FD8-1D59-D9A6A0DC4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01EB015-72B7-221B-02BB-E9B2971FA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AF11BA-74FF-97B6-5238-7E417EDC7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871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8BD6B-53A2-7378-BDEA-CAE0CF797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12AAE13-FC8C-772C-853D-B44A63DC9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5434DFD-9748-C4DF-3448-318F25E7E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37CCAB-D668-D76A-63BE-7C6E88145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969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82980-24FA-C8C1-1F5C-EA8580923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BCEF01E-AD19-3040-C6B7-3359B3974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B6B420C-B6BD-D37D-90D1-FB298EA10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0736A8-9EBA-AB45-C237-8AF07B4C3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5228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1B092-0F31-DBA6-2F54-3AFBB053E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8409FE4-04AE-6A29-87ED-43DD58482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E0D1A15-02D8-25B4-9178-2BECD0D20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430CCD-B9BE-73DE-5082-F416427F2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981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21F3-14E0-730E-CB9A-78D9C5BAB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058C0E-B6C3-BF1E-AC27-D2B46D70F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EF79D8E-CB83-2E59-D771-3193787F9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96EE79-DB91-52AA-DED4-D976E40E9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6246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D41F3-F415-4D14-A3A3-C5F9D76EE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88B27AA-4D57-2F58-DD85-69C59E81E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198F792-DC74-4881-EB2E-BF205406B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E4BCA4-C63A-7874-A896-5B9F4A884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767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74EBF-775F-557B-A8E2-C40E848D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489032A-9C74-ED60-C613-70C5D26E3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B27FCD-413F-AE20-1102-976BBB334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64B6D1-FCE1-7D6C-0696-EB448500D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318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8D86A-A71C-FA35-D450-5CCDC42C7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DEB4C3-BF57-5C7B-7DC0-C0C0202BE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850BC65-D628-4A4C-E3B0-EAC5D2DA8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81DCED-2228-2E02-0E8F-8A3624808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758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EEDF6-03DA-7B23-C154-A0F732FCA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F7C93AE-1B80-3401-F54D-1D18819E7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C7E4BF5-C91D-22D7-45CE-C81EC9148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07151B-73D7-9F70-10CD-2FD4F0ACE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792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EF2EE-74FD-7D2F-D978-6EA09A480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42DD0E4-022E-F1FA-62FC-8217009D1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3AED5B8-B4AA-441C-E5D7-ED105EBFE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D271ED-1367-01BD-C1BA-52D5B8B87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30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E026B-E4C5-DD20-F4E0-F84FEFA49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81D6715-A489-48AD-4D2A-6ADB0AF85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DBF6B92-8FEE-22EC-55BD-DF8D76896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C7494F-BC09-DFDF-9942-94327A106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399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3845-5087-9E3D-D590-BD0DD8E52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B5F06-F3CA-FC09-6FEE-71768ECF0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14C4D2C-075F-4368-4004-6E078919F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3CC53F-E067-605A-8343-9B8DA4C81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1484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C3C9F-8238-BA19-6874-97DBF67C7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96FB369-5BB0-EE2C-981E-3F18E7113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A1901DF-67F4-A4D0-86DC-3A73FB2A1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320060-F280-95EB-CB04-20BC84DE2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2058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768A5-A4F1-9F56-E1D6-9029A0E23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7AAD7D7-4D3F-F7FD-7018-A52E617B2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95E4548-726E-52B7-6DF2-1FB3561C9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5B767A-8EB6-5033-6534-EA8448D7B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7852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77473-C1FE-E76A-715C-9F3C68B86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C40A541-AE9A-605F-684D-A1CD11546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D415BC-D4CF-3051-CECD-B53AF679A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9EBC84-5252-E3CD-8954-0372F35D9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963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5E96F-8D65-FF3B-B2CE-A1BF9DE16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2FD11D5-B4FE-8E3B-0B21-4355F5F01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D5FB4AA-B4BD-FB39-DB47-64E0A4663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C800E9-5BF8-3904-DAC1-52DA15C49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1580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1CFF-4936-E7AB-890A-7815F0485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E9A574F-B693-5C30-8E76-631C0CB4F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329BBF3-304D-9103-2884-411586F7C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A05019-1639-D487-1BC1-A4AF55FF2E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2250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C17DD-484D-B449-808B-F8B45500D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77AE83B-00B7-3E43-FC18-4155D88DD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6E35C0C-189D-8F4A-0900-375A45F50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C0288B-F5D6-392C-D3B1-1DB5FDCF8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5851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781A-DF95-DB5B-4D24-33E57B01A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3131406-D5D3-D912-7736-B3A1B768D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1BB94FB-5C64-6973-CAC7-D12C5A74C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AC2819-1629-BD95-E914-89B52E227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3002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B23F7-364D-9E5A-0836-CB946E05E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90CB140-606E-977F-27D2-50D54D6ED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D5FE25F-BFCF-2F5D-87C1-B5B7EBB19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20AEA7-FD51-A5FE-5FC2-3A5F63828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426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1A476F7-D5C8-1CEC-9F4A-86A24C0BF3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55" t="5126"/>
          <a:stretch/>
        </p:blipFill>
        <p:spPr>
          <a:xfrm>
            <a:off x="0" y="0"/>
            <a:ext cx="5423337" cy="535652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CBB0B7-F53E-97B4-C0F5-2D1842F1D2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4735" y="726953"/>
            <a:ext cx="3069021" cy="23816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BE1252-9BC4-8186-499A-2A7107C2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3" y="0"/>
            <a:ext cx="204524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67512"/>
            <a:ext cx="5916168" cy="4873752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50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5568696"/>
            <a:ext cx="5276088" cy="859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54112" y="947737"/>
            <a:ext cx="4048124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277970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FED2A3BD-B73E-1BD7-6B8B-22C9FB1248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10800000">
            <a:off x="0" y="671161"/>
            <a:ext cx="3089740" cy="48767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3FCFB4-857F-ED0B-D469-F2A392F06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42482" y="0"/>
            <a:ext cx="204951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604BC-34A9-95A0-8560-88E754717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1255" y="0"/>
            <a:ext cx="45719" cy="6858000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F2F08ED-0715-2E8A-476E-A005A7D75B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9013145" y="4934929"/>
            <a:ext cx="1841938" cy="9689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667512"/>
            <a:ext cx="3291840" cy="551383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9512" y="667512"/>
            <a:ext cx="4105656" cy="5568696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>
              <a:lnSpc>
                <a:spcPct val="150000"/>
              </a:lnSpc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193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48277F-DB00-5149-6533-E8AEF0BAD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73518" y="0"/>
            <a:ext cx="133432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067A69A-84EE-0E71-D053-F462EBCC8E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3520" y="655677"/>
            <a:ext cx="2438400" cy="20701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48" y="658368"/>
            <a:ext cx="5486400" cy="36210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0936" y="576072"/>
            <a:ext cx="4023360" cy="54955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9048" y="4553712"/>
            <a:ext cx="5486400" cy="10058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marL="0" indent="0">
              <a:buNone/>
              <a:defRPr sz="2400" b="0" i="0" spc="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3451331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17B23C3-2F98-4465-21EA-A49296DA1F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5400000">
            <a:off x="7746274" y="2898378"/>
            <a:ext cx="3089740" cy="48767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97A4D6-9D7A-63FE-63C9-A585FFE05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149840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4370832" cy="3776472"/>
          </a:xfrm>
          <a:solidFill>
            <a:schemeClr val="bg1">
              <a:lumMod val="9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A182AF-83EB-0BA6-3ADD-B49BDD9E37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9048" y="2112264"/>
            <a:ext cx="4370832" cy="3776472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786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7C8AFE-E640-9C6A-F20C-CDE1D4EF5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27476" y="0"/>
            <a:ext cx="133432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1CF2607-B5C7-9992-C51D-DD5E7FC5FB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9827" y="3157140"/>
            <a:ext cx="2438400" cy="20701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D2F83CD-8345-462A-4412-5A54CB1FD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8916"/>
          <a:stretch/>
        </p:blipFill>
        <p:spPr>
          <a:xfrm>
            <a:off x="0" y="3950466"/>
            <a:ext cx="3005804" cy="222436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85800"/>
            <a:ext cx="5486400" cy="33832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4343400"/>
            <a:ext cx="5486400" cy="1005840"/>
          </a:xfrm>
          <a:prstGeom prst="rect">
            <a:avLst/>
          </a:prstGeom>
          <a:solidFill>
            <a:schemeClr val="tx1">
              <a:alpha val="5000"/>
            </a:schemeClr>
          </a:solidFill>
        </p:spPr>
        <p:txBody>
          <a:bodyPr anchor="t">
            <a:normAutofit/>
          </a:bodyPr>
          <a:lstStyle>
            <a:lvl1pPr marL="0" indent="0">
              <a:buNone/>
              <a:defRPr sz="2400" b="0" i="0" spc="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84264" y="576072"/>
            <a:ext cx="4023360" cy="54955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1306737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97A4D6-9D7A-63FE-63C9-A585FFE05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3419856" cy="3776472"/>
          </a:xfrm>
          <a:solidFill>
            <a:schemeClr val="tx1">
              <a:alpha val="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A182AF-83EB-0BA6-3ADD-B49BDD9E37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864608" y="2093976"/>
            <a:ext cx="6382512" cy="3749040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B897DD0-4462-B31B-50A9-D399FD0F58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529"/>
          <a:stretch/>
        </p:blipFill>
        <p:spPr>
          <a:xfrm>
            <a:off x="3815" y="4389845"/>
            <a:ext cx="5024198" cy="246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425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5EA319-BD06-493B-D1CD-EC2AF7394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47991" y="0"/>
            <a:ext cx="1703832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560446E-E817-5E2A-D76A-43A4168EF1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246669" y="4842646"/>
            <a:ext cx="1611949" cy="185325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7DC846D-C40C-085A-6A57-EBD733E9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6291072" cy="26700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F5F674E-A7FF-FC97-AC6B-9E98247F6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3346704"/>
            <a:ext cx="6016752" cy="2670048"/>
          </a:xfrm>
          <a:solidFill>
            <a:schemeClr val="bg1">
              <a:lumMod val="9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F3752326-0FB4-41C5-2D91-5CBFDC2DAD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18120" y="950976"/>
            <a:ext cx="4050792" cy="496519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592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4BC85D4-4139-2AAA-166E-6FBA095A8B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55" t="5126"/>
          <a:stretch/>
        </p:blipFill>
        <p:spPr>
          <a:xfrm>
            <a:off x="0" y="1729776"/>
            <a:ext cx="5423337" cy="535652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931BC73-A262-809F-6027-25B33F16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41270" y="0"/>
            <a:ext cx="1250729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EA2C9-0142-1847-0FE5-307C101C6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83241" y="0"/>
            <a:ext cx="45719" cy="6858000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007DF4F-A4F8-98C7-5975-55CBED0D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667512"/>
            <a:ext cx="3621024" cy="551383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59D4968-2C08-763C-19C6-591349685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0" y="1161288"/>
            <a:ext cx="5276088" cy="4535424"/>
          </a:xfrm>
          <a:solidFill>
            <a:schemeClr val="bg1">
              <a:lumMod val="95000"/>
            </a:schemeClr>
          </a:solidFill>
        </p:spPr>
        <p:txBody>
          <a:bodyPr anchor="t" anchorCtr="0">
            <a:normAutofit/>
          </a:bodyPr>
          <a:lstStyle>
            <a:lvl1pPr marL="457200" indent="-457200">
              <a:lnSpc>
                <a:spcPct val="80000"/>
              </a:lnSpc>
              <a:spcAft>
                <a:spcPts val="1800"/>
              </a:spcAft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lphaLcPeriod"/>
              <a:defRPr sz="1800"/>
            </a:lvl2pPr>
            <a:lvl3pPr marL="1371600" indent="-457200">
              <a:buFont typeface="+mj-lt"/>
              <a:buAutoNum type="arabicParenR"/>
              <a:defRPr sz="1600"/>
            </a:lvl3pPr>
            <a:lvl4pPr marL="1714500" indent="-342900">
              <a:buFont typeface="+mj-lt"/>
              <a:buAutoNum type="alphaLcParenR"/>
              <a:defRPr sz="1400"/>
            </a:lvl4pPr>
            <a:lvl5pPr marL="2228850" indent="-400050">
              <a:buFont typeface="+mj-lt"/>
              <a:buAutoNum type="romanL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534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F0B854-EF27-FB51-FED5-D9C462D7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AAF96D3-D3E2-FEAC-EE69-279502A5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A9ADD0-45A7-DB71-D010-70B5B174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2880360" cy="3776472"/>
          </a:xfrm>
          <a:solidFill>
            <a:schemeClr val="tx1">
              <a:alpha val="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4ECD368-DD7D-CC8B-3678-D0BFE82918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61104" y="2093976"/>
            <a:ext cx="6967728" cy="4014216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964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3F9824-10E6-81A0-0A31-9658CC009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3002FB0-0A62-2FA3-FB8D-3275F107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5BF220-87F8-C1D3-102B-15C9BF2EE47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4672" y="2093976"/>
            <a:ext cx="10469880" cy="4014216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47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E4764D-8226-78DF-9303-299C95FA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45981" y="0"/>
            <a:ext cx="133643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7C27D79-5B49-F06F-29C2-BF64295274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1223" y="4755038"/>
            <a:ext cx="3279227" cy="122971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545B34A-525D-FD4C-2384-D583B495C0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55" t="5126"/>
          <a:stretch/>
        </p:blipFill>
        <p:spPr>
          <a:xfrm flipH="1">
            <a:off x="6768663" y="1729776"/>
            <a:ext cx="5423337" cy="535652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B59FA15-E93F-D07D-D82B-86E08C540E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32704" y="795528"/>
            <a:ext cx="6099048" cy="5120640"/>
          </a:xfrm>
          <a:prstGeom prst="rect">
            <a:avLst/>
          </a:prstGeom>
          <a:solidFill>
            <a:schemeClr val="tx1">
              <a:alpha val="5000"/>
            </a:schemeClr>
          </a:solidFill>
        </p:spPr>
        <p:txBody>
          <a:bodyPr anchor="ctr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F1B2B40-3852-2BC5-AA67-3AC0C94B5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9212" y="795528"/>
            <a:ext cx="4050792" cy="496519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pic>
        <p:nvPicPr>
          <p:cNvPr id="2" name="Picture 11">
            <a:extLst>
              <a:ext uri="{FF2B5EF4-FFF2-40B4-BE49-F238E27FC236}">
                <a16:creationId xmlns:a16="http://schemas.microsoft.com/office/drawing/2014/main" id="{6B1B970E-DC81-0853-3541-A830775497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13" r="35034" b="6863"/>
          <a:stretch>
            <a:fillRect/>
          </a:stretch>
        </p:blipFill>
        <p:spPr bwMode="auto">
          <a:xfrm>
            <a:off x="9588" y="5532437"/>
            <a:ext cx="12182411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421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177962F-BF83-8BF0-521C-AC2FE18512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5400000">
            <a:off x="7746274" y="2898378"/>
            <a:ext cx="3089740" cy="48767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003ACC-3116-807F-81D2-E8057D4C2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43485B2-AA3A-87CC-3B1B-A193C6EB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EF9689-52F4-4A6F-BEAC-E0B840C11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5833872" cy="3776472"/>
          </a:xfrm>
          <a:solidFill>
            <a:schemeClr val="bg1">
              <a:lumMod val="95000"/>
            </a:schemeClr>
          </a:solidFill>
        </p:spPr>
        <p:txBody>
          <a:bodyPr rIns="91440" anchor="t" anchorCtr="0">
            <a:normAutofit/>
          </a:bodyPr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lphaLcPeriod"/>
              <a:defRPr sz="1800"/>
            </a:lvl2pPr>
            <a:lvl3pPr marL="1371600" indent="-457200">
              <a:buFont typeface="+mj-lt"/>
              <a:buAutoNum type="arabicParenR"/>
              <a:defRPr sz="1600"/>
            </a:lvl3pPr>
            <a:lvl4pPr marL="1828800" indent="-457200">
              <a:buFont typeface="+mj-lt"/>
              <a:buAutoNum type="alphaLcParenR"/>
              <a:defRPr sz="1400"/>
            </a:lvl4pPr>
            <a:lvl5pPr marL="2286000" indent="-457200">
              <a:buFont typeface="+mj-lt"/>
              <a:buAutoNum type="romanL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B532826-83B5-DC67-7DDB-45FD78E830A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06056" y="2093976"/>
            <a:ext cx="3172968" cy="3776472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04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47051E-220B-9586-3E85-05AF9DC9B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3" y="0"/>
            <a:ext cx="204524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8FA6629-B230-F528-AAE3-D182D963F0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10800000">
            <a:off x="0" y="671161"/>
            <a:ext cx="3089740" cy="48767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A0390C-256A-CE3C-1348-C39DBAE01D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7644" y="655677"/>
            <a:ext cx="2438400" cy="20701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67512"/>
            <a:ext cx="5916168" cy="36667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4636008"/>
            <a:ext cx="5276088" cy="155448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600"/>
              </a:spcAft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54112" y="947737"/>
            <a:ext cx="4023360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553565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B4E19-B10C-43FA-AB4B-5D0396BD6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1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C552B-0CAD-4920-B258-233A9F86D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83FFB-15A3-4B11-A130-4565577A3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1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5F976-A881-DB46-9D98-9D55727C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C7589-D4CD-50AB-9AA4-198FD4932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710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  <p:sldLayoutId id="2147483675" r:id="rId4"/>
    <p:sldLayoutId id="2147483683" r:id="rId5"/>
    <p:sldLayoutId id="2147483684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4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9680-7C22-BFF1-165D-52AB411C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667512"/>
            <a:ext cx="5916168" cy="4873752"/>
          </a:xfrm>
        </p:spPr>
        <p:txBody>
          <a:bodyPr>
            <a:normAutofit/>
          </a:bodyPr>
          <a:lstStyle/>
          <a:p>
            <a:r>
              <a:rPr lang="zh-TW" altLang="en-US" sz="4800" dirty="0"/>
              <a:t>比特幣的擴展之爭、</a:t>
            </a:r>
            <a:r>
              <a:rPr lang="en-US" altLang="zh-TW" sz="4800" dirty="0"/>
              <a:t>IFO</a:t>
            </a:r>
            <a:r>
              <a:rPr lang="zh-TW" altLang="en-US" sz="4800" dirty="0"/>
              <a:t>與鏈上治理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F459B-002E-E89C-3A0E-589730DD71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8096" y="5568696"/>
            <a:ext cx="5276088" cy="859536"/>
          </a:xfrm>
        </p:spPr>
        <p:txBody>
          <a:bodyPr/>
          <a:lstStyle/>
          <a:p>
            <a:r>
              <a:rPr lang="en-US" dirty="0"/>
              <a:t>Week 08</a:t>
            </a:r>
          </a:p>
        </p:txBody>
      </p:sp>
      <p:pic>
        <p:nvPicPr>
          <p:cNvPr id="5" name="Picture Placeholder 4" descr="People at the beach">
            <a:extLst>
              <a:ext uri="{FF2B5EF4-FFF2-40B4-BE49-F238E27FC236}">
                <a16:creationId xmlns:a16="http://schemas.microsoft.com/office/drawing/2014/main" id="{0672830B-5F52-9AD6-1CF1-D12BDF673AC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62" b="62"/>
          <a:stretch/>
        </p:blipFill>
        <p:spPr>
          <a:xfrm>
            <a:off x="7754112" y="947737"/>
            <a:ext cx="4048124" cy="4962525"/>
          </a:xfrm>
        </p:spPr>
      </p:pic>
    </p:spTree>
    <p:extLst>
      <p:ext uri="{BB962C8B-B14F-4D97-AF65-F5344CB8AC3E}">
        <p14:creationId xmlns:p14="http://schemas.microsoft.com/office/powerpoint/2010/main" val="3262765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A5DDF-FBDA-D5D1-433E-91AE0D86E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794B70-DB3F-5BFC-D5E6-85B4C403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668" y="647463"/>
            <a:ext cx="9819860" cy="770141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課程主題</a:t>
            </a:r>
            <a:endParaRPr lang="en-US" sz="3200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CEA88BE-ECA4-AE1D-1565-AD5993779BFB}"/>
              </a:ext>
            </a:extLst>
          </p:cNvPr>
          <p:cNvSpPr txBox="1">
            <a:spLocks/>
          </p:cNvSpPr>
          <p:nvPr/>
        </p:nvSpPr>
        <p:spPr>
          <a:xfrm>
            <a:off x="1033670" y="1678862"/>
            <a:ext cx="9819859" cy="29992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第一部分：比特幣的擴展之爭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第二部分：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IFO (Initial Fork Offering)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與分叉現象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第三部分：鏈上治理與鏈下治理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3917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1DAA-FBC7-BAD7-D392-75BBFEEEF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97BBE0-90C8-A586-7F6F-9EB4F4F2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668" y="647463"/>
            <a:ext cx="9819860" cy="770141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第一部分：比特幣的擴展之爭</a:t>
            </a:r>
            <a:endParaRPr lang="en-US" sz="3200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A3E19AD3-D3F4-1931-AB19-B3459B9B7A04}"/>
              </a:ext>
            </a:extLst>
          </p:cNvPr>
          <p:cNvSpPr txBox="1">
            <a:spLocks/>
          </p:cNvSpPr>
          <p:nvPr/>
        </p:nvSpPr>
        <p:spPr>
          <a:xfrm>
            <a:off x="1033670" y="1678862"/>
            <a:ext cx="9819859" cy="29992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</a:t>
            </a:r>
            <a:r>
              <a:rPr lang="zh-TW" altLang="en-US" dirty="0"/>
              <a:t>比特幣塊大小（</a:t>
            </a:r>
            <a:r>
              <a:rPr lang="en-US" altLang="zh-TW" dirty="0"/>
              <a:t>block size</a:t>
            </a:r>
            <a:r>
              <a:rPr lang="zh-TW" altLang="en-US" dirty="0"/>
              <a:t>）限制與交易吞吐量問題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</a:t>
            </a:r>
            <a:r>
              <a:rPr lang="zh-TW" altLang="en-US" dirty="0"/>
              <a:t>支持大塊派與支持維持小塊之間的爭論</a:t>
            </a:r>
            <a:endParaRPr lang="en-US" altLang="zh-TW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主題三：硬分叉、比特幣現金之擴展爭議的實例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2694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948476" y="1324241"/>
            <a:ext cx="8985683" cy="5010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什麼是擴展問題（</a:t>
            </a:r>
            <a:r>
              <a:rPr lang="en-US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Scalability Problem</a:t>
            </a: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）？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比特幣最初設計時，每區塊大小為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1MB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，大約每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分鐘產生一個區塊。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每個區塊約能處理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2,000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筆交易／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分鐘，換算約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3.3 TPS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（每秒交易數），無法支撐全球性使用需求。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當使用量上升時，交易等待時間與手續費會暴增，導致用戶體驗下降。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此問題稱為「擴展性問題（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Scalability Problem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）」：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800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系統無法隨使用者增長而有效擴張。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49EC84-39B9-98EE-EBA2-B2A996839622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主題一：比特幣塊大小（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 size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）限制與交易吞吐量問題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948476" y="1324241"/>
            <a:ext cx="8985683" cy="4190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先看「一個區塊可以塞多少交易」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假設我們觀察的是一條區塊鏈（例如早期設定的比特幣主鏈風格參數）：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一個區塊（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block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）平均大小被限制住，所以同一個區塊大概只能容納固定數量的交易。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在數據裡，是「每個區塊大約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2,000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筆交易」。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也就是說：礙於區塊大小上限，礙於單筆交易大小，整個網路在單一出塊週期內，實際能打包進去的交易量大概是兩千筆。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這裡其實是整個「擴容爭議」的核心：如果區塊大小不變，那同一時間可以處理的交易量就被上限卡住。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49EC84-39B9-98EE-EBA2-B2A996839622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主題一：比特幣塊大小（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 size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）限制與交易吞吐量問題</a:t>
            </a:r>
          </a:p>
        </p:txBody>
      </p:sp>
    </p:spTree>
    <p:extLst>
      <p:ext uri="{BB962C8B-B14F-4D97-AF65-F5344CB8AC3E}">
        <p14:creationId xmlns:p14="http://schemas.microsoft.com/office/powerpoint/2010/main" val="644983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948476" y="1324241"/>
            <a:ext cx="8985683" cy="372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出塊時間（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Block Time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系統的共識機制會決定「多久產生一個新區塊」。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常見設計：：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比特幣的目標出塊時間是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分鐘一塊。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有些鏈是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分鐘、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分鐘甚至幾秒一塊。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60000" algn="just">
              <a:lnSpc>
                <a:spcPct val="15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在描述中，是「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分鐘一個區塊」。把這兩件事合在一起，就是：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分鐘內，網路處理 ≈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2,000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筆交易（因為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分鐘才出一塊，而一塊塞約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2,000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筆）。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49EC84-39B9-98EE-EBA2-B2A996839622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主題一：比特幣塊大小（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 size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）限制與交易吞吐量問題</a:t>
            </a:r>
          </a:p>
        </p:txBody>
      </p:sp>
    </p:spTree>
    <p:extLst>
      <p:ext uri="{BB962C8B-B14F-4D97-AF65-F5344CB8AC3E}">
        <p14:creationId xmlns:p14="http://schemas.microsoft.com/office/powerpoint/2010/main" val="1956327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948477" y="1122445"/>
            <a:ext cx="8985683" cy="5575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從「每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分鐘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2,000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筆」換算成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TPS</a:t>
            </a: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分鐘有多少秒？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分鐘是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秒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分鐘就是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 × 60 = 600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秒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如果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600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秒內只有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2,000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筆交易被確認，那平均每秒是多少筆？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2,000 ÷ 600</a:t>
            </a: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我們做逐步除法來確保正確：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600 × 3 = 1,800</a:t>
            </a: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2,000 − 1,800 = 200</a:t>
            </a: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200 ÷ 600 ≈ 0.333...</a:t>
            </a: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所以總共是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 + 0.333... ≈ 3.33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也就是約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3.3 TPS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這個 </a:t>
            </a:r>
            <a:r>
              <a:rPr lang="en-US" altLang="zh-TW" sz="2000" dirty="0"/>
              <a:t>3.3 TPS </a:t>
            </a:r>
            <a:r>
              <a:rPr lang="zh-TW" altLang="en-US" sz="2000" dirty="0"/>
              <a:t>不是「瞬間高峰」，而是「長期平均設計上限」。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49EC84-39B9-98EE-EBA2-B2A996839622}"/>
              </a:ext>
            </a:extLst>
          </p:cNvPr>
          <p:cNvSpPr txBox="1"/>
          <p:nvPr/>
        </p:nvSpPr>
        <p:spPr>
          <a:xfrm>
            <a:off x="153345" y="36004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主題一：比特幣塊大小（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 size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）限制與交易吞吐量問題</a:t>
            </a:r>
          </a:p>
        </p:txBody>
      </p:sp>
    </p:spTree>
    <p:extLst>
      <p:ext uri="{BB962C8B-B14F-4D97-AF65-F5344CB8AC3E}">
        <p14:creationId xmlns:p14="http://schemas.microsoft.com/office/powerpoint/2010/main" val="263752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736847" y="871480"/>
            <a:ext cx="9099657" cy="567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000" dirty="0"/>
              <a:t>4.</a:t>
            </a:r>
            <a:r>
              <a:rPr lang="zh-TW" altLang="en-US" sz="1600" dirty="0"/>
              <a:t>這個 </a:t>
            </a:r>
            <a:r>
              <a:rPr lang="en-US" altLang="zh-TW" sz="1600" dirty="0"/>
              <a:t>3.3 TPS </a:t>
            </a:r>
            <a:r>
              <a:rPr lang="zh-TW" altLang="en-US" sz="1600" dirty="0"/>
              <a:t>不是「瞬間高峰」，而是「長期平均設計上限」。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3.3 TPS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聽起來可能沒感覺，所以我把它翻成日常語言：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0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VISA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類的集中式支付網路可以在訊號高峰時處理成千上萬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TPS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（官方宣稱高峰可達上萬級；實際平均在幾千級別，屬於中心化伺服器叢集環境，非鏈上共識環境）。這代表它能同時承受全球刷卡行為。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0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以太坊在「鏈上單純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L1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、不算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L2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」的早期吞吐量大約十幾到二十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TPS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等級，因為它出塊更快、打包邏輯不同，而且交易型態複雜、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Gas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機制不同（後來再靠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Rollup/L2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拉高容量）。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0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這裡的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3.3 TPS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是典型「不擴大區塊、不改基本參數」的比特幣式保守設計。它的設計哲學不是追求高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TPS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，而是追求：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3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全節點（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full node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）人人都跑得起，去中心化程度高；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3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區塊不大 → 同步成本低 → 節點遍佈全球 → 想串改歷史就很難。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所以，低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TPS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其實是「去中心化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安全性優先」派對高擴充派說的一句話：我們不是做刷卡網，我們是做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『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抗審查的全球結算層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』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，慢沒關係，但要可信。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另外，這是早期簡化模型，</a:t>
            </a:r>
            <a:r>
              <a:rPr lang="zh-TW" altLang="en-US" sz="1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現今比特幣採用 </a:t>
            </a:r>
            <a:r>
              <a:rPr lang="en-US" altLang="zh-TW" sz="1600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SegWit</a:t>
            </a:r>
            <a:r>
              <a:rPr lang="en-US" altLang="zh-TW" sz="1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的區塊重量機制，實際 </a:t>
            </a:r>
            <a:r>
              <a:rPr lang="en-US" altLang="zh-TW" sz="1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TPS </a:t>
            </a:r>
            <a:r>
              <a:rPr lang="zh-TW" altLang="en-US" sz="1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並非固定值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49EC84-39B9-98EE-EBA2-B2A996839622}"/>
              </a:ext>
            </a:extLst>
          </p:cNvPr>
          <p:cNvSpPr txBox="1"/>
          <p:nvPr/>
        </p:nvSpPr>
        <p:spPr>
          <a:xfrm>
            <a:off x="153344" y="111472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主題一：比特幣塊大小（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 size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）限制與交易吞吐量問題</a:t>
            </a:r>
          </a:p>
        </p:txBody>
      </p:sp>
    </p:spTree>
    <p:extLst>
      <p:ext uri="{BB962C8B-B14F-4D97-AF65-F5344CB8AC3E}">
        <p14:creationId xmlns:p14="http://schemas.microsoft.com/office/powerpoint/2010/main" val="1057060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300538" y="699176"/>
            <a:ext cx="11285647" cy="6118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為什麼比特幣塊大小成為爭議？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區塊大小與交易容量成正比，擴大區塊理論上可一次處理更多交易，解決壅塞問題。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擴大區塊有技術與哲學層面的爭議：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800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儲存與傳輸負擔加重：大區塊增加節點儲存與網路傳輸負荷。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800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去中心化可能削弱：普通用戶難以運行全節點，導致節點集中化。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800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安全性疑慮：有些開發者擔心過快改變核心參數會產生漏洞。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社群因此分成兩派：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800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「大塊派」認為應提升區塊大小解決效能問題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800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「小塊派」主張維持現有設計，改用第二層方案如閃電網絡（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Lightning Network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  <a:endParaRPr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6A8F03C-645A-9D8A-1C7B-8600EE29AB06}"/>
              </a:ext>
            </a:extLst>
          </p:cNvPr>
          <p:cNvSpPr txBox="1"/>
          <p:nvPr/>
        </p:nvSpPr>
        <p:spPr>
          <a:xfrm>
            <a:off x="113589" y="39636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主題一：比特幣塊大小（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 size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）限制與交易吞吐量問題</a:t>
            </a:r>
          </a:p>
        </p:txBody>
      </p:sp>
    </p:spTree>
    <p:extLst>
      <p:ext uri="{BB962C8B-B14F-4D97-AF65-F5344CB8AC3E}">
        <p14:creationId xmlns:p14="http://schemas.microsoft.com/office/powerpoint/2010/main" val="1057375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7DF58-3832-92ED-6F1F-18FBEFD85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A1404CC-0A2B-9722-E205-BAF84598DD2F}"/>
              </a:ext>
            </a:extLst>
          </p:cNvPr>
          <p:cNvSpPr txBox="1"/>
          <p:nvPr/>
        </p:nvSpPr>
        <p:spPr>
          <a:xfrm>
            <a:off x="451954" y="1250407"/>
            <a:ext cx="9277035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大塊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vs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小塊的利弊比較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FD0698A-33AD-BD39-855A-1F3306100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257700"/>
              </p:ext>
            </p:extLst>
          </p:nvPr>
        </p:nvGraphicFramePr>
        <p:xfrm>
          <a:off x="616659" y="2043576"/>
          <a:ext cx="9174804" cy="4351338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450680">
                  <a:extLst>
                    <a:ext uri="{9D8B030D-6E8A-4147-A177-3AD203B41FA5}">
                      <a16:colId xmlns:a16="http://schemas.microsoft.com/office/drawing/2014/main" val="2949199782"/>
                    </a:ext>
                  </a:extLst>
                </a:gridCol>
                <a:gridCol w="3862062">
                  <a:extLst>
                    <a:ext uri="{9D8B030D-6E8A-4147-A177-3AD203B41FA5}">
                      <a16:colId xmlns:a16="http://schemas.microsoft.com/office/drawing/2014/main" val="1789408878"/>
                    </a:ext>
                  </a:extLst>
                </a:gridCol>
                <a:gridCol w="3862062">
                  <a:extLst>
                    <a:ext uri="{9D8B030D-6E8A-4147-A177-3AD203B41FA5}">
                      <a16:colId xmlns:a16="http://schemas.microsoft.com/office/drawing/2014/main" val="3201651051"/>
                    </a:ext>
                  </a:extLst>
                </a:gridCol>
              </a:tblGrid>
              <a:tr h="5022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觀點</a:t>
                      </a:r>
                      <a:endParaRPr lang="zh-TW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大塊（</a:t>
                      </a:r>
                      <a:r>
                        <a:rPr 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Larger Blocks）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小塊（</a:t>
                      </a:r>
                      <a:r>
                        <a:rPr lang="en-US" sz="20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Smaller Blocks）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6153041"/>
                  </a:ext>
                </a:extLst>
              </a:tr>
              <a:tr h="8368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優點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提高吞吐量</a:t>
                      </a:r>
                      <a:r>
                        <a:rPr lang="en-US" altLang="zh-TW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 </a:t>
                      </a: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降低交易等待與手續費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降低節點負擔</a:t>
                      </a:r>
                      <a:r>
                        <a:rPr lang="en-US" altLang="zh-TW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 </a:t>
                      </a: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維持高去中心化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32500373"/>
                  </a:ext>
                </a:extLst>
              </a:tr>
              <a:tr h="10039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缺點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提高硬體門檻與同步延遲</a:t>
                      </a:r>
                      <a:r>
                        <a:rPr lang="en-US" altLang="zh-TW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 </a:t>
                      </a: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易中央化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TPS </a:t>
                      </a: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增加困難</a:t>
                      </a:r>
                      <a:r>
                        <a:rPr lang="en-US" altLang="zh-TW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 </a:t>
                      </a: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容易交易壅塞與費用暴漲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1714598"/>
                  </a:ext>
                </a:extLst>
              </a:tr>
              <a:tr h="11714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代表方案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比特幣現金（</a:t>
                      </a:r>
                      <a:r>
                        <a:rPr 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Bitcoin Cash, BCH）</a:t>
                      </a: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比特幣原鏈（</a:t>
                      </a:r>
                      <a:r>
                        <a:rPr lang="en-US" altLang="zh-TW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BTC</a:t>
                      </a: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r>
                        <a:rPr lang="en-US" altLang="zh-TW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 </a:t>
                      </a: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閃電網絡等第二層解決方案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0447383"/>
                  </a:ext>
                </a:extLst>
              </a:tr>
              <a:tr h="8368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價值觀反映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著重「效能與可用性」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著重「去中心化與穩定性」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892" marR="3892" marT="38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6197958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7D8F085E-E1E0-A536-D93A-65E0636AB418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主題一：比特幣塊大小（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 size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）限制與交易吞吐量問題</a:t>
            </a:r>
          </a:p>
        </p:txBody>
      </p:sp>
    </p:spTree>
    <p:extLst>
      <p:ext uri="{BB962C8B-B14F-4D97-AF65-F5344CB8AC3E}">
        <p14:creationId xmlns:p14="http://schemas.microsoft.com/office/powerpoint/2010/main" val="3389627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6EAFC-EC30-B330-A965-AA192A887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683F8D2-FE19-65BF-F5CF-208B9037A94F}"/>
              </a:ext>
            </a:extLst>
          </p:cNvPr>
          <p:cNvSpPr txBox="1"/>
          <p:nvPr/>
        </p:nvSpPr>
        <p:spPr>
          <a:xfrm>
            <a:off x="344044" y="969775"/>
            <a:ext cx="9277035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比特幣擴展爭議簡易時間線（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2009–2017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4D5DA49-70EF-B1E4-83CC-55A0CCECF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220053"/>
              </p:ext>
            </p:extLst>
          </p:nvPr>
        </p:nvGraphicFramePr>
        <p:xfrm>
          <a:off x="772413" y="1810717"/>
          <a:ext cx="8848666" cy="4350131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720890">
                  <a:extLst>
                    <a:ext uri="{9D8B030D-6E8A-4147-A177-3AD203B41FA5}">
                      <a16:colId xmlns:a16="http://schemas.microsoft.com/office/drawing/2014/main" val="2499810661"/>
                    </a:ext>
                  </a:extLst>
                </a:gridCol>
                <a:gridCol w="7127776">
                  <a:extLst>
                    <a:ext uri="{9D8B030D-6E8A-4147-A177-3AD203B41FA5}">
                      <a16:colId xmlns:a16="http://schemas.microsoft.com/office/drawing/2014/main" val="2032866451"/>
                    </a:ext>
                  </a:extLst>
                </a:gridCol>
              </a:tblGrid>
              <a:tr h="359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年份</a:t>
                      </a:r>
                      <a:endParaRPr lang="zh-TW" altLang="en-US" sz="20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177" marR="1177" marT="117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事件與發展</a:t>
                      </a:r>
                      <a:endParaRPr lang="zh-TW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177" marR="1177" marT="117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439745"/>
                  </a:ext>
                </a:extLst>
              </a:tr>
              <a:tr h="7687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2000" u="none" strike="noStrike">
                          <a:effectLst/>
                        </a:rPr>
                        <a:t>2009</a:t>
                      </a:r>
                      <a:endParaRPr lang="en-US" altLang="zh-TW" sz="20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177" marR="1177" marT="117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中本聰發佈比特幣白皮書，比特幣誕生，區塊大小設為 </a:t>
                      </a:r>
                      <a:r>
                        <a:rPr lang="en-US" altLang="zh-TW" sz="2000" u="none" strike="noStrike" dirty="0">
                          <a:effectLst/>
                        </a:rPr>
                        <a:t>1MB</a:t>
                      </a:r>
                      <a:r>
                        <a:rPr lang="zh-TW" altLang="en-US" sz="2000" u="none" strike="noStrike" dirty="0">
                          <a:effectLst/>
                        </a:rPr>
                        <a:t>，作為防止垃圾交易的暫時性設計。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177" marR="1177" marT="117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77410"/>
                  </a:ext>
                </a:extLst>
              </a:tr>
              <a:tr h="7687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2000" u="none" strike="noStrike">
                          <a:effectLst/>
                        </a:rPr>
                        <a:t>2013–2015</a:t>
                      </a:r>
                      <a:endParaRPr lang="en-US" altLang="zh-TW" sz="20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177" marR="1177" marT="117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社群開始注意到交易量增加、區塊擁擠問題，提出調高區塊大小的呼聲，開發者分歧加劇。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177" marR="1177" marT="117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831928"/>
                  </a:ext>
                </a:extLst>
              </a:tr>
              <a:tr h="905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2000" u="none" strike="noStrike" dirty="0">
                          <a:effectLst/>
                        </a:rPr>
                        <a:t>2016</a:t>
                      </a:r>
                      <a:endParaRPr lang="en-US" altLang="zh-TW" sz="20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177" marR="1177" marT="117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「Bitcoin Classic」、「Bitcoin Unlimited」</a:t>
                      </a:r>
                      <a:r>
                        <a:rPr lang="zh-TW" altLang="en-US" sz="2000" u="none" strike="noStrike" dirty="0">
                          <a:effectLst/>
                        </a:rPr>
                        <a:t>等支持大塊提案出現，引起激烈辯論；核心開發者偏向保守策略，主推 </a:t>
                      </a:r>
                      <a:r>
                        <a:rPr lang="en-US" sz="2000" u="none" strike="noStrike" dirty="0" err="1">
                          <a:effectLst/>
                        </a:rPr>
                        <a:t>SegWit</a:t>
                      </a:r>
                      <a:r>
                        <a:rPr lang="en-US" sz="2000" u="none" strike="noStrike" dirty="0">
                          <a:effectLst/>
                        </a:rPr>
                        <a:t>（</a:t>
                      </a:r>
                      <a:r>
                        <a:rPr lang="zh-TW" altLang="en-US" sz="2000" u="none" strike="noStrike" dirty="0">
                          <a:effectLst/>
                        </a:rPr>
                        <a:t>隔離見證） 為提升效率的替代方案。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177" marR="1177" marT="117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219272"/>
                  </a:ext>
                </a:extLst>
              </a:tr>
              <a:tr h="7687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2000" u="none" strike="noStrike" dirty="0">
                          <a:effectLst/>
                        </a:rPr>
                        <a:t>2017 </a:t>
                      </a:r>
                      <a:r>
                        <a:rPr lang="zh-TW" altLang="en-US" sz="2000" u="none" strike="noStrike" dirty="0">
                          <a:effectLst/>
                        </a:rPr>
                        <a:t>上半年</a:t>
                      </a:r>
                      <a:endParaRPr lang="zh-TW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177" marR="1177" marT="117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「</a:t>
                      </a:r>
                      <a:r>
                        <a:rPr lang="en-US" altLang="zh-TW" sz="2000" u="none" strike="noStrike">
                          <a:effectLst/>
                        </a:rPr>
                        <a:t>SegWit2x</a:t>
                      </a:r>
                      <a:r>
                        <a:rPr lang="zh-TW" altLang="en-US" sz="2000" u="none" strike="noStrike">
                          <a:effectLst/>
                        </a:rPr>
                        <a:t>」作為妥協方案提出，允許先導入 </a:t>
                      </a:r>
                      <a:r>
                        <a:rPr lang="en-US" altLang="zh-TW" sz="2000" u="none" strike="noStrike">
                          <a:effectLst/>
                        </a:rPr>
                        <a:t>SegWit</a:t>
                      </a:r>
                      <a:r>
                        <a:rPr lang="zh-TW" altLang="en-US" sz="2000" u="none" strike="noStrike">
                          <a:effectLst/>
                        </a:rPr>
                        <a:t>，再提升區塊大小至 </a:t>
                      </a:r>
                      <a:r>
                        <a:rPr lang="en-US" altLang="zh-TW" sz="2000" u="none" strike="noStrike">
                          <a:effectLst/>
                        </a:rPr>
                        <a:t>2MB</a:t>
                      </a:r>
                      <a:r>
                        <a:rPr lang="zh-TW" altLang="en-US" sz="2000" u="none" strike="noStrike">
                          <a:effectLst/>
                        </a:rPr>
                        <a:t>；但遭到反對派抵制。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177" marR="1177" marT="117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484837"/>
                  </a:ext>
                </a:extLst>
              </a:tr>
              <a:tr h="7687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2000" u="none" strike="noStrike" dirty="0">
                          <a:effectLst/>
                        </a:rPr>
                        <a:t>2017 </a:t>
                      </a:r>
                      <a:r>
                        <a:rPr lang="zh-TW" altLang="en-US" sz="2000" u="none" strike="noStrike" dirty="0">
                          <a:effectLst/>
                        </a:rPr>
                        <a:t>年</a:t>
                      </a:r>
                      <a:r>
                        <a:rPr lang="en-US" altLang="zh-TW" sz="2000" u="none" strike="noStrike" dirty="0">
                          <a:effectLst/>
                        </a:rPr>
                        <a:t>8</a:t>
                      </a:r>
                      <a:r>
                        <a:rPr lang="zh-TW" altLang="en-US" sz="2000" u="none" strike="noStrike" dirty="0">
                          <a:effectLst/>
                        </a:rPr>
                        <a:t>月</a:t>
                      </a:r>
                      <a:r>
                        <a:rPr lang="en-US" altLang="zh-TW" sz="2000" u="none" strike="noStrike" dirty="0">
                          <a:effectLst/>
                        </a:rPr>
                        <a:t>1</a:t>
                      </a:r>
                      <a:r>
                        <a:rPr lang="zh-TW" altLang="en-US" sz="2000" u="none" strike="noStrike" dirty="0">
                          <a:effectLst/>
                        </a:rPr>
                        <a:t>日</a:t>
                      </a:r>
                      <a:endParaRPr lang="zh-TW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177" marR="1177" marT="117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區塊鏈正式硬分叉，誕生 </a:t>
                      </a:r>
                      <a:r>
                        <a:rPr lang="en-US" altLang="zh-TW" sz="2000" u="none" strike="noStrike" dirty="0">
                          <a:effectLst/>
                        </a:rPr>
                        <a:t>Bitcoin Cash (BCH)</a:t>
                      </a:r>
                      <a:r>
                        <a:rPr lang="zh-TW" altLang="en-US" sz="2000" u="none" strike="noStrike" dirty="0">
                          <a:effectLst/>
                        </a:rPr>
                        <a:t>，區塊大小由 </a:t>
                      </a:r>
                      <a:r>
                        <a:rPr lang="en-US" altLang="zh-TW" sz="2000" u="none" strike="noStrike" dirty="0">
                          <a:effectLst/>
                        </a:rPr>
                        <a:t>1MB </a:t>
                      </a:r>
                      <a:r>
                        <a:rPr lang="zh-TW" altLang="en-US" sz="2000" u="none" strike="noStrike" dirty="0">
                          <a:effectLst/>
                        </a:rPr>
                        <a:t>提升至 </a:t>
                      </a:r>
                      <a:r>
                        <a:rPr lang="en-US" altLang="zh-TW" sz="2000" u="none" strike="noStrike" dirty="0">
                          <a:effectLst/>
                        </a:rPr>
                        <a:t>8MB</a:t>
                      </a:r>
                      <a:r>
                        <a:rPr lang="zh-TW" altLang="en-US" sz="2000" u="none" strike="noStrike" dirty="0">
                          <a:effectLst/>
                        </a:rPr>
                        <a:t>，標誌著擴展之爭無共識、社群分裂。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177" marR="1177" marT="117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646664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1DBF377-5169-430D-EB3F-8A767B0E89A0}"/>
              </a:ext>
            </a:extLst>
          </p:cNvPr>
          <p:cNvSpPr txBox="1"/>
          <p:nvPr/>
        </p:nvSpPr>
        <p:spPr>
          <a:xfrm>
            <a:off x="136306" y="247761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主題一：比特幣塊大小（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 size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）限制與交易吞吐量問題</a:t>
            </a:r>
          </a:p>
        </p:txBody>
      </p:sp>
    </p:spTree>
    <p:extLst>
      <p:ext uri="{BB962C8B-B14F-4D97-AF65-F5344CB8AC3E}">
        <p14:creationId xmlns:p14="http://schemas.microsoft.com/office/powerpoint/2010/main" val="2088983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7DBF8-FE5F-66B3-8765-C0163EDD9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56D0F12-C622-B769-010C-2E8137D6D3FE}"/>
              </a:ext>
            </a:extLst>
          </p:cNvPr>
          <p:cNvSpPr txBox="1"/>
          <p:nvPr/>
        </p:nvSpPr>
        <p:spPr>
          <a:xfrm>
            <a:off x="1584582" y="1827388"/>
            <a:ext cx="8172804" cy="2794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小結：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這場爭議也顯示出「鏈下治理機制」在共識破裂時的脆弱性。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同時引出「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IFO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Initial Fork Offering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）」主題的探討與「治理機制」如何因擴展爭議而走入歷史關鍵點。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2844369-4B42-C07F-0210-6262B00A2AC7}"/>
              </a:ext>
            </a:extLst>
          </p:cNvPr>
          <p:cNvSpPr txBox="1"/>
          <p:nvPr/>
        </p:nvSpPr>
        <p:spPr>
          <a:xfrm>
            <a:off x="136306" y="86114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主題一：比特幣塊大小（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 size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）限制與交易吞吐量問題</a:t>
            </a:r>
          </a:p>
        </p:txBody>
      </p:sp>
    </p:spTree>
    <p:extLst>
      <p:ext uri="{BB962C8B-B14F-4D97-AF65-F5344CB8AC3E}">
        <p14:creationId xmlns:p14="http://schemas.microsoft.com/office/powerpoint/2010/main" val="4042438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CB0FF-C025-5D86-98F4-756C16C14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EAEE6FA-5832-4104-39EF-1E604792CA8E}"/>
              </a:ext>
            </a:extLst>
          </p:cNvPr>
          <p:cNvSpPr txBox="1"/>
          <p:nvPr/>
        </p:nvSpPr>
        <p:spPr>
          <a:xfrm>
            <a:off x="948476" y="1324241"/>
            <a:ext cx="8985683" cy="168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支持大塊（</a:t>
            </a:r>
            <a:r>
              <a:rPr lang="en-US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larger blocks</a:t>
            </a: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）派與支持維持小塊且用第二層方案（如 </a:t>
            </a:r>
            <a:r>
              <a:rPr lang="en-US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Lightning Network</a:t>
            </a: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）派之間的爭論。</a:t>
            </a:r>
            <a:endParaRPr lang="en-US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/>
              <a:t>擴展爭論的雙方觀點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2341313-1067-656B-5AF2-5356FAB6A6B4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主題二：支持大塊派與支持維持小塊之間的爭論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6B3D079-224C-E1E6-17DA-65861DC4D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963048"/>
              </p:ext>
            </p:extLst>
          </p:nvPr>
        </p:nvGraphicFramePr>
        <p:xfrm>
          <a:off x="948476" y="3084563"/>
          <a:ext cx="8598769" cy="2080961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846247">
                  <a:extLst>
                    <a:ext uri="{9D8B030D-6E8A-4147-A177-3AD203B41FA5}">
                      <a16:colId xmlns:a16="http://schemas.microsoft.com/office/drawing/2014/main" val="3067407955"/>
                    </a:ext>
                  </a:extLst>
                </a:gridCol>
                <a:gridCol w="3876261">
                  <a:extLst>
                    <a:ext uri="{9D8B030D-6E8A-4147-A177-3AD203B41FA5}">
                      <a16:colId xmlns:a16="http://schemas.microsoft.com/office/drawing/2014/main" val="755536548"/>
                    </a:ext>
                  </a:extLst>
                </a:gridCol>
                <a:gridCol w="3876261">
                  <a:extLst>
                    <a:ext uri="{9D8B030D-6E8A-4147-A177-3AD203B41FA5}">
                      <a16:colId xmlns:a16="http://schemas.microsoft.com/office/drawing/2014/main" val="362037626"/>
                    </a:ext>
                  </a:extLst>
                </a:gridCol>
              </a:tblGrid>
              <a:tr h="2669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陣營</a:t>
                      </a:r>
                      <a:endParaRPr lang="zh-TW" altLang="en-US" sz="20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主張</a:t>
                      </a:r>
                      <a:endParaRPr lang="zh-TW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代表方案</a:t>
                      </a:r>
                      <a:r>
                        <a:rPr lang="en-US" altLang="zh-TW" sz="20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20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人物</a:t>
                      </a:r>
                      <a:endParaRPr lang="zh-TW" altLang="en-US" sz="20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893896"/>
                  </a:ext>
                </a:extLst>
              </a:tr>
              <a:tr h="8856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大塊派</a:t>
                      </a:r>
                      <a:endParaRPr lang="zh-TW" altLang="en-US" sz="20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提高區塊大小上限，擴充吞吐量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Bitcoin Cash (BCH)、Bitcoin </a:t>
                      </a:r>
                      <a:r>
                        <a:rPr lang="en-US" sz="2000" u="none" strike="noStrike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Unlimited、Roger</a:t>
                      </a:r>
                      <a:r>
                        <a:rPr 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Ver </a:t>
                      </a: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285802"/>
                  </a:ext>
                </a:extLst>
              </a:tr>
              <a:tr h="8856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小塊派</a:t>
                      </a:r>
                      <a:endParaRPr lang="zh-TW" altLang="en-US" sz="20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維持小區塊，透過第二層解決交易速度問題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Bitcoin </a:t>
                      </a:r>
                      <a:r>
                        <a:rPr lang="en-US" sz="2000" u="none" strike="noStrike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Core（BTC</a:t>
                      </a:r>
                      <a:r>
                        <a:rPr 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）、Lightning </a:t>
                      </a:r>
                      <a:r>
                        <a:rPr lang="en-US" sz="2000" u="none" strike="noStrike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Network、Blockstream</a:t>
                      </a:r>
                      <a:r>
                        <a:rPr 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altLang="en-US" sz="20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90465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CFC4F7E2-4DEC-5E37-F114-83CE7E3AD6B6}"/>
              </a:ext>
            </a:extLst>
          </p:cNvPr>
          <p:cNvSpPr txBox="1"/>
          <p:nvPr/>
        </p:nvSpPr>
        <p:spPr>
          <a:xfrm>
            <a:off x="948476" y="5195333"/>
            <a:ext cx="8808911" cy="1420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大塊派認為：立即擴容才能解決交易擁塞、降低手續費，讓比特幣走向日常支付用途。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小塊派認為：盲目擴容會損害去中心化與節點運行平等，應改用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Layer 2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082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530BF-5C75-835D-89F3-FEDDEA3DC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C32C851-BAF7-E1ED-8CD6-4C3D1C0FDFD8}"/>
              </a:ext>
            </a:extLst>
          </p:cNvPr>
          <p:cNvSpPr txBox="1"/>
          <p:nvPr/>
        </p:nvSpPr>
        <p:spPr>
          <a:xfrm>
            <a:off x="588262" y="1441175"/>
            <a:ext cx="9277035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大塊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vs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小塊的技術與理念比較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FE45477-9061-0150-9827-FD825CC34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301845"/>
              </p:ext>
            </p:extLst>
          </p:nvPr>
        </p:nvGraphicFramePr>
        <p:xfrm>
          <a:off x="948476" y="2316192"/>
          <a:ext cx="8581729" cy="4351337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2038943">
                  <a:extLst>
                    <a:ext uri="{9D8B030D-6E8A-4147-A177-3AD203B41FA5}">
                      <a16:colId xmlns:a16="http://schemas.microsoft.com/office/drawing/2014/main" val="410992104"/>
                    </a:ext>
                  </a:extLst>
                </a:gridCol>
                <a:gridCol w="3271393">
                  <a:extLst>
                    <a:ext uri="{9D8B030D-6E8A-4147-A177-3AD203B41FA5}">
                      <a16:colId xmlns:a16="http://schemas.microsoft.com/office/drawing/2014/main" val="1651144999"/>
                    </a:ext>
                  </a:extLst>
                </a:gridCol>
                <a:gridCol w="3271393">
                  <a:extLst>
                    <a:ext uri="{9D8B030D-6E8A-4147-A177-3AD203B41FA5}">
                      <a16:colId xmlns:a16="http://schemas.microsoft.com/office/drawing/2014/main" val="3455225657"/>
                    </a:ext>
                  </a:extLst>
                </a:gridCol>
              </a:tblGrid>
              <a:tr h="3783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項目</a:t>
                      </a:r>
                      <a:endParaRPr lang="zh-TW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大塊派觀點</a:t>
                      </a:r>
                      <a:endParaRPr lang="zh-TW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小塊派觀點</a:t>
                      </a:r>
                      <a:endParaRPr lang="zh-TW" altLang="en-US" sz="20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456543"/>
                  </a:ext>
                </a:extLst>
              </a:tr>
              <a:tr h="9932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區塊大小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擴大至 </a:t>
                      </a:r>
                      <a:r>
                        <a:rPr lang="en-US" altLang="zh-TW" sz="2000" u="none" strike="noStrike" dirty="0">
                          <a:effectLst/>
                        </a:rPr>
                        <a:t>8MB</a:t>
                      </a:r>
                      <a:r>
                        <a:rPr lang="zh-TW" altLang="en-US" sz="2000" u="none" strike="noStrike" dirty="0">
                          <a:effectLst/>
                        </a:rPr>
                        <a:t>、</a:t>
                      </a:r>
                      <a:r>
                        <a:rPr lang="en-US" altLang="zh-TW" sz="2000" u="none" strike="noStrike" dirty="0">
                          <a:effectLst/>
                        </a:rPr>
                        <a:t>32MB</a:t>
                      </a:r>
                      <a:r>
                        <a:rPr lang="zh-TW" altLang="en-US" sz="2000" u="none" strike="noStrike" dirty="0">
                          <a:effectLst/>
                        </a:rPr>
                        <a:t>，甚至不限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維持 </a:t>
                      </a:r>
                      <a:r>
                        <a:rPr lang="en-US" altLang="zh-TW" sz="2000" u="none" strike="noStrike">
                          <a:effectLst/>
                        </a:rPr>
                        <a:t>1MB </a:t>
                      </a:r>
                      <a:r>
                        <a:rPr lang="zh-TW" altLang="en-US" sz="2000" u="none" strike="noStrike">
                          <a:effectLst/>
                        </a:rPr>
                        <a:t>為基礎，透過 </a:t>
                      </a:r>
                      <a:r>
                        <a:rPr lang="en-US" altLang="zh-TW" sz="2000" u="none" strike="noStrike">
                          <a:effectLst/>
                        </a:rPr>
                        <a:t>SegWit </a:t>
                      </a:r>
                      <a:r>
                        <a:rPr lang="zh-TW" altLang="en-US" sz="2000" u="none" strike="noStrike">
                          <a:effectLst/>
                        </a:rPr>
                        <a:t>精簡結構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627224"/>
                  </a:ext>
                </a:extLst>
              </a:tr>
              <a:tr h="9932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交易速度與費用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更快、更便宜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需搭配 </a:t>
                      </a:r>
                      <a:r>
                        <a:rPr lang="en-US" sz="2000" u="none" strike="noStrike">
                          <a:effectLst/>
                        </a:rPr>
                        <a:t>Lightning Network </a:t>
                      </a:r>
                      <a:r>
                        <a:rPr lang="zh-TW" altLang="en-US" sz="2000" u="none" strike="noStrike">
                          <a:effectLst/>
                        </a:rPr>
                        <a:t>實現低費用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936529"/>
                  </a:ext>
                </a:extLst>
              </a:tr>
              <a:tr h="9932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節點門檻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增加硬體需求，降低參與門檻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保持節點輕量化，保障去中心化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6064220"/>
                  </a:ext>
                </a:extLst>
              </a:tr>
              <a:tr h="9932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安全與治理理念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實用優先，強調效率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價值導向，強調穩定與安全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399" marR="4399" marT="439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6239131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5FC0F639-BDDE-6DF5-8300-A373ECD2E9DD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主題二：支持大塊派與支持維持小塊之間的爭論</a:t>
            </a:r>
          </a:p>
        </p:txBody>
      </p:sp>
    </p:spTree>
    <p:extLst>
      <p:ext uri="{BB962C8B-B14F-4D97-AF65-F5344CB8AC3E}">
        <p14:creationId xmlns:p14="http://schemas.microsoft.com/office/powerpoint/2010/main" val="2180262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2156E-6BCC-7BCF-E938-7AE986207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75264E1-5E0A-2F8B-C2CC-9E1DA90A29E1}"/>
              </a:ext>
            </a:extLst>
          </p:cNvPr>
          <p:cNvSpPr txBox="1"/>
          <p:nvPr/>
        </p:nvSpPr>
        <p:spPr>
          <a:xfrm>
            <a:off x="550909" y="994830"/>
            <a:ext cx="8985683" cy="5564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硬分叉 </a:t>
            </a:r>
            <a:r>
              <a:rPr lang="en-US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(hard fork)</a:t>
            </a: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、如比特幣現金 </a:t>
            </a:r>
            <a:r>
              <a:rPr lang="en-US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(Bitcoin Cash) </a:t>
            </a: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的誕生作為擴展爭議的實例。</a:t>
            </a:r>
            <a:endParaRPr lang="en-US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/>
              <a:t>爭論結果與硬分叉實例</a:t>
            </a:r>
            <a:endParaRPr lang="en-US" altLang="zh-TW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爭論未能達成共識 → 社群分裂 →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2017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年硬分叉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200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誕生「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Bitcoin Cash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」：區塊大小提高至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8MB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，主打快速支付、低手續費。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200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Bitcoin Core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」維持原鏈，啟用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SegWit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+ Lightning Network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作為擴容解法。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價值觀衝突：效能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大塊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vs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去中心化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小塊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，是區塊鏈發展的長期張力。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66284C4-912D-C880-0871-67B672F951A6}"/>
              </a:ext>
            </a:extLst>
          </p:cNvPr>
          <p:cNvSpPr txBox="1"/>
          <p:nvPr/>
        </p:nvSpPr>
        <p:spPr>
          <a:xfrm>
            <a:off x="153344" y="335290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主題三：硬分叉、比特幣現金之擴展爭議的實例</a:t>
            </a:r>
          </a:p>
        </p:txBody>
      </p:sp>
    </p:spTree>
    <p:extLst>
      <p:ext uri="{BB962C8B-B14F-4D97-AF65-F5344CB8AC3E}">
        <p14:creationId xmlns:p14="http://schemas.microsoft.com/office/powerpoint/2010/main" val="3520060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6D615-97D1-D398-25A4-A1801C44F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EC7E90F-42A8-90AE-4AD2-2870F263D49B}"/>
              </a:ext>
            </a:extLst>
          </p:cNvPr>
          <p:cNvSpPr txBox="1"/>
          <p:nvPr/>
        </p:nvSpPr>
        <p:spPr>
          <a:xfrm>
            <a:off x="556590" y="414085"/>
            <a:ext cx="9399577" cy="334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比特幣區塊大小爭議的核心問題是什麼？</a:t>
            </a:r>
            <a:br>
              <a:rPr lang="zh-TW" altLang="en-US" sz="2400" b="1" dirty="0"/>
            </a:br>
            <a:r>
              <a:rPr lang="en-US" altLang="zh-TW" sz="2400" dirty="0"/>
              <a:t>A. </a:t>
            </a:r>
            <a:r>
              <a:rPr lang="zh-TW" altLang="en-US" sz="2400" dirty="0"/>
              <a:t>區塊獎勵太少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B. </a:t>
            </a:r>
            <a:r>
              <a:rPr lang="zh-TW" altLang="en-US" sz="2400" dirty="0"/>
              <a:t>區塊大小限制處理交易的能力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C. </a:t>
            </a:r>
            <a:r>
              <a:rPr lang="zh-TW" altLang="en-US" sz="2400" dirty="0"/>
              <a:t>區塊鏈無法保存圖片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D. </a:t>
            </a:r>
            <a:r>
              <a:rPr lang="zh-TW" altLang="en-US" sz="2400" dirty="0"/>
              <a:t>挖礦速度太快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6026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C71DB-89F7-9DD7-2465-227EEDC53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61A45C7-8E74-349E-F287-22EAC8E0ED67}"/>
              </a:ext>
            </a:extLst>
          </p:cNvPr>
          <p:cNvSpPr txBox="1"/>
          <p:nvPr/>
        </p:nvSpPr>
        <p:spPr>
          <a:xfrm>
            <a:off x="556590" y="414085"/>
            <a:ext cx="9399577" cy="445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比特幣區塊大小爭議的核心問題是什麼？</a:t>
            </a:r>
            <a:br>
              <a:rPr lang="zh-TW" altLang="en-US" sz="2400" b="1" dirty="0"/>
            </a:br>
            <a:r>
              <a:rPr lang="en-US" altLang="zh-TW" sz="2400" dirty="0"/>
              <a:t>A. </a:t>
            </a:r>
            <a:r>
              <a:rPr lang="zh-TW" altLang="en-US" sz="2400" dirty="0"/>
              <a:t>區塊獎勵太少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B. </a:t>
            </a:r>
            <a:r>
              <a:rPr lang="zh-TW" altLang="en-US" sz="2400" dirty="0"/>
              <a:t>區塊大小限制處理交易的能力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C. </a:t>
            </a:r>
            <a:r>
              <a:rPr lang="zh-TW" altLang="en-US" sz="2400" dirty="0"/>
              <a:t>區塊鏈無法保存圖片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D. </a:t>
            </a:r>
            <a:r>
              <a:rPr lang="zh-TW" altLang="en-US" sz="2400" dirty="0"/>
              <a:t>挖礦速度太快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000" dirty="0">
                <a:solidFill>
                  <a:srgbClr val="FF0000"/>
                </a:solidFill>
              </a:rPr>
              <a:t>正解：</a:t>
            </a:r>
            <a:r>
              <a:rPr lang="en-US" altLang="zh-TW" sz="2000" dirty="0">
                <a:solidFill>
                  <a:srgbClr val="FF0000"/>
                </a:solidFill>
              </a:rPr>
              <a:t>B</a:t>
            </a:r>
            <a:endParaRPr lang="en-US" altLang="zh-TW" sz="2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1930EC4-FC7D-484B-C354-AF5A038658EA}"/>
              </a:ext>
            </a:extLst>
          </p:cNvPr>
          <p:cNvSpPr txBox="1"/>
          <p:nvPr/>
        </p:nvSpPr>
        <p:spPr>
          <a:xfrm>
            <a:off x="10400267" y="979828"/>
            <a:ext cx="1700141" cy="1132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比特幣之發展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95704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0EE01-3366-7058-9D25-6FDD1197C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E55F394-62F1-6073-5ADF-46571D1882D1}"/>
              </a:ext>
            </a:extLst>
          </p:cNvPr>
          <p:cNvSpPr txBox="1"/>
          <p:nvPr/>
        </p:nvSpPr>
        <p:spPr>
          <a:xfrm>
            <a:off x="556590" y="414085"/>
            <a:ext cx="9399577" cy="279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提高區塊大小可增加每秒交易處理量，但也可能減少節點的去中心化？</a:t>
            </a:r>
            <a:br>
              <a:rPr lang="zh-TW" altLang="en-US" sz="2400" b="1" dirty="0"/>
            </a:br>
            <a:r>
              <a:rPr lang="en-US" altLang="zh-TW" sz="2400" dirty="0">
                <a:sym typeface="Wingdings 2" panose="05020102010507070707" pitchFamily="18" charset="2"/>
              </a:rPr>
              <a:t> </a:t>
            </a:r>
            <a:r>
              <a:rPr lang="zh-TW" altLang="en-US" sz="2400" dirty="0">
                <a:sym typeface="Wingdings 2" panose="05020102010507070707" pitchFamily="18" charset="2"/>
              </a:rPr>
              <a:t>是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zh-TW" altLang="en-US" sz="2400" dirty="0">
                <a:sym typeface="Wingdings 2" panose="05020102010507070707" pitchFamily="18" charset="2"/>
              </a:rPr>
              <a:t></a:t>
            </a:r>
            <a:r>
              <a:rPr lang="zh-TW" altLang="en-US" sz="2400" dirty="0"/>
              <a:t> 否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330027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F8034-4E5F-7B9A-635C-E463A93E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D2BCEC9-3DD5-818D-AA4E-8A3119652B5D}"/>
              </a:ext>
            </a:extLst>
          </p:cNvPr>
          <p:cNvSpPr txBox="1"/>
          <p:nvPr/>
        </p:nvSpPr>
        <p:spPr>
          <a:xfrm>
            <a:off x="556590" y="414085"/>
            <a:ext cx="9399577" cy="3902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提高區塊大小可增加每秒交易處理量，但也可能減少節點的去中心化？</a:t>
            </a:r>
            <a:br>
              <a:rPr lang="zh-TW" altLang="en-US" sz="2400" b="1" dirty="0"/>
            </a:br>
            <a:r>
              <a:rPr lang="en-US" altLang="zh-TW" sz="2400" dirty="0">
                <a:sym typeface="Wingdings 2" panose="05020102010507070707" pitchFamily="18" charset="2"/>
              </a:rPr>
              <a:t> </a:t>
            </a:r>
            <a:r>
              <a:rPr lang="zh-TW" altLang="en-US" sz="2400" dirty="0">
                <a:sym typeface="Wingdings 2" panose="05020102010507070707" pitchFamily="18" charset="2"/>
              </a:rPr>
              <a:t>是</a:t>
            </a:r>
            <a:endParaRPr lang="en-US" altLang="zh-TW" sz="2400" dirty="0"/>
          </a:p>
          <a:p>
            <a:pPr marL="702900" indent="-342900">
              <a:lnSpc>
                <a:spcPct val="150000"/>
              </a:lnSpc>
              <a:buFont typeface="Wingdings 2" panose="05020102010507070707" pitchFamily="18" charset="2"/>
              <a:buChar char="*"/>
            </a:pPr>
            <a:r>
              <a:rPr lang="zh-TW" altLang="en-US" sz="2400" dirty="0"/>
              <a:t>否</a:t>
            </a:r>
            <a:endParaRPr lang="en-US" altLang="zh-TW" sz="2400" dirty="0"/>
          </a:p>
          <a:p>
            <a:pPr marL="702900" indent="-342900">
              <a:lnSpc>
                <a:spcPct val="150000"/>
              </a:lnSpc>
              <a:buFont typeface="Wingdings 2" panose="05020102010507070707" pitchFamily="18" charset="2"/>
              <a:buChar char="*"/>
            </a:pP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zh-TW" altLang="en-US" sz="2400" dirty="0">
                <a:solidFill>
                  <a:srgbClr val="FF0000"/>
                </a:solidFill>
              </a:rPr>
              <a:t>正解：是</a:t>
            </a:r>
            <a:endParaRPr lang="en-US" altLang="zh-TW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7608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B7C3-0C0D-5175-12DF-381647064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DA0BBF9-DFD0-7365-DE80-B4E68A4865BE}"/>
              </a:ext>
            </a:extLst>
          </p:cNvPr>
          <p:cNvSpPr txBox="1"/>
          <p:nvPr/>
        </p:nvSpPr>
        <p:spPr>
          <a:xfrm>
            <a:off x="556590" y="414085"/>
            <a:ext cx="9399577" cy="334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小塊派主要希望透過哪種技術擴展比特幣的交易能力？</a:t>
            </a:r>
            <a:br>
              <a:rPr lang="zh-TW" altLang="en-US" sz="2400" b="1" dirty="0"/>
            </a:br>
            <a:r>
              <a:rPr lang="en-US" altLang="zh-TW" sz="2400" dirty="0"/>
              <a:t>A. </a:t>
            </a:r>
            <a:r>
              <a:rPr lang="zh-TW" altLang="en-US" sz="2400" dirty="0"/>
              <a:t>區塊獎勵增加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B. </a:t>
            </a:r>
            <a:r>
              <a:rPr lang="zh-TW" altLang="en-US" sz="2400" dirty="0"/>
              <a:t>匯率穩定機制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C. Lightning Network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D. NFT </a:t>
            </a:r>
            <a:r>
              <a:rPr lang="zh-TW" altLang="en-US" sz="2400" dirty="0"/>
              <a:t>發行平台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9855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C77A8-9D2B-2C2D-6ECF-1EC431836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BD0DB24-4586-4709-52A6-52403EAC7401}"/>
              </a:ext>
            </a:extLst>
          </p:cNvPr>
          <p:cNvSpPr txBox="1"/>
          <p:nvPr/>
        </p:nvSpPr>
        <p:spPr>
          <a:xfrm>
            <a:off x="556590" y="414085"/>
            <a:ext cx="9399577" cy="4375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小塊派主要希望透過哪種技術擴展比特幣的交易能力？</a:t>
            </a:r>
            <a:br>
              <a:rPr lang="zh-TW" altLang="en-US" sz="2400" b="1" dirty="0"/>
            </a:br>
            <a:r>
              <a:rPr lang="en-US" altLang="zh-TW" sz="2400" dirty="0"/>
              <a:t>A. </a:t>
            </a:r>
            <a:r>
              <a:rPr lang="zh-TW" altLang="en-US" sz="2400" dirty="0"/>
              <a:t>區塊獎勵增加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B. </a:t>
            </a:r>
            <a:r>
              <a:rPr lang="zh-TW" altLang="en-US" sz="2400" dirty="0"/>
              <a:t>匯率穩定機制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C. Lightning Network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D. NFT </a:t>
            </a:r>
            <a:r>
              <a:rPr lang="zh-TW" altLang="en-US" sz="2400" dirty="0"/>
              <a:t>發行平台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000" dirty="0">
                <a:solidFill>
                  <a:srgbClr val="FF0000"/>
                </a:solidFill>
              </a:rPr>
              <a:t>正解：</a:t>
            </a:r>
            <a:r>
              <a:rPr lang="en-US" altLang="zh-TW" sz="2000" dirty="0">
                <a:solidFill>
                  <a:srgbClr val="FF0000"/>
                </a:solidFill>
              </a:rPr>
              <a:t>C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5072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ED1E6-A12C-7AD1-5A5C-7E3F9E923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963DEB5-B0C7-392A-6A76-8D9920E33BA3}"/>
              </a:ext>
            </a:extLst>
          </p:cNvPr>
          <p:cNvSpPr txBox="1"/>
          <p:nvPr/>
        </p:nvSpPr>
        <p:spPr>
          <a:xfrm>
            <a:off x="556590" y="414085"/>
            <a:ext cx="9399577" cy="334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哪一條比特幣分叉鏈是由大塊派支持者創建的？</a:t>
            </a:r>
            <a:br>
              <a:rPr lang="zh-TW" altLang="en-US" sz="2400" b="1" dirty="0"/>
            </a:br>
            <a:r>
              <a:rPr lang="en-US" altLang="zh-TW" sz="2400" dirty="0"/>
              <a:t>A. Ethereum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B. Bitcoin Cash (BCH)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C. Dogecoin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D. Litecoin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8306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6E7B0-32DA-D801-155D-8302601E3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5A9D2C0-2BEA-E952-6DDC-66D8A1A8E731}"/>
              </a:ext>
            </a:extLst>
          </p:cNvPr>
          <p:cNvSpPr txBox="1"/>
          <p:nvPr/>
        </p:nvSpPr>
        <p:spPr>
          <a:xfrm>
            <a:off x="556590" y="414085"/>
            <a:ext cx="9399577" cy="4375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哪一條比特幣分叉鏈是由大塊派支持者創建的？</a:t>
            </a:r>
            <a:br>
              <a:rPr lang="zh-TW" altLang="en-US" sz="2400" b="1" dirty="0"/>
            </a:br>
            <a:r>
              <a:rPr lang="en-US" altLang="zh-TW" sz="2400" dirty="0"/>
              <a:t>A. Ethereum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B. Bitcoin Cash (BCH)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C. Dogecoin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D. Litecoin</a:t>
            </a:r>
          </a:p>
          <a:p>
            <a:pPr marL="360000">
              <a:lnSpc>
                <a:spcPct val="150000"/>
              </a:lnSpc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000" dirty="0">
                <a:solidFill>
                  <a:srgbClr val="FF0000"/>
                </a:solidFill>
              </a:rPr>
              <a:t>正解：</a:t>
            </a:r>
            <a:r>
              <a:rPr lang="en-US" altLang="zh-TW" sz="2000" dirty="0">
                <a:solidFill>
                  <a:srgbClr val="FF0000"/>
                </a:solidFill>
              </a:rPr>
              <a:t>B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6312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0E7FF-FF13-0F83-BF18-F4AB065A3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B01533-B17F-101E-7687-C1A197E7C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668" y="647463"/>
            <a:ext cx="9819860" cy="770141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第二部分：</a:t>
            </a:r>
            <a:r>
              <a:rPr lang="en-US" altLang="zh-TW" sz="3200" dirty="0"/>
              <a:t>IFO (Initial Fork Offering) </a:t>
            </a:r>
            <a:r>
              <a:rPr lang="zh-TW" altLang="en-US" sz="3200" dirty="0"/>
              <a:t>與分叉現象</a:t>
            </a:r>
            <a:endParaRPr lang="en-US" sz="3200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0E53532D-C776-8FD8-8607-CEC2E47B7A6C}"/>
              </a:ext>
            </a:extLst>
          </p:cNvPr>
          <p:cNvSpPr txBox="1">
            <a:spLocks/>
          </p:cNvSpPr>
          <p:nvPr/>
        </p:nvSpPr>
        <p:spPr>
          <a:xfrm>
            <a:off x="1033670" y="1678862"/>
            <a:ext cx="9819859" cy="29992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</a:t>
            </a:r>
            <a:r>
              <a:rPr lang="zh-TW" altLang="en-US" dirty="0"/>
              <a:t>什麼是 </a:t>
            </a:r>
            <a:r>
              <a:rPr lang="en-US" altLang="zh-TW" dirty="0"/>
              <a:t>IFO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</a:t>
            </a:r>
            <a:r>
              <a:rPr lang="zh-TW" altLang="en-US" dirty="0"/>
              <a:t>以分叉或新鏈方式來募集或重啟的新幣方案</a:t>
            </a:r>
            <a:endParaRPr lang="en-US" altLang="zh-TW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主題三：分叉對區塊鏈治理、社群共識與技術路線的影響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3769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72872-EC56-5654-3495-A9534707A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3A4D1D5-F64F-CC3C-8822-FC6C065D68A9}"/>
              </a:ext>
            </a:extLst>
          </p:cNvPr>
          <p:cNvSpPr txBox="1"/>
          <p:nvPr/>
        </p:nvSpPr>
        <p:spPr>
          <a:xfrm>
            <a:off x="948476" y="1324241"/>
            <a:ext cx="8985683" cy="5010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/>
              <a:t>定義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400" dirty="0"/>
              <a:t>IFO</a:t>
            </a:r>
            <a:r>
              <a:rPr lang="zh-TW" altLang="en-US" sz="2400" dirty="0"/>
              <a:t>（</a:t>
            </a:r>
            <a:r>
              <a:rPr lang="en-US" altLang="zh-TW" sz="2400" dirty="0"/>
              <a:t>Initial Fork Offering</a:t>
            </a:r>
            <a:r>
              <a:rPr lang="zh-TW" altLang="en-US" sz="2400" dirty="0"/>
              <a:t>）是一種透過區塊鏈「硬分叉」來推出新加密貨幣的方式，使用者在分叉時，會根據原有幣（如 </a:t>
            </a:r>
            <a:r>
              <a:rPr lang="en-US" altLang="zh-TW" sz="2400" dirty="0"/>
              <a:t>BTC</a:t>
            </a:r>
            <a:r>
              <a:rPr lang="zh-TW" altLang="en-US" sz="2400" dirty="0"/>
              <a:t>）持幣數量，自動獲得新鏈上的幣（如 </a:t>
            </a:r>
            <a:r>
              <a:rPr lang="en-US" altLang="zh-TW" sz="2400" dirty="0"/>
              <a:t>BCH</a:t>
            </a:r>
            <a:r>
              <a:rPr lang="zh-TW" altLang="en-US" sz="2400" dirty="0"/>
              <a:t>）。</a:t>
            </a:r>
            <a:endParaRPr lang="en-US" altLang="zh-TW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IFO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特徵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不是「發行新幣」而是「複製帳本」創造分叉鏈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不需投資即可獲幣：用戶只要持有原鏈幣，即可按比例獲配新鏈幣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常作為團隊推廣新協議或價值主張的手段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本質是一種「技術＋治理」的社群分裂現象。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542A588-9742-AE97-6ECE-40E75148809B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主題一：什麼是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IFO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Initial Fork Offering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22648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5F609-D2EF-F5E7-1CB0-1D6F4115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1DE14AE-3940-D4B8-F7B4-8C899BA87020}"/>
              </a:ext>
            </a:extLst>
          </p:cNvPr>
          <p:cNvSpPr txBox="1"/>
          <p:nvPr/>
        </p:nvSpPr>
        <p:spPr>
          <a:xfrm>
            <a:off x="925758" y="1588675"/>
            <a:ext cx="8638525" cy="3348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IFO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實例：</a:t>
            </a: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Bitcoin Cash (BCH)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2017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年從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BTC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硬分叉，成為最知名的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IFO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案例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Bitcoin SV (BSV)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2018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年從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BCH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再次分叉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其他如：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Bitcoin Gold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Bitcoin Diamond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等皆屬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IFO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型產物</a:t>
            </a:r>
            <a:endParaRPr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2950991-D3C7-0DFE-0EDF-EEA629447E39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主題一：什麼是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IFO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Initial Fork Offering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41692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75C1F-F7CB-84AD-CF13-14A70F5B5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98885817-BF7F-D4A9-7099-C07AE46765EF}"/>
              </a:ext>
            </a:extLst>
          </p:cNvPr>
          <p:cNvSpPr txBox="1"/>
          <p:nvPr/>
        </p:nvSpPr>
        <p:spPr>
          <a:xfrm>
            <a:off x="406516" y="1539899"/>
            <a:ext cx="9277035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為何使用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IFO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？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1D2CEDC-DE76-B17D-418C-1419C3415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808207"/>
              </p:ext>
            </p:extLst>
          </p:nvPr>
        </p:nvGraphicFramePr>
        <p:xfrm>
          <a:off x="903038" y="2180702"/>
          <a:ext cx="8780513" cy="3402633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2138170">
                  <a:extLst>
                    <a:ext uri="{9D8B030D-6E8A-4147-A177-3AD203B41FA5}">
                      <a16:colId xmlns:a16="http://schemas.microsoft.com/office/drawing/2014/main" val="71044280"/>
                    </a:ext>
                  </a:extLst>
                </a:gridCol>
                <a:gridCol w="6642343">
                  <a:extLst>
                    <a:ext uri="{9D8B030D-6E8A-4147-A177-3AD203B41FA5}">
                      <a16:colId xmlns:a16="http://schemas.microsoft.com/office/drawing/2014/main" val="3072713349"/>
                    </a:ext>
                  </a:extLst>
                </a:gridCol>
              </a:tblGrid>
              <a:tr h="5275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動機類別</a:t>
                      </a:r>
                      <a:endParaRPr lang="zh-TW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373" marR="3373" marT="33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說明</a:t>
                      </a:r>
                      <a:endParaRPr lang="zh-TW" altLang="en-US" sz="20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373" marR="3373" marT="33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223162"/>
                  </a:ext>
                </a:extLst>
              </a:tr>
              <a:tr h="9583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技術理念差異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373" marR="3373" marT="33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不同派系對區塊大小、交易速度、安全性有不同主張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373" marR="3373" marT="33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50612"/>
                  </a:ext>
                </a:extLst>
              </a:tr>
              <a:tr h="9583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治理分歧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373" marR="3373" marT="33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無法在原鏈共識治理下通過提案，選擇以「分叉」開創新路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373" marR="3373" marT="33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054686"/>
                  </a:ext>
                </a:extLst>
              </a:tr>
              <a:tr h="9583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商業操作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373" marR="3373" marT="33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某些團隊利用分叉發幣吸引用戶注意，創造短期價值或炒作機會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373" marR="3373" marT="337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407032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1DEA0B40-EC0A-7BDE-2947-4E20163C7E33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主題一：什麼是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IFO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Initial Fork Offering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979510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DFB5-B239-8834-5BC4-609AEAAC9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CC46C6B-D30C-C7EF-C1A1-1024579D0B93}"/>
              </a:ext>
            </a:extLst>
          </p:cNvPr>
          <p:cNvSpPr txBox="1"/>
          <p:nvPr/>
        </p:nvSpPr>
        <p:spPr>
          <a:xfrm>
            <a:off x="925758" y="1480764"/>
            <a:ext cx="8638525" cy="5010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新鏈／分叉作為籌資方式：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Initial Fork Offering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IFO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IFO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不只是理念分歧的產物，也逐漸被當作一種創新型的幣圈募資模式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與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ICO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Initial Coin Offering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）不同，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IFO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不一定需要初始投資，而是根據原有幣持有比例發幣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若配合市場行銷、社群動員，也可創造極高關注度與幣值波動，達到類似募資效果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dirty="0">
                <a:solidFill>
                  <a:srgbClr val="FF0000"/>
                </a:solidFill>
              </a:rPr>
              <a:t>IFO </a:t>
            </a:r>
            <a:r>
              <a:rPr lang="zh-TW" altLang="en-US" sz="2400" dirty="0">
                <a:solidFill>
                  <a:srgbClr val="FF0000"/>
                </a:solidFill>
              </a:rPr>
              <a:t>主要是歷史性的分叉幣市場用語，硬分叉本身不代表一定能募集資金</a:t>
            </a:r>
            <a:endParaRPr lang="zh-TW" altLang="zh-TW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EC4203F-B3D0-3B50-8A21-EE7D5C06BE2A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主題二：以分叉或新鏈方式來募集或重啟的新幣方案</a:t>
            </a:r>
          </a:p>
        </p:txBody>
      </p:sp>
    </p:spTree>
    <p:extLst>
      <p:ext uri="{BB962C8B-B14F-4D97-AF65-F5344CB8AC3E}">
        <p14:creationId xmlns:p14="http://schemas.microsoft.com/office/powerpoint/2010/main" val="396599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84AE-B53E-3488-EE4B-D9722227A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E37A55C-0558-C53A-6D97-D90CE6DD2D31}"/>
              </a:ext>
            </a:extLst>
          </p:cNvPr>
          <p:cNvSpPr txBox="1"/>
          <p:nvPr/>
        </p:nvSpPr>
        <p:spPr>
          <a:xfrm>
            <a:off x="903040" y="1128635"/>
            <a:ext cx="8638525" cy="5564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分叉鏈的行銷與「空投效應」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IFO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的「空投」特性（原幣持有者自動獲配）具備：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促進社群擴散：降低用戶參與門檻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吸引炒作與交易所上架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利用原鏈聲譽進行包裝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範例：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BCH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上市初期即因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BTC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持有者獲得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1:1 BCH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，引發交易熱潮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BSV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透過「重啟比特幣原意」為號召，吸引特定價值觀支持者</a:t>
            </a:r>
            <a:endParaRPr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305639-45FE-44A4-B234-4DC37637A1A9}"/>
              </a:ext>
            </a:extLst>
          </p:cNvPr>
          <p:cNvSpPr txBox="1"/>
          <p:nvPr/>
        </p:nvSpPr>
        <p:spPr>
          <a:xfrm>
            <a:off x="130627" y="238738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主題二：以分叉或新鏈方式來募集或重啟的新幣方案</a:t>
            </a:r>
          </a:p>
        </p:txBody>
      </p:sp>
    </p:spTree>
    <p:extLst>
      <p:ext uri="{BB962C8B-B14F-4D97-AF65-F5344CB8AC3E}">
        <p14:creationId xmlns:p14="http://schemas.microsoft.com/office/powerpoint/2010/main" val="1101187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03D2C-4868-E173-DF09-3A2A52F16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69565E7-E538-0D77-8657-0F25A03D51F3}"/>
              </a:ext>
            </a:extLst>
          </p:cNvPr>
          <p:cNvSpPr txBox="1"/>
          <p:nvPr/>
        </p:nvSpPr>
        <p:spPr>
          <a:xfrm>
            <a:off x="903040" y="1128635"/>
            <a:ext cx="8638525" cy="5010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新鏈作為「重啟承諾」的載體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一些新鏈以「重新實現初衷」為名義推出，例如：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Ethereum Classic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DAO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被駭後，部分社群拒絕回溯歷史）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Bitcoin SV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（宣稱回歸中本聰原始設計）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小結：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分叉與新鏈，從「技術分歧的產物」演變為治理表態工具與市場操作手段，它們也揭示區塊鏈世界中：「技術＝治理＝經濟行動」。</a:t>
            </a:r>
            <a:endParaRPr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DB486FF-1463-8974-1548-4C06D3698289}"/>
              </a:ext>
            </a:extLst>
          </p:cNvPr>
          <p:cNvSpPr txBox="1"/>
          <p:nvPr/>
        </p:nvSpPr>
        <p:spPr>
          <a:xfrm>
            <a:off x="130627" y="238738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主題二：以分叉或新鏈方式來募集或重啟的新幣方案</a:t>
            </a:r>
          </a:p>
        </p:txBody>
      </p:sp>
    </p:spTree>
    <p:extLst>
      <p:ext uri="{BB962C8B-B14F-4D97-AF65-F5344CB8AC3E}">
        <p14:creationId xmlns:p14="http://schemas.microsoft.com/office/powerpoint/2010/main" val="7163662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C3061-785D-E055-079C-BA6C2C443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1A10D789-DE4C-9A63-491E-76F666719267}"/>
              </a:ext>
            </a:extLst>
          </p:cNvPr>
          <p:cNvSpPr txBox="1"/>
          <p:nvPr/>
        </p:nvSpPr>
        <p:spPr>
          <a:xfrm>
            <a:off x="508748" y="1602373"/>
            <a:ext cx="9277035" cy="224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分叉是技術爭議，也是治理分歧的結果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200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區塊鏈治理缺乏明確的決策機制時，無法達成共識的社群就以「分叉」解決爭端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200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分叉成為一種去中心化治理下的「最後選擇權」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F50B902-E01D-6E40-736C-8B156F05017D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主題三：分叉對區塊鏈治理、社群共識與技術路線的影響</a:t>
            </a:r>
          </a:p>
        </p:txBody>
      </p:sp>
    </p:spTree>
    <p:extLst>
      <p:ext uri="{BB962C8B-B14F-4D97-AF65-F5344CB8AC3E}">
        <p14:creationId xmlns:p14="http://schemas.microsoft.com/office/powerpoint/2010/main" val="40424328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375E4-295F-9D40-B32E-9A73C1DD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009F2F6-E997-1804-351B-B5C63FF477E4}"/>
              </a:ext>
            </a:extLst>
          </p:cNvPr>
          <p:cNvSpPr txBox="1"/>
          <p:nvPr/>
        </p:nvSpPr>
        <p:spPr>
          <a:xfrm>
            <a:off x="417878" y="1736508"/>
            <a:ext cx="9277035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社群共識的崩解與重組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2542DFA-C8D3-8BEF-622E-DC7B95D49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171650"/>
              </p:ext>
            </p:extLst>
          </p:nvPr>
        </p:nvGraphicFramePr>
        <p:xfrm>
          <a:off x="910377" y="2376319"/>
          <a:ext cx="8705022" cy="2740914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4352511">
                  <a:extLst>
                    <a:ext uri="{9D8B030D-6E8A-4147-A177-3AD203B41FA5}">
                      <a16:colId xmlns:a16="http://schemas.microsoft.com/office/drawing/2014/main" val="1183418553"/>
                    </a:ext>
                  </a:extLst>
                </a:gridCol>
                <a:gridCol w="4352511">
                  <a:extLst>
                    <a:ext uri="{9D8B030D-6E8A-4147-A177-3AD203B41FA5}">
                      <a16:colId xmlns:a16="http://schemas.microsoft.com/office/drawing/2014/main" val="2391547828"/>
                    </a:ext>
                  </a:extLst>
                </a:gridCol>
              </a:tblGrid>
              <a:tr h="3669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正向影響</a:t>
                      </a:r>
                      <a:endParaRPr lang="zh-TW" altLang="en-US" sz="20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負面影響</a:t>
                      </a:r>
                      <a:endParaRPr lang="zh-TW" altLang="en-US" sz="20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861777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增加選擇，反映多元價值觀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社群分裂，資源分散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896382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激發創新與新協議的試驗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使用者困惑，品牌價值模糊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563421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讓不同理念的開發者各自表述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易淪為炒作工具或短期操作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1283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61EFDAF-68E6-B8E0-332C-7052BFFC0FB5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主題三：分叉對區塊鏈治理、社群共識與技術路線的影響</a:t>
            </a:r>
          </a:p>
        </p:txBody>
      </p:sp>
    </p:spTree>
    <p:extLst>
      <p:ext uri="{BB962C8B-B14F-4D97-AF65-F5344CB8AC3E}">
        <p14:creationId xmlns:p14="http://schemas.microsoft.com/office/powerpoint/2010/main" val="12841579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4CE97-04D2-EB5D-D8AC-6F2A6E225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20D64FB-2BFD-E12C-05F5-8E94B7997EDF}"/>
              </a:ext>
            </a:extLst>
          </p:cNvPr>
          <p:cNvSpPr txBox="1"/>
          <p:nvPr/>
        </p:nvSpPr>
        <p:spPr>
          <a:xfrm>
            <a:off x="792724" y="1446855"/>
            <a:ext cx="9277035" cy="5010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對技術路線的影響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分叉後的鏈（如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BCH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BSV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）可自由實驗新的技術方向：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如擴大區塊大小、取消某些限制、變更腳本功能等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代表主鏈（如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BTC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）失去一部分開發動能與支持者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技術演進與治理模式從此朝多條鏈分化，互不兼容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小結：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分叉不僅是技術事件，更是治理與共識體系出現斷裂的徵兆。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同時也凸顯出：在無正式治理機制的區塊鏈中，代碼與社群行動本身就是治理工具。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0D50448-6476-10A9-0AFE-83B4ACB2488B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主題三：分叉對區塊鏈治理、社群共識與技術路線的影響</a:t>
            </a:r>
          </a:p>
        </p:txBody>
      </p:sp>
    </p:spTree>
    <p:extLst>
      <p:ext uri="{BB962C8B-B14F-4D97-AF65-F5344CB8AC3E}">
        <p14:creationId xmlns:p14="http://schemas.microsoft.com/office/powerpoint/2010/main" val="10603566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DB6AF-35D1-9FBD-66F5-B723FA008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CEDE654-BBD4-0D81-832A-C75C3B2D3A9F}"/>
              </a:ext>
            </a:extLst>
          </p:cNvPr>
          <p:cNvSpPr txBox="1"/>
          <p:nvPr/>
        </p:nvSpPr>
        <p:spPr>
          <a:xfrm>
            <a:off x="556590" y="414085"/>
            <a:ext cx="9399577" cy="334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dirty="0"/>
              <a:t>以下哪一種是 </a:t>
            </a:r>
            <a:r>
              <a:rPr lang="en-US" altLang="zh-TW" sz="2400" dirty="0"/>
              <a:t>IFO</a:t>
            </a:r>
            <a:r>
              <a:rPr lang="zh-TW" altLang="en-US" sz="2400" dirty="0"/>
              <a:t>（</a:t>
            </a:r>
            <a:r>
              <a:rPr lang="en-US" altLang="zh-TW" sz="2400" dirty="0"/>
              <a:t>Initial Fork Offering</a:t>
            </a:r>
            <a:r>
              <a:rPr lang="zh-TW" altLang="en-US" sz="2400" dirty="0"/>
              <a:t>）的特點？</a:t>
            </a:r>
            <a:br>
              <a:rPr lang="zh-TW" altLang="en-US" sz="2400" b="1" dirty="0"/>
            </a:br>
            <a:r>
              <a:rPr lang="en-US" altLang="zh-TW" sz="2400" dirty="0"/>
              <a:t>A. </a:t>
            </a:r>
            <a:r>
              <a:rPr lang="zh-TW" altLang="en-US" sz="2400" dirty="0"/>
              <a:t>須先購買代幣才能獲配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B. </a:t>
            </a:r>
            <a:r>
              <a:rPr lang="zh-TW" altLang="en-US" sz="2400" dirty="0"/>
              <a:t>必須經政府核可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C. </a:t>
            </a:r>
            <a:r>
              <a:rPr lang="zh-TW" altLang="en-US" sz="2400" dirty="0"/>
              <a:t>根據原幣持有比例自動配發新幣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D. </a:t>
            </a:r>
            <a:r>
              <a:rPr lang="zh-TW" altLang="en-US" sz="2400" dirty="0"/>
              <a:t>與 </a:t>
            </a:r>
            <a:r>
              <a:rPr lang="en-US" altLang="zh-TW" sz="2400" dirty="0"/>
              <a:t>ICO </a:t>
            </a:r>
            <a:r>
              <a:rPr lang="zh-TW" altLang="en-US" sz="2400" dirty="0"/>
              <a:t>沒有本質差異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0276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0D703-8777-2941-E838-FFFA1F83F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53022FB-17A1-C7DF-EBAE-A63D4C9E0078}"/>
              </a:ext>
            </a:extLst>
          </p:cNvPr>
          <p:cNvSpPr txBox="1"/>
          <p:nvPr/>
        </p:nvSpPr>
        <p:spPr>
          <a:xfrm>
            <a:off x="556590" y="414085"/>
            <a:ext cx="9399577" cy="4375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dirty="0"/>
              <a:t>以下哪一種是 </a:t>
            </a:r>
            <a:r>
              <a:rPr lang="en-US" altLang="zh-TW" sz="2400" dirty="0"/>
              <a:t>IFO</a:t>
            </a:r>
            <a:r>
              <a:rPr lang="zh-TW" altLang="en-US" sz="2400" dirty="0"/>
              <a:t>（</a:t>
            </a:r>
            <a:r>
              <a:rPr lang="en-US" altLang="zh-TW" sz="2400" dirty="0"/>
              <a:t>Initial Fork Offering</a:t>
            </a:r>
            <a:r>
              <a:rPr lang="zh-TW" altLang="en-US" sz="2400" dirty="0"/>
              <a:t>）的特點？</a:t>
            </a:r>
            <a:br>
              <a:rPr lang="zh-TW" altLang="en-US" sz="2400" b="1" dirty="0"/>
            </a:br>
            <a:r>
              <a:rPr lang="en-US" altLang="zh-TW" sz="2400" dirty="0"/>
              <a:t>A. </a:t>
            </a:r>
            <a:r>
              <a:rPr lang="zh-TW" altLang="en-US" sz="2400" dirty="0"/>
              <a:t>須先購買代幣才能獲配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B. </a:t>
            </a:r>
            <a:r>
              <a:rPr lang="zh-TW" altLang="en-US" sz="2400" dirty="0"/>
              <a:t>必須經政府核可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C. </a:t>
            </a:r>
            <a:r>
              <a:rPr lang="zh-TW" altLang="en-US" sz="2400" dirty="0"/>
              <a:t>根據原幣持有比例自動配發新幣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D. </a:t>
            </a:r>
            <a:r>
              <a:rPr lang="zh-TW" altLang="en-US" sz="2400" dirty="0"/>
              <a:t>與 </a:t>
            </a:r>
            <a:r>
              <a:rPr lang="en-US" altLang="zh-TW" sz="2400" dirty="0"/>
              <a:t>ICO </a:t>
            </a:r>
            <a:r>
              <a:rPr lang="zh-TW" altLang="en-US" sz="2400" dirty="0"/>
              <a:t>沒有本質差異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000" dirty="0">
                <a:solidFill>
                  <a:srgbClr val="FF0000"/>
                </a:solidFill>
              </a:rPr>
              <a:t>正解：</a:t>
            </a:r>
            <a:r>
              <a:rPr lang="en-US" altLang="zh-TW" sz="2000" dirty="0">
                <a:solidFill>
                  <a:srgbClr val="FF0000"/>
                </a:solidFill>
              </a:rPr>
              <a:t>C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3320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E0853-38A4-BE4B-EB80-37667436F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CC50264-BC1B-2613-BFBB-31B2EED5FB8D}"/>
              </a:ext>
            </a:extLst>
          </p:cNvPr>
          <p:cNvSpPr txBox="1"/>
          <p:nvPr/>
        </p:nvSpPr>
        <p:spPr>
          <a:xfrm>
            <a:off x="556590" y="414085"/>
            <a:ext cx="9399577" cy="2242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所有分叉鏈都能獲得長期社群支持與成功發展？</a:t>
            </a:r>
            <a:br>
              <a:rPr lang="zh-TW" altLang="en-US" sz="2400" b="1" dirty="0"/>
            </a:br>
            <a:r>
              <a:rPr lang="en-US" altLang="zh-TW" sz="2400" dirty="0">
                <a:sym typeface="Wingdings 2" panose="05020102010507070707" pitchFamily="18" charset="2"/>
              </a:rPr>
              <a:t> </a:t>
            </a:r>
            <a:r>
              <a:rPr lang="zh-TW" altLang="en-US" sz="2400" dirty="0">
                <a:sym typeface="Wingdings 2" panose="05020102010507070707" pitchFamily="18" charset="2"/>
              </a:rPr>
              <a:t>是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zh-TW" altLang="en-US" sz="2400" dirty="0">
                <a:sym typeface="Wingdings 2" panose="05020102010507070707" pitchFamily="18" charset="2"/>
              </a:rPr>
              <a:t></a:t>
            </a:r>
            <a:r>
              <a:rPr lang="zh-TW" altLang="en-US" sz="2400" dirty="0"/>
              <a:t> 否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6249883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CBEA7-5D8D-9C4F-0F42-720A328B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658EE1F-C3E9-53F7-9E38-E365F5E43F9B}"/>
              </a:ext>
            </a:extLst>
          </p:cNvPr>
          <p:cNvSpPr txBox="1"/>
          <p:nvPr/>
        </p:nvSpPr>
        <p:spPr>
          <a:xfrm>
            <a:off x="556590" y="414085"/>
            <a:ext cx="9399577" cy="3348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所有分叉鏈都能獲得長期社群支持與成功發展？</a:t>
            </a:r>
            <a:br>
              <a:rPr lang="zh-TW" altLang="en-US" sz="2400" b="1" dirty="0"/>
            </a:br>
            <a:r>
              <a:rPr lang="en-US" altLang="zh-TW" sz="2400" dirty="0">
                <a:sym typeface="Wingdings 2" panose="05020102010507070707" pitchFamily="18" charset="2"/>
              </a:rPr>
              <a:t> </a:t>
            </a:r>
            <a:r>
              <a:rPr lang="zh-TW" altLang="en-US" sz="2400" dirty="0">
                <a:sym typeface="Wingdings 2" panose="05020102010507070707" pitchFamily="18" charset="2"/>
              </a:rPr>
              <a:t>是</a:t>
            </a:r>
            <a:endParaRPr lang="en-US" altLang="zh-TW" sz="2400" dirty="0"/>
          </a:p>
          <a:p>
            <a:pPr marL="702900" indent="-342900">
              <a:lnSpc>
                <a:spcPct val="150000"/>
              </a:lnSpc>
              <a:buFont typeface="Wingdings 2" panose="05020102010507070707" pitchFamily="18" charset="2"/>
              <a:buChar char="*"/>
            </a:pPr>
            <a:r>
              <a:rPr lang="zh-TW" altLang="en-US" sz="2400" dirty="0"/>
              <a:t>否</a:t>
            </a:r>
            <a:endParaRPr lang="en-US" altLang="zh-TW" sz="2400" dirty="0"/>
          </a:p>
          <a:p>
            <a:pPr marL="702900" indent="-342900">
              <a:lnSpc>
                <a:spcPct val="150000"/>
              </a:lnSpc>
              <a:buFont typeface="Wingdings 2" panose="05020102010507070707" pitchFamily="18" charset="2"/>
              <a:buChar char="*"/>
            </a:pP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zh-TW" altLang="en-US" sz="2400" dirty="0">
                <a:solidFill>
                  <a:srgbClr val="FF0000"/>
                </a:solidFill>
              </a:rPr>
              <a:t>正解：否（事實上，大多數分叉鏈短命或流於炒作）</a:t>
            </a:r>
            <a:endParaRPr lang="en-US" altLang="zh-TW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847443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87B4-E0B8-D1E0-97EA-B56EFFDE3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4CAC444-C3C2-FCF0-48C4-1DD87014F1B7}"/>
              </a:ext>
            </a:extLst>
          </p:cNvPr>
          <p:cNvSpPr txBox="1"/>
          <p:nvPr/>
        </p:nvSpPr>
        <p:spPr>
          <a:xfrm>
            <a:off x="556590" y="414085"/>
            <a:ext cx="9399577" cy="334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以下哪個分叉是由比特幣擴展爭議引發的？</a:t>
            </a:r>
            <a:br>
              <a:rPr lang="zh-TW" altLang="en-US" sz="2400" b="1" dirty="0"/>
            </a:br>
            <a:r>
              <a:rPr lang="en-US" altLang="zh-TW" sz="2400" dirty="0"/>
              <a:t>A. Ethereum Classic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B. Bitcoin Cash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C. Litecoin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D. Dogecoin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3616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0052A-0E7E-67AA-D5DE-7C19662E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449470A-995F-6690-A882-F3F95FC8128C}"/>
              </a:ext>
            </a:extLst>
          </p:cNvPr>
          <p:cNvSpPr txBox="1"/>
          <p:nvPr/>
        </p:nvSpPr>
        <p:spPr>
          <a:xfrm>
            <a:off x="556590" y="414085"/>
            <a:ext cx="9399577" cy="4282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以下哪個分叉是由比特幣擴展爭議引發的？</a:t>
            </a:r>
            <a:br>
              <a:rPr lang="zh-TW" altLang="en-US" sz="2400" b="1" dirty="0"/>
            </a:br>
            <a:r>
              <a:rPr lang="en-US" altLang="zh-TW" sz="2400" b="1" dirty="0"/>
              <a:t>A. Ethereum Classic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b="1" dirty="0"/>
              <a:t>B. Bitcoin Cash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b="1" dirty="0"/>
              <a:t>C. Litecoin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b="1" dirty="0"/>
              <a:t>D. Dogecoin</a:t>
            </a:r>
            <a:endParaRPr lang="en-US" altLang="zh-TW" sz="2000" dirty="0">
              <a:solidFill>
                <a:srgbClr val="FF0000"/>
              </a:solidFill>
            </a:endParaRPr>
          </a:p>
          <a:p>
            <a:pPr marL="360000">
              <a:lnSpc>
                <a:spcPct val="150000"/>
              </a:lnSpc>
            </a:pPr>
            <a:endParaRPr lang="en-US" altLang="zh-TW" sz="2000" dirty="0">
              <a:solidFill>
                <a:srgbClr val="FF0000"/>
              </a:solidFill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000" dirty="0">
                <a:solidFill>
                  <a:srgbClr val="FF0000"/>
                </a:solidFill>
              </a:rPr>
              <a:t>正解：</a:t>
            </a:r>
            <a:r>
              <a:rPr lang="en-US" altLang="zh-TW" sz="2000" b="1" dirty="0">
                <a:solidFill>
                  <a:srgbClr val="FF0000"/>
                </a:solidFill>
              </a:rPr>
              <a:t>B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20454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8B892-04DE-DE55-CF15-37D24CF0E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409CF3B-6595-4F50-BEA5-05ADF198DA5C}"/>
              </a:ext>
            </a:extLst>
          </p:cNvPr>
          <p:cNvSpPr txBox="1"/>
          <p:nvPr/>
        </p:nvSpPr>
        <p:spPr>
          <a:xfrm>
            <a:off x="556590" y="414085"/>
            <a:ext cx="9399577" cy="279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en-US" altLang="zh-TW" sz="2400" b="1" dirty="0"/>
              <a:t>IFO </a:t>
            </a:r>
            <a:r>
              <a:rPr lang="zh-TW" altLang="en-US" sz="2400" b="1" dirty="0"/>
              <a:t>是透過區塊鏈分叉所誕生的新鏈，不需要使用者出資即可獲得新幣。</a:t>
            </a:r>
            <a:br>
              <a:rPr lang="zh-TW" altLang="en-US" sz="2400" b="1" dirty="0"/>
            </a:br>
            <a:r>
              <a:rPr lang="en-US" altLang="zh-TW" sz="2400" dirty="0">
                <a:sym typeface="Wingdings 2" panose="05020102010507070707" pitchFamily="18" charset="2"/>
              </a:rPr>
              <a:t> </a:t>
            </a:r>
            <a:r>
              <a:rPr lang="zh-TW" altLang="en-US" sz="2400" dirty="0">
                <a:sym typeface="Wingdings 2" panose="05020102010507070707" pitchFamily="18" charset="2"/>
              </a:rPr>
              <a:t>是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zh-TW" altLang="en-US" sz="2400" dirty="0">
                <a:sym typeface="Wingdings 2" panose="05020102010507070707" pitchFamily="18" charset="2"/>
              </a:rPr>
              <a:t></a:t>
            </a:r>
            <a:r>
              <a:rPr lang="zh-TW" altLang="en-US" sz="2400" dirty="0"/>
              <a:t> 否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172062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2C176-777C-3997-DFE6-45970BED8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472FE51-839B-545F-19F1-A495CF6E3C58}"/>
              </a:ext>
            </a:extLst>
          </p:cNvPr>
          <p:cNvSpPr txBox="1"/>
          <p:nvPr/>
        </p:nvSpPr>
        <p:spPr>
          <a:xfrm>
            <a:off x="556590" y="414085"/>
            <a:ext cx="9399577" cy="3902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en-US" altLang="zh-TW" sz="2400" b="1" dirty="0"/>
              <a:t>IFO </a:t>
            </a:r>
            <a:r>
              <a:rPr lang="zh-TW" altLang="en-US" sz="2400" b="1" dirty="0"/>
              <a:t>是透過區塊鏈分叉所誕生的新鏈，不需要使用者出資即可獲得新幣。</a:t>
            </a:r>
            <a:br>
              <a:rPr lang="zh-TW" altLang="en-US" sz="2400" b="1" dirty="0"/>
            </a:br>
            <a:r>
              <a:rPr lang="en-US" altLang="zh-TW" sz="2400" dirty="0">
                <a:sym typeface="Wingdings 2" panose="05020102010507070707" pitchFamily="18" charset="2"/>
              </a:rPr>
              <a:t> </a:t>
            </a:r>
            <a:r>
              <a:rPr lang="zh-TW" altLang="en-US" sz="2400" dirty="0">
                <a:sym typeface="Wingdings 2" panose="05020102010507070707" pitchFamily="18" charset="2"/>
              </a:rPr>
              <a:t>是</a:t>
            </a:r>
            <a:endParaRPr lang="en-US" altLang="zh-TW" sz="2400" dirty="0"/>
          </a:p>
          <a:p>
            <a:pPr marL="702900" indent="-342900">
              <a:lnSpc>
                <a:spcPct val="150000"/>
              </a:lnSpc>
              <a:buFont typeface="Wingdings 2" panose="05020102010507070707" pitchFamily="18" charset="2"/>
              <a:buChar char="*"/>
            </a:pPr>
            <a:r>
              <a:rPr lang="zh-TW" altLang="en-US" sz="2400" dirty="0"/>
              <a:t>否</a:t>
            </a:r>
            <a:endParaRPr lang="en-US" altLang="zh-TW" sz="2400" dirty="0"/>
          </a:p>
          <a:p>
            <a:pPr marL="702900" indent="-342900">
              <a:lnSpc>
                <a:spcPct val="150000"/>
              </a:lnSpc>
              <a:buFont typeface="Wingdings 2" panose="05020102010507070707" pitchFamily="18" charset="2"/>
              <a:buChar char="*"/>
            </a:pP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zh-TW" altLang="en-US" sz="2400" dirty="0">
                <a:solidFill>
                  <a:srgbClr val="FF0000"/>
                </a:solidFill>
              </a:rPr>
              <a:t>正解：是</a:t>
            </a:r>
            <a:endParaRPr lang="en-US" altLang="zh-TW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23692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0F3FC-8526-EB7D-ED90-BC3087AB2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CCED5A-D56A-07BB-223B-D85CAAECD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668" y="647463"/>
            <a:ext cx="9819860" cy="770141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第三部分：鏈上治理與鏈下治理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4C1F066-12DE-8F34-31EA-E7733C82CC12}"/>
              </a:ext>
            </a:extLst>
          </p:cNvPr>
          <p:cNvSpPr txBox="1">
            <a:spLocks/>
          </p:cNvSpPr>
          <p:nvPr/>
        </p:nvSpPr>
        <p:spPr>
          <a:xfrm>
            <a:off x="1033670" y="1678862"/>
            <a:ext cx="9819859" cy="29992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</a:t>
            </a:r>
            <a:r>
              <a:rPr lang="zh-TW" altLang="en-US" dirty="0"/>
              <a:t>鏈上治理（</a:t>
            </a:r>
            <a:r>
              <a:rPr lang="en-US" altLang="zh-TW" dirty="0"/>
              <a:t>On-Chain Governance</a:t>
            </a:r>
            <a:r>
              <a:rPr lang="zh-TW" altLang="en-US" dirty="0"/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</a:t>
            </a:r>
            <a:r>
              <a:rPr lang="zh-TW" altLang="en-US" dirty="0"/>
              <a:t>鏈下治理（</a:t>
            </a:r>
            <a:r>
              <a:rPr lang="en-US" altLang="zh-TW" dirty="0"/>
              <a:t>Off-Chain Governance</a:t>
            </a:r>
            <a:r>
              <a:rPr lang="zh-TW" altLang="en-US" dirty="0"/>
              <a:t>）</a:t>
            </a:r>
            <a:endParaRPr lang="en-US" altLang="zh-TW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主題三：治理模式比較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47399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AF756-B4B0-EDB1-1B38-9621A0FD3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A498A55-DF98-C746-EE13-B8A076129568}"/>
              </a:ext>
            </a:extLst>
          </p:cNvPr>
          <p:cNvSpPr txBox="1"/>
          <p:nvPr/>
        </p:nvSpPr>
        <p:spPr>
          <a:xfrm>
            <a:off x="948476" y="1324241"/>
            <a:ext cx="8985683" cy="3348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/>
              <a:t>定義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400" dirty="0"/>
              <a:t>鏈上治理指的是區塊鏈協議的更新或變更，透過區塊鏈本身的機制（例如代幣投票）來進行決策。</a:t>
            </a:r>
            <a:endParaRPr lang="en-US" altLang="zh-TW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特徵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透明：所有提案、投票、結果皆在鏈上公開。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自動化：投票結果可直接觸發協議更新（智能合約執行）。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參與者：通常是代幣持有者、節點營運者或治理代理。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A7D7FDF-0FDF-7509-E022-7969D35978A1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主題一：鏈上治理（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On-Chain Governance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235218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6E8B7-A16C-C02A-14A9-DE5C13631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F2C77E5-F17C-E13D-E8A9-A86C15952E9B}"/>
              </a:ext>
            </a:extLst>
          </p:cNvPr>
          <p:cNvSpPr txBox="1"/>
          <p:nvPr/>
        </p:nvSpPr>
        <p:spPr>
          <a:xfrm>
            <a:off x="925758" y="1588675"/>
            <a:ext cx="8638525" cy="2794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常見案例：</a:t>
            </a: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Tezos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：內建鏈上升級機制，無需硬分叉。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Polkadot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：代幣持有者可投票選擇開發提案與參數調整。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DeFi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協議如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MakerDAO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：以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DAO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形式實施鏈上投票決策。</a:t>
            </a:r>
            <a:endParaRPr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1A8D9DF-82EB-C794-3DF0-FD5772D2E6D8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主題一：鏈上治理（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On-Chain Governance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320322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33E6B-79DB-941D-AF91-155A2EB28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39892E1-763A-4D9E-CB33-CDF7B9218A20}"/>
              </a:ext>
            </a:extLst>
          </p:cNvPr>
          <p:cNvSpPr txBox="1"/>
          <p:nvPr/>
        </p:nvSpPr>
        <p:spPr>
          <a:xfrm>
            <a:off x="948476" y="1324241"/>
            <a:ext cx="8985683" cy="3348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/>
              <a:t>定義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400" dirty="0"/>
              <a:t>鏈下治理是指區塊鏈的技術與政策方向，透過社群討論、開發者協議與論壇共識等方式進行，並非以鏈上機制直接表決。</a:t>
            </a:r>
            <a:endParaRPr lang="en-US" altLang="zh-TW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特徵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靈活：可處理複雜或難以量化的議題。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去制度化：依賴社群信任與共識建立。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決策過程分散於開發者、礦工、用戶之間。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34D6ABB-76FA-6F0E-2F5E-74A569FF34AD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主題二：鏈下治理（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Off-Chain Governance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0669387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F3B7E-6D65-8305-E498-0D7640429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DFBC3FA-7301-0681-D152-7E33D27F888F}"/>
              </a:ext>
            </a:extLst>
          </p:cNvPr>
          <p:cNvSpPr txBox="1"/>
          <p:nvPr/>
        </p:nvSpPr>
        <p:spPr>
          <a:xfrm>
            <a:off x="763480" y="1588675"/>
            <a:ext cx="8800803" cy="3902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常見案例：</a:t>
            </a: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比特幣（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BTC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）：大多數協議改變都透過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BIP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Bitcoin Improvement Proposal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）流程，並經由開發者與社群辯論逐步形成共識。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60000" algn="just">
              <a:lnSpc>
                <a:spcPct val="15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    Bitcoin </a:t>
            </a:r>
            <a:r>
              <a:rPr lang="zh-TW" altLang="en-US" sz="2400" dirty="0">
                <a:solidFill>
                  <a:srgbClr val="FF0000"/>
                </a:solidFill>
              </a:rPr>
              <a:t>的 </a:t>
            </a:r>
            <a:r>
              <a:rPr lang="en-US" altLang="zh-TW" sz="2400" dirty="0">
                <a:solidFill>
                  <a:srgbClr val="FF0000"/>
                </a:solidFill>
              </a:rPr>
              <a:t>BIP </a:t>
            </a:r>
            <a:r>
              <a:rPr lang="zh-TW" altLang="en-US" sz="2400" dirty="0">
                <a:solidFill>
                  <a:srgbClr val="FF0000"/>
                </a:solidFill>
              </a:rPr>
              <a:t>是提案與協調機制，不是發布後就會自動生效</a:t>
            </a:r>
            <a:endParaRPr lang="en-US" altLang="zh-TW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Ethereum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：透過核心開發會議與社群討論定期升級（如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EIP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流程）。</a:t>
            </a:r>
            <a:endParaRPr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D30F48B-6C2F-812C-CC6C-F6DFCB144C47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主題二：鏈下治理（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Off-Chain Governance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0624418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1BD69-73A8-D3EC-7790-610A8042B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894864C-F9C4-0057-3C90-34448CF56DDC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主題三：治理模式比較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040E5E8-42B1-E7A9-2CD9-16D7CF312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186424"/>
              </p:ext>
            </p:extLst>
          </p:nvPr>
        </p:nvGraphicFramePr>
        <p:xfrm>
          <a:off x="1010870" y="1458588"/>
          <a:ext cx="8837388" cy="4351337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414278">
                  <a:extLst>
                    <a:ext uri="{9D8B030D-6E8A-4147-A177-3AD203B41FA5}">
                      <a16:colId xmlns:a16="http://schemas.microsoft.com/office/drawing/2014/main" val="1137871242"/>
                    </a:ext>
                  </a:extLst>
                </a:gridCol>
                <a:gridCol w="3711555">
                  <a:extLst>
                    <a:ext uri="{9D8B030D-6E8A-4147-A177-3AD203B41FA5}">
                      <a16:colId xmlns:a16="http://schemas.microsoft.com/office/drawing/2014/main" val="3184152381"/>
                    </a:ext>
                  </a:extLst>
                </a:gridCol>
                <a:gridCol w="3711555">
                  <a:extLst>
                    <a:ext uri="{9D8B030D-6E8A-4147-A177-3AD203B41FA5}">
                      <a16:colId xmlns:a16="http://schemas.microsoft.com/office/drawing/2014/main" val="2467677983"/>
                    </a:ext>
                  </a:extLst>
                </a:gridCol>
              </a:tblGrid>
              <a:tr h="3480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項目</a:t>
                      </a:r>
                      <a:endParaRPr lang="zh-TW" altLang="en-US" sz="20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鏈上治理</a:t>
                      </a:r>
                      <a:endParaRPr lang="zh-TW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鏈下治理</a:t>
                      </a:r>
                      <a:endParaRPr lang="zh-TW" altLang="en-US" sz="20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295342"/>
                  </a:ext>
                </a:extLst>
              </a:tr>
              <a:tr h="8703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決策方式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投票、智能合約執行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社群討論、</a:t>
                      </a:r>
                      <a:r>
                        <a:rPr lang="en-US" altLang="zh-TW" sz="2000" u="none" strike="noStrike">
                          <a:effectLst/>
                        </a:rPr>
                        <a:t>BIP/EIP</a:t>
                      </a:r>
                      <a:r>
                        <a:rPr lang="zh-TW" altLang="en-US" sz="2000" u="none" strike="noStrike">
                          <a:effectLst/>
                        </a:rPr>
                        <a:t>、開發者共識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078490"/>
                  </a:ext>
                </a:extLst>
              </a:tr>
              <a:tr h="8703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流程透明度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高，所有操作可驗證於鏈上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中，需依賴論壇／</a:t>
                      </a:r>
                      <a:r>
                        <a:rPr lang="en-US" altLang="zh-TW" sz="2000" u="none" strike="noStrike">
                          <a:effectLst/>
                        </a:rPr>
                        <a:t>GitHub </a:t>
                      </a:r>
                      <a:r>
                        <a:rPr lang="zh-TW" altLang="en-US" sz="2000" u="none" strike="noStrike">
                          <a:effectLst/>
                        </a:rPr>
                        <a:t>公告等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754762"/>
                  </a:ext>
                </a:extLst>
              </a:tr>
              <a:tr h="6960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參與者門檻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通常需持幣才能參與治理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只要願意發聲皆可參與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405053"/>
                  </a:ext>
                </a:extLst>
              </a:tr>
              <a:tr h="6960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優點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自動執行、效率高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>
                          <a:effectLst/>
                        </a:rPr>
                        <a:t>彈性大、可保守性控制</a:t>
                      </a:r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434361"/>
                  </a:ext>
                </a:extLst>
              </a:tr>
              <a:tr h="8703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缺點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易被大戶壟斷、治理攻擊風險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u="none" strike="noStrike" dirty="0">
                          <a:effectLst/>
                        </a:rPr>
                        <a:t>決策分散、無正式機制時易爭議</a:t>
                      </a:r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047" marR="4047" marT="40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197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1138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D43B3-A6AB-3A18-A194-2873E72BC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53D8A52-D9EE-5AAC-EB2F-00A926205AC7}"/>
              </a:ext>
            </a:extLst>
          </p:cNvPr>
          <p:cNvSpPr txBox="1"/>
          <p:nvPr/>
        </p:nvSpPr>
        <p:spPr>
          <a:xfrm>
            <a:off x="925758" y="1588675"/>
            <a:ext cx="8638525" cy="224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小結：</a:t>
            </a: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治理沒有完美模式，鏈上治理偏制度化、自動化；鏈下治理偏社群信任與演化。不同區塊鏈依其設計與理念選擇不同模式。</a:t>
            </a:r>
            <a:endParaRPr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0ED7F41-220B-479D-3933-0A7C2CC3ACD9}"/>
              </a:ext>
            </a:extLst>
          </p:cNvPr>
          <p:cNvSpPr txBox="1"/>
          <p:nvPr/>
        </p:nvSpPr>
        <p:spPr>
          <a:xfrm>
            <a:off x="153345" y="590867"/>
            <a:ext cx="9780815" cy="659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主題三：治理模式比較</a:t>
            </a:r>
          </a:p>
        </p:txBody>
      </p:sp>
    </p:spTree>
    <p:extLst>
      <p:ext uri="{BB962C8B-B14F-4D97-AF65-F5344CB8AC3E}">
        <p14:creationId xmlns:p14="http://schemas.microsoft.com/office/powerpoint/2010/main" val="18222488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9F18C-684B-437A-C9DF-F5884A7BA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39FA978-6447-EB94-3F42-94A6FDC06A7C}"/>
              </a:ext>
            </a:extLst>
          </p:cNvPr>
          <p:cNvSpPr txBox="1"/>
          <p:nvPr/>
        </p:nvSpPr>
        <p:spPr>
          <a:xfrm>
            <a:off x="556590" y="414085"/>
            <a:ext cx="9399577" cy="334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以下哪一項是「鏈上治理」的特徵？</a:t>
            </a:r>
            <a:br>
              <a:rPr lang="zh-TW" altLang="en-US" sz="2400" b="1" dirty="0"/>
            </a:br>
            <a:r>
              <a:rPr lang="en-US" altLang="zh-TW" sz="2400" dirty="0"/>
              <a:t>A. </a:t>
            </a:r>
            <a:r>
              <a:rPr lang="zh-TW" altLang="en-US" sz="2400" dirty="0"/>
              <a:t>協議更新由論壇投票決定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B. </a:t>
            </a:r>
            <a:r>
              <a:rPr lang="zh-TW" altLang="en-US" sz="2400" dirty="0"/>
              <a:t>需要礦工開會取得共識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C. </a:t>
            </a:r>
            <a:r>
              <a:rPr lang="zh-TW" altLang="en-US" sz="2400" dirty="0"/>
              <a:t>以代幣投票決定提案是否執行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D. </a:t>
            </a:r>
            <a:r>
              <a:rPr lang="zh-TW" altLang="en-US" sz="2400" dirty="0"/>
              <a:t>所有決策由開發團隊內部做出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82320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078FD-F5E9-8909-A458-B0C313BF4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A9E97A6-0529-F9FA-3332-1C3F791C93D0}"/>
              </a:ext>
            </a:extLst>
          </p:cNvPr>
          <p:cNvSpPr txBox="1"/>
          <p:nvPr/>
        </p:nvSpPr>
        <p:spPr>
          <a:xfrm>
            <a:off x="556590" y="414085"/>
            <a:ext cx="9399577" cy="4282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以下哪一項是「鏈上治理」的特徵？</a:t>
            </a:r>
            <a:br>
              <a:rPr lang="zh-TW" altLang="en-US" sz="2400" b="1" dirty="0"/>
            </a:br>
            <a:r>
              <a:rPr lang="en-US" altLang="zh-TW" sz="2400" dirty="0"/>
              <a:t>A. </a:t>
            </a:r>
            <a:r>
              <a:rPr lang="zh-TW" altLang="en-US" sz="2400" dirty="0"/>
              <a:t>協議更新由論壇投票決定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B. </a:t>
            </a:r>
            <a:r>
              <a:rPr lang="zh-TW" altLang="en-US" sz="2400" dirty="0"/>
              <a:t>需要礦工開會取得共識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C. </a:t>
            </a:r>
            <a:r>
              <a:rPr lang="zh-TW" altLang="en-US" sz="2400" dirty="0"/>
              <a:t>以代幣投票決定提案是否執行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D. </a:t>
            </a:r>
            <a:r>
              <a:rPr lang="zh-TW" altLang="en-US" sz="2400" dirty="0"/>
              <a:t>所有決策由開發團隊內部做出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endParaRPr lang="en-US" altLang="zh-TW" sz="2000" dirty="0">
              <a:solidFill>
                <a:srgbClr val="FF0000"/>
              </a:solidFill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000" dirty="0">
                <a:solidFill>
                  <a:srgbClr val="FF0000"/>
                </a:solidFill>
              </a:rPr>
              <a:t>正解：</a:t>
            </a:r>
            <a:r>
              <a:rPr lang="en-US" altLang="zh-TW" sz="2000" dirty="0">
                <a:solidFill>
                  <a:srgbClr val="FF0000"/>
                </a:solidFill>
              </a:rPr>
              <a:t>C</a:t>
            </a:r>
            <a:endParaRPr lang="en-US" altLang="zh-TW" sz="2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8753D82-FF66-C37E-9EE0-1CD2EF8C13E1}"/>
              </a:ext>
            </a:extLst>
          </p:cNvPr>
          <p:cNvSpPr txBox="1"/>
          <p:nvPr/>
        </p:nvSpPr>
        <p:spPr>
          <a:xfrm>
            <a:off x="10400267" y="979828"/>
            <a:ext cx="1700141" cy="1132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比特幣之發展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603166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6B3EF-F3E7-1739-1E48-8A7A55B35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9D5B310-D072-FA24-E22B-E3A009DAB7D8}"/>
              </a:ext>
            </a:extLst>
          </p:cNvPr>
          <p:cNvSpPr txBox="1"/>
          <p:nvPr/>
        </p:nvSpPr>
        <p:spPr>
          <a:xfrm>
            <a:off x="556590" y="414085"/>
            <a:ext cx="9399577" cy="279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比特幣目前採取的治理模式屬於「鏈上治理」，因為礦工會直接在區塊鏈上投票決定政策。</a:t>
            </a:r>
            <a:br>
              <a:rPr lang="zh-TW" altLang="en-US" sz="2400" b="1" dirty="0"/>
            </a:br>
            <a:r>
              <a:rPr lang="en-US" altLang="zh-TW" sz="2400" dirty="0">
                <a:sym typeface="Wingdings 2" panose="05020102010507070707" pitchFamily="18" charset="2"/>
              </a:rPr>
              <a:t> </a:t>
            </a:r>
            <a:r>
              <a:rPr lang="zh-TW" altLang="en-US" sz="2400" dirty="0">
                <a:sym typeface="Wingdings 2" panose="05020102010507070707" pitchFamily="18" charset="2"/>
              </a:rPr>
              <a:t>是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zh-TW" altLang="en-US" sz="2400" dirty="0">
                <a:sym typeface="Wingdings 2" panose="05020102010507070707" pitchFamily="18" charset="2"/>
              </a:rPr>
              <a:t></a:t>
            </a:r>
            <a:r>
              <a:rPr lang="zh-TW" altLang="en-US" sz="2400" dirty="0"/>
              <a:t> 否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6969874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58B91-C013-0FCA-E104-A6D37ECFB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FDDB853-00AD-0687-9AB7-5682D5078BBF}"/>
              </a:ext>
            </a:extLst>
          </p:cNvPr>
          <p:cNvSpPr txBox="1"/>
          <p:nvPr/>
        </p:nvSpPr>
        <p:spPr>
          <a:xfrm>
            <a:off x="556590" y="414085"/>
            <a:ext cx="9399577" cy="4456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比特幣目前採取的治理模式屬於「鏈上治理」，因為礦工會直接在區塊鏈上投票決定政策。</a:t>
            </a:r>
            <a:br>
              <a:rPr lang="zh-TW" altLang="en-US" sz="2400" b="1" dirty="0"/>
            </a:br>
            <a:r>
              <a:rPr lang="en-US" altLang="zh-TW" sz="2400" dirty="0">
                <a:sym typeface="Wingdings 2" panose="05020102010507070707" pitchFamily="18" charset="2"/>
              </a:rPr>
              <a:t> </a:t>
            </a:r>
            <a:r>
              <a:rPr lang="zh-TW" altLang="en-US" sz="2400" dirty="0">
                <a:sym typeface="Wingdings 2" panose="05020102010507070707" pitchFamily="18" charset="2"/>
              </a:rPr>
              <a:t>是</a:t>
            </a:r>
            <a:endParaRPr lang="en-US" altLang="zh-TW" sz="2400" dirty="0"/>
          </a:p>
          <a:p>
            <a:pPr marL="702900" indent="-342900">
              <a:lnSpc>
                <a:spcPct val="150000"/>
              </a:lnSpc>
              <a:buFont typeface="Wingdings 2" panose="05020102010507070707" pitchFamily="18" charset="2"/>
              <a:buChar char="*"/>
            </a:pPr>
            <a:r>
              <a:rPr lang="zh-TW" altLang="en-US" sz="2400" dirty="0"/>
              <a:t>否</a:t>
            </a:r>
            <a:endParaRPr lang="en-US" altLang="zh-TW" sz="2400" dirty="0"/>
          </a:p>
          <a:p>
            <a:pPr marL="702900" indent="-342900">
              <a:lnSpc>
                <a:spcPct val="150000"/>
              </a:lnSpc>
              <a:buFont typeface="Wingdings 2" panose="05020102010507070707" pitchFamily="18" charset="2"/>
              <a:buChar char="*"/>
            </a:pP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zh-TW" altLang="en-US" sz="2400" dirty="0">
                <a:solidFill>
                  <a:srgbClr val="FF0000"/>
                </a:solidFill>
              </a:rPr>
              <a:t>正解：否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dirty="0">
                <a:solidFill>
                  <a:srgbClr val="FF0000"/>
                </a:solidFill>
              </a:rPr>
              <a:t>說明：比特幣主要是鏈下治理，以 </a:t>
            </a:r>
            <a:r>
              <a:rPr lang="en-US" altLang="zh-TW" sz="2400" dirty="0">
                <a:solidFill>
                  <a:srgbClr val="FF0000"/>
                </a:solidFill>
              </a:rPr>
              <a:t>BIP </a:t>
            </a:r>
            <a:r>
              <a:rPr lang="zh-TW" altLang="en-US" sz="2400" dirty="0">
                <a:solidFill>
                  <a:srgbClr val="FF0000"/>
                </a:solidFill>
              </a:rPr>
              <a:t>提案與社群討論為主。</a:t>
            </a:r>
            <a:endParaRPr lang="en-US" altLang="zh-TW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2018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A4CD-8ACF-B370-B5BD-A37EA0859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523EE85-6314-0F20-1220-F918E36FC8EB}"/>
              </a:ext>
            </a:extLst>
          </p:cNvPr>
          <p:cNvSpPr txBox="1"/>
          <p:nvPr/>
        </p:nvSpPr>
        <p:spPr>
          <a:xfrm>
            <a:off x="556590" y="414085"/>
            <a:ext cx="9399577" cy="334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哪一個區塊鏈系統最著名地實施了「鏈上治理」？</a:t>
            </a:r>
            <a:br>
              <a:rPr lang="zh-TW" altLang="en-US" sz="2400" b="1" dirty="0"/>
            </a:br>
            <a:r>
              <a:rPr lang="en-US" altLang="zh-TW" sz="2400" dirty="0"/>
              <a:t>A. Bitcoin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B. Ethereum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C. </a:t>
            </a:r>
            <a:r>
              <a:rPr lang="en-US" altLang="zh-TW" sz="2400" dirty="0" err="1"/>
              <a:t>Tezos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en-US" altLang="zh-TW" sz="2400" dirty="0"/>
              <a:t>D. Solana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27034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EFF7-DACF-8909-D979-D912E11F3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F8008BD-0FA0-A73D-ACD8-C15898C3996E}"/>
              </a:ext>
            </a:extLst>
          </p:cNvPr>
          <p:cNvSpPr txBox="1"/>
          <p:nvPr/>
        </p:nvSpPr>
        <p:spPr>
          <a:xfrm>
            <a:off x="556590" y="414085"/>
            <a:ext cx="9399577" cy="4917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哪一個區塊鏈系統最著名地實施了「鏈上治理」？</a:t>
            </a:r>
            <a:br>
              <a:rPr lang="zh-TW" altLang="en-US" sz="2400" b="1" dirty="0"/>
            </a:br>
            <a:r>
              <a:rPr lang="en-US" altLang="zh-TW" sz="2400" b="1" dirty="0"/>
              <a:t>A. Bitcoin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b="1" dirty="0"/>
              <a:t>B. Ethereum</a:t>
            </a:r>
          </a:p>
          <a:p>
            <a:pPr marL="360000">
              <a:lnSpc>
                <a:spcPct val="150000"/>
              </a:lnSpc>
            </a:pPr>
            <a:r>
              <a:rPr lang="en-US" altLang="zh-TW" sz="2400" b="1" dirty="0"/>
              <a:t>C. </a:t>
            </a:r>
            <a:r>
              <a:rPr lang="en-US" altLang="zh-TW" sz="2400" b="1" dirty="0" err="1"/>
              <a:t>Tezos</a:t>
            </a:r>
            <a:endParaRPr lang="en-US" altLang="zh-TW" sz="2400" b="1" dirty="0"/>
          </a:p>
          <a:p>
            <a:pPr marL="360000">
              <a:lnSpc>
                <a:spcPct val="150000"/>
              </a:lnSpc>
            </a:pPr>
            <a:r>
              <a:rPr lang="en-US" altLang="zh-TW" sz="2400" b="1" dirty="0"/>
              <a:t>D. Solana</a:t>
            </a:r>
          </a:p>
          <a:p>
            <a:pPr marL="360000">
              <a:lnSpc>
                <a:spcPct val="150000"/>
              </a:lnSpc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000" dirty="0">
                <a:solidFill>
                  <a:srgbClr val="FF0000"/>
                </a:solidFill>
              </a:rPr>
              <a:t>正解：</a:t>
            </a:r>
            <a:r>
              <a:rPr lang="en-US" altLang="zh-TW" sz="2000" dirty="0">
                <a:solidFill>
                  <a:srgbClr val="FF0000"/>
                </a:solidFill>
              </a:rPr>
              <a:t>C</a:t>
            </a:r>
          </a:p>
          <a:p>
            <a:pPr marL="360000">
              <a:lnSpc>
                <a:spcPct val="150000"/>
              </a:lnSpc>
            </a:pPr>
            <a:r>
              <a:rPr lang="zh-TW" altLang="en-US" sz="2000" dirty="0">
                <a:solidFill>
                  <a:srgbClr val="FF0000"/>
                </a:solidFill>
              </a:rPr>
              <a:t>說明： </a:t>
            </a:r>
            <a:r>
              <a:rPr lang="en-US" altLang="zh-TW" sz="2000" dirty="0" err="1">
                <a:solidFill>
                  <a:srgbClr val="FF0000"/>
                </a:solidFill>
              </a:rPr>
              <a:t>Tezos</a:t>
            </a:r>
            <a:r>
              <a:rPr lang="en-US" altLang="zh-TW" sz="2000" dirty="0">
                <a:solidFill>
                  <a:srgbClr val="FF0000"/>
                </a:solidFill>
              </a:rPr>
              <a:t> </a:t>
            </a:r>
            <a:r>
              <a:rPr lang="zh-TW" altLang="en-US" sz="2000" dirty="0">
                <a:solidFill>
                  <a:srgbClr val="FF0000"/>
                </a:solidFill>
              </a:rPr>
              <a:t>是少數從一開始設計就內建鏈上治理流程的區塊鏈。</a:t>
            </a:r>
            <a:endParaRPr lang="en-US" altLang="zh-TW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3119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13C38-CCFC-4C06-52C5-866F72088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3EBDD0C-2EA8-3F4E-AF1F-205733BDBEAB}"/>
              </a:ext>
            </a:extLst>
          </p:cNvPr>
          <p:cNvSpPr txBox="1"/>
          <p:nvPr/>
        </p:nvSpPr>
        <p:spPr>
          <a:xfrm>
            <a:off x="556590" y="414085"/>
            <a:ext cx="9399577" cy="2242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鏈下治理比較靈活，但缺乏正式機制時可能導致爭議與社群分裂。</a:t>
            </a:r>
            <a:br>
              <a:rPr lang="zh-TW" altLang="en-US" sz="2400" b="1" dirty="0"/>
            </a:br>
            <a:r>
              <a:rPr lang="en-US" altLang="zh-TW" sz="2400" dirty="0">
                <a:sym typeface="Wingdings 2" panose="05020102010507070707" pitchFamily="18" charset="2"/>
              </a:rPr>
              <a:t> </a:t>
            </a:r>
            <a:r>
              <a:rPr lang="zh-TW" altLang="en-US" sz="2400" dirty="0">
                <a:sym typeface="Wingdings 2" panose="05020102010507070707" pitchFamily="18" charset="2"/>
              </a:rPr>
              <a:t>是</a:t>
            </a: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zh-TW" altLang="en-US" sz="2400" dirty="0">
                <a:sym typeface="Wingdings 2" panose="05020102010507070707" pitchFamily="18" charset="2"/>
              </a:rPr>
              <a:t></a:t>
            </a:r>
            <a:r>
              <a:rPr lang="zh-TW" altLang="en-US" sz="2400" dirty="0"/>
              <a:t> 否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6198259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AE06E-6179-DD96-0EF4-D799724C2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E1BC39D-B6B8-0B04-C2C6-E0CF45A570D2}"/>
              </a:ext>
            </a:extLst>
          </p:cNvPr>
          <p:cNvSpPr txBox="1"/>
          <p:nvPr/>
        </p:nvSpPr>
        <p:spPr>
          <a:xfrm>
            <a:off x="556590" y="414085"/>
            <a:ext cx="9399577" cy="334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>
              <a:lnSpc>
                <a:spcPct val="150000"/>
              </a:lnSpc>
            </a:pPr>
            <a:r>
              <a:rPr lang="zh-TW" altLang="en-US" sz="2400" b="1" dirty="0"/>
              <a:t>鏈下治理比較靈活，但缺乏正式機制時可能導致爭議與社群分裂。</a:t>
            </a:r>
            <a:br>
              <a:rPr lang="zh-TW" altLang="en-US" sz="2400" b="1" dirty="0"/>
            </a:br>
            <a:r>
              <a:rPr lang="en-US" altLang="zh-TW" sz="2400" dirty="0">
                <a:sym typeface="Wingdings 2" panose="05020102010507070707" pitchFamily="18" charset="2"/>
              </a:rPr>
              <a:t> </a:t>
            </a:r>
            <a:r>
              <a:rPr lang="zh-TW" altLang="en-US" sz="2400" dirty="0">
                <a:sym typeface="Wingdings 2" panose="05020102010507070707" pitchFamily="18" charset="2"/>
              </a:rPr>
              <a:t>是</a:t>
            </a:r>
            <a:endParaRPr lang="en-US" altLang="zh-TW" sz="2400" dirty="0"/>
          </a:p>
          <a:p>
            <a:pPr marL="702900" indent="-342900">
              <a:lnSpc>
                <a:spcPct val="150000"/>
              </a:lnSpc>
              <a:buFont typeface="Wingdings 2" panose="05020102010507070707" pitchFamily="18" charset="2"/>
              <a:buChar char="*"/>
            </a:pPr>
            <a:r>
              <a:rPr lang="zh-TW" altLang="en-US" sz="2400" dirty="0"/>
              <a:t>否</a:t>
            </a:r>
            <a:endParaRPr lang="en-US" altLang="zh-TW" sz="2400" dirty="0"/>
          </a:p>
          <a:p>
            <a:pPr marL="702900" indent="-342900">
              <a:lnSpc>
                <a:spcPct val="150000"/>
              </a:lnSpc>
              <a:buFont typeface="Wingdings 2" panose="05020102010507070707" pitchFamily="18" charset="2"/>
              <a:buChar char="*"/>
            </a:pPr>
            <a:endParaRPr lang="en-US" altLang="zh-TW" sz="2400" dirty="0"/>
          </a:p>
          <a:p>
            <a:pPr marL="360000">
              <a:lnSpc>
                <a:spcPct val="150000"/>
              </a:lnSpc>
            </a:pPr>
            <a:r>
              <a:rPr lang="zh-TW" altLang="en-US" sz="2400" dirty="0">
                <a:solidFill>
                  <a:srgbClr val="FF0000"/>
                </a:solidFill>
              </a:rPr>
              <a:t>正解：是</a:t>
            </a:r>
            <a:endParaRPr lang="en-US" altLang="zh-TW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59000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ED6DA"/>
      </a:accent1>
      <a:accent2>
        <a:srgbClr val="3E7090"/>
      </a:accent2>
      <a:accent3>
        <a:srgbClr val="93A5A8"/>
      </a:accent3>
      <a:accent4>
        <a:srgbClr val="627272"/>
      </a:accent4>
      <a:accent5>
        <a:srgbClr val="BDA07D"/>
      </a:accent5>
      <a:accent6>
        <a:srgbClr val="D8CAB7"/>
      </a:accent6>
      <a:hlink>
        <a:srgbClr val="0563C1"/>
      </a:hlink>
      <a:folHlink>
        <a:srgbClr val="954F72"/>
      </a:folHlink>
    </a:clrScheme>
    <a:fontScheme name="Custom 24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468121_win32_CP_V3" id="{DB41292E-DA07-4A60-84D2-21F0B686AF93}" vid="{CD2DD4A9-674C-44A3-BA93-D7C3019ED0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47603A-423C-4B8F-AA3D-8E6FA47105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AF5DA8-6387-4138-BF96-B65D39F2FC21}">
  <ds:schemaRefs>
    <ds:schemaRef ds:uri="http://purl.org/dc/dcmitype/"/>
    <ds:schemaRef ds:uri="http://purl.org/dc/elements/1.1/"/>
    <ds:schemaRef ds:uri="http://schemas.microsoft.com/sharepoint/v3"/>
    <ds:schemaRef ds:uri="http://schemas.microsoft.com/office/2006/documentManagement/types"/>
    <ds:schemaRef ds:uri="71af3243-3dd4-4a8d-8c0d-dd76da1f02a5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279BBA1-1277-4614-8DDE-B2EB2275122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737</TotalTime>
  <Words>4244</Words>
  <Application>Microsoft Office PowerPoint</Application>
  <PresentationFormat>寬螢幕</PresentationFormat>
  <Paragraphs>410</Paragraphs>
  <Slides>56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56</vt:i4>
      </vt:variant>
    </vt:vector>
  </HeadingPairs>
  <TitlesOfParts>
    <vt:vector size="65" baseType="lpstr">
      <vt:lpstr>微軟正黑體</vt:lpstr>
      <vt:lpstr>新細明體</vt:lpstr>
      <vt:lpstr>Arial</vt:lpstr>
      <vt:lpstr>Calibri</vt:lpstr>
      <vt:lpstr>Segoe UI Light</vt:lpstr>
      <vt:lpstr>Times New Roman</vt:lpstr>
      <vt:lpstr>Wingdings</vt:lpstr>
      <vt:lpstr>Wingdings 2</vt:lpstr>
      <vt:lpstr>Custom</vt:lpstr>
      <vt:lpstr>比特幣的擴展之爭、IFO與鏈上治理</vt:lpstr>
      <vt:lpstr>課程主題</vt:lpstr>
      <vt:lpstr>第一部分：比特幣的擴展之爭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第二部分：IFO (Initial Fork Offering) 與分叉現象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第三部分：鏈上治理與鏈下治理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Acer</dc:creator>
  <cp:lastModifiedBy>usc</cp:lastModifiedBy>
  <cp:revision>37</cp:revision>
  <dcterms:created xsi:type="dcterms:W3CDTF">2021-05-30T14:58:49Z</dcterms:created>
  <dcterms:modified xsi:type="dcterms:W3CDTF">2026-10-30T06:20:31Z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