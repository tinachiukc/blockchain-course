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033b6dce4f4ffb" /><Relationship Type="http://schemas.openxmlformats.org/officeDocument/2006/relationships/extended-properties" Target="/docProps/app.xml" Id="Rb758097a03e04201" /><Relationship Type="http://schemas.openxmlformats.org/officeDocument/2006/relationships/officeDocument" Target="/ppt/presentation.xml" Id="Rd4e863d0265a47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c78460539543e4"/>
  </p:sldMasterIdLst>
  <p:notesMasterIdLst>
    <p:notesMasterId xmlns:r="http://schemas.openxmlformats.org/officeDocument/2006/relationships" r:id="R093013627784434f"/>
  </p:notesMasterIdLst>
  <p:sldIdLst>
    <p:sldId xmlns:r="http://schemas.openxmlformats.org/officeDocument/2006/relationships" id="256" r:id="R75a684da601141f4"/>
    <p:sldId xmlns:r="http://schemas.openxmlformats.org/officeDocument/2006/relationships" id="257" r:id="R54d2b48065204983"/>
    <p:sldId xmlns:r="http://schemas.openxmlformats.org/officeDocument/2006/relationships" id="258" r:id="Red1056be067342b4"/>
    <p:sldId xmlns:r="http://schemas.openxmlformats.org/officeDocument/2006/relationships" id="259" r:id="Rec51e2a5ecb24f79"/>
    <p:sldId xmlns:r="http://schemas.openxmlformats.org/officeDocument/2006/relationships" id="260" r:id="R8ea95c903e2d4d03"/>
    <p:sldId xmlns:r="http://schemas.openxmlformats.org/officeDocument/2006/relationships" id="261" r:id="Re95f7552d1b04b3a"/>
    <p:sldId xmlns:r="http://schemas.openxmlformats.org/officeDocument/2006/relationships" id="262" r:id="R163f1f5ce7704922"/>
    <p:sldId xmlns:r="http://schemas.openxmlformats.org/officeDocument/2006/relationships" id="263" r:id="R37c96b0e793f4ff0"/>
    <p:sldId xmlns:r="http://schemas.openxmlformats.org/officeDocument/2006/relationships" id="264" r:id="R58363c8c8e5144e3"/>
    <p:sldId xmlns:r="http://schemas.openxmlformats.org/officeDocument/2006/relationships" id="265" r:id="R2e379aad58024e98"/>
    <p:sldId xmlns:r="http://schemas.openxmlformats.org/officeDocument/2006/relationships" id="266" r:id="R62a5fe88d2ac4927"/>
    <p:sldId xmlns:r="http://schemas.openxmlformats.org/officeDocument/2006/relationships" id="267" r:id="Rb2bdcf5fb14d4cf1"/>
    <p:sldId xmlns:r="http://schemas.openxmlformats.org/officeDocument/2006/relationships" id="268" r:id="R13de4a21a3d34116"/>
    <p:sldId xmlns:r="http://schemas.openxmlformats.org/officeDocument/2006/relationships" id="269" r:id="R0acfc240b9c044aa"/>
    <p:sldId xmlns:r="http://schemas.openxmlformats.org/officeDocument/2006/relationships" id="270" r:id="Rce6a52fa6d3242f2"/>
    <p:sldId xmlns:r="http://schemas.openxmlformats.org/officeDocument/2006/relationships" id="271" r:id="R89511663738e4fba"/>
    <p:sldId xmlns:r="http://schemas.openxmlformats.org/officeDocument/2006/relationships" id="272" r:id="Ra25d533712eb49d4"/>
    <p:sldId xmlns:r="http://schemas.openxmlformats.org/officeDocument/2006/relationships" id="273" r:id="Rb303d8fe2f3f4088"/>
    <p:sldId xmlns:r="http://schemas.openxmlformats.org/officeDocument/2006/relationships" id="274" r:id="Ra110fb1a0e3c48f2"/>
    <p:sldId xmlns:r="http://schemas.openxmlformats.org/officeDocument/2006/relationships" id="275" r:id="R0f8491be6be84448"/>
    <p:sldId xmlns:r="http://schemas.openxmlformats.org/officeDocument/2006/relationships" id="276" r:id="R7d7ea7cb54f74bf4"/>
    <p:sldId xmlns:r="http://schemas.openxmlformats.org/officeDocument/2006/relationships" id="277" r:id="R34342df110bd40e6"/>
    <p:sldId xmlns:r="http://schemas.openxmlformats.org/officeDocument/2006/relationships" id="278" r:id="Rf4f7bdbbdbeb471b"/>
    <p:sldId xmlns:r="http://schemas.openxmlformats.org/officeDocument/2006/relationships" id="279" r:id="R0e1fe833e3574364"/>
    <p:sldId xmlns:r="http://schemas.openxmlformats.org/officeDocument/2006/relationships" id="280" r:id="R1103251844d84744"/>
    <p:sldId xmlns:r="http://schemas.openxmlformats.org/officeDocument/2006/relationships" id="281" r:id="R7054f9e37a0749e6"/>
    <p:sldId xmlns:r="http://schemas.openxmlformats.org/officeDocument/2006/relationships" id="282" r:id="R02e4120f127841a5"/>
    <p:sldId xmlns:r="http://schemas.openxmlformats.org/officeDocument/2006/relationships" id="283" r:id="Rd6a5f661b3a742d1"/>
    <p:sldId xmlns:r="http://schemas.openxmlformats.org/officeDocument/2006/relationships" id="284" r:id="R00a8db66e6cf44a9"/>
    <p:sldId xmlns:r="http://schemas.openxmlformats.org/officeDocument/2006/relationships" id="285" r:id="Rf46db1c696a947a4"/>
    <p:sldId xmlns:r="http://schemas.openxmlformats.org/officeDocument/2006/relationships" id="286" r:id="Rc1826d61263447ca"/>
    <p:sldId xmlns:r="http://schemas.openxmlformats.org/officeDocument/2006/relationships" id="287" r:id="Re529f03f138d4029"/>
    <p:sldId xmlns:r="http://schemas.openxmlformats.org/officeDocument/2006/relationships" id="288" r:id="Raf183096c44149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1174447f2a4f4d" /><Relationship Type="http://schemas.openxmlformats.org/officeDocument/2006/relationships/slideMaster" Target="/ppt/slideMasters/slideMaster1.xml" Id="Rbfc78460539543e4" /><Relationship Type="http://schemas.openxmlformats.org/officeDocument/2006/relationships/notesMaster" Target="/ppt/notesMasters/notesMaster1.xml" Id="R093013627784434f" /><Relationship Type="http://schemas.openxmlformats.org/officeDocument/2006/relationships/presProps" Target="/ppt/presProps.xml" Id="Reffd80f67f044634" /><Relationship Type="http://schemas.openxmlformats.org/officeDocument/2006/relationships/tableStyles" Target="/ppt/tableStyles.xml" Id="R64a0effa551d46bd" /><Relationship Type="http://schemas.openxmlformats.org/officeDocument/2006/relationships/slide" Target="/ppt/slides/slide1.xml" Id="R75a684da601141f4" /><Relationship Type="http://schemas.openxmlformats.org/officeDocument/2006/relationships/slide" Target="/ppt/slides/slide2.xml" Id="R54d2b48065204983" /><Relationship Type="http://schemas.openxmlformats.org/officeDocument/2006/relationships/slide" Target="/ppt/slides/slide3.xml" Id="Red1056be067342b4" /><Relationship Type="http://schemas.openxmlformats.org/officeDocument/2006/relationships/slide" Target="/ppt/slides/slide4.xml" Id="Rec51e2a5ecb24f79" /><Relationship Type="http://schemas.openxmlformats.org/officeDocument/2006/relationships/slide" Target="/ppt/slides/slide5.xml" Id="R8ea95c903e2d4d03" /><Relationship Type="http://schemas.openxmlformats.org/officeDocument/2006/relationships/slide" Target="/ppt/slides/slide6.xml" Id="Re95f7552d1b04b3a" /><Relationship Type="http://schemas.openxmlformats.org/officeDocument/2006/relationships/slide" Target="/ppt/slides/slide7.xml" Id="R163f1f5ce7704922" /><Relationship Type="http://schemas.openxmlformats.org/officeDocument/2006/relationships/slide" Target="/ppt/slides/slide8.xml" Id="R37c96b0e793f4ff0" /><Relationship Type="http://schemas.openxmlformats.org/officeDocument/2006/relationships/slide" Target="/ppt/slides/slide9.xml" Id="R58363c8c8e5144e3" /><Relationship Type="http://schemas.openxmlformats.org/officeDocument/2006/relationships/slide" Target="/ppt/slides/slide10.xml" Id="R2e379aad58024e98" /><Relationship Type="http://schemas.openxmlformats.org/officeDocument/2006/relationships/slide" Target="/ppt/slides/slide11.xml" Id="R62a5fe88d2ac4927" /><Relationship Type="http://schemas.openxmlformats.org/officeDocument/2006/relationships/slide" Target="/ppt/slides/slide12.xml" Id="Rb2bdcf5fb14d4cf1" /><Relationship Type="http://schemas.openxmlformats.org/officeDocument/2006/relationships/slide" Target="/ppt/slides/slide13.xml" Id="R13de4a21a3d34116" /><Relationship Type="http://schemas.openxmlformats.org/officeDocument/2006/relationships/slide" Target="/ppt/slides/slide14.xml" Id="R0acfc240b9c044aa" /><Relationship Type="http://schemas.openxmlformats.org/officeDocument/2006/relationships/slide" Target="/ppt/slides/slide15.xml" Id="Rce6a52fa6d3242f2" /><Relationship Type="http://schemas.openxmlformats.org/officeDocument/2006/relationships/slide" Target="/ppt/slides/slide16.xml" Id="R89511663738e4fba" /><Relationship Type="http://schemas.openxmlformats.org/officeDocument/2006/relationships/slide" Target="/ppt/slides/slide17.xml" Id="Ra25d533712eb49d4" /><Relationship Type="http://schemas.openxmlformats.org/officeDocument/2006/relationships/slide" Target="/ppt/slides/slide18.xml" Id="Rb303d8fe2f3f4088" /><Relationship Type="http://schemas.openxmlformats.org/officeDocument/2006/relationships/slide" Target="/ppt/slides/slide19.xml" Id="Ra110fb1a0e3c48f2" /><Relationship Type="http://schemas.openxmlformats.org/officeDocument/2006/relationships/slide" Target="/ppt/slides/slide20.xml" Id="R0f8491be6be84448" /><Relationship Type="http://schemas.openxmlformats.org/officeDocument/2006/relationships/slide" Target="/ppt/slides/slide21.xml" Id="R7d7ea7cb54f74bf4" /><Relationship Type="http://schemas.openxmlformats.org/officeDocument/2006/relationships/slide" Target="/ppt/slides/slide22.xml" Id="R34342df110bd40e6" /><Relationship Type="http://schemas.openxmlformats.org/officeDocument/2006/relationships/slide" Target="/ppt/slides/slide23.xml" Id="Rf4f7bdbbdbeb471b" /><Relationship Type="http://schemas.openxmlformats.org/officeDocument/2006/relationships/slide" Target="/ppt/slides/slide24.xml" Id="R0e1fe833e3574364" /><Relationship Type="http://schemas.openxmlformats.org/officeDocument/2006/relationships/slide" Target="/ppt/slides/slide25.xml" Id="R1103251844d84744" /><Relationship Type="http://schemas.openxmlformats.org/officeDocument/2006/relationships/slide" Target="/ppt/slides/slide26.xml" Id="R7054f9e37a0749e6" /><Relationship Type="http://schemas.openxmlformats.org/officeDocument/2006/relationships/slide" Target="/ppt/slides/slide27.xml" Id="R02e4120f127841a5" /><Relationship Type="http://schemas.openxmlformats.org/officeDocument/2006/relationships/slide" Target="/ppt/slides/slide28.xml" Id="Rd6a5f661b3a742d1" /><Relationship Type="http://schemas.openxmlformats.org/officeDocument/2006/relationships/slide" Target="/ppt/slides/slide29.xml" Id="R00a8db66e6cf44a9" /><Relationship Type="http://schemas.openxmlformats.org/officeDocument/2006/relationships/slide" Target="/ppt/slides/slide30.xml" Id="Rf46db1c696a947a4" /><Relationship Type="http://schemas.openxmlformats.org/officeDocument/2006/relationships/slide" Target="/ppt/slides/slide31.xml" Id="Rc1826d61263447ca" /><Relationship Type="http://schemas.openxmlformats.org/officeDocument/2006/relationships/slide" Target="/ppt/slides/slide32.xml" Id="Re529f03f138d4029" /><Relationship Type="http://schemas.openxmlformats.org/officeDocument/2006/relationships/slide" Target="/ppt/slides/slide33.xml" Id="Raf183096c44149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f5678d7a4d4a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898c3816f04597" /><Relationship Type="http://schemas.openxmlformats.org/officeDocument/2006/relationships/notesMaster" Target="/ppt/notesMasters/notesMaster1.xml" Id="R18026864dc3149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07e9790e26497a" /><Relationship Type="http://schemas.openxmlformats.org/officeDocument/2006/relationships/notesMaster" Target="/ppt/notesMasters/notesMaster1.xml" Id="Rf744c6b46f194f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3357c742a14537" /><Relationship Type="http://schemas.openxmlformats.org/officeDocument/2006/relationships/notesMaster" Target="/ppt/notesMasters/notesMaster1.xml" Id="R44ad36f468294f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cbb9b3a03384d5c" /><Relationship Type="http://schemas.openxmlformats.org/officeDocument/2006/relationships/notesMaster" Target="/ppt/notesMasters/notesMaster1.xml" Id="R1d50efd19922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9d9b076d67c4901" /><Relationship Type="http://schemas.openxmlformats.org/officeDocument/2006/relationships/notesMaster" Target="/ppt/notesMasters/notesMaster1.xml" Id="R3b987948512442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b876d99f264c32" /><Relationship Type="http://schemas.openxmlformats.org/officeDocument/2006/relationships/notesMaster" Target="/ppt/notesMasters/notesMaster1.xml" Id="Rb7557a9014ec44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e2db7d0de44b9e" /><Relationship Type="http://schemas.openxmlformats.org/officeDocument/2006/relationships/notesMaster" Target="/ppt/notesMasters/notesMaster1.xml" Id="Re60fbf05110e4a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ecb55679194f39" /><Relationship Type="http://schemas.openxmlformats.org/officeDocument/2006/relationships/notesMaster" Target="/ppt/notesMasters/notesMaster1.xml" Id="R8dca0dd0b9f84e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ca37dbb35a4420" /><Relationship Type="http://schemas.openxmlformats.org/officeDocument/2006/relationships/notesMaster" Target="/ppt/notesMasters/notesMaster1.xml" Id="R8313796e1e644b6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94a20b97744511" /><Relationship Type="http://schemas.openxmlformats.org/officeDocument/2006/relationships/notesMaster" Target="/ppt/notesMasters/notesMaster1.xml" Id="R1dd9613ddecd47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982e12a49f4fa8" /><Relationship Type="http://schemas.openxmlformats.org/officeDocument/2006/relationships/notesMaster" Target="/ppt/notesMasters/notesMaster1.xml" Id="Rc36365358ed44ea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dae40131864079" /><Relationship Type="http://schemas.openxmlformats.org/officeDocument/2006/relationships/notesMaster" Target="/ppt/notesMasters/notesMaster1.xml" Id="R5005d22fd04548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fc47b159f14cf1" /><Relationship Type="http://schemas.openxmlformats.org/officeDocument/2006/relationships/notesMaster" Target="/ppt/notesMasters/notesMaster1.xml" Id="Re44dd5a11b98463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a5c8dc59f07485c" /><Relationship Type="http://schemas.openxmlformats.org/officeDocument/2006/relationships/notesMaster" Target="/ppt/notesMasters/notesMaster1.xml" Id="Rea31868c498041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c17f5021354925" /><Relationship Type="http://schemas.openxmlformats.org/officeDocument/2006/relationships/notesMaster" Target="/ppt/notesMasters/notesMaster1.xml" Id="Rb74dd521aebc4bb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64ff257c4c14d05" /><Relationship Type="http://schemas.openxmlformats.org/officeDocument/2006/relationships/notesMaster" Target="/ppt/notesMasters/notesMaster1.xml" Id="Rded89657ed4e4bc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ec877fb44ce4e61" /><Relationship Type="http://schemas.openxmlformats.org/officeDocument/2006/relationships/notesMaster" Target="/ppt/notesMasters/notesMaster1.xml" Id="R5d4f897ff52d4b1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46ebffcd72149ba" /><Relationship Type="http://schemas.openxmlformats.org/officeDocument/2006/relationships/notesMaster" Target="/ppt/notesMasters/notesMaster1.xml" Id="Rfd34d4852bb540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e8b6970ccdb44f0" /><Relationship Type="http://schemas.openxmlformats.org/officeDocument/2006/relationships/notesMaster" Target="/ppt/notesMasters/notesMaster1.xml" Id="Rfb21199efbea468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8c3478bcff34bbe" /><Relationship Type="http://schemas.openxmlformats.org/officeDocument/2006/relationships/notesMaster" Target="/ppt/notesMasters/notesMaster1.xml" Id="R400bcec1f76a42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c350b7c8af4719" /><Relationship Type="http://schemas.openxmlformats.org/officeDocument/2006/relationships/notesMaster" Target="/ppt/notesMasters/notesMaster1.xml" Id="R570c6bf75a5d41a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cf8f736b654f55" /><Relationship Type="http://schemas.openxmlformats.org/officeDocument/2006/relationships/notesMaster" Target="/ppt/notesMasters/notesMaster1.xml" Id="R94711171527f465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960b7a08bb94566" /><Relationship Type="http://schemas.openxmlformats.org/officeDocument/2006/relationships/notesMaster" Target="/ppt/notesMasters/notesMaster1.xml" Id="R6e0f01793cb84e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681ab196812496c" /><Relationship Type="http://schemas.openxmlformats.org/officeDocument/2006/relationships/notesMaster" Target="/ppt/notesMasters/notesMaster1.xml" Id="R2cc2d66c98f642d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5b558944ba4f4bed" /><Relationship Type="http://schemas.openxmlformats.org/officeDocument/2006/relationships/notesMaster" Target="/ppt/notesMasters/notesMaster1.xml" Id="Ra3c8717c780f45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cba6fb829cd4b42" /><Relationship Type="http://schemas.openxmlformats.org/officeDocument/2006/relationships/notesMaster" Target="/ppt/notesMasters/notesMaster1.xml" Id="R03110d346c50405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def35b3548c45b4" /><Relationship Type="http://schemas.openxmlformats.org/officeDocument/2006/relationships/notesMaster" Target="/ppt/notesMasters/notesMaster1.xml" Id="R8b8c93d6ee4b4d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b22c4ef8b274cc2" /><Relationship Type="http://schemas.openxmlformats.org/officeDocument/2006/relationships/notesMaster" Target="/ppt/notesMasters/notesMaster1.xml" Id="Rf509ff743eea44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3b63607c2b84164" /><Relationship Type="http://schemas.openxmlformats.org/officeDocument/2006/relationships/notesMaster" Target="/ppt/notesMasters/notesMaster1.xml" Id="R2f8d1ddc8fcc439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f607c6e407d47d7" /><Relationship Type="http://schemas.openxmlformats.org/officeDocument/2006/relationships/notesMaster" Target="/ppt/notesMasters/notesMaster1.xml" Id="Ra014387e940143e6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539d16dadda4c5c" /><Relationship Type="http://schemas.openxmlformats.org/officeDocument/2006/relationships/notesMaster" Target="/ppt/notesMasters/notesMaster1.xml" Id="R9d08d96a935d4ea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458a1150b29464d" /><Relationship Type="http://schemas.openxmlformats.org/officeDocument/2006/relationships/notesMaster" Target="/ppt/notesMasters/notesMaster1.xml" Id="Reab378ee13e54e2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dbc87448da14dff" /><Relationship Type="http://schemas.openxmlformats.org/officeDocument/2006/relationships/notesMaster" Target="/ppt/notesMasters/notesMaster1.xml" Id="Ra291d6e0007045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保留舊教材的歷史主線，但將事件與貨幣、支付及市場制度連結，而非只列年份。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白皮書的原始標題是點對點電子現金系統；這是理解後續發展的基準。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https://bitcoin.org/en/bitcoin-paper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去中心化不是沒有規則，而是規則與控制權分散於多種參與者。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https://developer.bitcoin.org/devguide/block_chain.html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刪除舊教材以固定BTC價格換算今日台幣價值，避免時效失真與後見偏誤。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保留Mt. Gox案例，用來建立交易平台風險與底層網路風險的區別。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價格上漲不是網路採用的唯一指標；價格下跌也不等於協議失效。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升級不是由CEO下令；礦工、節點、開發者、企業與使用者共同影響採用。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https://developer.bitcoin.org/devguide/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把減半視為可預測的供給規則，而不是必漲訊號。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同一資產可有多重用途，分析時要先說清楚使用者目標。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支付不是把檔案寄給對方，而是更新全網對UTXO所有權的共同紀錄。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最終性需求取決於買咖啡、跨境匯款或大額資產交割。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保留舊教材的單位換算，刪除過時價格例子。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將私鑰遺失、釣魚與平台倒閉放在不同責任層分析。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Bitcoin費用模型可能有利大額結算，未必適合每筆小額零售。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Lightning改善部分支付限制，但不是完全免費或沒有風險。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看到商家『接受Bitcoin』時，要問最後入帳的是BTC還是法幣。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鏈上轉移快，不代表收款人取得可用法幣一定更快或更便宜。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截至2026年不宜再教成兩國維持完整法定貨幣制度。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https://www.imf.org/-/media/Files/Publications/CR/2023/English/1CAFEA2023002.ashx</a:t>
            </a:r>
          </a:p>
          <a:p xmlns:a="http://schemas.openxmlformats.org/drawingml/2006/main">
            <a:r>
              <a:t>- https://www.imf.org/es/news/articles/2025/02/26/pr25043-el-salvador-imf-approves-new-40-month-us1-bn-eff-arr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技術能轉帳只是起點；支付工具還要能融入商業流程。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不是哪條路絕對較安全，而是風險從使用者移轉到不同中介。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舊教材『美國尚未批准現貨ETF』必須刪除。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使用SEC原文強調：核准交易規則不等於認可標的價值。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https://www.sec.gov/newsroom/speeches-statements/gensler-statement-spot-bitcoin-011023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便利性不是免費的；投資人換取的是傳統市場介面與制度性保管。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估值困難不代表價值必為零，也不代表任何價格都合理。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以風險來源取代『只會漲或只會跌』的立場辯論。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本課不提供個別投資建議；訓練把Bitcoin放入完整資產負債表思考。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保留舊教材道德議題，但避免將所有鏈上活動等同犯罪。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要求學生提出選擇依據，不計算短期價格目標。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d0cd2841542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0be8564211a45cd" /><Relationship Type="http://schemas.openxmlformats.org/officeDocument/2006/relationships/slideLayout" Target="/ppt/slideLayouts/slideLayout1.xml" Id="Ra52e8a9615bb47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2e8a9615bb47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d9367de563433b" /><Relationship Type="http://schemas.openxmlformats.org/officeDocument/2006/relationships/notesSlide" Target="/ppt/notesSlides/notesSlide1.xml" Id="R30d922b3179842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ac285bdfa14300" /><Relationship Type="http://schemas.openxmlformats.org/officeDocument/2006/relationships/notesSlide" Target="/ppt/notesSlides/notesSlide2.xml" Id="Rf2234a11111f44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6118f95e54496" /><Relationship Type="http://schemas.openxmlformats.org/officeDocument/2006/relationships/notesSlide" Target="/ppt/notesSlides/notesSlide3.xml" Id="R61aba9db122249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702aa02eb4b4e" /><Relationship Type="http://schemas.openxmlformats.org/officeDocument/2006/relationships/notesSlide" Target="/ppt/notesSlides/notesSlide4.xml" Id="Rd5576b5cdd034e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2681e7bda4470" /><Relationship Type="http://schemas.openxmlformats.org/officeDocument/2006/relationships/notesSlide" Target="/ppt/notesSlides/notesSlide5.xml" Id="R9e4e204b7e6e47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f84da6825432b" /><Relationship Type="http://schemas.openxmlformats.org/officeDocument/2006/relationships/notesSlide" Target="/ppt/notesSlides/notesSlide6.xml" Id="R53347c9a8b8647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d34f7e4d664883" /><Relationship Type="http://schemas.openxmlformats.org/officeDocument/2006/relationships/notesSlide" Target="/ppt/notesSlides/notesSlide7.xml" Id="Raeba4df29c5349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3721488104a22" /><Relationship Type="http://schemas.openxmlformats.org/officeDocument/2006/relationships/notesSlide" Target="/ppt/notesSlides/notesSlide8.xml" Id="Rbd3b748241ed4a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eb6abc1164d44" /><Relationship Type="http://schemas.openxmlformats.org/officeDocument/2006/relationships/notesSlide" Target="/ppt/notesSlides/notesSlide9.xml" Id="R41cb379761114ab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3e060d135454f" /><Relationship Type="http://schemas.openxmlformats.org/officeDocument/2006/relationships/notesSlide" Target="/ppt/notesSlides/notesSlide10.xml" Id="R7360bdbe08f343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efc0133b8463f" /><Relationship Type="http://schemas.openxmlformats.org/officeDocument/2006/relationships/notesSlide" Target="/ppt/notesSlides/notesSlide11.xml" Id="Rc1c0118dc4744e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bc48ca83e4e84" /><Relationship Type="http://schemas.openxmlformats.org/officeDocument/2006/relationships/notesSlide" Target="/ppt/notesSlides/notesSlide12.xml" Id="R589c77266f0246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9dd09b9a64647" /><Relationship Type="http://schemas.openxmlformats.org/officeDocument/2006/relationships/notesSlide" Target="/ppt/notesSlides/notesSlide13.xml" Id="Re78eabc589cc4b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6969cec2d4743" /><Relationship Type="http://schemas.openxmlformats.org/officeDocument/2006/relationships/notesSlide" Target="/ppt/notesSlides/notesSlide14.xml" Id="R37f01d58f9fc49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84f2b0c3a54722" /><Relationship Type="http://schemas.openxmlformats.org/officeDocument/2006/relationships/notesSlide" Target="/ppt/notesSlides/notesSlide15.xml" Id="R5dc8a5a5b2be4c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106f4eda9c4f27" /><Relationship Type="http://schemas.openxmlformats.org/officeDocument/2006/relationships/notesSlide" Target="/ppt/notesSlides/notesSlide16.xml" Id="Rc4b8e94c743d471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dba6045464953" /><Relationship Type="http://schemas.openxmlformats.org/officeDocument/2006/relationships/notesSlide" Target="/ppt/notesSlides/notesSlide17.xml" Id="R19d7c4eb59f1419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9739ba66243fc" /><Relationship Type="http://schemas.openxmlformats.org/officeDocument/2006/relationships/notesSlide" Target="/ppt/notesSlides/notesSlide18.xml" Id="Rc2598f10c8164ec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814f6b077a4612" /><Relationship Type="http://schemas.openxmlformats.org/officeDocument/2006/relationships/notesSlide" Target="/ppt/notesSlides/notesSlide19.xml" Id="Rb1461c5e14a4495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40684f82ed4e77" /><Relationship Type="http://schemas.openxmlformats.org/officeDocument/2006/relationships/notesSlide" Target="/ppt/notesSlides/notesSlide20.xml" Id="Re646526ae5c54c9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b6d6e335d4b8d" /><Relationship Type="http://schemas.openxmlformats.org/officeDocument/2006/relationships/notesSlide" Target="/ppt/notesSlides/notesSlide21.xml" Id="R9255b5dd29ca40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f522aee934f33" /><Relationship Type="http://schemas.openxmlformats.org/officeDocument/2006/relationships/notesSlide" Target="/ppt/notesSlides/notesSlide22.xml" Id="R18b01d903ed34d2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73759b0614003" /><Relationship Type="http://schemas.openxmlformats.org/officeDocument/2006/relationships/notesSlide" Target="/ppt/notesSlides/notesSlide23.xml" Id="R0ad7f520ddaf4e7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ca8db2ce942d5" /><Relationship Type="http://schemas.openxmlformats.org/officeDocument/2006/relationships/notesSlide" Target="/ppt/notesSlides/notesSlide24.xml" Id="Ra693c9ecc7bc422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132e3d67b4df1" /><Relationship Type="http://schemas.openxmlformats.org/officeDocument/2006/relationships/notesSlide" Target="/ppt/notesSlides/notesSlide25.xml" Id="Rb849dc9ac3f3463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8a7f1208b4ee1" /><Relationship Type="http://schemas.openxmlformats.org/officeDocument/2006/relationships/notesSlide" Target="/ppt/notesSlides/notesSlide26.xml" Id="Re3ab858e905d4f6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56de6988a4b93" /><Relationship Type="http://schemas.openxmlformats.org/officeDocument/2006/relationships/notesSlide" Target="/ppt/notesSlides/notesSlide27.xml" Id="R2453536e9648418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45f22f2f940cb" /><Relationship Type="http://schemas.openxmlformats.org/officeDocument/2006/relationships/notesSlide" Target="/ppt/notesSlides/notesSlide28.xml" Id="R734ec5c9f3b14f2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ea8f56a424042" /><Relationship Type="http://schemas.openxmlformats.org/officeDocument/2006/relationships/notesSlide" Target="/ppt/notesSlides/notesSlide29.xml" Id="R3335193d1aa0489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55daef727943c6" /><Relationship Type="http://schemas.openxmlformats.org/officeDocument/2006/relationships/notesSlide" Target="/ppt/notesSlides/notesSlide30.xml" Id="R8c50b4f9a924433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9f1d8a39e43a3" /><Relationship Type="http://schemas.openxmlformats.org/officeDocument/2006/relationships/notesSlide" Target="/ppt/notesSlides/notesSlide31.xml" Id="R67e973db19d842c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78b5508a643c5" /><Relationship Type="http://schemas.openxmlformats.org/officeDocument/2006/relationships/notesSlide" Target="/ppt/notesSlides/notesSlide32.xml" Id="Rbf3a816a5bfa438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bcb20eed94e19" /><Relationship Type="http://schemas.openxmlformats.org/officeDocument/2006/relationships/notesSlide" Target="/ppt/notesSlides/notesSlide33.xml" Id="Rbf3a92a2ecce45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70C8E-2244-4608-BB5C-0E09653F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區塊鏈概論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88869-1D1A-4B2B-A22D-F2DB9E06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81125"/>
            <a:ext cx="1085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Week 7</a:t>
            </a:r>
          </a:p>
          <a:p xmlns:a="http://schemas.openxmlformats.org/drawingml/2006/main">
            <a:pPr algn="l">
              <a:def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比特幣的歷史、支付與投資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2CCA3-FE29-41F2-8B4F-61C63915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5720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從電子現金實驗到全球金融資產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8BFF6B-9CC0-4BF0-AF40-238FF54D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981700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第一節：歷史事件如何改變Bitcoin的市場角色</a:t>
            </a:r>
          </a:p>
        </p:txBody>
      </p:sp>
    </p:spTree>
    <p:extLst>
      <p:ext uri="{BB962C8B-B14F-4D97-AF65-F5344CB8AC3E}">
        <p14:creationId xmlns:p14="http://schemas.microsoft.com/office/powerpoint/2010/main" val="5567363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55CF0-6830-46F1-9B4C-E9132E0C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D3743-BDBC-4D56-A9D2-10BEBFC3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2008年的問題意識：如何不靠金融機構完成網路支付？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C659A1-B715-4A70-9A91-6E2A7A80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383C2-32FE-499F-BE16-624C9075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1A2F3C-5C0E-42D8-B30A-D9C1AB14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FAA58-153D-4AE9-85D3-03F69AAE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B718B-9411-4D9D-92C6-1EB48114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A67D6-53EF-4027-99B9-3CF30016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傳統網路支付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726C1-EE38-4B11-A039-BCB522EE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由銀行或支付機構驗證身分與餘額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可處理爭議與撤銷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效率高，但依賴中介與制度信用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8C7553-B8A3-494D-9EFB-4C83494C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Bitcoin提案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DC11D2-293B-40EB-8E1C-6505F770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以點對點網路傳遞價值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用工作量證明排序交易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以公開帳本防止雙重支付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降低對單一中介的依賴</a:t>
            </a:r>
          </a:p>
        </p:txBody>
      </p:sp>
    </p:spTree>
    <p:extLst>
      <p:ext uri="{BB962C8B-B14F-4D97-AF65-F5344CB8AC3E}">
        <p14:creationId xmlns:p14="http://schemas.microsoft.com/office/powerpoint/2010/main" val="21055820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B9C1C-3630-4425-9C5A-503C2799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E88A88-032C-4C6C-B249-7FD9D678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2009年創世區塊把設計變成可運作的網路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9A688-4A2C-419C-B4D3-A25D48D2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4919E-9C96-4682-A937-F0B662B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C086A-AC84-42C3-893B-7D22ACAF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211152-55BA-4193-8A13-710D66C5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14BE40-E201-4163-B517-3698CC72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軟體規則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431D18-93AF-4726-8BF3-FEA2B118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節點依共同規則驗證交易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13D84-B2A7-493F-B031-2D78978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FD650-BE9A-4958-90D6-E9A072D6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創世區塊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0D591-58FE-4C51-8007-43666F6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建立第一個區塊與後續鏈結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8C7B6-BE0D-4482-9020-2EB23B08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3E8EA-5DE8-4BB6-8286-24C6A7CD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原生資產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712F0-B876-4A1A-9F20-A8815054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BTC用於轉移價值與激勵安全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521C6-E77D-4E61-9B82-7B103BB1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A63EE9-F2D7-4EDB-8AE9-DD571145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開源社群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815F1-2AC2-40CB-B58D-4F4F0408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沒有公司擁有整個Bitcoin網路</a:t>
            </a:r>
          </a:p>
        </p:txBody>
      </p:sp>
    </p:spTree>
    <p:extLst>
      <p:ext uri="{BB962C8B-B14F-4D97-AF65-F5344CB8AC3E}">
        <p14:creationId xmlns:p14="http://schemas.microsoft.com/office/powerpoint/2010/main" val="1148005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8B5EF-90F8-45BE-8FD2-551B7FFC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ED47A5-F481-4DB5-A154-8742AF07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2010年披薩交易證明BTC可以交換真實商品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77D52-F7CE-4535-AADE-CCBF3E78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034E7-4AF3-4930-B891-3B9AC00B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682620-49DE-43B9-8E59-6F861891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9A51A-02D3-4442-8DBD-53ECA03E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0B57F-CFB4-40BE-A84C-085F4DBAB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A5E6E-1895-4EBB-BF6B-838439BE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事件本身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D4B12-4C7E-4852-825A-6E6441F3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10,000 BTC換取兩個披薩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從技術測試跨入商品交換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5月22日成為Bitcoin Pizza 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F13F0-7432-4F54-98A0-E698D918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真正意義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EAE6E-3F8D-436E-8FC9-F888A21A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市場首次形成BTC對商品的交換比率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支付價值來自交易雙方同意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今日價格回推只是趣味，不是投資績效</a:t>
            </a:r>
          </a:p>
        </p:txBody>
      </p:sp>
    </p:spTree>
    <p:extLst>
      <p:ext uri="{BB962C8B-B14F-4D97-AF65-F5344CB8AC3E}">
        <p14:creationId xmlns:p14="http://schemas.microsoft.com/office/powerpoint/2010/main" val="9167557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F91F3B-8097-42A4-A8B6-FF28A16C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4559AE-2F83-422C-9603-235E7CB8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交易所讓BTC進入法幣市場，也引入中心化風險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9DA33-D831-4001-B953-6F1E926F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BDE19-9EF4-4579-87E6-2CB2CD1E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C23E4-2795-478C-BF45-04F77F90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508C0-7098-405F-AC7E-D8B95345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07D6B-0F21-47F3-969A-9804A09E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D241EF-4D92-412A-90AC-791A5A25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交易所帶來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ABAF9-9EAD-4F55-A122-93D1C831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法幣出入金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集中撮合與價格發現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提高流動性與市場可見度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降低一般使用者門檻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F67D3-00D6-4593-9A93-02437790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Mt. Gox教訓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E312B-C457-4D4D-9269-58FFD990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平台保管私鑰與客戶資產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交易所失敗不等於Bitcoin停止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鏈上資產與平台債權必須區分</a:t>
            </a:r>
          </a:p>
        </p:txBody>
      </p:sp>
    </p:spTree>
    <p:extLst>
      <p:ext uri="{BB962C8B-B14F-4D97-AF65-F5344CB8AC3E}">
        <p14:creationId xmlns:p14="http://schemas.microsoft.com/office/powerpoint/2010/main" val="7982432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D3270-76AA-4AAC-8DCD-99B9B37B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EE1A2A-DA0C-4F74-AD6E-6C09CA95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價格週期讓Bitcoin從支付實驗轉向投資資產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F0B38-6A2C-42F6-8943-09B88DB6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0B4EBD-023D-46D6-B6B3-B5D1878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4CC2D-C803-4A84-8384-ED298AB2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8B666-049C-48D0-B782-94CC0145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7160FD-215F-4887-A5B5-EBDAE5C2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需求變動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965B6-9688-44DA-BFC1-332C9D0F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關注、流動性與槓桿推動價格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BEFBB-7102-4ABA-9BED-D424AA67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45E67E-C1CB-4E5A-8B48-129B02B1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供給僵固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5A1608-1F7F-4F13-8640-2C4B5261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短期供給難隨需求快速調節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98E0B-4CC9-46A3-8216-CAF0683B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D5D18-8D15-4819-A1DB-000BC145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市場結構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B4E715-721A-4C7E-8B45-850E94EE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全球交易、24小時市場與平台分散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ABFFF-39F5-4689-AFD3-83DAB47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DC7B9C-DABB-4A2E-9E85-342B730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敘事轉換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D51DE-554E-45AE-BE6D-5FE2BFC0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電子現金、數位黃金與機構資產並存</a:t>
            </a:r>
          </a:p>
        </p:txBody>
      </p:sp>
    </p:spTree>
    <p:extLst>
      <p:ext uri="{BB962C8B-B14F-4D97-AF65-F5344CB8AC3E}">
        <p14:creationId xmlns:p14="http://schemas.microsoft.com/office/powerpoint/2010/main" val="4419561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FA8FF5-8B4A-4D08-9986-F36D38E8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BCC11-2294-452E-8A1D-22CD1E88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協議升級是在保守治理下逐步發生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871C1-9BCE-4538-BEEC-2363B904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BE5C14-E996-4759-BEAB-8A35A98F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75624-03C9-43D2-8E20-CAD5674A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B5498-DFAE-442B-93E4-12445745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157DD-3771-44C6-82C4-900365EC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SegWit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B11B4-27B1-4588-BE9C-B8719AD9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重整交易資料並改善容量與延展性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E19D3-5240-4657-B684-89CAE729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D2C08-C787-4FDB-AD21-C2FC13E2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Lightning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B1C546-9541-4CF8-A0A0-0706B540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在主鏈之外建立支付通道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8B346-27E1-4046-A5F0-79C4775F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4A939-3556-4C68-8C53-2503080E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Taproot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7B189-D002-4F81-B6CA-58261491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改善複雜花費條件的效率與隱私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7F9A7A-2E9C-4A14-AA9E-8A07CB95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29DB30-C689-4566-80A4-98B7A5F0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治理文化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94130-F820-4BDB-B67D-45238C3AF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重視向後相容、節點選擇與審慎升級</a:t>
            </a:r>
          </a:p>
        </p:txBody>
      </p:sp>
    </p:spTree>
    <p:extLst>
      <p:ext uri="{BB962C8B-B14F-4D97-AF65-F5344CB8AC3E}">
        <p14:creationId xmlns:p14="http://schemas.microsoft.com/office/powerpoint/2010/main" val="18057934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F645D-D2BB-4A7F-9423-BD1EF9F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D83784-2C96-4A63-B7FF-5D0C26C0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減半降低新增供給，但不保證價格上漲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D2939-6123-49B3-A161-3ABC11F3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525EAF-CAA4-477C-8716-CB3D38C6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CB0DA-F1E4-487E-BEEE-6AE755C3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3E345-64C0-4885-92A2-EF24C3DB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CC481-5A11-475D-805B-314DD4C3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D3DF47-3C52-4B82-BF9B-064DECD8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協議效果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89E43-42A2-493C-A1FC-9A3EF3945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區塊補貼約每21萬個區塊減半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新增BTC速度逐步下降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總供給上限約2,100萬枚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礦工收入結構逐漸轉向手續費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AF41F-338B-450D-A12B-095A26D3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市場結果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8FFCA3-7909-409A-A1C3-B1EDF69C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需求、流動性與風險偏好仍會改變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市場可能提前反映事件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歷史報酬不能保證未來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安全預算值得長期觀察</a:t>
            </a:r>
          </a:p>
        </p:txBody>
      </p:sp>
    </p:spTree>
    <p:extLst>
      <p:ext uri="{BB962C8B-B14F-4D97-AF65-F5344CB8AC3E}">
        <p14:creationId xmlns:p14="http://schemas.microsoft.com/office/powerpoint/2010/main" val="20752622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5B396-E14C-40B1-B582-8AFBE8F06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A5227-03F9-4F52-99F2-654B4A3C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Bitcoin同時被視為貨幣網路與風險資產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A1E0A-FDF3-4175-8D36-6F4C22C8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53090-90BF-4748-97FE-C740129A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A9E18-8659-43C0-8DDB-1075E4F5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8C78E-E222-4545-A374-3DE3B0EFE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A0863-E5F4-4408-8FE1-B07C8304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0B6B5-B3D2-4903-82ED-B29A1C2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貨幣視角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422D8-902F-46DB-84D9-D5A64F72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稀缺性與可攜性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不需單一發行人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可跨境轉移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可自我保管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AD7D4-A2B7-4A31-9A08-B98FC1C2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金融資產視角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2B7B5-B7DE-4717-B0B2-450D4203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價格高度波動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沒有法定贖回價值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沒有企業現金流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報酬主要來自未來市場需求</a:t>
            </a:r>
          </a:p>
        </p:txBody>
      </p:sp>
    </p:spTree>
    <p:extLst>
      <p:ext uri="{BB962C8B-B14F-4D97-AF65-F5344CB8AC3E}">
        <p14:creationId xmlns:p14="http://schemas.microsoft.com/office/powerpoint/2010/main" val="57841136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28FE1-C279-4DFE-A55B-56C74F44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第一節｜發展史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ECAE97-A11C-437D-9A7A-439130A5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歷史主線：每次擴張都伴隨新的中介與風險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44D9D2-B1B1-4B18-AD82-AF38DA2F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A4A90-09B5-4E53-99FB-2A251967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7｜第一節｜發展史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F2F2EE-E634-4770-AD7C-70A7C1F6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94D4F-F23F-4925-8C88-325058C8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從協議到市場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F6686-B06D-488B-8649-3126AE8F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Bitcoin移除發行與清算的單一中心，卻沒有消除交易所、錢包、ETF、礦池與支付商。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481EF-D48D-454A-A60B-455253FB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47FBF-2F26-4742-8DAF-16D1E98F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4526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真正的金融素養，是分辨哪個環節去中心化、哪個環節重新集中，以及失敗時由誰承擔損失。</a:t>
            </a:r>
          </a:p>
        </p:txBody>
      </p:sp>
    </p:spTree>
    <p:extLst>
      <p:ext uri="{BB962C8B-B14F-4D97-AF65-F5344CB8AC3E}">
        <p14:creationId xmlns:p14="http://schemas.microsoft.com/office/powerpoint/2010/main" val="193825441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08612C-EA55-4E98-A793-6216EAD0A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90B2B-2DE7-4889-AE28-3488EC76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99DFA-4AB7-49FC-BB83-99C708A2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1178F-B705-4BE8-98B3-C3D4C8A3E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C81BD-1323-4B4B-A0A3-F1DC6A9B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1A4A8-1982-4AE8-8C4D-62A0E36B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第一節｜快問快答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61B49-B3AE-4710-B8C3-B0B30F58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F12B73-0515-4159-A841-97D49350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EDD9B-9172-4D7A-973B-C9D971B9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7｜第一節｜快問快答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DF5F8-105B-47F0-BD6F-93BB8CA7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A624E-9CF6-413E-ACA6-18699B8E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Bitcoin白皮書的核心問題？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BB8A2-26A1-4263-A765-12E9F75D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社群媒體　B 點對點電子現金　C 遊戲道具　D 政府債券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805EBF-7C38-403E-B587-BE57863B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BC380-30A7-454E-BEB6-53996C6C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答案：B。降低對金融中介的依賴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4C906-3F00-4472-B50B-63AB2EFB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去中心化代表？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1FB383-885A-40B0-A735-838E77C0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沒有規則　B 無單一單位能完全控制　C 完全匿名　D 沒有風險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1B1626-27C8-4B1C-9F3A-6B89F67E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11A00-35D2-4A97-9209-D9A23E90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答案：B。控制與驗證分散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1D1B1-2654-4B6B-AB1E-2D8E83EF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披薩交易的重要性？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C5F86-1946-45BA-93B9-69DA5A28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保證升值　B BTC首次著名商品交換案例　C 產生ETF　D 改用PoS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AA9E73-E283-4028-A8D4-41D90E03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A8202-A130-463D-A51E-1B9044C1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答案：B。從實驗走向交換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1BFB8-44CC-4164-A8E5-AC135C39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Mt. Gox主要顯示？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E2A33-8E60-4EEC-810B-7DF696D3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協議一定失效　B 中心化平台保管風險　C BTC可撤銷　D 沒有私鑰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847648-99AB-49FE-8E85-FDA55A18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E7C3D-25A1-4ADB-9A5C-944DF9FA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答案：B。平台與網路風險不同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3B48A2-A745-409D-93E5-CA6F1CAB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減半是否保證價格上漲？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25CF8-26FD-4A57-94BF-718C0E615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是　B 否　C 只保證一天　D 只看礦工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B59C1-3E80-47A6-8BDC-5504C979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9A9DE-40F8-474F-A1B1-3E97BA213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答案：B。需求與市場條件仍會變</a:t>
            </a:r>
          </a:p>
        </p:txBody>
      </p:sp>
    </p:spTree>
    <p:extLst>
      <p:ext uri="{BB962C8B-B14F-4D97-AF65-F5344CB8AC3E}">
        <p14:creationId xmlns:p14="http://schemas.microsoft.com/office/powerpoint/2010/main" val="17506934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ACF46-7CC2-43AC-AED0-9080170D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5048D-2217-4F43-AB51-64376FD3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一筆Bitcoin支付是簽署、傳播、驗證與確認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85231-6623-46C0-A59C-76393EED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92A48-6504-4975-B438-082C6952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991D3A-D6F1-4FB8-B234-4CC8A636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D0B5C-CB5C-46C6-9435-4B88D612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B08DE-310F-40F2-AE6F-A2F11E88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建立交易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2F63E3-5A48-4842-AEED-4F0C52A1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指定輸入、輸出與手續費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CA2BDA-80F6-4C3F-99CD-CB4BF8F0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C60E5-BD01-4727-BE76-51C9AA1A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數位簽章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CC552-B2B8-490A-A6DF-3D6FE260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持有私鑰者授權花費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DB2F2-0444-49DA-BE69-C02A7F15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C717F-64F7-4FEF-ACA7-405B7A6D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節點驗證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564230-5E32-4D83-98CB-BBD21285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檢查規則與未花費輸出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C2C734-7229-4A26-A4D2-8C9D43F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578965-91EE-4FB6-B047-31D971FF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區塊確認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EDF392-136D-45BC-BFFD-67017943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礦工打包，後續區塊提高確定性</a:t>
            </a:r>
          </a:p>
        </p:txBody>
      </p:sp>
    </p:spTree>
    <p:extLst>
      <p:ext uri="{BB962C8B-B14F-4D97-AF65-F5344CB8AC3E}">
        <p14:creationId xmlns:p14="http://schemas.microsoft.com/office/powerpoint/2010/main" val="20133162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62AFA-4669-431D-B928-777003E7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C04D0-BBA7-4114-A368-7BDA341D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確認不是瞬間的二元結果，而是風險逐步下降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51E42-6C0C-4AFA-B1F4-11CECB3BE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7F555-7C9C-48E7-99F8-B58DB5B1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CDCD1-7395-4B3D-B82A-84630076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AB3BD-3819-4837-981C-77F323F0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AEC71-970B-4ADC-8173-1F426F89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0E34F-ADCE-4C16-A47F-FBC365FF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尚未確認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1A0BD-58E9-49C2-AEE6-B22DDF49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交易已廣播但未納入區塊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可能因費用不足而延遲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收款方需依金額與情境評估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86B115-6F63-4045-953A-368009E9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多次確認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1C016C-0F1D-4E27-8885-4B75D8FF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後續區塊增加重組成本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高額交易通常等待更多確認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支付通道可提供不同的即時性模式</a:t>
            </a:r>
          </a:p>
        </p:txBody>
      </p:sp>
    </p:spTree>
    <p:extLst>
      <p:ext uri="{BB962C8B-B14F-4D97-AF65-F5344CB8AC3E}">
        <p14:creationId xmlns:p14="http://schemas.microsoft.com/office/powerpoint/2010/main" val="36764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B814B-398C-4478-B28B-9D6776F1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C1CCB-34F5-4FD5-9F45-A0E0F011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BTC可分割為一億聰，價格換算要用即時匯率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26D79-3ACE-4BCF-9771-0B712871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2947E-290D-4CD8-815B-ECD99B9A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367C21-28A6-4EAA-95B1-CD94B814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1D78B5-5794-44AB-A7E8-F28260F7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C2193-8893-4A32-B354-9E42C17C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441E73-92F7-4C9A-8107-C0479F38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單位關係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AA42E-E088-42D1-88E6-6BCACDF3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 BTC = 100,000,000 satoshi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0.01 BTC = 1,000,000 satoshi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金額可小於1 BTC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錢包通常自動換算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EB3A5C-AE08-42B8-9C4B-D3441809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計價問題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9E6AE-2DD4-4565-B2DE-F105F2E4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商品多以法幣定價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BTC付款額隨匯率即時計算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匯率來源、滑價與報價有效期都重要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不能沿用固定台幣換算</a:t>
            </a:r>
          </a:p>
        </p:txBody>
      </p:sp>
    </p:spTree>
    <p:extLst>
      <p:ext uri="{BB962C8B-B14F-4D97-AF65-F5344CB8AC3E}">
        <p14:creationId xmlns:p14="http://schemas.microsoft.com/office/powerpoint/2010/main" val="7796927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FBAF73-FBBC-44E9-9A0F-F84020FB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4B4E6-99A4-42D3-A4CE-24ADEA32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錢包保管的是控制權，不是把BTC裝進手機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EA518-76CC-45EC-B4FD-EF11A98F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7C682-E4B3-4284-A2F6-71199C66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25145-854E-4B81-B551-BE067556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2D11F-E3B1-4A4F-AF6F-48923734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861AD-1082-4F19-BFF6-01BB34DE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2ECCDE-1EDE-4FC1-A471-B929C400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錢包管理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D4203-8A26-469E-9533-F3F386F5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私鑰或助記詞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地址與交易簽署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餘額由區塊鏈紀錄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備份與復原流程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6A9024-9439-4DF4-BCA8-771F313E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主要選擇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C2E9-9C59-467A-8E64-0FB0F0770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託管錢包：服務商控制私鑰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自託管錢包：使用者自行負責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便利、控制、救濟與安全各有取捨</a:t>
            </a:r>
          </a:p>
        </p:txBody>
      </p:sp>
    </p:spTree>
    <p:extLst>
      <p:ext uri="{BB962C8B-B14F-4D97-AF65-F5344CB8AC3E}">
        <p14:creationId xmlns:p14="http://schemas.microsoft.com/office/powerpoint/2010/main" val="11745036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868A8-23EA-484F-9740-38DBBBD1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F7232-AD9E-433D-83D5-BD6B1374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手續費由區塊空間需求決定，不按匯款金額固定計價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F4590-AC11-4B26-A42B-12BA9923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B650C-963E-45C0-9907-F07EC09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72E7F-56DC-4667-B3F1-516C082D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08ADD4-3515-446E-9CD5-6DB750BD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22D2F-C89B-4E3E-83DE-BE51DBA2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資料大小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A0200F-B6D5-4178-AD8F-DA5E540F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交易輸入輸出越多，資料可能越大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41D25A-37C7-4CCA-A510-2FC840B4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AAB767-03FD-472D-A668-647CA431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市場競價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2F178-8441-4F7D-9F78-973252D6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壅塞時使用者提高費率爭取打包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29C7C-4113-4485-B0A1-84342704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F9A96-D8E0-4D65-A211-7556FCE7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優先順序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23D307-F0B8-4A60-B541-C3DFC919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礦工通常優先選高手續費率交易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6E8D2-1266-44C2-9394-D3BD6332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199F15-8959-414E-8F22-48BB636B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金額無關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5CCC3-C827-412F-9EFC-547D9DE2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轉1萬元與1億元可能使用相近資料量</a:t>
            </a:r>
          </a:p>
        </p:txBody>
      </p:sp>
    </p:spTree>
    <p:extLst>
      <p:ext uri="{BB962C8B-B14F-4D97-AF65-F5344CB8AC3E}">
        <p14:creationId xmlns:p14="http://schemas.microsoft.com/office/powerpoint/2010/main" val="1222081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AAD6C-35FC-4C4C-B8EA-63B0E8F8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45815-AF05-403D-A674-49C68C37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Lightning以支付通道處理高頻小額交易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FA9EB-AAC4-4530-8CD6-186DCF07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51EC82-BD52-4BC6-A3CE-D9FFA494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36CB9-4610-47D7-9240-55DDE552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BDC23-A375-47B4-84C2-9D69875D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C7B07-C980-428E-B9F3-B85B7FA4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F22203-0ADD-47E2-A681-4513CB44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運作概念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FE4AC-D935-4123-9C76-77193C7D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先在主鏈建立通道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通道內多次更新雙方餘額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關閉時再把結果寫回主鏈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適合快速、小額與頻繁支付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4B63A-4E9E-4825-ACFD-698897A6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新增風險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8D222-815D-4C43-B39B-AFF142364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需要流動性與路由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節點可能離線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託管式服務重新引入中介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使用體驗與主鏈支付不同</a:t>
            </a:r>
          </a:p>
        </p:txBody>
      </p:sp>
    </p:spTree>
    <p:extLst>
      <p:ext uri="{BB962C8B-B14F-4D97-AF65-F5344CB8AC3E}">
        <p14:creationId xmlns:p14="http://schemas.microsoft.com/office/powerpoint/2010/main" val="165567908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60D25-90C0-404D-B94A-9E0F24AB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19993-4968-443F-88A9-B5D961FD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商家收BTC其實有三種不同模式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E8402-939C-4DB3-B61E-22F30140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4EA8E-BF3B-482E-8FEC-7F3F0BD3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EB7A86-D75C-432E-B819-604B26B7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CEAFB-81B5-4D0A-8304-4D3FF59E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1E360-885B-4537-AD2F-5825990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直接持有BTC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32EE2-2E08-456B-8014-C099DB28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承擔匯率與保管風險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10902-E99F-4CC8-BC7E-F160D277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7DCE7-F7B2-46DF-A73C-1877206B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即時換成法幣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808382-908B-4A29-A27D-6683BBA8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支付商承擔轉換與結算流程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AFFD8B-29DD-41D8-A7FC-D6C1978F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3C0A9-FC5D-4C58-8CD4-2BE2E6C3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鏈上收款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598EEA-861D-4C5C-8F30-883C8FB45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可查驗但等待確認與費用變動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C6767-3D94-45E7-B673-F566535D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946E9-5DB9-474B-8F27-A6AB1D2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Lightning收款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FE28EE-337E-41BF-B874-D6785C9D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速度快但需通道與服務基礎設施</a:t>
            </a:r>
          </a:p>
        </p:txBody>
      </p:sp>
    </p:spTree>
    <p:extLst>
      <p:ext uri="{BB962C8B-B14F-4D97-AF65-F5344CB8AC3E}">
        <p14:creationId xmlns:p14="http://schemas.microsoft.com/office/powerpoint/2010/main" val="11259787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2B721-7F37-4825-AA70-9614A87F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67EB4-0F26-42BD-BF88-5F6C6589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跨境匯款要比較完整端到端成本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5F3B1-72F2-4DE1-9F73-41F2D6BC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4B7C7D-A179-4DFF-BA0F-A2012F2E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5FCD7D-7D61-4CB7-82C4-537FD721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E9344-4119-454E-B62A-3EFC3AA2B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429F5F-3F85-49A4-8303-3E03D176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鏈上成本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1B08D-F404-44BF-B9EC-3FE2F1632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手續費、確認時間與匯率波動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7C8899-5291-4ED4-BA91-5D7C7E22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AFE73-8D17-4B31-90E8-7851E382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法幣入口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7DBBD-9AA4-41A5-AED9-5C29D6860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付款人如何購得BTC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4C6703-4F8C-4BA1-A9EB-09F3F355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EE1A0-B6B2-4025-BAF9-8C5C75A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法幣出口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57F3ED-A868-4881-ADE5-5EECB486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收款人如何換成本地貨幣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AF293A-D0A8-4154-87A9-7FA519EE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5D03F-0368-4BB3-8F00-B7E9795EC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合規成本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C107A0-129A-410F-BEF0-3B13658C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KYC、AML、稅務與制裁檢查</a:t>
            </a:r>
          </a:p>
        </p:txBody>
      </p:sp>
    </p:spTree>
    <p:extLst>
      <p:ext uri="{BB962C8B-B14F-4D97-AF65-F5344CB8AC3E}">
        <p14:creationId xmlns:p14="http://schemas.microsoft.com/office/powerpoint/2010/main" val="131602863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B6F2E-2CF3-486C-8639-060116F2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0E322B-1FB7-41A6-A7FA-A1017C8F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『兩國以BTC為法定貨幣』已是過時說法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8BDBB4-59F1-47AE-AAE9-B51DAF14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5A752-7C43-4D05-B940-0AF5D8C34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A3CD8D-BAA9-4094-B172-E4B4C5CD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00199C-B7AB-4540-A2E7-DC77CA0E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8801DC-049F-48B4-9644-E144B9E3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89327-4B56-42F3-8B33-440462A3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中非共和國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5F3D8-7F1F-4427-B87F-EA480682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2022年一度給予加密資產法定貨幣地位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2023年修法撤回關鍵法償規定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法幣仍屬區域貨幣聯盟框架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F4B59-ADAC-45B6-A59B-E93503A8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薩爾瓦多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524D8-AB05-4A5F-82F3-034AA483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2021年曾採強制接受安排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2025年修法使私人接受轉為自願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稅款改以美元支付，公共部門角色縮減</a:t>
            </a:r>
          </a:p>
        </p:txBody>
      </p:sp>
    </p:spTree>
    <p:extLst>
      <p:ext uri="{BB962C8B-B14F-4D97-AF65-F5344CB8AC3E}">
        <p14:creationId xmlns:p14="http://schemas.microsoft.com/office/powerpoint/2010/main" val="76225030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DA23DB-3BD9-41D9-9286-CE54F2A2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第二節｜支付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22B31-905B-49E3-A0CF-17F7616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支付可行性取決於接受、穩定、結算與救濟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D699A-6D4E-401B-BD3E-8DAC5F2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47D1D-814F-47CA-9959-6B4D2D66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7｜第二節｜支付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EF00D-4B62-4439-99D4-0FB0E668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83B8E-8404-4E56-9789-65022EA4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08A966-FF25-487B-9315-6B445DA07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接受度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8BD66-314D-43EB-BA4E-013308B6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付款人與收款人是否願意使用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64C2D9-4A8F-4971-BCE8-07E025D2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64E04-D80C-4C92-986E-59C2EB46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價格穩定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110A07-DAC3-4B75-A7C3-ADF21C4C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報價到結算期間會否大幅變動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191CB-CA7D-43D8-9F50-848B95BF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5BD9E-F1D8-4C3B-8361-B01C69F1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作業能力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58A13-06E2-4391-8EC6-61CC79B0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錢包、流動性與網路是否可靠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04B42-D754-41C1-AE09-86D68342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0829CA-9A93-46A7-B37C-CC578ACD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法律救濟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20213-A622-4DB9-B7EE-7682BD05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錯付、詐欺與服務失敗如何處理</a:t>
            </a:r>
          </a:p>
        </p:txBody>
      </p:sp>
    </p:spTree>
    <p:extLst>
      <p:ext uri="{BB962C8B-B14F-4D97-AF65-F5344CB8AC3E}">
        <p14:creationId xmlns:p14="http://schemas.microsoft.com/office/powerpoint/2010/main" val="20944264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914A8E-5490-4A7A-BA2C-8BAFE645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F5178-5BD7-430C-85D9-67EFA717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A6897-A83A-4263-95C1-8276D258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6B633C-1509-407F-B475-DA3CE0E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89C56-87A8-4A4C-BC9C-0C2F65F6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A6060-EDA1-4523-9AD2-195D5240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第二節｜快問快答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70EE1A-5132-4F89-BA0C-63800551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5A850E-374C-45A3-989E-7E8DEA2E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511C87-DF45-4965-B74C-E187FB26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7｜第二節｜快問快答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29B0A8-1168-4B50-A4A2-0D5316AA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9E81C-D64F-4D6D-A8D4-56AACCEB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1 BTC等於多少聰？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72ACD5-7D45-4B98-BA62-11256DC7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100　B 10萬　C 1億　D 21億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35A9BD-E167-4603-91F8-E87029298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E341C7-32D1-4E21-81E3-5124D001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答案：C。100,000,000 satoshi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52462-2600-4EA3-A1AE-45E9BF89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錢包主要保管？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EDDC5B-D0C5-47DB-B6BC-806AC9A2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BTC檔案　B 私鑰與簽署能力　C 區塊　D 礦機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99A38-8A34-420C-BC49-81EA9370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1167A-2FB7-491E-A952-BA8E18D4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答案：B。控制鏈上資產的憑證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9FEFA8-40EE-4CED-999C-CFEF635A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Bitcoin手續費主要受？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331B21-01FC-402A-A4A6-0064C1EA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匯款金額固定比例　B 資料大小與區塊空間需求　C 銀行利率　D 國籍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84665-B25B-4CF5-8836-A4C9BD05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AC54D8-2D3A-44E0-94C5-3216E12F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答案：B。不是固定金額比例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9D2B0-F92D-4C22-ABF7-188AACC8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Lightning主要用於？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0E841-D2E8-441C-82DC-BB882A6C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發行ETF　B 高頻小額支付通道　C 取代私鑰　D 印鈔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52D45-8DC5-4D6C-81FD-B9C69430E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191B13-89FF-450B-8E0D-8B5798CFF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答案：B。鏈下更新後回主鏈結算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E7B94-0F52-4BA1-8D7E-6D5FA4A01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薩爾瓦多私人商家2025年後？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9EBE23-ADFE-4554-83AA-A70910E6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必須接受BTC　B 接受轉為自願　C 禁止美元　D 只能收BTC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57B899-8149-453C-B384-5B010E8A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D3B567-EFAE-4901-855F-194B6BE1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答案：B。制度已修正</a:t>
            </a:r>
          </a:p>
        </p:txBody>
      </p:sp>
    </p:spTree>
    <p:extLst>
      <p:ext uri="{BB962C8B-B14F-4D97-AF65-F5344CB8AC3E}">
        <p14:creationId xmlns:p14="http://schemas.microsoft.com/office/powerpoint/2010/main" val="8998614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50455A-6765-4BA7-869A-E7CC8C79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1AD36-450C-4066-9F3D-55922F5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投資Bitcoin有直接持有與證券化曝險兩條路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E6416-8B91-4F45-AC85-FCD7EC60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F8006-1899-4657-93A2-7198D79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EA476D-BE65-496A-AE66-64CBA6957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87780-90F5-47B6-BA82-F012A385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97DCED-6005-4CB7-A439-91AE53EF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85EB63-9E5D-4ED3-AE65-0E617A3E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直接持有BTC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0B999-A2F7-4713-8E0A-448A64F4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可鏈上轉移與自我保管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需選交易平台與錢包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承擔私鑰、平台與鏈上操作風險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可全天候交易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3E208A-B2F2-4266-BA73-355E70D1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透過證券產品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AACE8-8211-4C7C-B16E-49F52396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由基金或機構處理託管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使用既有證券帳戶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受市場時段與產品規則限制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另有管理費與追蹤差異</a:t>
            </a:r>
          </a:p>
        </p:txBody>
      </p:sp>
    </p:spTree>
    <p:extLst>
      <p:ext uri="{BB962C8B-B14F-4D97-AF65-F5344CB8AC3E}">
        <p14:creationId xmlns:p14="http://schemas.microsoft.com/office/powerpoint/2010/main" val="18122089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7D84D-8135-40D1-8BE6-D3A431612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B2456-2CA2-44C7-AC47-F4D10DD9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現貨與期貨Bitcoin ETP的曝險來源不同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F6818-9EC1-40A4-97D9-A7CF6986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5AA78-0D43-4199-BD9B-46E18926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F5021-998B-4334-ADA0-5E0651F0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8BDD21-331C-4DD4-9D1B-3371B658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8AA640-73A0-41A4-ADD1-DB3CCB13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181D7-0307-416F-BCE9-F52EBC07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現貨型產品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8344-AD31-4B3D-AF84-8D9E43674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基金持有Bitcoin或對應託管資產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價格通常緊貼現貨市場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仍有費用、折溢價與託管風險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41AE4-044C-468C-B0C4-AE886314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期貨型產品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D035E-D44C-4160-BBEB-068BBDC2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持有受監管期貨合約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需定期轉倉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正價差或逆價差造成追蹤偏離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不等於直接持有現貨</a:t>
            </a:r>
          </a:p>
        </p:txBody>
      </p:sp>
    </p:spTree>
    <p:extLst>
      <p:ext uri="{BB962C8B-B14F-4D97-AF65-F5344CB8AC3E}">
        <p14:creationId xmlns:p14="http://schemas.microsoft.com/office/powerpoint/2010/main" val="111051525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91256-311B-4A21-971A-ECF3CA9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65B36B-9B46-48A3-9936-CE5DBC6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美國於2024年核准多檔現貨Bitcoin ETP上市交易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431AC-E877-4597-8589-4EF310C1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062AD-5D8C-4C91-9520-309EC9D7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D4D73-DC66-41F9-814C-5176DE67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A7512-ECD8-476A-88A7-DD08D52E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45FAA-F8F6-4287-B695-12CFCE93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BB928-D42D-4871-A72C-C512EB5EF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改變了什麼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163A1-CD1D-4A4E-BECD-7123C0AB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傳統證券帳戶可取得BTC價格曝險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機構級託管與資訊揭露增加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市場進入門檻下降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產品間費率與流動性競爭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06378C-1F86-4D73-86DA-61F6432C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沒有改變什麼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9A02E-AE3B-4C07-8473-23CFA9C7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SEC核准上市不等於背書Bitcoin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標的仍高度波動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產品不提供存款保障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投資人仍可能重大損失</a:t>
            </a:r>
          </a:p>
        </p:txBody>
      </p:sp>
    </p:spTree>
    <p:extLst>
      <p:ext uri="{BB962C8B-B14F-4D97-AF65-F5344CB8AC3E}">
        <p14:creationId xmlns:p14="http://schemas.microsoft.com/office/powerpoint/2010/main" val="8771064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054738-1CFB-4AB4-A53A-78D1D1B9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B43A6-82FC-4895-9CA4-E8338B0F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ETF降低私鑰負擔，卻增加產品結構風險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FAF8B-7B93-42FE-AD61-40198CAD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5C3CD-A00A-46D3-BC9F-CBA4EDF7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0E065D-C46E-4268-9AD1-4196315B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BC31A3-E265-44DB-9FF0-9D848943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BCF67-280A-40C4-8B06-21AC96FC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管理費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D40DD-3357-4312-80D4-8C02EDB7F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長期持有會持續侵蝕報酬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C70D75-2181-427B-8A89-8BDEA8DE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89146-1845-42BC-B785-CCE0A6F6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折溢價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0C9C7-C442-49B2-8454-000689CBA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市場價格可能偏離淨值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795A7-582D-4C42-AF8E-3E07F06C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74DC54-010A-4317-8462-3F84CE45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交易時段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E9D88-856C-4361-9162-14B6C3E70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證券休市時BTC仍全天交易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4AA04-BEC5-48A1-A7B2-77EAB5AB6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D2A9A-BC11-4989-A3AC-6CD16BD6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託管集中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B6665-78D1-439D-8062-616F6F92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大量資產集中於少數保管人</a:t>
            </a:r>
          </a:p>
        </p:txBody>
      </p:sp>
    </p:spTree>
    <p:extLst>
      <p:ext uri="{BB962C8B-B14F-4D97-AF65-F5344CB8AC3E}">
        <p14:creationId xmlns:p14="http://schemas.microsoft.com/office/powerpoint/2010/main" val="28179937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79F14D-8BEF-4B0F-8761-17346273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D66B52-4872-42FE-B932-19D681AD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Bitcoin沒有企業現金流，估值高度依賴市場需求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886B4-E0AD-4038-B13E-7B0391177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1EF66-450E-4374-8AE8-1E1B1487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3D028-2123-4DC3-85EC-D53C48BD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2167E-8FE2-4707-878D-42B91842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12104A-AFEE-4085-9121-D80B4DF3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8B707F-7DF7-491C-A462-C2929A1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不同於股票債券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88734-A4C9-47F9-8081-8D75AA4D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沒有股利或息票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沒有發行公司盈餘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沒有到期償還承諾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不能用傳統DCF直接估值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C8572C-821E-4413-80FD-E070053C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常見價值論述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1E61D-2BE7-4D68-A2C8-105E2A53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稀缺性與網路效應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全球流動性與可攜性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替代性價值儲藏需求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宏觀流動性與風險偏好</a:t>
            </a:r>
          </a:p>
        </p:txBody>
      </p:sp>
    </p:spTree>
    <p:extLst>
      <p:ext uri="{BB962C8B-B14F-4D97-AF65-F5344CB8AC3E}">
        <p14:creationId xmlns:p14="http://schemas.microsoft.com/office/powerpoint/2010/main" val="206451654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E9159C-C57C-42A9-813A-69A90AF0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27144-AD25-46B9-A20A-335763AF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報酬機會必須與四類風險一起看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AFB8F-309C-45DC-A0A9-C6DAC8A4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1AEC77-367B-4924-AB3E-1D3BC9DD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C88E8-EC22-42EB-964B-32D61BAB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B6EBE1-B2A1-4F9C-A974-7861182CF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79DA8-F7E9-4922-8804-1E67097F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市場風險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C356C3-A812-49DE-A490-79F6982B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波動、槓桿與流動性急縮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F09CBD-49A4-48D7-8AF3-D2E62431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DEB70-0C0B-486D-834F-9B5DB210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保管風險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05AD7-4413-46B0-AB15-0E825640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私鑰遺失、平台倒閉或駭客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8BF08-35E2-4D8B-8205-9ECBF2CB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87FE8D-0714-4356-B36B-32E399A9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制度風險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F3514-04D4-4161-B5F4-E78955AC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監管、稅務與產品規則改變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88D97A-3602-4CC9-B976-9DFAB898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46E5D-1474-4A3C-AC23-47CCC4BC0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行為風險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C7D6EF-DE60-42F0-A24F-F25B69D2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追高殺低、詐騙與過度集中</a:t>
            </a:r>
          </a:p>
        </p:txBody>
      </p:sp>
    </p:spTree>
    <p:extLst>
      <p:ext uri="{BB962C8B-B14F-4D97-AF65-F5344CB8AC3E}">
        <p14:creationId xmlns:p14="http://schemas.microsoft.com/office/powerpoint/2010/main" val="11279266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75E367-13F1-45D5-95C9-39796B06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BBD492-4803-4294-8710-545E4349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資產配置先決定可承受損失，再談預期報酬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AD658C-8885-4478-A44C-F4FFE916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89C90-FC90-407F-8557-891F1E90A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7961E-AFF1-465A-AF24-5B0A5FD5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238DE8-3529-4CA3-A539-4F2409B6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06DB4-53CE-42A6-8CC0-84EB297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目標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561BFA-AC8F-4ED5-8268-28610EAB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投機、分散或長期策略？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671B-3B57-4315-A83E-4BC02413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AA4D83-F9A0-4968-94C9-FBD70417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47875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比例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1EE50-5B83-4DE8-94B4-4028869B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19375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單一高波動資產不可主導必要資金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D5A6C-26BA-4A5E-8BE1-C63BA629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55CAFF-5BD7-4447-9A7C-61262011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期限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E0554-5CF7-4BDD-8A7C-8106930C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短期支出不應承擔劇烈回撤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4C2F7-411C-4655-A130-5588EEE3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5429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3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25E418-C3A4-4727-BCBB-6071BFE9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4972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再平衡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ABB9D-F3EF-472C-B500-D0076B45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67250"/>
            <a:ext cx="4972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先訂規則，避免情緒化交易</a:t>
            </a:r>
          </a:p>
        </p:txBody>
      </p:sp>
    </p:spTree>
    <p:extLst>
      <p:ext uri="{BB962C8B-B14F-4D97-AF65-F5344CB8AC3E}">
        <p14:creationId xmlns:p14="http://schemas.microsoft.com/office/powerpoint/2010/main" val="4233080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40B42-A910-44E9-A9FC-1CBAA3CB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9A67AC-9CC3-42B7-95E7-DFFE067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環境與社會爭議需要可比較的分析框架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BAC9A-0D76-4FCF-BB7F-2C9C824A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10879-5CC7-416C-85D7-1F17CD24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6361BD-CF93-4F46-A362-621E862C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3C3B13-AD51-4725-BFD6-8EB92B43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F85D6-568A-4DFF-BDBB-3E787483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69FFD6-0828-4E12-9792-58EEC17EC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主要爭議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CD2EE-6B8A-4386-9811-5EE12151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PoW能源使用與碳排來源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非法金融與制裁規避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財富集中與投機傷害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詐騙借用Bitcoin名義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FDD2B-97F5-4A40-A946-CA53FE6D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判斷方式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96008-6136-4DB5-8555-BD57C59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區分網路、礦工與服務商責任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比較能源來源與替代方案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用實證而非口號估計非法使用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納入消費者保護與公平性</a:t>
            </a:r>
          </a:p>
        </p:txBody>
      </p:sp>
    </p:spTree>
    <p:extLst>
      <p:ext uri="{BB962C8B-B14F-4D97-AF65-F5344CB8AC3E}">
        <p14:creationId xmlns:p14="http://schemas.microsoft.com/office/powerpoint/2010/main" val="190007022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FCCCD-2E0A-4A0B-933C-39A15ED70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67B05-6228-459E-95F1-F57D1B19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案例：學生有10萬元，該買BTC還是現貨ETP？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71382-D6D1-4691-9984-C6DF6915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ED12B-9A3E-4EF6-B74A-28B62B7F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A3663-CA3E-42DF-8812-EE700834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1EAFB-F776-44D1-8BDB-F49558FA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857375"/>
            <a:ext cx="54292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42364-56B5-4365-8B94-94AF4D6A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57375"/>
            <a:ext cx="5657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31313-C6CC-4FC6-BABE-EDB81AA2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先問投資人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3CFDF-9491-40A1-824B-0DB25BA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能否承受大幅回撤？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是否需要鏈上使用？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具備私鑰與詐騙防護能力嗎？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證券帳戶與產品是否可合法取得？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23559-BB26-4D2D-B088-F57A1D9E2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14550"/>
            <a:ext cx="5162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再比較工具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16052-863A-4C48-BDDD-CD2348A7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09875"/>
            <a:ext cx="51625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直接持有：控制權高、作業責任大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ETP：介面熟悉、支付費用與中介風險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兩者都有價格風險</a:t>
            </a:r>
          </a:p>
          <a:p xmlns:a="http://schemas.openxmlformats.org/drawingml/2006/main">
            <a:pPr algn="l">
              <a:def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不投資也是可行選項</a:t>
            </a:r>
          </a:p>
        </p:txBody>
      </p:sp>
    </p:spTree>
    <p:extLst>
      <p:ext uri="{BB962C8B-B14F-4D97-AF65-F5344CB8AC3E}">
        <p14:creationId xmlns:p14="http://schemas.microsoft.com/office/powerpoint/2010/main" val="19020017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64C3A7-E20D-4C15-8EE6-EBACEA7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第三節｜投資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93FA4-645C-47B2-9FCD-99A02344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本週結論：Bitcoin的三種角色必須分開評估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39C2A-9255-445F-A86F-9EC8DA98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4A18CD-CF24-4368-A7B8-531F2D7B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7｜第三節｜投資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75F88F-C7F9-4CDB-AA67-A46F74753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EE892-E94A-48EF-8C0E-2EB239F7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952625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歷史、支付、投資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95B05-EF25-4F68-98E5-331A02D76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71750"/>
            <a:ext cx="11144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歷史說明制度如何形成；支付要看端到端流程；投資要看曝險工具、保管與風險承擔。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8DD98-B86C-44BB-8116-155B05D6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67200"/>
            <a:ext cx="113538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266B8D-9C86-4F53-8C1B-CEC2E1AA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10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Bitcoin可以同時是網路、支付資產與投資標的，但三種角色的成功標準不同，不能用單一價格回答所有問題。</a:t>
            </a:r>
          </a:p>
        </p:txBody>
      </p:sp>
    </p:spTree>
    <p:extLst>
      <p:ext uri="{BB962C8B-B14F-4D97-AF65-F5344CB8AC3E}">
        <p14:creationId xmlns:p14="http://schemas.microsoft.com/office/powerpoint/2010/main" val="115764493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485328-38D2-4523-83D7-B4AA8BD8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2D70-1444-4C8F-8A2F-90CBE8F0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0C11A-AF57-49DA-B51C-CFFC4F0A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C2D9F0-A6B0-4269-A116-5DEE7626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7｜第三節｜快問快答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5A521-7D15-44AB-9306-06BC697CF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3D6424-29B8-4630-B521-0EEB9969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81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677FF"/>
                </a:solidFill>
                <a:latin typeface="Microsoft JhengHei"/>
                <a:ea typeface="Microsoft JhengHei"/>
                <a:cs typeface="Microsoft JhengHei"/>
              </a:rPr>
              <a:t>第三節｜快問快答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CDB24-F81D-4BA0-875C-376DC04CE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28650"/>
            <a:ext cx="1133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1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快問快答：5題確認本節學習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75E7E-AF8D-419A-9C46-077A8DFC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11353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7C2"/>
          </a:solidFill>
          <a:ln xmlns:a="http://schemas.openxmlformats.org/drawingml/2006/main" w="9525">
            <a:solidFill>
              <a:srgbClr val="AEB7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B0877-664B-4B05-A8FE-D0FE6F6F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477000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區塊鏈概論｜Week 7｜第三節｜快問快答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6052B-4256-4AE8-9308-3645DF79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5952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6616D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948571-FD10-44C4-BEF7-B71898D0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287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1. 美國現貨Bitcoin ETP於何時獲准？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FFBEF-DBB0-4480-8AEE-71A283CF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097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2010　B 2017　C 2024　D 尚未批准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60CB8D-738C-47D0-BADA-358E552F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287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3CE95-98F7-4100-AFB8-F7D33EED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答案：C。2024年1月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FDBC40-DCE9-481F-99C9-B4B91587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52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2. SEC核准ETP代表？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70A94-5ABA-4BEA-B54C-67EDD7F2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保證獲利　B 允許產品上市，不等於背書BTC　C 存款保險　D 幣價固定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3CA14-0847-4072-928E-B217BDA4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5270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241BF-D913-4192-ABF9-7C8620FE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答案：B。核准不等於認可標的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96AF6-D8A1-4059-B5AB-4ED9A0EA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766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3. 期貨ETF特有風險？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19C7A7-D12A-460C-8387-8C735E57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私鑰必遺失　B 轉倉與追蹤誤差　C 無市場價格　D 不能交易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6C27C-DC51-492B-9745-6675EE8C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7662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F9683-1C68-4E4D-BD27-B07EB7F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5760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答案：B。合約展期影響報酬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F02AE-E4EE-4B81-9DCE-717AE18A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005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4. Bitcoin估值困難因為？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9CCEB1-A1E9-4D48-81DC-2070BFAC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沒有企業現金流與到期承諾　B 沒有供給　C 不能轉帳　D 只有一枚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6132D-02D4-4265-9F50-55D7BAB4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00550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6203B3-27D1-4DD5-A966-12471440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81525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答案：A。無法直接套用DCF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D4EA19-3CBE-46CD-BDEA-D80A99E2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32447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01419"/>
                </a:solidFill>
                <a:latin typeface="Microsoft JhengHei"/>
                <a:ea typeface="Microsoft JhengHei"/>
                <a:cs typeface="Microsoft JhengHei"/>
              </a:rPr>
              <a:t>5. 配置BTC前最重要？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3824A2-7ADA-4F4C-8F09-1104CCA5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0547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4C5865"/>
                </a:solidFill>
                <a:latin typeface="Microsoft JhengHei"/>
                <a:ea typeface="Microsoft JhengHei"/>
                <a:cs typeface="Microsoft JhengHei"/>
              </a:rPr>
              <a:t>A 猜明日價格　B 評估目標與可承受損失　C 跟隨網紅　D 使用槓桿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41ED29-FE0E-43CF-AE1F-6CD1B5FE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324475"/>
            <a:ext cx="352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A93BDB-99A0-4075-ACDF-EA8BC9EC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505450"/>
            <a:ext cx="3105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38100" rIns="38100" bIns="38100" anchor="t">
            <a:normAutofit fontScale="9883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087A55"/>
                </a:solidFill>
                <a:latin typeface="Microsoft JhengHei"/>
                <a:ea typeface="Microsoft JhengHei"/>
                <a:cs typeface="Microsoft JhengHei"/>
              </a:rPr>
              <a:t>答案：B。風險承受先於報酬預測</a:t>
            </a:r>
          </a:p>
        </p:txBody>
      </p:sp>
    </p:spTree>
    <p:extLst>
      <p:ext uri="{BB962C8B-B14F-4D97-AF65-F5344CB8AC3E}">
        <p14:creationId xmlns:p14="http://schemas.microsoft.com/office/powerpoint/2010/main" val="7739677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2026-09-03T05:22:25.1410000Z</dcterms:created>
  <dcterms:modified xsi:type="dcterms:W3CDTF">2026-09-03T05:22:25.1420000Z</dcterms:modified>
</coreProperties>
</file>