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沿用舊教材的主流鏈介紹，但把課堂焦點由專案羅列改為可重複使用的平台比較能力。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第五問是治理：誰能決定升級、參數與緊急處置。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從雙重支付問題理解Bitcoin，不從幣價開始。</a:t>
            </a:r>
          </a:p>
          <a:p>
            <a:endParaRPr/>
          </a:p>
          <a:p>
            <a:r>
              <a:t>[Sources]</a:t>
            </a:r>
          </a:p>
          <a:p>
            <a:r>
              <a:t>- https://bitcoin.org/bitcoin.pdf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供給可預測不代表價格穩定；安全也仍依賴礦工、節點與市場誘因。</a:t>
            </a:r>
          </a:p>
          <a:p>
            <a:endParaRPr/>
          </a:p>
          <a:p>
            <a:r>
              <a:t>[Sources]</a:t>
            </a:r>
          </a:p>
          <a:p>
            <a:r>
              <a:t>- https://developer.bitcoin.org/devguide/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修正舊教材的二分法：功能受限，不等於完全不存在可程式化條件。</a:t>
            </a:r>
          </a:p>
          <a:p>
            <a:endParaRPr/>
          </a:p>
          <a:p>
            <a:r>
              <a:t>[Sources]</a:t>
            </a:r>
          </a:p>
          <a:p>
            <a:r>
              <a:t>- https://developer.bitcoin.org/devguide/transactions.html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平台價值來自取捨；不要把同一指標當成所有情境的答案。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Ethereum不只是應用平台，也可支付與結算；但其原生資產價格仍有波動。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https://ethereum.org/en/what-is-ethereum/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Gas是資源價格，不等同平台手續費的固定價目表。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更新舊教材：Ethereum於2022年完成The Merge，貨幣供給變化需同時看發行與銷毀。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https://ethereum.org/en/roadmap/merge/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學生應用任務與風險選平台，而非選一個永遠最好的鏈。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組合性提高創新速度，也會放大跨協議傳染風險。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用層級取代舊教材的大量DApp名單，避免把短期熱門專案當成核心知識。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2026年理解Ethereum，不能只看主網TPS；必須把L2視為整體架構的一部分。</a:t>
            </a:r>
          </a:p>
          <a:p>
            <a:endParaRPr/>
          </a:p>
          <a:p>
            <a:r>
              <a:t>[Sources]</a:t>
            </a:r>
          </a:p>
          <a:p>
            <a:r>
              <a:t>- https://ethereum.org/en/roadmap/scaling/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低費用不等於風險較低；要查清楚資產最後由哪一層保障。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保留BSC作為EVM相容鏈案例，但更新名稱與生態案例。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https://docs.bnbchain.org/bnb-smart-chain/introduction/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平台比較要把效率與可信中立性放在同一張表上。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https://docs.bnbchain.org/bnb-smart-chain/validator/overview/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PoH不是單獨取代共識，而是協助節點對事件順序建立共同基準。</a:t>
            </a:r>
          </a:p>
          <a:p>
            <a:endParaRPr/>
          </a:p>
          <a:p>
            <a:r>
              <a:t>[Sources]</a:t>
            </a:r>
          </a:p>
          <a:p>
            <a:r>
              <a:t>- https://solana.com/solana-whitepaper.pdf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不要用單一TPS數字排名；實際吞吐口徑與交易種類可能不同。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這是教學用定位，不是投資建議，也不代表平台永遠不變。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金融機構尤其重視法律最終性、營運持續與責任歸屬。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對企業而言，技術相容性會影響供應商選擇、維護成本與人才風險。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『上鏈』不足以描述架構；要指出在哪一層執行、結算與保管資料。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跨鏈不是把一枚代幣物理搬過去，而是建立跨系統的權利與訊息對應。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 5已處理穩定幣信用；本週只補充它與平台之間的關係。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合約只能確定性處理取得的輸入；資料可信度仍需額外機制。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保留舊教材DAO案例，但移除『完全自治』的浪漫化敘述。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沒有抽象上最好的架構，只有是否符合資產、參與者與監管情境。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再補兩格：治理責任與監理合規。用同一套問題比較任何新平台。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本案例沒有唯一答案；要求學生把技術選擇翻譯成金融與營運責任。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E46C8E0-47AC-4DAA-9980-B6E64078B194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4167" lnSpcReduction="10000"/>
          </a:bodyPr>
          <a:lstStyle/>
          <a:p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DCA084-C440-451C-841E-5DDCB6EBE8EE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0477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6</a:t>
            </a:r>
          </a:p>
          <a:p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主流區塊鏈平台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58CCDA-3E50-4703-B180-772CE11A5CF6}"/>
              </a:ext>
            </a:extLst>
          </p:cNvPr>
          <p:cNvSpPr>
            <a:spLocks noGrp="1"/>
          </p:cNvSpPr>
          <p:nvPr/>
        </p:nvSpPr>
        <p:spPr>
          <a:xfrm>
            <a:off x="419100" y="4619625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從平台使命、技術取捨到金融應用選擇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48FDCF-F165-46EB-AB28-83F13D8AAB33}"/>
              </a:ext>
            </a:extLst>
          </p:cNvPr>
          <p:cNvSpPr>
            <a:spLocks noGrp="1"/>
          </p:cNvSpPr>
          <p:nvPr/>
        </p:nvSpPr>
        <p:spPr>
          <a:xfrm>
            <a:off x="419100" y="59817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5758" lnSpcReduction="10000"/>
          </a:bodyPr>
          <a:lstStyle/>
          <a:p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第一節：先學會比較平台，而不是背幣價</a:t>
            </a:r>
          </a:p>
        </p:txBody>
      </p:sp>
    </p:spTree>
    <p:extLst>
      <p:ext uri="{BB962C8B-B14F-4D97-AF65-F5344CB8AC3E}">
        <p14:creationId xmlns:p14="http://schemas.microsoft.com/office/powerpoint/2010/main" val="152190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86DCA6C-8F77-46B2-9098-0836B738BCF1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23CF15-BD27-4C1A-B993-373C4F320CB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比較區塊鏈平台，先問五個問題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74F9A8-A4F2-40FE-B2BD-C92ABCD89BB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A364F6-03AE-4BE0-BB60-31401E8DCF5E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119BB7-F6B2-4433-8F20-78FAB88CD8E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9FA808-A6B3-4C27-A62F-66EE17CBE5C5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B069C4-C4EF-4600-A91C-E8868E6034D2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使命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68A4EE-C03B-4C45-8EEF-7D9160D05F55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主要要解決哪一類價值移轉問題？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0F7067-E220-4160-AE37-1D2076F38A21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99F13B-C400-4F61-8298-A18C940F8F9B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B10920-CE5F-49D8-B6D0-A94E9E8FD284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誰驗證交易，攻擊成本從何而來？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4937D6-B90E-4872-892D-1D78B354CEDE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432AB7-98BC-4C3E-8C4C-94700C259C3C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6D67CE-C013-47E1-81A1-A9FE064AC36C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能否承載通用程式與代幣？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A3A22F-6D2F-46BB-AEA5-90B1891DBA06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568101-F535-4058-AD37-61546F3C0C68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擴充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0AF200-D42B-4B72-8A02-2868A1320DAA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如何提高容量並控制成本？</a:t>
            </a:r>
          </a:p>
        </p:txBody>
      </p:sp>
    </p:spTree>
    <p:extLst>
      <p:ext uri="{BB962C8B-B14F-4D97-AF65-F5344CB8AC3E}">
        <p14:creationId xmlns:p14="http://schemas.microsoft.com/office/powerpoint/2010/main" val="78250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17DBDB6-864B-4D44-A452-B9A1AA561205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E4B9AE-4599-4D58-A071-4067E5A4B3BB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Bitcoin的原始使命：無須中央清算者的電子現金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A006CF-BC46-4246-A000-0F0AC416A22D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534BB0-6869-4ABD-AF98-B9BB42335A3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972C0D-F1CE-445A-B503-6376B7D4ABE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D47F35-DF06-41E5-8311-5F85EF5BCC4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36839A-B6CB-4C1A-979C-6944F04DBF99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0E9A21-F981-4152-B353-B28F79FB17E6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核心問題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CA3CB8-A9F1-4513-B761-D1704CBC978F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網路參與者彼此不必信任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如何避免同一筆數位價值被花兩次？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如何在沒有單一帳本管理者時排序交易？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FC42FB-B7F9-4101-AA88-3309EC7819CF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核心答案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A5E9D-C916-4C3D-934C-3B7AA9C84D36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公開交易紀錄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工作量證明競爭記帳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最長／最多累積工作鏈形成共識</a:t>
            </a:r>
          </a:p>
        </p:txBody>
      </p:sp>
    </p:spTree>
    <p:extLst>
      <p:ext uri="{BB962C8B-B14F-4D97-AF65-F5344CB8AC3E}">
        <p14:creationId xmlns:p14="http://schemas.microsoft.com/office/powerpoint/2010/main" val="888736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97F02F0-FA5C-43B7-A7F8-01AFBF44C895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63ADC9-8CEA-4A42-9CC3-15B2FB900306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Bitcoin把貨幣政策與安全機制寫入協議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73C805-138D-44E4-BA05-40AF0E20DFD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A6E358-8565-439B-8E29-EB0337B34173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D39347-F15F-4940-9DE3-76C8395033B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B0D0FD-F214-4079-8324-C258BFB10BC4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F5AF17-D14A-4B6B-837B-1A6B0EEE35A8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UTXO模型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79882D-357E-4EE2-AC0A-0542AD6DD52E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追蹤尚未花費的交易輸出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52FD4F-F4B4-4DDC-BEF1-02EFFF2F76B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A4A26D-30CB-4890-94A4-D4F77C1191CB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工作量證明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242303-8FC3-4B06-AF34-59D19BEAEDBF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礦工投入算力競爭出塊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516AD0-D2CB-456F-821A-D1A729C27A22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382B89-321B-41E6-99E3-A22EC5FD1024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供給上限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C71879-19CB-4E9D-9E55-567E912323CA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協議規則設定約2,100萬枚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F57B1F-D402-4BDA-85DE-F9DE389D217C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FCC9C-11EE-4485-97C2-7E069CAB8710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減半機制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A030F1-60C5-4BBA-A7C3-F757A06C0910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區塊補貼週期性下降</a:t>
            </a:r>
          </a:p>
        </p:txBody>
      </p:sp>
    </p:spTree>
    <p:extLst>
      <p:ext uri="{BB962C8B-B14F-4D97-AF65-F5344CB8AC3E}">
        <p14:creationId xmlns:p14="http://schemas.microsoft.com/office/powerpoint/2010/main" val="36159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F5216DC-0D74-428C-A82D-E11799AE1B4C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10C6AE-F9E3-4FBE-AFCB-A9A7CAB651D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Bitcoin不是『完全沒有智能合約』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330023-05ED-459F-B5CA-5CAC6276906C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1D298E-389A-419C-8436-B090B14D7B0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77EB8E-00ED-4D90-B13F-A3603853279F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BB6E97-D809-45A5-A292-18FDA8512EB0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CE87E1-8B82-44D0-8D04-A40D7F0828A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465F44-29E4-4673-B53F-D65925B27AB1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可以做到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6FD559-A0C1-4E69-A882-8F37D3AD111A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條件式簽章與時間鎖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多重簽章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支付通道與Lightning Network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以受限腳本設定花費條件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3D84C9-1D4E-4E29-BBFE-054DDA95863F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刻意受限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A6349F-709E-4223-A5B2-90F936BC1547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不是Ethereum式通用運算環境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較難承載複雜應用狀態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設計優先考量可驗證性、穩健與安全</a:t>
            </a:r>
          </a:p>
        </p:txBody>
      </p:sp>
    </p:spTree>
    <p:extLst>
      <p:ext uri="{BB962C8B-B14F-4D97-AF65-F5344CB8AC3E}">
        <p14:creationId xmlns:p14="http://schemas.microsoft.com/office/powerpoint/2010/main" val="108773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8284651-FEAE-4EF2-807E-F5F5249D00BC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C41335-CC22-4224-AEB7-85D3EA4899F4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Bitcoin適合的金融角色與限制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18DA67-37FB-4D8A-A865-189EFF8BD0EE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90129B-8D20-41AA-8BC0-4C119F24263C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7DF448-39A6-4915-9D36-14AE5D8C7F05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37B5BF-094A-4FA2-A2A6-31B987527CE4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1EFC6E-A70F-4A1D-BCF2-7C70A8A63BEC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4F58C9-7372-42BF-B73E-D4B112B92CA3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常見定位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32FD89-AA93-4709-82A3-704258CA1912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稀缺數位資產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全球可轉移的原生鏈上資產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高價值結算與長期持有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第二層支付通道的底層資產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887474-0B66-475E-8D8A-6376AB1DCD68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1879C4-ABD3-4A86-86B5-48CE275331D1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基礎層吞吐量有限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確認時間與費用會變動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價格波動大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能源與監理議題持續存在</a:t>
            </a:r>
          </a:p>
        </p:txBody>
      </p:sp>
    </p:spTree>
    <p:extLst>
      <p:ext uri="{BB962C8B-B14F-4D97-AF65-F5344CB8AC3E}">
        <p14:creationId xmlns:p14="http://schemas.microsoft.com/office/powerpoint/2010/main" val="992003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B0DD0D2-4088-45E2-93C9-4B4EC3BA699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31C2D8-5500-4CF0-86F0-7DBC22FBC66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Ethereum的使命：可程式化的共享結算層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A5EEAF-DD84-46C1-A749-C34E5C7D0A0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6B3B30-1015-4693-85B7-B4793A46EECB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8A8CB6-C8D4-48D0-AA35-71C68FFF65A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E2A49F-08A3-4FD1-80C8-62843CB01C26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71A436-4F69-433E-BEBA-A393BD0B8460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258C1E-461A-40D2-B753-E8B782227139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相較Bitcoin新增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B59472-5AFE-4246-B992-ECA4F003B03E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帳戶與合約狀態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通用執行環境EVM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任何人可部署應用規則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資產與協議可相互組合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7FA0AF-85CA-484E-AC79-CA6EFCC16E5F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金融上的意義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E75FE2-7FCF-40E7-AE83-ADCA1777CD23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代幣化資產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交易、借貸與穩定幣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自動化交割與治理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共同使用公開結算紀錄</a:t>
            </a:r>
          </a:p>
        </p:txBody>
      </p:sp>
    </p:spTree>
    <p:extLst>
      <p:ext uri="{BB962C8B-B14F-4D97-AF65-F5344CB8AC3E}">
        <p14:creationId xmlns:p14="http://schemas.microsoft.com/office/powerpoint/2010/main" val="164556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5064123-B77C-479A-AC35-B7A3EE43D33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A39E0E-11C4-4A66-AEE4-7AE6C120F99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EVM、帳戶與Gas構成Ethereum的運作核心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DECA10-44AC-41DD-BDB5-32D66B0983D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A3FDF3-BBB8-4F94-B9CD-88AEEEBB93C1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E77DF7-B862-4152-A1AB-F1599CBD48F7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64B8F-CA03-4353-BDC1-46E8968813A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F99057-A0A2-4A4E-B59C-4983261C725A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帳戶模型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0BD5A5-ECA4-4089-9BEC-FA1D992B7D2D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餘額與狀態直接記在帳戶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96C23F-3AA4-40AC-BA15-DF5219FF5F7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0064A0-3D36-4EB6-8EE4-E10B6B26F660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EVM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308A1F-C857-4D90-A59B-65600E0DAB88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所有節點一致執行合約規則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9B6F88-59BA-451D-8ABD-1ED21A55C2D5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D21AC3-D2D9-45AD-820C-F13DD8D27BF7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Gas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054DDB-86B8-495C-BF91-27AF35153956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為運算與儲存資源定價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5F5E28-8849-4D77-B537-E5A247FD67E7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3900D0-1C97-4634-BA23-79E307F17ED8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7C5227-5161-4CD8-B9B2-A32CF185045B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支付Gas並支援PoS安全</a:t>
            </a:r>
          </a:p>
        </p:txBody>
      </p:sp>
    </p:spTree>
    <p:extLst>
      <p:ext uri="{BB962C8B-B14F-4D97-AF65-F5344CB8AC3E}">
        <p14:creationId xmlns:p14="http://schemas.microsoft.com/office/powerpoint/2010/main" val="89788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FF7D3EE-4677-437D-BFDD-F1E15DDFFCD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9E1154-8607-46E8-A48A-048461EBC524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Ethereum已採權益證明，不再由挖礦產生共識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FB8418-F4A5-4CB5-853E-741374666114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03B423-5732-49CA-AD26-7515C4643763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81584F-CDD4-44CF-A9B8-2CBC669E5DF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AA5BBB-72E4-4727-887E-055E15473391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CBD3E8-B887-4BDA-86EF-086E0B6B01F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2A8802-E83B-46A6-B6AA-90F5060FB0FD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驗證方式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EF9E47-5ED9-454C-B9EC-A6E9BE77CFF7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驗證者質押ETH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提出並確認區塊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違反規則可能遭懲罰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經濟誘因維護網路安全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823C67-591F-4679-BE52-EFF03A8602B3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供給判斷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0273C1-AF3F-4F59-9629-96BC091E1A87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新發行支付驗證者報酬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交易基本費可能被銷毀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淨供給會隨活動變化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不能簡化為『無限通膨』</a:t>
            </a:r>
          </a:p>
        </p:txBody>
      </p:sp>
    </p:spTree>
    <p:extLst>
      <p:ext uri="{BB962C8B-B14F-4D97-AF65-F5344CB8AC3E}">
        <p14:creationId xmlns:p14="http://schemas.microsoft.com/office/powerpoint/2010/main" val="156059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530B939-0BF9-4EE7-AE9E-DD7D1662CE0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82EAC1-723D-4969-BEC1-6CEAB94085BD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Bitcoin與Ethereum不是單純的競爭替代品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065991-34DD-4FEF-AC32-C5E61E39169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95F01C-5713-4463-AB7C-86E3FF96256E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92BE2A-9A82-438E-9A7C-0B581D22898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68796F-E9AF-4CDA-9F7E-55BCB96CA7C8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C5D3C9-C20C-4357-8DDB-B7B7502422C5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Bitcoin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478D88-FDB9-4E4E-95E0-F8F5E0AE9308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稀缺原生資產與穩健結算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82A107-21B7-425A-9624-ABDD22727987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5B5471-EA1B-4AE9-9B56-03EEF2044228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C437B7-84A9-4DA7-AEC0-1567EE5CFB3B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可程式化結算與應用平台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26D259-D5E8-4A7F-BD33-BE9CA19CC539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445149-A749-480D-BA26-1D05DD1745E1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共同點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F1DB76-11BB-4F80-9B77-599E96391B14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公有鏈、原生資產、全球節點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5371CB-A23A-46DD-B0F4-00D153CF3E91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24D975-2131-4D29-8FA6-C3D0373D9A4D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差異點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A8791B-C40C-47D2-8A16-6A1F0C56865E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狀態模型、共識、執行與擴充策略</a:t>
            </a:r>
          </a:p>
        </p:txBody>
      </p:sp>
    </p:spTree>
    <p:extLst>
      <p:ext uri="{BB962C8B-B14F-4D97-AF65-F5344CB8AC3E}">
        <p14:creationId xmlns:p14="http://schemas.microsoft.com/office/powerpoint/2010/main" val="194548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540EDD78-1F31-4504-B01F-784223810644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8DA2C5-8A53-4310-B6D7-E3FA1872E83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31485F-8421-4EE2-BC4B-2ECE5CD8648D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C7127D-DF10-4462-B75E-C3B9C159C808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098958-9296-4D68-B29C-F86A659FA54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622E9-8E0C-44BF-9633-A7ABF813FC0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B9C21D-51F4-4288-847D-A00A775FCE3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66E296-8007-47CF-B74D-D8D83CD0CE4F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2A59C-038E-408C-A9CC-5F0EBEF24C56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6｜第一節｜快問快答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12090A-099A-4C32-9A80-0582F7B0F7B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06DDD1-AADE-48AB-851F-014619763552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比較平台第一步應看？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2D6E47-7DFB-4E1A-BD20-5D49838B6563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幣價　B 平台使命　C 名稱長短　D 社群迷因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CEAE24-3CFB-4A66-8821-BCE57652723A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EF36AB-1787-4F78-A4DA-87442B7E6DDB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答案：B。先看要解決的問題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0A2E67-27CD-4996-9455-2DFE92F72930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Bitcoin能否設定花費條件？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E93DE1-5A25-482C-B0BC-EBFCC7F21607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完全不能　B 可以，但腳本刻意受限　C 只有銀行可以　D 只能NFT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A2001C-9308-4E6E-8EF4-F79A29DFDEF0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493B50-911F-487C-8FEE-9C750A942061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答案：B。可支援多簽與時間鎖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AE1E3D-F143-4C8D-AEFD-6C9861FE811E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Ethereum目前使用？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99CF1CE-DCF0-4D5A-88AE-8538E0826548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PoW　B PoS　C 單一伺服器　D 無驗證者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F1B3A7-22B6-4397-8721-9E5CAC148129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01368-73E3-4287-94F4-2CA3CCBD0474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答案：B。權益證明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924DDB-79A3-4CC1-9035-5245E00A201D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Gas主要代表？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89B430-EB2B-41CD-821B-77A2C2BD1993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固定稅率　B 鏈上運算與儲存資源價格　C 存款利率　D 股息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3C200A-AAB0-4A79-BB00-6A5737424538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F1B7ED-D657-4969-A592-99B9584FCD56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答案：B。資源定價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99CBBC-3D5A-4E76-A153-AD5EC0D30435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BTC供給可預測是否等於價格穩定？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59C8C5-7396-4026-90D5-97063AECACB6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只有週末是　D 減半後一定是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253B68-E779-43CB-9C16-13A579AE06EC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28C926-F8FD-4448-AA64-44F276BC39A0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830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答案：B。價格仍由市場供需決定</a:t>
            </a:r>
          </a:p>
        </p:txBody>
      </p:sp>
    </p:spTree>
    <p:extLst>
      <p:ext uri="{BB962C8B-B14F-4D97-AF65-F5344CB8AC3E}">
        <p14:creationId xmlns:p14="http://schemas.microsoft.com/office/powerpoint/2010/main" val="5387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C3D1EBD-C30C-4D43-A593-42596795B6B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0A9E1B-1348-40E8-B69C-4AB21B87B5B7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智能合約讓資產與金融規則可以組合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0541A3-A35F-4A0A-9928-AEC44A46C38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153B23-C308-42AB-B72B-D890BD754EFE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F4C0D6-F7DB-4169-A259-DBFDC61D0AB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B5A371-377E-48BF-A846-832B94EDD8BC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074D6D-E888-445E-99A5-31AF27262274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代幣標準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8AEAEF-313A-4C5F-A18A-81751FABCF37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相同介面降低整合成本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54970E-3C6D-4F25-8FE4-A41BF8094439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E45868-1417-45F4-9F20-152EC5476C0B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去中心化交易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4182C7-87FA-4647-86ED-CB329DE566F3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合約管理流動性與交換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4904B0-6109-41C5-8C88-E513DA185747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BD30BD-830D-407A-9B67-FAC458D97F74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借貸協議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205C82-87CE-4D8E-B4EA-312A3C1D696A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抵押、利率與清算自動化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86288C-26EE-460B-9DC5-096C46063DB3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A4C770-5FA9-4321-AC44-B26D9C4FF85E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組合性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DF125B-2323-43F2-9C37-D9DAA4CDA98C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一個協議可呼叫另一個協議</a:t>
            </a:r>
          </a:p>
        </p:txBody>
      </p:sp>
    </p:spTree>
    <p:extLst>
      <p:ext uri="{BB962C8B-B14F-4D97-AF65-F5344CB8AC3E}">
        <p14:creationId xmlns:p14="http://schemas.microsoft.com/office/powerpoint/2010/main" val="1720308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B5FB189-9150-4085-90A2-464FEBB02C7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3E9380-C4DA-4261-A362-C8368413200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Ethereum生態可分成四層理解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E32185-CD41-44C5-BFFC-A7C3AAF6117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AFD38E-75D1-4736-BC69-C36C2CBCDC7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3552D-0F7F-433A-A177-5030F890C86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C2B3A3-A4CA-45BB-90DA-48BC70F9DCE7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00425F-62C1-4EAF-B90C-4F59E570C93A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L1結算層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80EDCD-08EF-4202-978E-42DC372C7CDB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共識、安全與最終狀態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467D3-D3F4-4703-A4B5-FEAD6FDC50B8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231B85-E376-46C3-BD3B-12E122936819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L2擴充層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64B466-855C-463E-9876-F9B8EFCABF6A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批次處理後回到L1結算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490DA1-25FD-45D5-AF54-5A3A05366D0B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ADB1D8-6B77-4D86-8691-86185FEB0AE7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B88C98-2CA8-48AF-98EF-12F6F1561D96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交易、借貸、NFT與支付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A132C4-EC62-4597-9AA6-5DC592EF70D9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13B7CF-3D7D-482B-81C0-E98B2EA855AA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服務層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76A6C5-D995-4DDD-8CE0-79E9A09867E8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錢包、預言機、託管與入口</a:t>
            </a:r>
          </a:p>
        </p:txBody>
      </p:sp>
    </p:spTree>
    <p:extLst>
      <p:ext uri="{BB962C8B-B14F-4D97-AF65-F5344CB8AC3E}">
        <p14:creationId xmlns:p14="http://schemas.microsoft.com/office/powerpoint/2010/main" val="677682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5B8BC47-5725-4D57-A496-AB2B4C59A887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4994FE-3E88-4B16-9FFA-617E761827E6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Ethereum擴充已轉向Rollup中心路線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8911E-9717-418F-A33A-7076EB7806F2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10BFBD-1DAD-4536-A9D9-54BC0A6B0D2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9FCB87-E124-4290-A8F2-DA7AF9FFBD0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FC4191-5E9F-4779-8C59-ECD9713E4DB2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7DE69C-6529-4189-A434-D1ABC75981E1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5E32A4-23EC-401C-9927-E9280B5BD82E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Rollup做什麼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A7C3C9-2AB1-4F60-9D2B-C1253EAC4388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大量交易在L2執行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壓縮或批次提交至Ethereum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利用L1提供資料與最終結算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通常降低單筆成本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A48EF0-FE95-4CF4-9108-EFF2ED8E8009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兩大類型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2924EE-A1D6-483E-85BE-A5F473A50244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Optimistic rollup以挑戰期防錯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ZK rollup提交有效性證明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安全假設、提領體驗與成熟度不同</a:t>
            </a:r>
          </a:p>
        </p:txBody>
      </p:sp>
    </p:spTree>
    <p:extLst>
      <p:ext uri="{BB962C8B-B14F-4D97-AF65-F5344CB8AC3E}">
        <p14:creationId xmlns:p14="http://schemas.microsoft.com/office/powerpoint/2010/main" val="375613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21A7F04-C681-4BDC-92FA-0287EC6F65FB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D64358-D94D-4A43-B951-F201FBD200F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使用L2仍有新的營運與治理風險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088607-44A9-4D3B-B237-7329CF6CF77C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8B956C-72B3-42C7-880A-7EB1D80792B2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563DF2-2443-4F47-BD4F-15F3FEFC8A6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AC69BF-6CEA-448F-9A35-D27EA8862A6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20E3B3-562C-41BD-9871-F2C10E5F9C07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排序器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7FF6DB-C555-438C-B988-01D57A55976A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交易排序可能較集中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79A352-84D8-485E-A7D3-3EB12BF90604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9F392C-827C-42FC-AA59-87C2396EA05A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跨層橋接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EB1CE5-E950-4A4F-BA17-378B230301B9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合約或訊息驗證可能失效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DD8DEE-E10E-4992-B155-F609E4F8DD13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E87FED-B582-4A82-95F6-6FED566D014E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升級權限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7A2120-6468-44D4-8BD4-6439E3F5104A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管理金鑰與治理可改變規則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4CA7FC-C65C-47A4-8C5A-35E19D8EBA04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0F51AA-888D-4317-8B38-319B09E94C6F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流動性分散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BC0801-3622-4DAF-9069-137D2EB0D9C0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資產散落不同L2與市場</a:t>
            </a:r>
          </a:p>
        </p:txBody>
      </p:sp>
    </p:spTree>
    <p:extLst>
      <p:ext uri="{BB962C8B-B14F-4D97-AF65-F5344CB8AC3E}">
        <p14:creationId xmlns:p14="http://schemas.microsoft.com/office/powerpoint/2010/main" val="6119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3F6517A-5C93-4325-94A9-B05A4853A7FB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E5743C-E348-4930-8542-951BA0BC8576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Binance Smart Chain已更名為BNB Smart Chain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726152-C4A1-4CBC-BCD6-A4FAB3160422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9B5F3E-8AAA-4B68-8B90-89801C72D8C8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3F2705-33FA-46B6-B202-B9C4214B1F2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2EBD22-5E63-4669-8DB0-A02FE01B6CE3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DDC986-7C39-4C77-80C6-FE86761653DE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C25CAD-DA3A-41AD-9C83-AF95BB1EEE0F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延續舊教材價值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681322-B567-4C6E-BB46-43396A703019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EVM相容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低費用與較快確認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DeFi、遊戲與代幣應用豐富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開發與錢包工具容易移植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A6D2CB-1FA0-4BD6-A816-3109BA4971E5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必須更新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C56730-FD1E-454F-AB07-E53ED4A3A6B6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正式名稱為BNB Smart Chain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原生資產為BNB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不再以BUSD作核心代表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需正視驗證者集中度</a:t>
            </a:r>
          </a:p>
        </p:txBody>
      </p:sp>
    </p:spTree>
    <p:extLst>
      <p:ext uri="{BB962C8B-B14F-4D97-AF65-F5344CB8AC3E}">
        <p14:creationId xmlns:p14="http://schemas.microsoft.com/office/powerpoint/2010/main" val="1950854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BA6BA66-194B-464B-9416-E2187DBB84FC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573FE-53FE-4E6B-A2BC-098C2C6A36D4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BNB Smart Chain用PoSA換取速度與低成本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29285C-E733-4599-8713-E16E873DB507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77C692-72C0-4D19-9389-E08689C8083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6BCDB2-9A17-47A3-8062-3934F42874F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54A408-F35A-4072-99F7-96C49761FA00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5B29CE-6B32-4DE6-8AB1-C829426AA7ED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E0BB08-575A-475E-ABD5-C5966CC4C20B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PoSA特色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E72875-EC85-48FE-8FDD-C5F49DFC25D4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結合質押與有限驗證者集合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EVM相容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區塊確認快、費用通常較低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適合高頻零售型應用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4E20C9-C59E-4C36-8052-C80DC041D021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治理取捨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C10575-274D-400C-B003-1A9990B4704E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活躍驗證者集合較小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生態與BNB Chain關係密切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效率提高同時集中度也較高</a:t>
            </a:r>
          </a:p>
        </p:txBody>
      </p:sp>
    </p:spTree>
    <p:extLst>
      <p:ext uri="{BB962C8B-B14F-4D97-AF65-F5344CB8AC3E}">
        <p14:creationId xmlns:p14="http://schemas.microsoft.com/office/powerpoint/2010/main" val="349993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229EE96-15BF-43E4-9BB9-9D8C8E7ABF9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C1082A-E89F-4FA7-A744-AD5CAC0D0880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Solana採不同於EVM的高效能設計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13EB14-8FA2-4F29-AB1F-A42BA6B439D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66DC28-E7BB-4C26-A77C-A0E84049FD27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ED9B24-9DED-4172-B5D4-BC1F9427F2E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CE7278-3820-431B-9703-5FB7D1591C2A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C50C54-FAC2-457D-9DED-E99EB69A8578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9AF208-F299-4F03-8235-FDF6EEC951A2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架構重點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425AB0-E94B-4062-A7C4-0AC252E800C8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以Proof of History提供可驗證時間排序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搭配權益證明與平行執行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追求低延遲與高吞吐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不是EVM原生環境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B13AD2-7892-4A79-B5F7-B3012F33E9F7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金融應用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3DF195-80A5-4B64-8907-73F064545DD2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鏈上交易與訂單簿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穩定幣支付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消費型應用與NFT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高頻互動服務</a:t>
            </a:r>
          </a:p>
        </p:txBody>
      </p:sp>
    </p:spTree>
    <p:extLst>
      <p:ext uri="{BB962C8B-B14F-4D97-AF65-F5344CB8AC3E}">
        <p14:creationId xmlns:p14="http://schemas.microsoft.com/office/powerpoint/2010/main" val="1382674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211BB9E-2CA2-4325-B4BD-77C21B1FC8F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A7E012-A421-4640-BA43-5F2496D115F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Solana的優勢與風險同樣來自架構取捨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08BC7-B935-40B3-920E-5A93BDD85D7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365C03-0218-48D1-B23F-9849FD0E3612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E3F188-DB56-4EB9-A940-D1DF939C82D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830CC0-FBB7-423A-9AD9-CEEF84BCCCC7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9C1624-AD93-4406-B7D4-2E3B1E2A7E2A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效能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0F59F3-408B-4DFB-801A-3924AA9885C5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高容量與低延遲使用體驗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CCA8E1-839A-46CF-869D-EE8A09B13613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1BF468-9779-4C32-BD66-8168444D92BE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硬體門檻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81F565-E544-40E0-9DDF-310C00243A0F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驗證節點資源需求較高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0BA25E-9334-411C-B9D0-5F399415BD39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3196ED-DD7D-4035-9E9D-0717D117FF8A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程式環境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B269BA-B76A-43D6-8C62-ACE5E454742F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非EVM，人才與工具不同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2BD939-A32F-4966-8E05-1A470015A218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E7DA3B-399C-4B95-B1A5-A0CCF7D3C472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韌性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E95CFB-3B13-47C6-BD9B-DFF4779801B3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需觀察停機紀錄與用戶端多樣性</a:t>
            </a:r>
          </a:p>
        </p:txBody>
      </p:sp>
    </p:spTree>
    <p:extLst>
      <p:ext uri="{BB962C8B-B14F-4D97-AF65-F5344CB8AC3E}">
        <p14:creationId xmlns:p14="http://schemas.microsoft.com/office/powerpoint/2010/main" val="567537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1F8053D-A2AC-4288-A3F5-649F9F42F6DD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25E339-71FE-401C-BF8F-17E269866802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四個平台的定位，可以用一句話區分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0FA67E-F1B4-4594-B2B9-43C277AABB8D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A11004-C622-4B4F-A2BE-0EB2138D40C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DEC5D0-CE3B-47F5-B858-734247A7CD4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FAE4B6-4480-4592-A028-F5D078E58BA6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CEF19D-1A21-47F6-B2BD-D4B01212C77A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Bitcoin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7E3781-D846-474A-9926-9CD97737FFC8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稀缺資產與保守型結算網路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D71D36-09A1-47BB-9CE1-8CB1F3A1CFF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7982A5-0C20-4E13-887A-9CAE152AEE5B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F1F642-2E22-4451-BEA9-AEF7CA7B6E95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通用可程式化結算＋L2生態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0B083-8505-4FB4-957B-1D8DFBB311D2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3A2021-2CA0-4A74-8BD1-DA6620A3100E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BNB Smart Chain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63BB76-CED3-46FB-B509-97A2C86ECF47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EVM相容、低費用的大眾應用鏈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0115E0-66E8-4AE8-8473-A3F654CBAC89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C4574C-BB9A-4E49-B432-E5E280BB84CB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Solana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1BB06E-4B6C-4940-8BA9-22B2852A743A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非EVM、高效能與低延遲平台</a:t>
            </a:r>
          </a:p>
        </p:txBody>
      </p:sp>
    </p:spTree>
    <p:extLst>
      <p:ext uri="{BB962C8B-B14F-4D97-AF65-F5344CB8AC3E}">
        <p14:creationId xmlns:p14="http://schemas.microsoft.com/office/powerpoint/2010/main" val="178982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24FD78A-FA33-42B4-8128-68387839A411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2C4200-4236-47AB-89A8-096865D7C83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選平台不能只比較TPS與手續費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704039-3B54-40EE-80AA-CDE0EF4DF2C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745CBA-D4B0-47EA-884D-CB12F1C8C9D9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0FD246-AB5D-4EEF-840E-A3826AEEEB8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D8B231-9F09-446C-970B-FD8BC2E1CC18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FEB555-1BC1-4545-BDA2-1C7A6F651BD6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安全與最終性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594DD2-58FA-4549-BEB4-34F7AB92A5E9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多快能視為不可逆？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A9216D-774A-47E5-810A-72985097110B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99ED3F-4B0A-47ED-9650-042F14087C38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流動性與生態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A37DDC-79B6-4E42-9D8B-388B5043F410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資產、用戶與基礎設施在哪裡？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1A33F7-5011-47B0-90A4-FA91B97DAC38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5CDE6E-6939-428D-987B-62F0D12924FF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治理與集中度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4F4AB1-1C8A-4190-BF60-E59566576E5E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誰可升級、暫停或排序交易？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FF23A6-39B6-424F-852E-F63635D46A1F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5F0310-C1D7-444D-A18E-90C3A1067D4A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合規與營運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17F050-5FB4-41BF-BD85-B6FB8C2E6D6F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託管、稅務、制裁與資料需求</a:t>
            </a:r>
          </a:p>
        </p:txBody>
      </p:sp>
    </p:spTree>
    <p:extLst>
      <p:ext uri="{BB962C8B-B14F-4D97-AF65-F5344CB8AC3E}">
        <p14:creationId xmlns:p14="http://schemas.microsoft.com/office/powerpoint/2010/main" val="36111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C29F8D28-01CE-46E4-9591-6878E04A063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E3ABE2-9DEF-4BE1-B9EC-7473819A46F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AEFD81-B85E-4533-A5C8-8563B666895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61FA93-030F-40AF-A1A1-ADD6578C02D4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B6FE05-746D-4608-9AF0-9D2F846C383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965D44-5E56-44A1-97E8-4C3EB0FD0F30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284D8-E6C0-4219-9705-29D5F43BD701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81E7DF-3899-4276-A9D7-A544D81FA90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15407C-6932-41A6-BF0E-23CFD2558B63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6｜第二節｜快問快答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1500EE-B091-4CA7-8DD4-91FCE7112B1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FD9A73-3817-41F1-AD0B-AE4DDB05C0B0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Rollup主要目的？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30C3B8-FE9B-4788-9863-992CB6E75275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發新法幣　B 在L2批次執行並回L1結算　C 取代錢包　D 固定幣價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02FB66-5BE9-44B9-813E-9BE8E38E7A68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78B67E-1A35-462C-BE19-4CE8550BB324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答案：B。擴充Ethereum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BC23BE-1CB0-4853-8058-6D6218019943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L2一定沒有集中風險嗎？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2D5970-10D8-4910-88E4-F2A4EB90BA9C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只有週末有　D 只看費用即可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98024-B176-4374-AA89-3656E78EB65C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0D126A-2D2B-4944-9D98-CB6160EB00EB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275"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答案：B。排序器與升級權限需評估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D70FF-F74C-49A7-B64B-6064BA559D38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BSC目前正式名稱？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7A2EF5-5C51-4C60-B55B-8D07369A8501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802"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Binance Coin Server　B BNB Smart Chain　C Bitcoin Side Chain　D BUSD Chain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2FEA2D-A84C-421F-B709-7C0A09FC57C4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046A1E-9674-4081-8857-AF2369BE5523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答案：B。BNB Smart Chain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56D879D-4E92-4CAC-BB69-6BEA5E4B551D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Solana是EVM原生鏈嗎？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99B7776-845E-4424-A776-083B8DAEBC2D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只有NFT是　D 只有銀行是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85E8B2-DE68-4CBE-AEF5-CC8F55C2662C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F3DBB72-892B-4791-AB39-89D137E215AE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答案：B。採不同執行環境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CF91326-C741-41A8-A6A5-3E22064514A4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選平台只看TPS是否足夠？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9B8961-361B-40DA-AAFC-9E8B50B18B11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足夠　B 不足，還要看安全、治理與生態　C 只需看幣價　D 只需看名稱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C6EBDA-A942-4FC5-8409-851653C5F183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2FAF3B-633E-4974-85E0-2DAD56FD6EE0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答案：B。需多面向比較</a:t>
            </a:r>
          </a:p>
        </p:txBody>
      </p:sp>
    </p:spTree>
    <p:extLst>
      <p:ext uri="{BB962C8B-B14F-4D97-AF65-F5344CB8AC3E}">
        <p14:creationId xmlns:p14="http://schemas.microsoft.com/office/powerpoint/2010/main" val="1119383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284BD95-E561-405E-8CF8-F92E79FD3CC2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D6F26A-5E15-45A8-AECE-72602323E1DA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EVM與非EVM影響人才、工具與資產移植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89FF75-EF51-4B79-8B1E-D0ABADF8BD0F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C6AA64-C9E4-42B7-BB81-CB022823FB3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8F9ED8-0404-41AA-A061-1362D18A3CC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CD043A-72E0-42E9-B38E-1DAE23F2F6B1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96FFE3-DBBA-4F2B-B826-A90863610B7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4CADC9-7517-4D41-ABED-856F6ED3ED54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EVM生態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C30A87-F0A2-4F72-AAB3-C13E5A8A1495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Ethereum、BNB Smart Chain及多個L2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錢包與開發工具共通性高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合約容易移植但風險也可能複製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E4C804-FDB0-46CA-8078-E02ED524D736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非EVM生態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C141E4-A060-4151-88D6-D52086FC6B7F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Solana等使用不同執行與帳戶設計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可能追求特定效能優勢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需要不同工具、審計與營運能力</a:t>
            </a:r>
          </a:p>
        </p:txBody>
      </p:sp>
    </p:spTree>
    <p:extLst>
      <p:ext uri="{BB962C8B-B14F-4D97-AF65-F5344CB8AC3E}">
        <p14:creationId xmlns:p14="http://schemas.microsoft.com/office/powerpoint/2010/main" val="2116349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11CF8DF-2557-459C-AB7B-B37B1305944D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5ED5DC-BB51-458E-8C1F-433F6AE58817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L1、L2與應用鏈是不同的責任配置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27BF9A-DEEC-470C-83C5-33F6D1D9215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ADD6-D396-4BEF-B781-82B19636F0D2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6790A4-26BE-48CF-931A-D0389F6D9DF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3E01DB-B266-4EDB-864C-0CF1CB9AC903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9CA93B-BFE9-4741-AFA7-F0A8A2F4B1A8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L1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7A31DA-FCDF-4879-8FF6-5FBCA307584B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自行維護共識與安全預算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CE275E-1016-4528-BB1F-8EAE704F6F40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266D0E-1515-432C-BB23-C47E1B25DBC6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L2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B2646A-EAE0-43AD-B0EC-FD30D9457359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把部分安全或資料可用性依賴L1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A0D172-C130-4539-A906-A6613F9A5578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A8967F-ED6A-4609-9A7C-16819F28508C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D6FF813-13F7-493C-9056-0FD11DA05A93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為單一生態設計專用規則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55E1E8-A9B4-4C65-955E-A532B4BE5258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E2E7F2-EEE5-4C22-8EEE-138744E1757A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A6CE3A-D1CE-4F8D-A70A-E6071E3CA85F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限制參與者並依契約建立治理</a:t>
            </a:r>
          </a:p>
        </p:txBody>
      </p:sp>
    </p:spTree>
    <p:extLst>
      <p:ext uri="{BB962C8B-B14F-4D97-AF65-F5344CB8AC3E}">
        <p14:creationId xmlns:p14="http://schemas.microsoft.com/office/powerpoint/2010/main" val="1990375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A02341D-7BFD-4EE2-BF8B-2282D65EB930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26F805-15AB-4DA9-8E67-FD9862ACA05F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跨鏈橋解決資產移動，也新增信任點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B54568-1623-4CEC-9C87-608829D159AD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FCF093-A7C5-44A3-94F1-B195DC65D374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C832CC-450F-47C4-9986-51641F49F7D1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C0A580-FF07-4EEE-9718-BEEF02C60028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0A5F5D-A00B-4DD6-B24B-818A1804D5E8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1695CB-6D07-4990-AE4D-3066A1418E89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常見做法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DE1C9A-CB48-46DA-90B5-B4CF641FFB2F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鎖定原鏈資產並鑄造映射資產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銷毀映射資產後解鎖原資產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用驗證者、輕客戶端或證明傳訊息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78A370-3CCD-4031-ABAC-C32DDD93221D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主要風險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6DFE32-09F7-4EFA-94F0-C671DD4AF4C6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合約漏洞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簽署者或管理金鑰遭控制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兩條鏈最終性不一致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映射資產脫離原資產價值</a:t>
            </a:r>
          </a:p>
        </p:txBody>
      </p:sp>
    </p:spTree>
    <p:extLst>
      <p:ext uri="{BB962C8B-B14F-4D97-AF65-F5344CB8AC3E}">
        <p14:creationId xmlns:p14="http://schemas.microsoft.com/office/powerpoint/2010/main" val="1066256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36B7978-2DCB-40D2-8833-D3660E3FFFD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414480-B7E8-4C5C-99C5-53758CF49F90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穩定幣是多鏈應用，不是區塊鏈平台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FC6CCC-4135-4F39-83E0-7DE1C716E04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A7F5D3-E774-400D-8631-CBCD61EBC090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2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A79373-AECE-4482-BC5F-A32F4DBE731B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2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E670BA-0206-4385-9AE0-38CEB31895BB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49D1FC-BC5B-4278-AA8F-7C73F9DCE77B}"/>
              </a:ext>
            </a:extLst>
          </p:cNvPr>
          <p:cNvSpPr>
            <a:spLocks noGrp="1"/>
          </p:cNvSpPr>
          <p:nvPr/>
        </p:nvSpPr>
        <p:spPr>
          <a:xfrm>
            <a:off x="6115050" y="1868877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D7B982-F7F5-4770-A303-3373FB279DB8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正確分類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DDE34F-16EE-4FEB-B30F-0E90AD4FDBC9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USDT、USDC等是發行在一條或多條鏈上的代幣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同名代幣在不同鏈是不同帳本紀錄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轉鏈通常需交易平台或橋接服務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5C4646-CE65-4C5D-81D3-4DE41C251895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325" b="1" dirty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新觀念</a:t>
            </a:r>
            <a:endParaRPr sz="2325" b="1" dirty="0">
              <a:solidFill>
                <a:srgbClr val="10141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64891B-3165-4B37-B823-7F02FFDD025E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不把穩定幣與Bitcoin、Ethereum並列為鏈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BUSD不再作主流生態中心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風險焦點回到發行、儲備與贖回</a:t>
            </a:r>
          </a:p>
        </p:txBody>
      </p:sp>
    </p:spTree>
    <p:extLst>
      <p:ext uri="{BB962C8B-B14F-4D97-AF65-F5344CB8AC3E}">
        <p14:creationId xmlns:p14="http://schemas.microsoft.com/office/powerpoint/2010/main" val="1089755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7B77614-2A6B-4C49-8C5E-B0A40716E036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EDD8EB-F31E-4725-BDB1-807DB4A3CE49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預言機把外部資料帶入鏈上合約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80DD53-B1A3-480A-935A-FE83999012D6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CBE320-3BF4-4626-BD3F-6797AF6C009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743420-5D7A-4BED-BB7E-483BB4FB5FB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AA47DB-1183-4F25-8D27-DC5D3E426F80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537ED7-5095-4AC1-AE82-48B33BD2809C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價格資料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4983CA-1FF5-4014-8E67-07281978D6AD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提供匯率與資產價格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794E28-9737-4E88-8A7F-B53DF226A6FA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0F8C95-779D-48A3-A418-4ADCC4FF7608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事件資料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862329-3D36-4003-B6F4-94C24B3928F2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天氣、物流、比賽或付款狀態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D7B95B-B936-4100-9A9F-C58D0986C79B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2D9C7-1F50-4454-A6D2-947FE3F9CFC9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核心風險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099D4B-96B6-41E3-8FAD-7A15532329D5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來源錯誤、操縱或延遲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C7A8A8-E8BF-4A07-B56D-61E3BFC32977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732235-EA03-496E-B81B-B8D2B11CD785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治理問題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4AF789-0BF7-4B7D-BBAE-4E88199DFB70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誰選資料源與更新規則？</a:t>
            </a:r>
          </a:p>
        </p:txBody>
      </p:sp>
    </p:spTree>
    <p:extLst>
      <p:ext uri="{BB962C8B-B14F-4D97-AF65-F5344CB8AC3E}">
        <p14:creationId xmlns:p14="http://schemas.microsoft.com/office/powerpoint/2010/main" val="2072617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76A91FF-C707-41B2-919D-120A5A22D300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FA558B-6F16-4E8E-81A8-9F73385134E5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DAO把治理權寫入代幣與合約，但不消除人治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C9A1D9-A754-434F-874F-B1818D70E5DB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FB313C-A915-483D-8CDD-3AECBE6375BF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04284C-A1B0-496D-8D95-96A71FE0ED3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D5D746-FF10-4EE6-B16D-96ACFF992935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FB86FA-AF8B-4FDD-8C29-33B775E6AC2D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F3FD1D-0FAA-4AEA-8D0F-BA8A619DA6D7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可以改善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55B3E6-22F0-4799-B91A-A1321F8A5130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提案與投票紀錄透明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資金依規則執行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跨國社群協作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權限與流程可稽核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D7A900-B910-4031-A428-61399EA71DD3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仍會出現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03C0EE-80F5-442B-AEE2-B90227023120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投票權集中於大戶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參與率低與委託問題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核心團隊實質影響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法律人格與責任不清</a:t>
            </a:r>
          </a:p>
        </p:txBody>
      </p:sp>
    </p:spTree>
    <p:extLst>
      <p:ext uri="{BB962C8B-B14F-4D97-AF65-F5344CB8AC3E}">
        <p14:creationId xmlns:p14="http://schemas.microsoft.com/office/powerpoint/2010/main" val="987312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117B74B-0258-4CBF-9A0F-9AFFA8D29F1A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3A8330-0E7C-44CF-BB5C-068EE403419D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金融機構還要比較公有鏈與許可型網路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3AAEC7-6DCE-424D-B8BD-150ABB40BF62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D88021-63EF-4D5D-9F54-2C9E99C5A765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34EBC1-D182-406F-B13C-436914282B53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9BA595-F553-40F3-9A5B-4B8A05123A0B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9DB176-26F3-4A20-93A6-68ADED544B50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402077-EE9B-466F-B02B-5A65D1618610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公有鏈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5D374A-8495-4872-ADFC-DAE9A1076B4B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開放參與與全球流動性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共享安全與可組合性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治理及合規控制較難客製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F4A61B-26DE-4743-9A5D-610F07A26C1C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許可型網路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056EEF-D2D9-40A1-BF83-48D1FA44EB53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參與者身分與權限明確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可配合法律契約與隱私需求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可能犧牲開放性與網路效應</a:t>
            </a:r>
          </a:p>
        </p:txBody>
      </p:sp>
    </p:spTree>
    <p:extLst>
      <p:ext uri="{BB962C8B-B14F-4D97-AF65-F5344CB8AC3E}">
        <p14:creationId xmlns:p14="http://schemas.microsoft.com/office/powerpoint/2010/main" val="251675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DDA40D8-5E95-4B82-BC52-85B5E4AC9D58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052EB4-5EC8-4030-800F-364C37409A2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平台盡職調查：用六格檢查表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3C847C-CE95-4D4E-89AB-0C4D8BD48961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AA97F9-A0AB-4369-906D-EE973ED2188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133341-94CC-4254-86E0-BED1DA261964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48F0EC-93A1-41DF-B816-3058FED542C6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17145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C7702C-786B-4B39-B676-86E4E4E54CCD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056375-11AD-4535-AC2A-4DAF9D8B47CE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價值與法律權利是什麼？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479AF3-0450-49D2-8500-6A34EC75A48F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B4011D-570E-4FA3-98A7-7AE8092D43FF}"/>
              </a:ext>
            </a:extLst>
          </p:cNvPr>
          <p:cNvSpPr>
            <a:spLocks noGrp="1"/>
          </p:cNvSpPr>
          <p:nvPr/>
        </p:nvSpPr>
        <p:spPr>
          <a:xfrm>
            <a:off x="6343650" y="2047875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6E7F65-5AD7-43FB-8244-389BFFBAE5B5}"/>
              </a:ext>
            </a:extLst>
          </p:cNvPr>
          <p:cNvSpPr>
            <a:spLocks noGrp="1"/>
          </p:cNvSpPr>
          <p:nvPr/>
        </p:nvSpPr>
        <p:spPr>
          <a:xfrm>
            <a:off x="6343650" y="2619375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誰驗證、如何達成最終性？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63959F-225B-49A2-9800-5940D524323E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1EA97B-FEB3-4F38-A691-EACDB09D868C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AF11D2-68AE-40E0-A6D1-ED2F347482A8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合約、費用與升級權限如何？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C40665-D4A1-4FDA-A0BD-77FABED05877}"/>
              </a:ext>
            </a:extLst>
          </p:cNvPr>
          <p:cNvSpPr>
            <a:spLocks noGrp="1"/>
          </p:cNvSpPr>
          <p:nvPr/>
        </p:nvSpPr>
        <p:spPr>
          <a:xfrm>
            <a:off x="6115050" y="3905250"/>
            <a:ext cx="5429250" cy="1714500"/>
          </a:xfrm>
          <a:prstGeom prst="rect">
            <a:avLst/>
          </a:prstGeom>
          <a:solidFill>
            <a:srgbClr val="ECEFF3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10FFF0-A0F5-4A03-8C77-044F8D2213F6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4972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60236B-3CB1-4EA5-BA51-DBB4937E215C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497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託管、橋接、預言機與備援如何？</a:t>
            </a:r>
          </a:p>
        </p:txBody>
      </p:sp>
    </p:spTree>
    <p:extLst>
      <p:ext uri="{BB962C8B-B14F-4D97-AF65-F5344CB8AC3E}">
        <p14:creationId xmlns:p14="http://schemas.microsoft.com/office/powerpoint/2010/main" val="1662326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DEC4886-B360-40A7-B008-A2D2A87354D3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394213-0276-457D-995A-91F6AB1AEAA4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案例：銀行發行代幣化債券，該選哪種平台？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87B4D4-88CD-4344-A63A-6E0E21D5B5D5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5BFB62-3F91-4D23-98D5-35D8F559E62D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922341-2644-4A9E-B68B-25F7E079C73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4B72C8-52AF-48FC-9C9B-904A13B6AAD9}"/>
              </a:ext>
            </a:extLst>
          </p:cNvPr>
          <p:cNvSpPr>
            <a:spLocks noGrp="1"/>
          </p:cNvSpPr>
          <p:nvPr/>
        </p:nvSpPr>
        <p:spPr>
          <a:xfrm>
            <a:off x="419100" y="1857375"/>
            <a:ext cx="5429250" cy="39052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489A9F-BE59-4877-BE1C-AA3C76B337EE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56578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49063F-77EF-49C4-8001-436FA8897FDD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業務需求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274FFD-25EC-4726-A020-2B9AB59BD02F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4953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投資人資格可控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現金與證券同步交割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隱私、稽核與法律最終性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可與託管及銀行系統整合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988B8F-0D0D-487A-A84D-E3C78B3F23A1}"/>
              </a:ext>
            </a:extLst>
          </p:cNvPr>
          <p:cNvSpPr>
            <a:spLocks noGrp="1"/>
          </p:cNvSpPr>
          <p:nvPr/>
        </p:nvSpPr>
        <p:spPr>
          <a:xfrm>
            <a:off x="6362700" y="2114550"/>
            <a:ext cx="516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平台評估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5600B7-B075-44CB-BCCB-503F83082354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5162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公有鏈或許可型網路？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L1、L2或專用網路？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穩定幣、存款代幣或央行貨幣交割？</a:t>
            </a:r>
          </a:p>
          <a:p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失敗時誰負責與如何回復？</a:t>
            </a:r>
          </a:p>
        </p:txBody>
      </p:sp>
    </p:spTree>
    <p:extLst>
      <p:ext uri="{BB962C8B-B14F-4D97-AF65-F5344CB8AC3E}">
        <p14:creationId xmlns:p14="http://schemas.microsoft.com/office/powerpoint/2010/main" val="1757601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E905CBD-D269-4AB3-BD51-1F24CA021A7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6056D3-F81E-42BF-A490-0017CCA9D56D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本週結論：平台名稱會變，判斷框架可以沿用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E0136F-B58A-46B3-B302-57615CB016EF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010AFD-3026-4AAE-A01F-71C5C8EFF02A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5B9341-CDA1-4328-938E-35051DA1EFAA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62953E-C7E0-49E3-8AF8-98D5C9F29A95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三層判斷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A7DD69-ECB7-4AC6-9D81-88D4257F74ED}"/>
              </a:ext>
            </a:extLst>
          </p:cNvPr>
          <p:cNvSpPr>
            <a:spLocks noGrp="1"/>
          </p:cNvSpPr>
          <p:nvPr/>
        </p:nvSpPr>
        <p:spPr>
          <a:xfrm>
            <a:off x="419100" y="2571750"/>
            <a:ext cx="11144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先看使命與安全，再看執行與擴充，最後看治理、流動性與合規。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211339-7DD8-42FD-9193-F3EE54DB15D4}"/>
              </a:ext>
            </a:extLst>
          </p:cNvPr>
          <p:cNvSpPr>
            <a:spLocks noGrp="1"/>
          </p:cNvSpPr>
          <p:nvPr/>
        </p:nvSpPr>
        <p:spPr>
          <a:xfrm>
            <a:off x="419100" y="4267200"/>
            <a:ext cx="11353800" cy="120015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7FC6F1-C039-4F58-843C-259A1CB4AFD2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0833" lnSpcReduction="10000"/>
          </a:bodyPr>
          <a:lstStyle/>
          <a:p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Bitcoin、Ethereum、BNB Smart Chain與Solana各自最佳化不同目標；金融決策要從業務情境與風險承受度出發。</a:t>
            </a:r>
          </a:p>
        </p:txBody>
      </p:sp>
    </p:spTree>
    <p:extLst>
      <p:ext uri="{BB962C8B-B14F-4D97-AF65-F5344CB8AC3E}">
        <p14:creationId xmlns:p14="http://schemas.microsoft.com/office/powerpoint/2010/main" val="1702652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DFBB4DEB-DACA-4919-9456-83F4272963EF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B602F3-92B1-4498-A44A-3FC69C49B75D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318DDF-6004-4505-B7E8-29A386DAF819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B0985F-F85B-42D1-9D2B-64FB93827A98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6｜第三節｜快問快答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8581BC-C7F1-418B-A0DE-7A6EE149F412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E615F0-2C84-41B9-93FB-2BB0862E1121}"/>
              </a:ext>
            </a:extLst>
          </p:cNvPr>
          <p:cNvSpPr>
            <a:spLocks noGrp="1"/>
          </p:cNvSpPr>
          <p:nvPr/>
        </p:nvSpPr>
        <p:spPr>
          <a:xfrm>
            <a:off x="419100" y="23812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61E309-DBCD-4D61-A8E7-052886EFB70E}"/>
              </a:ext>
            </a:extLst>
          </p:cNvPr>
          <p:cNvSpPr>
            <a:spLocks noGrp="1"/>
          </p:cNvSpPr>
          <p:nvPr/>
        </p:nvSpPr>
        <p:spPr>
          <a:xfrm>
            <a:off x="419100" y="628650"/>
            <a:ext cx="1133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1904D-4F4F-468A-9FDD-946B063F6623}"/>
              </a:ext>
            </a:extLst>
          </p:cNvPr>
          <p:cNvSpPr>
            <a:spLocks noGrp="1"/>
          </p:cNvSpPr>
          <p:nvPr/>
        </p:nvSpPr>
        <p:spPr>
          <a:xfrm>
            <a:off x="419100" y="1409700"/>
            <a:ext cx="11353800" cy="19050"/>
          </a:xfrm>
          <a:prstGeom prst="rect">
            <a:avLst/>
          </a:prstGeom>
          <a:solidFill>
            <a:srgbClr val="AEB7C2"/>
          </a:solidFill>
          <a:ln w="9525">
            <a:solidFill>
              <a:srgbClr val="AEB7C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3D0952-766A-474C-82C6-46DD6B2AD976}"/>
              </a:ext>
            </a:extLst>
          </p:cNvPr>
          <p:cNvSpPr>
            <a:spLocks noGrp="1"/>
          </p:cNvSpPr>
          <p:nvPr/>
        </p:nvSpPr>
        <p:spPr>
          <a:xfrm>
            <a:off x="419100" y="64770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6｜第三節｜快問快答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7F6C2D-8EAC-4CCD-92B1-00E183B9512D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523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7024" lnSpcReduction="10000"/>
          </a:bodyPr>
          <a:lstStyle/>
          <a:p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F1851C-7A27-4F87-9FA4-44D614643A3D}"/>
              </a:ext>
            </a:extLst>
          </p:cNvPr>
          <p:cNvSpPr>
            <a:spLocks noGrp="1"/>
          </p:cNvSpPr>
          <p:nvPr/>
        </p:nvSpPr>
        <p:spPr>
          <a:xfrm>
            <a:off x="476250" y="16287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穩定幣屬於？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33BC04-EB68-4885-8EBF-91522E302D6C}"/>
              </a:ext>
            </a:extLst>
          </p:cNvPr>
          <p:cNvSpPr>
            <a:spLocks noGrp="1"/>
          </p:cNvSpPr>
          <p:nvPr/>
        </p:nvSpPr>
        <p:spPr>
          <a:xfrm>
            <a:off x="647700" y="20097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區塊鏈平台　B 發行在鏈上的代幣　C 共識機制　D 礦機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ADB8D4-BA2D-4296-B1DF-DAE8A19EA763}"/>
              </a:ext>
            </a:extLst>
          </p:cNvPr>
          <p:cNvSpPr>
            <a:spLocks noGrp="1"/>
          </p:cNvSpPr>
          <p:nvPr/>
        </p:nvSpPr>
        <p:spPr>
          <a:xfrm>
            <a:off x="8115300" y="16287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3E26C0-35DE-44DE-BA75-323D17842A18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答案：B。可跨多條鏈發行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10A133-2D94-4E09-9E61-73E1B3549CB6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跨鏈橋通常如何移轉價值？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08E47C-6A29-486A-BB0C-06E1355A57A9}"/>
              </a:ext>
            </a:extLst>
          </p:cNvPr>
          <p:cNvSpPr>
            <a:spLocks noGrp="1"/>
          </p:cNvSpPr>
          <p:nvPr/>
        </p:nvSpPr>
        <p:spPr>
          <a:xfrm>
            <a:off x="647700" y="293370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物理搬運代幣　B 鎖定與映射／跨鏈訊息　C 改變法幣　D 刪除原鏈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1DC9D5-265E-409C-828D-337552124AAF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985992-22BC-4AEA-8BCA-DBFE17FF1A55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答案：B。建立權利對應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BD7266-8DBE-4A21-8400-50B9FDF3DC92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預言機主要提供？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A7CEBB-3EE0-4CC3-8560-B177945BAC1C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私鑰　B 外部資料　C 挖礦硬體　D 法律人格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81FFDF-E8BE-4C6B-A348-086FA0FF6DAF}"/>
              </a:ext>
            </a:extLst>
          </p:cNvPr>
          <p:cNvSpPr>
            <a:spLocks noGrp="1"/>
          </p:cNvSpPr>
          <p:nvPr/>
        </p:nvSpPr>
        <p:spPr>
          <a:xfrm>
            <a:off x="8115300" y="347662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EC2F71-E7E1-4C85-9816-E32B09F83B51}"/>
              </a:ext>
            </a:extLst>
          </p:cNvPr>
          <p:cNvSpPr>
            <a:spLocks noGrp="1"/>
          </p:cNvSpPr>
          <p:nvPr/>
        </p:nvSpPr>
        <p:spPr>
          <a:xfrm>
            <a:off x="8324850" y="365760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答案：B。把外部狀態帶入合約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366114-3B5F-4B8E-B5B8-C4EF1B07A203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DAO是否代表完全無人治理？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8E9DF2-E083-4858-9708-5ECCA1411BFC}"/>
              </a:ext>
            </a:extLst>
          </p:cNvPr>
          <p:cNvSpPr>
            <a:spLocks noGrp="1"/>
          </p:cNvSpPr>
          <p:nvPr/>
        </p:nvSpPr>
        <p:spPr>
          <a:xfrm>
            <a:off x="647700" y="47815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只有幣價高時是　D 只要投票就是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8755A9-63CE-464C-BD2A-B3150E55C6DC}"/>
              </a:ext>
            </a:extLst>
          </p:cNvPr>
          <p:cNvSpPr>
            <a:spLocks noGrp="1"/>
          </p:cNvSpPr>
          <p:nvPr/>
        </p:nvSpPr>
        <p:spPr>
          <a:xfrm>
            <a:off x="8115300" y="4400550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C2980E-A8EA-46F1-B653-DC4E9834765A}"/>
              </a:ext>
            </a:extLst>
          </p:cNvPr>
          <p:cNvSpPr>
            <a:spLocks noGrp="1"/>
          </p:cNvSpPr>
          <p:nvPr/>
        </p:nvSpPr>
        <p:spPr>
          <a:xfrm>
            <a:off x="8324850" y="4581525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答案：B。仍有集中與責任問題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9C454C0-1CE4-46C6-A1FE-351125712FCD}"/>
              </a:ext>
            </a:extLst>
          </p:cNvPr>
          <p:cNvSpPr>
            <a:spLocks noGrp="1"/>
          </p:cNvSpPr>
          <p:nvPr/>
        </p:nvSpPr>
        <p:spPr>
          <a:xfrm>
            <a:off x="476250" y="532447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485"/>
          </a:bodyPr>
          <a:lstStyle/>
          <a:p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平台盡職調查最後要回到？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46A369-F30A-48C2-A933-470C1F239827}"/>
              </a:ext>
            </a:extLst>
          </p:cNvPr>
          <p:cNvSpPr>
            <a:spLocks noGrp="1"/>
          </p:cNvSpPr>
          <p:nvPr/>
        </p:nvSpPr>
        <p:spPr>
          <a:xfrm>
            <a:off x="647700" y="5705475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熱門程度　B 業務需求、責任與風險　C Logo　D 社群口號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28823A2-4ED7-49EA-BC84-E8F27B4030AE}"/>
              </a:ext>
            </a:extLst>
          </p:cNvPr>
          <p:cNvSpPr>
            <a:spLocks noGrp="1"/>
          </p:cNvSpPr>
          <p:nvPr/>
        </p:nvSpPr>
        <p:spPr>
          <a:xfrm>
            <a:off x="8115300" y="5324475"/>
            <a:ext cx="3524250" cy="723900"/>
          </a:xfrm>
          <a:prstGeom prst="rect">
            <a:avLst/>
          </a:prstGeom>
          <a:solidFill>
            <a:srgbClr val="DDF2FF"/>
          </a:solidFill>
          <a:ln w="9525">
            <a:solidFill>
              <a:srgbClr val="1677F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46D025-83B5-448E-9230-37DE0B65C746}"/>
              </a:ext>
            </a:extLst>
          </p:cNvPr>
          <p:cNvSpPr>
            <a:spLocks noGrp="1"/>
          </p:cNvSpPr>
          <p:nvPr/>
        </p:nvSpPr>
        <p:spPr>
          <a:xfrm>
            <a:off x="8324850" y="5505450"/>
            <a:ext cx="3105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答案：B。從情境選平台</a:t>
            </a:r>
          </a:p>
        </p:txBody>
      </p:sp>
    </p:spTree>
    <p:extLst>
      <p:ext uri="{BB962C8B-B14F-4D97-AF65-F5344CB8AC3E}">
        <p14:creationId xmlns:p14="http://schemas.microsoft.com/office/powerpoint/2010/main" val="6056999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1474</Words>
  <Application>Microsoft Office PowerPoint</Application>
  <DocSecurity>0</DocSecurity>
  <PresentationFormat>寬螢幕</PresentationFormat>
  <Paragraphs>488</Paragraphs>
  <Slides>33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6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桂珍 邱</cp:lastModifiedBy>
  <cp:revision>1</cp:revision>
  <dcterms:created xsi:type="dcterms:W3CDTF">2026-09-03T05:14:28Z</dcterms:created>
  <dcterms:modified xsi:type="dcterms:W3CDTF">2026-09-03T05:18:07Z</dcterms:modified>
</cp:coreProperties>
</file>