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922b2a4e78469c" /><Relationship Type="http://schemas.openxmlformats.org/officeDocument/2006/relationships/extended-properties" Target="/docProps/app.xml" Id="R352163e60e29440c" /><Relationship Type="http://schemas.openxmlformats.org/officeDocument/2006/relationships/officeDocument" Target="/ppt/presentation.xml" Id="R59a83e214948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ea850b29e42f7"/>
  </p:sldMasterIdLst>
  <p:notesMasterIdLst>
    <p:notesMasterId xmlns:r="http://schemas.openxmlformats.org/officeDocument/2006/relationships" r:id="R272b7632f8c244cf"/>
  </p:notesMasterIdLst>
  <p:sldIdLst>
    <p:sldId xmlns:r="http://schemas.openxmlformats.org/officeDocument/2006/relationships" id="256" r:id="R196bb691a2784787"/>
    <p:sldId xmlns:r="http://schemas.openxmlformats.org/officeDocument/2006/relationships" id="257" r:id="R1faeffb4cae14d14"/>
    <p:sldId xmlns:r="http://schemas.openxmlformats.org/officeDocument/2006/relationships" id="258" r:id="R8f34a9d955dc4b73"/>
    <p:sldId xmlns:r="http://schemas.openxmlformats.org/officeDocument/2006/relationships" id="259" r:id="R39ac5c1f318c41b5"/>
    <p:sldId xmlns:r="http://schemas.openxmlformats.org/officeDocument/2006/relationships" id="260" r:id="Rfb5245df703a4a23"/>
    <p:sldId xmlns:r="http://schemas.openxmlformats.org/officeDocument/2006/relationships" id="261" r:id="R1256453e9ee34e82"/>
    <p:sldId xmlns:r="http://schemas.openxmlformats.org/officeDocument/2006/relationships" id="262" r:id="R99723f709b104b0e"/>
    <p:sldId xmlns:r="http://schemas.openxmlformats.org/officeDocument/2006/relationships" id="263" r:id="Re4a1ea534a4445b1"/>
    <p:sldId xmlns:r="http://schemas.openxmlformats.org/officeDocument/2006/relationships" id="264" r:id="R1db5973357f544a3"/>
    <p:sldId xmlns:r="http://schemas.openxmlformats.org/officeDocument/2006/relationships" id="265" r:id="R25d5037843f9436e"/>
    <p:sldId xmlns:r="http://schemas.openxmlformats.org/officeDocument/2006/relationships" id="266" r:id="Rba5e005329f34617"/>
    <p:sldId xmlns:r="http://schemas.openxmlformats.org/officeDocument/2006/relationships" id="267" r:id="R17099b33ed384371"/>
    <p:sldId xmlns:r="http://schemas.openxmlformats.org/officeDocument/2006/relationships" id="268" r:id="R595e7d5a05b24a16"/>
    <p:sldId xmlns:r="http://schemas.openxmlformats.org/officeDocument/2006/relationships" id="269" r:id="R341aa09244e84ab1"/>
    <p:sldId xmlns:r="http://schemas.openxmlformats.org/officeDocument/2006/relationships" id="270" r:id="R1c4be06a26384db9"/>
    <p:sldId xmlns:r="http://schemas.openxmlformats.org/officeDocument/2006/relationships" id="271" r:id="R5413e228f35b4d0c"/>
    <p:sldId xmlns:r="http://schemas.openxmlformats.org/officeDocument/2006/relationships" id="272" r:id="R0336754049a44547"/>
    <p:sldId xmlns:r="http://schemas.openxmlformats.org/officeDocument/2006/relationships" id="273" r:id="R82335a6eba194286"/>
    <p:sldId xmlns:r="http://schemas.openxmlformats.org/officeDocument/2006/relationships" id="274" r:id="R8d3d76b8cd194619"/>
    <p:sldId xmlns:r="http://schemas.openxmlformats.org/officeDocument/2006/relationships" id="275" r:id="Rf811f07d713c48a3"/>
    <p:sldId xmlns:r="http://schemas.openxmlformats.org/officeDocument/2006/relationships" id="276" r:id="R79eb118ce007483f"/>
    <p:sldId xmlns:r="http://schemas.openxmlformats.org/officeDocument/2006/relationships" id="277" r:id="Rdeef6c35831d44a4"/>
    <p:sldId xmlns:r="http://schemas.openxmlformats.org/officeDocument/2006/relationships" id="278" r:id="R2be655a52da4434c"/>
    <p:sldId xmlns:r="http://schemas.openxmlformats.org/officeDocument/2006/relationships" id="279" r:id="Rf403d14a436545c7"/>
    <p:sldId xmlns:r="http://schemas.openxmlformats.org/officeDocument/2006/relationships" id="280" r:id="R062c5976927f4646"/>
    <p:sldId xmlns:r="http://schemas.openxmlformats.org/officeDocument/2006/relationships" id="281" r:id="R4844e30f71484796"/>
    <p:sldId xmlns:r="http://schemas.openxmlformats.org/officeDocument/2006/relationships" id="282" r:id="R596f3357fee24cfc"/>
    <p:sldId xmlns:r="http://schemas.openxmlformats.org/officeDocument/2006/relationships" id="283" r:id="Rdd8dbfd31a02404e"/>
    <p:sldId xmlns:r="http://schemas.openxmlformats.org/officeDocument/2006/relationships" id="284" r:id="Rb472f62bb42c47ef"/>
    <p:sldId xmlns:r="http://schemas.openxmlformats.org/officeDocument/2006/relationships" id="285" r:id="R97c609ad0bf44d21"/>
    <p:sldId xmlns:r="http://schemas.openxmlformats.org/officeDocument/2006/relationships" id="286" r:id="R6b1ce61524d744d1"/>
    <p:sldId xmlns:r="http://schemas.openxmlformats.org/officeDocument/2006/relationships" id="287" r:id="R1f85efce46ab44cc"/>
    <p:sldId xmlns:r="http://schemas.openxmlformats.org/officeDocument/2006/relationships" id="288" r:id="R215997895ddd4f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18689f5a0d47b6" /><Relationship Type="http://schemas.openxmlformats.org/officeDocument/2006/relationships/slideMaster" Target="/ppt/slideMasters/slideMaster1.xml" Id="R964ea850b29e42f7" /><Relationship Type="http://schemas.openxmlformats.org/officeDocument/2006/relationships/notesMaster" Target="/ppt/notesMasters/notesMaster1.xml" Id="R272b7632f8c244cf" /><Relationship Type="http://schemas.openxmlformats.org/officeDocument/2006/relationships/presProps" Target="/ppt/presProps.xml" Id="R52278089040740cf" /><Relationship Type="http://schemas.openxmlformats.org/officeDocument/2006/relationships/tableStyles" Target="/ppt/tableStyles.xml" Id="R2315bd3a50224f51" /><Relationship Type="http://schemas.openxmlformats.org/officeDocument/2006/relationships/slide" Target="/ppt/slides/slide1.xml" Id="R196bb691a2784787" /><Relationship Type="http://schemas.openxmlformats.org/officeDocument/2006/relationships/slide" Target="/ppt/slides/slide2.xml" Id="R1faeffb4cae14d14" /><Relationship Type="http://schemas.openxmlformats.org/officeDocument/2006/relationships/slide" Target="/ppt/slides/slide3.xml" Id="R8f34a9d955dc4b73" /><Relationship Type="http://schemas.openxmlformats.org/officeDocument/2006/relationships/slide" Target="/ppt/slides/slide4.xml" Id="R39ac5c1f318c41b5" /><Relationship Type="http://schemas.openxmlformats.org/officeDocument/2006/relationships/slide" Target="/ppt/slides/slide5.xml" Id="Rfb5245df703a4a23" /><Relationship Type="http://schemas.openxmlformats.org/officeDocument/2006/relationships/slide" Target="/ppt/slides/slide6.xml" Id="R1256453e9ee34e82" /><Relationship Type="http://schemas.openxmlformats.org/officeDocument/2006/relationships/slide" Target="/ppt/slides/slide7.xml" Id="R99723f709b104b0e" /><Relationship Type="http://schemas.openxmlformats.org/officeDocument/2006/relationships/slide" Target="/ppt/slides/slide8.xml" Id="Re4a1ea534a4445b1" /><Relationship Type="http://schemas.openxmlformats.org/officeDocument/2006/relationships/slide" Target="/ppt/slides/slide9.xml" Id="R1db5973357f544a3" /><Relationship Type="http://schemas.openxmlformats.org/officeDocument/2006/relationships/slide" Target="/ppt/slides/slide10.xml" Id="R25d5037843f9436e" /><Relationship Type="http://schemas.openxmlformats.org/officeDocument/2006/relationships/slide" Target="/ppt/slides/slide11.xml" Id="Rba5e005329f34617" /><Relationship Type="http://schemas.openxmlformats.org/officeDocument/2006/relationships/slide" Target="/ppt/slides/slide12.xml" Id="R17099b33ed384371" /><Relationship Type="http://schemas.openxmlformats.org/officeDocument/2006/relationships/slide" Target="/ppt/slides/slide13.xml" Id="R595e7d5a05b24a16" /><Relationship Type="http://schemas.openxmlformats.org/officeDocument/2006/relationships/slide" Target="/ppt/slides/slide14.xml" Id="R341aa09244e84ab1" /><Relationship Type="http://schemas.openxmlformats.org/officeDocument/2006/relationships/slide" Target="/ppt/slides/slide15.xml" Id="R1c4be06a26384db9" /><Relationship Type="http://schemas.openxmlformats.org/officeDocument/2006/relationships/slide" Target="/ppt/slides/slide16.xml" Id="R5413e228f35b4d0c" /><Relationship Type="http://schemas.openxmlformats.org/officeDocument/2006/relationships/slide" Target="/ppt/slides/slide17.xml" Id="R0336754049a44547" /><Relationship Type="http://schemas.openxmlformats.org/officeDocument/2006/relationships/slide" Target="/ppt/slides/slide18.xml" Id="R82335a6eba194286" /><Relationship Type="http://schemas.openxmlformats.org/officeDocument/2006/relationships/slide" Target="/ppt/slides/slide19.xml" Id="R8d3d76b8cd194619" /><Relationship Type="http://schemas.openxmlformats.org/officeDocument/2006/relationships/slide" Target="/ppt/slides/slide20.xml" Id="Rf811f07d713c48a3" /><Relationship Type="http://schemas.openxmlformats.org/officeDocument/2006/relationships/slide" Target="/ppt/slides/slide21.xml" Id="R79eb118ce007483f" /><Relationship Type="http://schemas.openxmlformats.org/officeDocument/2006/relationships/slide" Target="/ppt/slides/slide22.xml" Id="Rdeef6c35831d44a4" /><Relationship Type="http://schemas.openxmlformats.org/officeDocument/2006/relationships/slide" Target="/ppt/slides/slide23.xml" Id="R2be655a52da4434c" /><Relationship Type="http://schemas.openxmlformats.org/officeDocument/2006/relationships/slide" Target="/ppt/slides/slide24.xml" Id="Rf403d14a436545c7" /><Relationship Type="http://schemas.openxmlformats.org/officeDocument/2006/relationships/slide" Target="/ppt/slides/slide25.xml" Id="R062c5976927f4646" /><Relationship Type="http://schemas.openxmlformats.org/officeDocument/2006/relationships/slide" Target="/ppt/slides/slide26.xml" Id="R4844e30f71484796" /><Relationship Type="http://schemas.openxmlformats.org/officeDocument/2006/relationships/slide" Target="/ppt/slides/slide27.xml" Id="R596f3357fee24cfc" /><Relationship Type="http://schemas.openxmlformats.org/officeDocument/2006/relationships/slide" Target="/ppt/slides/slide28.xml" Id="Rdd8dbfd31a02404e" /><Relationship Type="http://schemas.openxmlformats.org/officeDocument/2006/relationships/slide" Target="/ppt/slides/slide29.xml" Id="Rb472f62bb42c47ef" /><Relationship Type="http://schemas.openxmlformats.org/officeDocument/2006/relationships/slide" Target="/ppt/slides/slide30.xml" Id="R97c609ad0bf44d21" /><Relationship Type="http://schemas.openxmlformats.org/officeDocument/2006/relationships/slide" Target="/ppt/slides/slide31.xml" Id="R6b1ce61524d744d1" /><Relationship Type="http://schemas.openxmlformats.org/officeDocument/2006/relationships/slide" Target="/ppt/slides/slide32.xml" Id="R1f85efce46ab44cc" /><Relationship Type="http://schemas.openxmlformats.org/officeDocument/2006/relationships/slide" Target="/ppt/slides/slide33.xml" Id="R215997895ddd4f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16c4a1185349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56101ee8b447b" /><Relationship Type="http://schemas.openxmlformats.org/officeDocument/2006/relationships/notesMaster" Target="/ppt/notesMasters/notesMaster1.xml" Id="Rfe626568c5f2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e1f0b802e48e4" /><Relationship Type="http://schemas.openxmlformats.org/officeDocument/2006/relationships/notesMaster" Target="/ppt/notesMasters/notesMaster1.xml" Id="Rdd27a8813bc7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7f3d0e532c4824" /><Relationship Type="http://schemas.openxmlformats.org/officeDocument/2006/relationships/notesMaster" Target="/ppt/notesMasters/notesMaster1.xml" Id="Ra58487bd8ef848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db92edb0584763" /><Relationship Type="http://schemas.openxmlformats.org/officeDocument/2006/relationships/notesMaster" Target="/ppt/notesMasters/notesMaster1.xml" Id="R979002ebeb3942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d7de77a1de4df5" /><Relationship Type="http://schemas.openxmlformats.org/officeDocument/2006/relationships/notesMaster" Target="/ppt/notesMasters/notesMaster1.xml" Id="R727bae3b3c2640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8725aeffdc46bd" /><Relationship Type="http://schemas.openxmlformats.org/officeDocument/2006/relationships/notesMaster" Target="/ppt/notesMasters/notesMaster1.xml" Id="Rb51f1dae3aab47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141199823499b" /><Relationship Type="http://schemas.openxmlformats.org/officeDocument/2006/relationships/notesMaster" Target="/ppt/notesMasters/notesMaster1.xml" Id="R96e29a0b898b44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5d7efe139a4e65" /><Relationship Type="http://schemas.openxmlformats.org/officeDocument/2006/relationships/notesMaster" Target="/ppt/notesMasters/notesMaster1.xml" Id="R0457f16baa2446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64449e9bce4cf2" /><Relationship Type="http://schemas.openxmlformats.org/officeDocument/2006/relationships/notesMaster" Target="/ppt/notesMasters/notesMaster1.xml" Id="R95ffc2ffe3e24e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3acf46f568472b" /><Relationship Type="http://schemas.openxmlformats.org/officeDocument/2006/relationships/notesMaster" Target="/ppt/notesMasters/notesMaster1.xml" Id="Rb250bea929b549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21a230e201495b" /><Relationship Type="http://schemas.openxmlformats.org/officeDocument/2006/relationships/notesMaster" Target="/ppt/notesMasters/notesMaster1.xml" Id="R54dba970860342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b18d4ca3ca4a46" /><Relationship Type="http://schemas.openxmlformats.org/officeDocument/2006/relationships/notesMaster" Target="/ppt/notesMasters/notesMaster1.xml" Id="R865fab2e92f946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69edc3821c4b02" /><Relationship Type="http://schemas.openxmlformats.org/officeDocument/2006/relationships/notesMaster" Target="/ppt/notesMasters/notesMaster1.xml" Id="R8b5e2adcba2349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a27163945043fc" /><Relationship Type="http://schemas.openxmlformats.org/officeDocument/2006/relationships/notesMaster" Target="/ppt/notesMasters/notesMaster1.xml" Id="R6da734ad7f5847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d944e29ac8408b" /><Relationship Type="http://schemas.openxmlformats.org/officeDocument/2006/relationships/notesMaster" Target="/ppt/notesMasters/notesMaster1.xml" Id="R37bddd8d555348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dda6988fe146ef" /><Relationship Type="http://schemas.openxmlformats.org/officeDocument/2006/relationships/notesMaster" Target="/ppt/notesMasters/notesMaster1.xml" Id="R30b7834381a34c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2e68354bf84bf4" /><Relationship Type="http://schemas.openxmlformats.org/officeDocument/2006/relationships/notesMaster" Target="/ppt/notesMasters/notesMaster1.xml" Id="R78a311aae54e40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18e08a82f4417d" /><Relationship Type="http://schemas.openxmlformats.org/officeDocument/2006/relationships/notesMaster" Target="/ppt/notesMasters/notesMaster1.xml" Id="Rb8197f01a8b94a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bb0fcf7fd642d7" /><Relationship Type="http://schemas.openxmlformats.org/officeDocument/2006/relationships/notesMaster" Target="/ppt/notesMasters/notesMaster1.xml" Id="R0825aa11f4474d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4bf781104a4180" /><Relationship Type="http://schemas.openxmlformats.org/officeDocument/2006/relationships/notesMaster" Target="/ppt/notesMasters/notesMaster1.xml" Id="R01d11b8e24b240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7f8311d8084564" /><Relationship Type="http://schemas.openxmlformats.org/officeDocument/2006/relationships/notesMaster" Target="/ppt/notesMasters/notesMaster1.xml" Id="R58516697805e4a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bac4ef72a146f8" /><Relationship Type="http://schemas.openxmlformats.org/officeDocument/2006/relationships/notesMaster" Target="/ppt/notesMasters/notesMaster1.xml" Id="R4fc8da6012894c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ab306f6fb24d56" /><Relationship Type="http://schemas.openxmlformats.org/officeDocument/2006/relationships/notesMaster" Target="/ppt/notesMasters/notesMaster1.xml" Id="R2c59a98861ea4b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043f318edc42f0" /><Relationship Type="http://schemas.openxmlformats.org/officeDocument/2006/relationships/notesMaster" Target="/ppt/notesMasters/notesMaster1.xml" Id="R45d4c08c58a241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bda841913a464b" /><Relationship Type="http://schemas.openxmlformats.org/officeDocument/2006/relationships/notesMaster" Target="/ppt/notesMasters/notesMaster1.xml" Id="R9d2377abc20f4b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b43f4a9ee349bc" /><Relationship Type="http://schemas.openxmlformats.org/officeDocument/2006/relationships/notesMaster" Target="/ppt/notesMasters/notesMaster1.xml" Id="R5d8750e5bf23448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c3e3e6e5154511" /><Relationship Type="http://schemas.openxmlformats.org/officeDocument/2006/relationships/notesMaster" Target="/ppt/notesMasters/notesMaster1.xml" Id="R8efd94ca79b8427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5f8c91b03b34310" /><Relationship Type="http://schemas.openxmlformats.org/officeDocument/2006/relationships/notesMaster" Target="/ppt/notesMasters/notesMaster1.xml" Id="R137975450afe41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7b0f9f418b4239" /><Relationship Type="http://schemas.openxmlformats.org/officeDocument/2006/relationships/notesMaster" Target="/ppt/notesMasters/notesMaster1.xml" Id="R362a09a1c1e948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49afe75cfb4aad" /><Relationship Type="http://schemas.openxmlformats.org/officeDocument/2006/relationships/notesMaster" Target="/ppt/notesMasters/notesMaster1.xml" Id="Rbf69a25904a549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2bdac00b5b4ffa" /><Relationship Type="http://schemas.openxmlformats.org/officeDocument/2006/relationships/notesMaster" Target="/ppt/notesMasters/notesMaster1.xml" Id="R9f638f9649b14ea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e982a9d982438e" /><Relationship Type="http://schemas.openxmlformats.org/officeDocument/2006/relationships/notesMaster" Target="/ppt/notesMasters/notesMaster1.xml" Id="R91c81d0e168d4d3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ce796e4fd440d6" /><Relationship Type="http://schemas.openxmlformats.org/officeDocument/2006/relationships/notesMaster" Target="/ppt/notesMasters/notesMaster1.xml" Id="Racd4f08e2ba54a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舊教材提到IBM企業區塊鏈與跨境匯款，但內容零散。本週保留企業導入視角，更新為2026年可用的決策框架。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BaaS降低操作門檻，不會替企業回答為何需要區塊鏈。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https://docs.aws.amazon.com/managed-blockchain/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比較產品前要先確認供應商提供的是哪一層；同名服務不一定可互換。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https://docs.aws.amazon.com/managed-blockchain/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兩者都可能被稱為BaaS，但信任模型與責任不同。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若只有一家企業寫入資料，受控資料庫通常更簡單。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總成本要看完整生命週期，而非只看開站速度。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金融業常採混合模式：關鍵控制留在機構內，標準化運算交給雲端。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責任邊界要寫入架構、契約與事件應變流程。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https://docs.aws.amazon.com/managed-blockchain/latest/ambq-dg/security.html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鏈上正確不代表鏈下資料正確；應用、帳本與現實資產要共同管理。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聯盟若沒有共同治理，技術網路即使成功啟動也難以持續。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以Hyperledger Fabric概念說明企業網路，不要求協議實作。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https://docs.aws.amazon.com/managed-blockchain/latest/hyperledger-fabric-dev/network-components.html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技術可執行規則，但規則正當性來自共同同意與法律安排。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不可竄改帳本無法補救被盜金鑰所簽出的合法格式交易。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資料最小化能降低隱私、效能與更正困難；雜湊仍可能構成可關聯資料。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區塊鏈通常是企業架構的一部分，不是取代所有核心系統。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本課不寫程式，但金融管理者必須能問出控制與責任問題。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交易數量增加不等於產生商業價值；要比較導入前後流程績效。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PoC便宜不代表正式營運便宜；規模與合規常使成本曲線改變。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外包服務不等於外包責任；董事會與管理階層仍需掌握重大風險。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BIS 2025強調代幣化潛力依賴貨幣與資產的制度連結。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https://www.bis.org/publ/arpdf/ar2025e3.pdf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舊教材的IBM跨境匯款案例可作歷史線索，但應改為能力與限制分析，不以單一廠商成敗代表產業。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區塊鏈提升紀錄一致性，但不能自動證明貨物確實存在。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權重可依機構風險偏好調整；不要讓功能數量壓過實際價值。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簡報承諾不是控制證據；金融機構需取得可稽核資料。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技術展示成功只是起點；未通過關卡就不應擴大投入。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復原時間目標RTO與復原點目標RPO必須由業務衝擊決定，並透過演練驗證。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學生應用本週評分卡提出有條件的採用或不採用建議。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120621ab44e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684da54d6d42b8" /><Relationship Type="http://schemas.openxmlformats.org/officeDocument/2006/relationships/slideLayout" Target="/ppt/slideLayouts/slideLayout1.xml" Id="Re5105978685d4f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05978685d4f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0b06e030b4423" /><Relationship Type="http://schemas.openxmlformats.org/officeDocument/2006/relationships/notesSlide" Target="/ppt/notesSlides/notesSlide1.xml" Id="Rbfb3b7b4510f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711aaecc945de" /><Relationship Type="http://schemas.openxmlformats.org/officeDocument/2006/relationships/notesSlide" Target="/ppt/notesSlides/notesSlide2.xml" Id="Rb4e90b3280c2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4bacbc7b4d0f" /><Relationship Type="http://schemas.openxmlformats.org/officeDocument/2006/relationships/notesSlide" Target="/ppt/notesSlides/notesSlide3.xml" Id="R5ebe039add5b45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cf1d368514986" /><Relationship Type="http://schemas.openxmlformats.org/officeDocument/2006/relationships/notesSlide" Target="/ppt/notesSlides/notesSlide4.xml" Id="R96a64a351a54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e347c79af41c0" /><Relationship Type="http://schemas.openxmlformats.org/officeDocument/2006/relationships/notesSlide" Target="/ppt/notesSlides/notesSlide5.xml" Id="R3d484236084c49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a87dccdca494f" /><Relationship Type="http://schemas.openxmlformats.org/officeDocument/2006/relationships/notesSlide" Target="/ppt/notesSlides/notesSlide6.xml" Id="Rf33f4d9bfac5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304980503471f" /><Relationship Type="http://schemas.openxmlformats.org/officeDocument/2006/relationships/notesSlide" Target="/ppt/notesSlides/notesSlide7.xml" Id="R65ad4da61ab944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463ae72374c58" /><Relationship Type="http://schemas.openxmlformats.org/officeDocument/2006/relationships/notesSlide" Target="/ppt/notesSlides/notesSlide8.xml" Id="Ra22cb076222f4d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c28f6b3d04395" /><Relationship Type="http://schemas.openxmlformats.org/officeDocument/2006/relationships/notesSlide" Target="/ppt/notesSlides/notesSlide9.xml" Id="Re6aec87c45db4c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43a145037409d" /><Relationship Type="http://schemas.openxmlformats.org/officeDocument/2006/relationships/notesSlide" Target="/ppt/notesSlides/notesSlide10.xml" Id="R68b6f8cd243e45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c1b9111e44ad9" /><Relationship Type="http://schemas.openxmlformats.org/officeDocument/2006/relationships/notesSlide" Target="/ppt/notesSlides/notesSlide11.xml" Id="Re759de9cc3d84a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8529cdbdc4655" /><Relationship Type="http://schemas.openxmlformats.org/officeDocument/2006/relationships/notesSlide" Target="/ppt/notesSlides/notesSlide12.xml" Id="Rb98b4922e4394d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653fc17184c79" /><Relationship Type="http://schemas.openxmlformats.org/officeDocument/2006/relationships/notesSlide" Target="/ppt/notesSlides/notesSlide13.xml" Id="R05463a51cde844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82025a7394175" /><Relationship Type="http://schemas.openxmlformats.org/officeDocument/2006/relationships/notesSlide" Target="/ppt/notesSlides/notesSlide14.xml" Id="R573fe183fb8e41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50d9448aa4d1f" /><Relationship Type="http://schemas.openxmlformats.org/officeDocument/2006/relationships/notesSlide" Target="/ppt/notesSlides/notesSlide15.xml" Id="Ra51aa30dae6e46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f9cd7190e4946" /><Relationship Type="http://schemas.openxmlformats.org/officeDocument/2006/relationships/notesSlide" Target="/ppt/notesSlides/notesSlide16.xml" Id="R79030612b6284d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ab601277f4a64" /><Relationship Type="http://schemas.openxmlformats.org/officeDocument/2006/relationships/notesSlide" Target="/ppt/notesSlides/notesSlide17.xml" Id="Rcfc45134938d4b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e7e650037483c" /><Relationship Type="http://schemas.openxmlformats.org/officeDocument/2006/relationships/notesSlide" Target="/ppt/notesSlides/notesSlide18.xml" Id="R857397413a1044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1f7285a9c4d42" /><Relationship Type="http://schemas.openxmlformats.org/officeDocument/2006/relationships/notesSlide" Target="/ppt/notesSlides/notesSlide19.xml" Id="Rba6355f520f845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8c43b208e448a" /><Relationship Type="http://schemas.openxmlformats.org/officeDocument/2006/relationships/notesSlide" Target="/ppt/notesSlides/notesSlide20.xml" Id="Re35d740efd5f43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bb88d9a5d4025" /><Relationship Type="http://schemas.openxmlformats.org/officeDocument/2006/relationships/notesSlide" Target="/ppt/notesSlides/notesSlide21.xml" Id="Rd9eacb3abdbc4d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8a73f5be8462f" /><Relationship Type="http://schemas.openxmlformats.org/officeDocument/2006/relationships/notesSlide" Target="/ppt/notesSlides/notesSlide22.xml" Id="Rf099075cc82144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fc1e77c1848ff" /><Relationship Type="http://schemas.openxmlformats.org/officeDocument/2006/relationships/notesSlide" Target="/ppt/notesSlides/notesSlide23.xml" Id="Rae2b020b8f63426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3900ab4494ea4" /><Relationship Type="http://schemas.openxmlformats.org/officeDocument/2006/relationships/notesSlide" Target="/ppt/notesSlides/notesSlide24.xml" Id="R710a1d34022948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3f9321f0543ad" /><Relationship Type="http://schemas.openxmlformats.org/officeDocument/2006/relationships/notesSlide" Target="/ppt/notesSlides/notesSlide25.xml" Id="R3de9c05a5a9b4a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5a2a5a95a4eee" /><Relationship Type="http://schemas.openxmlformats.org/officeDocument/2006/relationships/notesSlide" Target="/ppt/notesSlides/notesSlide26.xml" Id="R02cd8944457447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14cdefc97498a" /><Relationship Type="http://schemas.openxmlformats.org/officeDocument/2006/relationships/notesSlide" Target="/ppt/notesSlides/notesSlide27.xml" Id="R8269068770f840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c7e0a6534d3e" /><Relationship Type="http://schemas.openxmlformats.org/officeDocument/2006/relationships/notesSlide" Target="/ppt/notesSlides/notesSlide28.xml" Id="R1cd11622b0034c3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135e97352439b" /><Relationship Type="http://schemas.openxmlformats.org/officeDocument/2006/relationships/notesSlide" Target="/ppt/notesSlides/notesSlide29.xml" Id="Rc59dfe46f1dd42d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3e8ab01f1416f" /><Relationship Type="http://schemas.openxmlformats.org/officeDocument/2006/relationships/notesSlide" Target="/ppt/notesSlides/notesSlide30.xml" Id="Re760566c52fd4b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c965e7f7440fe" /><Relationship Type="http://schemas.openxmlformats.org/officeDocument/2006/relationships/notesSlide" Target="/ppt/notesSlides/notesSlide31.xml" Id="R1897ad50dfda458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931208ad747b4" /><Relationship Type="http://schemas.openxmlformats.org/officeDocument/2006/relationships/notesSlide" Target="/ppt/notesSlides/notesSlide32.xml" Id="R713b4b8eb7c240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7282d703b4017" /><Relationship Type="http://schemas.openxmlformats.org/officeDocument/2006/relationships/notesSlide" Target="/ppt/notesSlides/notesSlide33.xml" Id="R0f3969b6efcc4d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592FE-199E-4FE6-84C9-B3C045C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BB6C4-2A4A-47F1-86BE-966A9FDF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04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13</a:t>
            </a:r>
          </a:p>
          <a:p xmlns:a="http://schemas.openxmlformats.org/drawingml/2006/main">
            <a:pPr algn="l">
              <a:def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區塊鏈即服務與企業導入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ADEF7-D130-45F7-BD40-F6D49CA7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5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從『租用技術』到『承擔營運責任』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4D734-C842-4EE4-9B09-427B28E9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第一節：先判斷要解決的商業問題，再選平台</a:t>
            </a:r>
          </a:p>
        </p:txBody>
      </p:sp>
    </p:spTree>
    <p:extLst>
      <p:ext uri="{BB962C8B-B14F-4D97-AF65-F5344CB8AC3E}">
        <p14:creationId xmlns:p14="http://schemas.microsoft.com/office/powerpoint/2010/main" val="1347463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F7B86-48EB-42C5-81CF-E1D35C0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7308E-B61C-474B-8E04-132B5B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BaaS把區塊鏈基礎設施變成可管理的雲端服務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636E9-9B2B-4148-9830-BCC2147D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9899-73ED-4095-8F75-88DB0B0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EA405-CE7D-480C-B4C9-8F45E77E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EBBAD-1B83-4DCB-8FC0-6E025E5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C852F-6697-41C2-8E1B-6042A6F4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0E43-1DF5-4643-9143-E31DAACE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供應商通常提供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E89F6-5F61-4DDF-94EF-48843B7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節點建立與版本維護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監控、日誌與存取控制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憑證或金鑰整合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API、查詢與管理介面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B573F-51DD-4B97-8720-67F9EA94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企業仍需負責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982AF-F644-402E-B77B-48D8F5FA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商業流程與資料品質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參與者規則與法律契約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應用程式及權限設定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法遵、隱私與事件處理</a:t>
            </a:r>
          </a:p>
        </p:txBody>
      </p:sp>
    </p:spTree>
    <p:extLst>
      <p:ext uri="{BB962C8B-B14F-4D97-AF65-F5344CB8AC3E}">
        <p14:creationId xmlns:p14="http://schemas.microsoft.com/office/powerpoint/2010/main" val="743453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23751-2D9F-438D-BF25-30A9596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956FB-3AA8-4C98-B4EE-54524D9E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市場上的『BaaS』其實包含不同服務層次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53292-ADA8-44BC-853B-5D6BDD11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9D827-253A-40E1-BF74-7269235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A6A38-409F-40EB-90F1-E14FFFD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DCDEA-9CC2-4AE0-9014-B3636BEA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58FAA-DA1E-403D-9641-35931A4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公有鏈節點存取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84DA1-BD78-4AFC-A3F7-ED6C0ED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以API連接Bitcoin、Ethereum等網路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DADD7-052C-4B04-9EC6-8E07B10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489AE-D595-44C4-BE93-690CA07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聯盟鏈託管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926D8-8A57-4E63-86E8-6E289A5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建立許可制網路、節點與成員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306FC-1E32-419F-8364-D0F170E8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543DF-1859-4A19-B615-BA05161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鏈上資料服務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659A1-2164-4F40-BEC3-3C30DCB7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跨鏈查詢、索引與歷史資料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5D420-DFE1-4D02-97E4-D3951171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A2117-5B03-45D5-945D-D397FAA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應用與整合平台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A03FD-A8BD-4576-AD30-3782795C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錢包、代幣化、工作流程與報表</a:t>
            </a:r>
          </a:p>
        </p:txBody>
      </p:sp>
    </p:spTree>
    <p:extLst>
      <p:ext uri="{BB962C8B-B14F-4D97-AF65-F5344CB8AC3E}">
        <p14:creationId xmlns:p14="http://schemas.microsoft.com/office/powerpoint/2010/main" val="1518890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B04BA-77A6-471E-86B7-92EDC8EE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5BEB2-D588-40F3-A325-2E717D1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公有鏈節點服務與企業聯盟鏈解決不同問題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F0E92-DF72-416D-BC53-C56690B5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316DF-7416-4869-AB4A-57E5009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9F828-24B2-4107-975C-74881328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17524-C041-432D-BCB8-3356BC40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1F890-ECFD-42EA-9F12-47C35D5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60526-6399-4A02-B856-36F1E11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連接公有鏈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D4ABA-5808-475C-88C9-BE5D20F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讀取公開帳本與送出交易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不控制共識或網路規則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費用包含雲端服務與鏈上Gas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適合支付、資產或資料分析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01547-D300-4E1C-8BB8-CFBA8036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建立許可制網路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FE9AE-C7E1-495F-82C9-8410F1CD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成員經核准後加入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可設權限、隱私與治理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參與者共同維護共享紀錄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適合跨機構流程協作</a:t>
            </a:r>
          </a:p>
        </p:txBody>
      </p:sp>
    </p:spTree>
    <p:extLst>
      <p:ext uri="{BB962C8B-B14F-4D97-AF65-F5344CB8AC3E}">
        <p14:creationId xmlns:p14="http://schemas.microsoft.com/office/powerpoint/2010/main" val="1569212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BEA5C-1948-41D2-86DD-9D6F1412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A8EBE-CABB-4928-89E0-C3F6395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先用四個問題判斷是否真的需要區塊鏈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D7B8C-1BCB-4A9D-AF1E-E1C86476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BCF6-414E-49EC-9713-9447CBAF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46D7C-1B21-4622-A49F-FE63B55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88E1B-7CCC-4E4F-934C-4216F803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156C7-08FE-474C-B948-AF9AE076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多方共同寫入？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1983E-F7C1-4430-A0A7-4217A3C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是否有多個獨立機構更新同一流程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16E09-89D0-4DD0-9238-03CF3781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7B82-5174-4940-95F7-302B917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缺乏單一可信主體？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51B91-2E7A-486D-89ED-6D3F8A2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是否不能合理交由一家機構管理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ADDDF-B7F7-4D32-B881-41876787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AAEDD-1F8F-494A-941C-3BEE2662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需要共同可驗證紀錄？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D6EB0-CB4C-4984-BE85-89593D78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爭議、稽核或追溯是否重要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18A6D-E116-419B-895C-92DD0A70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360D2-FB78-4403-A78A-87ED61C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治理能否成立？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63264-3FAD-43E3-97DF-779BDD8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參與者願否共同訂規則與負責</a:t>
            </a:r>
          </a:p>
        </p:txBody>
      </p:sp>
    </p:spTree>
    <p:extLst>
      <p:ext uri="{BB962C8B-B14F-4D97-AF65-F5344CB8AC3E}">
        <p14:creationId xmlns:p14="http://schemas.microsoft.com/office/powerpoint/2010/main" val="1800694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BDE43-F603-4104-AF78-9B7064F3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DBB4F-A38E-48DD-8B9A-E4D6A1D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採用BaaS的價值是縮短建置，不是消除複雜度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1706-1313-4CE4-A32F-9BD72C49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A0511-3250-449A-A0B3-85E8A70B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EB25B-9819-4841-999F-B1A2C129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5479-4747-4AAD-8D34-11292A67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5BB8F-29D1-492F-BF94-5B818EE9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079B6-EAA5-4F33-A55D-4550097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可能的好處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656D4-4C74-4384-A0CE-AB0F9955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快速試驗與部署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減少節點維運專才需求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使用既有雲端監控與IAM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容量與環境較容易調整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FA46B-D06D-4432-A39A-D0E1E4EE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容易忽略的代價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9F5DD-5C5F-428B-9C10-76294E6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持續訂閱與資料傳輸費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供應商綁定及退出成本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仍需應用整合與治理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錯誤設定可能造成風險</a:t>
            </a:r>
          </a:p>
        </p:txBody>
      </p:sp>
    </p:spTree>
    <p:extLst>
      <p:ext uri="{BB962C8B-B14F-4D97-AF65-F5344CB8AC3E}">
        <p14:creationId xmlns:p14="http://schemas.microsoft.com/office/powerpoint/2010/main" val="50940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21CED-5AD6-43F9-A1EC-09E495B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D2502-C677-426F-886C-DB0B304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雲端採購可用Build、Buy、Partner三種策略思考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661E5-4DA6-4205-A193-98EE70C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7269E-99DE-40B3-A9BB-379069AE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93A9F-957A-4D82-8B14-97ED9C08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3D633-B3B7-43AB-8A81-440A7F3C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8C63A-F259-4967-B6E8-2496ACF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自建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02A23-C38D-47B6-83C7-E37F5AC5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控制高；人才、時間與維運成本也高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29587-71ED-4681-9A82-952910E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1E973-3733-4660-B82B-9D35AF8B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購買 Buy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7FA2B-47C0-43F6-8567-FEBBC52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導入快；須接受產品邊界與路線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47666-2AA0-4ECE-8CC3-F27C7B41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93CD4-F97A-4549-989B-438B521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合作 Partner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8F005-A543-457E-B20E-DF19BF4E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借助顧問與生態；需管理依賴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3E120-BE2B-41B9-9554-4CADD2A2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917DE-7C02-4939-BD5D-88415431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混合 Hybrid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E3EB2-F88C-4285-B546-A7114F7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核心治理自有，基礎設施外包</a:t>
            </a:r>
          </a:p>
        </p:txBody>
      </p:sp>
    </p:spTree>
    <p:extLst>
      <p:ext uri="{BB962C8B-B14F-4D97-AF65-F5344CB8AC3E}">
        <p14:creationId xmlns:p14="http://schemas.microsoft.com/office/powerpoint/2010/main" val="1268713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CA2EA-B517-4A9E-A6FD-94F62FC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842FE-9FFC-478E-810B-0ECC4ED7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共享責任模型：供應商安全不等於客戶設定安全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FCD1-5E4F-44B2-B91B-F73E16E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A8D6-B211-447F-8C80-0F646E5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0DE70-10FF-4E68-AB50-C8270DD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456F8-0D97-4550-919B-2757483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7CC97-E689-41A8-8B1B-6FA7251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7CDBA-EEC8-4B59-A093-005A1E47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雲端供應商負責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70DF3-2DF9-477A-986E-F29865A4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資料中心與底層雲端安全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託管服務可用性與修補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依契約提供監控能力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服務本身的控制措施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F8395-F54A-4333-B266-73E1F81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使用機構負責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89084-D43E-498D-A002-66416AB7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帳號、角色與金鑰權限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輸入資料及敏感資訊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應用程式漏洞與交易邏輯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法令、留存與通報義務</a:t>
            </a:r>
          </a:p>
        </p:txBody>
      </p:sp>
    </p:spTree>
    <p:extLst>
      <p:ext uri="{BB962C8B-B14F-4D97-AF65-F5344CB8AC3E}">
        <p14:creationId xmlns:p14="http://schemas.microsoft.com/office/powerpoint/2010/main" val="2079673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39D50-DEC5-4E99-A1A9-02FD9B0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D3F61-07C5-400A-A889-658478C2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BaaS架構至少有五層，問題可能出在任一層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C1275-9D95-4E31-B728-EE69EA8E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3B38-E254-4D1B-9ABE-A1363EA0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4D022-2873-474E-A080-7A30E2AD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41289-47C1-4A00-BD16-C064BD6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6CC4-4669-4E31-BCAD-1BEC340D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業務流程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44571-FBA4-4AB7-888D-E532554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交易條件、例外與人工核准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8F42-4E29-4514-A34A-9DDED37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D1BC0-EB28-4639-8A6A-EEAD441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應用與整合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29F13-2CE5-4930-89C2-4E76B219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核心系統、API、Oracle與報表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053DC-6604-4B27-93D8-4927AD3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A42F7-446D-41B6-A8A6-2A9620C9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帳本與合約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07136-24FF-4CDC-977F-B6EE5659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狀態、權限及版本生命週期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4A610-D204-4663-A71B-51A30667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35D0A-6C67-4581-9F28-DE243B6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雲端與治理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F3A2D-23D6-4B80-BA57-348126E1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節點、身分、監控、契約與責任</a:t>
            </a:r>
          </a:p>
        </p:txBody>
      </p:sp>
    </p:spTree>
    <p:extLst>
      <p:ext uri="{BB962C8B-B14F-4D97-AF65-F5344CB8AC3E}">
        <p14:creationId xmlns:p14="http://schemas.microsoft.com/office/powerpoint/2010/main" val="207452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FF2D4-7054-41C5-9CC0-1C8374B7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第一節｜BaaS定位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32FD-4A65-4E6C-9277-FC6A6AF8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不適合導入的訊號比功能清單更重要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DDC2A-667F-4ABD-A65F-E3B9244A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149F4-4F55-4764-9C3F-FF2E6E3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13｜第一節｜BaaS定位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5A1CB-5B04-4158-94A1-4BBEF708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C812C-EE00-42D7-B915-E8F0F0F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若看見這些訊號，應先停下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E3791-78B3-4850-AABE-2D33FDE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只有單一資料擁有者、沒有共同治理意願、資料需要頻繁刪改、效能要求與區塊鏈不匹配，或價值只來自『看起來創新』。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14551-70D5-404A-8086-D2FEB64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D33AB-0DAE-4F33-8E1B-4F59575D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先做問題—參與者—資料—治理四項檢查，再決定資料庫、共享平台、公有鏈或聯盟鏈；BaaS只是執行選項。</a:t>
            </a:r>
          </a:p>
        </p:txBody>
      </p:sp>
    </p:spTree>
    <p:extLst>
      <p:ext uri="{BB962C8B-B14F-4D97-AF65-F5344CB8AC3E}">
        <p14:creationId xmlns:p14="http://schemas.microsoft.com/office/powerpoint/2010/main" val="288732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2CF6C-22D2-4CE8-9E48-B23C467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2BBE1-B9FA-4E25-AB4A-4578860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DB1CC-FB27-45BD-8A17-4A5B61F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44F59-3FE0-46F5-9147-11AB3DB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BE77-67BC-4943-A28E-9FD18040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17C2E-1A3C-4431-85BA-F602B16D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A5453-AA09-48DB-9346-0B27A72D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DA955-A934-409F-A829-153CD589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70937-8B27-482E-B456-BAEADA20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FD70C-D134-4167-8362-2819734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CB8EA-13C6-4D4E-B4B7-3B1D9988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BaaS主要降低哪項門檻？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22392-4CA5-47C9-AEEE-6E3F97FC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商業治理　B 基礎設施建置維運　C 法律責任　D 資料真實性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045D8-6B8D-4684-BE58-25ED00A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458C6-E3A1-406F-AE48-75D9EC7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答案：B。降低技術操作門檻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053A6-D928-424E-B44C-3CF34E2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公有鏈節點服務能控制共識嗎？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82E95-5451-4B03-9E68-19008E38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一定能　B 通常不能　C 只要付費就能　D 不需網路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C465A-E7E6-4151-A03E-F39F2784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795BA-9AD4-40BC-AFD8-F8D6BE9E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答案：B。只是連接既有網路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4DB11-15C1-4CB1-A28F-A12B551B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只有一家企業寫入資料，優先考慮？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323CA-B82B-4993-A1D4-D86D2F69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一定區塊鏈　B 一般受控資料庫　C NFT　D 挖礦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3DCD0-68F7-4E71-B387-9F95C78D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7F9CF-AD72-46E6-AF89-A5399FB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答案：B。通常更簡單有效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274EB-E6C4-4ED8-AA86-BCFCE03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共享責任下客戶需負責？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FBB6B-C52D-4270-87F7-CEC7715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雲端機房　B 權限、資料與應用設定　C 全球共識　D 供應商股價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8687E-C3EF-4C7A-A388-01F4BCF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5FA79-6C43-4B3F-BD51-C0EA056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答案：B。客戶端控制與法遵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02A30-8598-4108-8751-BE334001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BaaS選型第一步？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25E13-7072-4AB4-BFFF-A86B72F4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看品牌　B 定義商業問題與參與者　C 買最多節點　D 先發代幣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7276C-F853-4ED4-8E8E-BBC6C1F9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14CB4-F8C7-4FB9-89B0-22A2BD89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答案：B。需求先於工具</a:t>
            </a:r>
          </a:p>
        </p:txBody>
      </p:sp>
    </p:spTree>
    <p:extLst>
      <p:ext uri="{BB962C8B-B14F-4D97-AF65-F5344CB8AC3E}">
        <p14:creationId xmlns:p14="http://schemas.microsoft.com/office/powerpoint/2010/main" val="2791516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C5036-A059-4E23-A743-A554966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4785B-CA61-428C-A114-9684E9B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企業區塊鏈是跨組織制度，不只是資訊系統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AC48-CB9B-4C5F-A628-E5437815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27A84-7417-45D4-AA14-2BCDBD83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4B3E5-7627-41E6-A436-DE125046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6A0C7-E843-49A4-B91C-FDB00C05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84010-DE95-4267-8EC4-9FF16976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成員 Membership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5C844-9053-43C7-9052-6D30521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誰可加入、退出與查看資料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319EA-647E-4CD3-975E-440C30F3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0CA73-8703-4EB5-8CE0-1C28B52F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A4F8F-E018-45A7-9C5A-421C8A11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誰能改規則、投票與處理爭議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1251B-8FD5-45F1-9FB6-02C58E6C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A8E65-DF46-49B4-8A19-76816A8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98DBC-C29C-4BCF-8D3F-8269A245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誰維護節點、值班與通報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BF081-7FF5-4E95-9052-4F94E2C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14779-52D4-44EA-85F9-5659C01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責任 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DDD24-65EB-458D-A9EC-D2621E5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資料錯誤、停機或詐欺由誰承擔</a:t>
            </a:r>
          </a:p>
        </p:txBody>
      </p:sp>
    </p:spTree>
    <p:extLst>
      <p:ext uri="{BB962C8B-B14F-4D97-AF65-F5344CB8AC3E}">
        <p14:creationId xmlns:p14="http://schemas.microsoft.com/office/powerpoint/2010/main" val="1918624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9267D-7E77-4600-A112-9D3B0C38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8134D-A2E8-40B1-90AC-00D9762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許可制網路常由組織、節點與排序服務構成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957D-427F-4FEC-8B81-CCF1BF9B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18733-D3BB-4251-81EB-B9103B45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A6D95-292E-4A71-80B7-D237A59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B02FD-7DFB-4421-B037-97F51FEC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7DF88-BE4B-424D-926C-280FC20C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116F8-9004-46D5-9605-A8DEA39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組織與節點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762D7-D484-4008-946F-28A8863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組織代表法律與治理成員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Peer保存帳本並執行交易邏輯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身分憑證控制誰能操作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通道或私有資料限制可見性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BD02E-2202-4257-8206-B5D3E7B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排序與共識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41455-A1F9-4B40-9C28-A960C60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交易先排序再寫入區塊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規則決定有效性與最終性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高可用需跨故障域部署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營運者不能只靠單一節點</a:t>
            </a:r>
          </a:p>
        </p:txBody>
      </p:sp>
    </p:spTree>
    <p:extLst>
      <p:ext uri="{BB962C8B-B14F-4D97-AF65-F5344CB8AC3E}">
        <p14:creationId xmlns:p14="http://schemas.microsoft.com/office/powerpoint/2010/main" val="588159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EA6E2-86A2-49CA-B779-EF785F1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CE591-FA11-444C-B1E7-7F46A05D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治理章程要在第一個正式交易前完成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D3A3C-4BBE-467D-9CFF-8D585625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C27C6-D981-4A95-B63B-8C20AFB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EF457-177D-4997-8A9B-8D991F38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3D85A-7559-4FBE-828F-F71EF43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6C9BB-947B-4A5D-91C1-2F584384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加入與退出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C01D4-93D4-4030-952F-777DB9C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資格、審查、資料保留與移轉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BAD33-80FF-427B-B400-C967F3B7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3CEB3-0CBD-47A4-8B0B-8D97C19F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變更管理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3EE77-FB2E-4B2A-A79C-3379B1C2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合約升級、版本表決與緊急修補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F8CB9-39AD-48F9-A2A1-AA853C4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EA5DF-E523-4A3B-AFEB-6EC51B86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費用分攤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D60ED-7BD5-4E26-9602-C1EADC5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節點、交易、開發與稽核由誰付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2249E-F2E7-4857-A92A-58DD9AC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540AF-D646-42F2-8AA7-45A7736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爭議處理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50817-B8A1-4EA4-90CE-2E59E367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錯誤資料、拒絕服務與法律管轄</a:t>
            </a:r>
          </a:p>
        </p:txBody>
      </p:sp>
    </p:spTree>
    <p:extLst>
      <p:ext uri="{BB962C8B-B14F-4D97-AF65-F5344CB8AC3E}">
        <p14:creationId xmlns:p14="http://schemas.microsoft.com/office/powerpoint/2010/main" val="21301525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639F9-3F3C-4D7A-B89C-2EA2310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3A036-3D3E-448A-95EE-F6C7963F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身分、權限與金鑰是金融級部署的控制核心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63C64-EEF4-400A-A5AC-7B20787C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8B827-675A-4299-89A7-08CC6129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B08A8-12AC-4A1E-88D4-2C966E99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0AB83-34E2-4C6D-929A-57F8DA9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2345F-345E-4E6C-B241-88F4EF4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2C782-3093-44CB-9FC3-5CB321D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日常控制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5AE1F-5D11-4563-9007-E3B8FE1A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最小權限與職務分離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多因素認證與特權帳號管理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金鑰由HSM或受控服務保護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定期輪替、撤銷與存取審查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FC492-7942-45CD-98A7-345AA2EE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失效情境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DFD64-C555-4EF4-8176-11A3A53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員工離職未停權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私鑰遺失或遭竊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管理員誤設公開權限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備份存在但無法實際復原</a:t>
            </a:r>
          </a:p>
        </p:txBody>
      </p:sp>
    </p:spTree>
    <p:extLst>
      <p:ext uri="{BB962C8B-B14F-4D97-AF65-F5344CB8AC3E}">
        <p14:creationId xmlns:p14="http://schemas.microsoft.com/office/powerpoint/2010/main" val="9028622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5CFC8-7B29-4E98-9CE8-5A03FA2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D03D2-E2DB-4294-8A75-A7E2D11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資料架構要分清鏈上、鏈下與索引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5D8DB-569D-427F-A70B-92BB2B34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EC404-BA0B-4939-9F26-967D041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79708-43C9-4F6B-9982-A35CD132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E7EBD-08B9-4F59-8CE6-A6B26840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7EFF3-BC6B-4E12-8190-0496F48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鏈上狀態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C1007-5799-4789-B092-BF6EB21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必要的共同事實與交易摘要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9512B-41DD-47FB-8B70-553167D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1DC7A-0567-4F24-B644-CB0219A9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鏈下資料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5FC5C-33A0-4018-AB71-0A957898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個資、文件、商業機密與大檔案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59488-D400-41A9-AD45-1D7271D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2EADD-9CFF-405C-A300-DA35FB66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雜湊與指標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FE917-48A1-47F4-9221-46973D1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驗證完整性並連至受控資料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E54F3-DAB3-4924-ABBE-D47AF1B0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1BDD7-96C0-4CE5-AC6E-F5B48550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分析索引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45BD6-09D5-460D-B555-92CCFA79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供查詢、報表與監理使用</a:t>
            </a:r>
          </a:p>
        </p:txBody>
      </p:sp>
    </p:spTree>
    <p:extLst>
      <p:ext uri="{BB962C8B-B14F-4D97-AF65-F5344CB8AC3E}">
        <p14:creationId xmlns:p14="http://schemas.microsoft.com/office/powerpoint/2010/main" val="7587607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5AC15-2970-41F9-B8B3-FD119C51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9E6-3447-4776-B3A2-A5C36C9D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企業價值多半來自與既有系統整合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E949E-1A48-4987-8579-E7951B7D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5A28-83C2-4571-AF88-B42D0993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F83CF-B867-4DEE-A8A2-4564678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56D7C-474A-4E97-A9D1-8B2599BB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764A1-1D4A-4944-AB59-2434287F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930F8-93F4-4BAC-B5F4-F6513E07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必須連接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4E5E7-8511-4D01-A93D-3EA9A09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核心銀行或ERP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支付、託管與清算系統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身分、AML與制裁名單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會計、稅務與監理報表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FEB37-DE4F-4209-9580-16620762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5792F-21C6-4C04-ABA8-013211D2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API延遲或格式不一致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Oracle輸入錯誤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鏈上鏈下狀態不同步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人工例外未被流程涵蓋</a:t>
            </a:r>
          </a:p>
        </p:txBody>
      </p:sp>
    </p:spTree>
    <p:extLst>
      <p:ext uri="{BB962C8B-B14F-4D97-AF65-F5344CB8AC3E}">
        <p14:creationId xmlns:p14="http://schemas.microsoft.com/office/powerpoint/2010/main" val="2196778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90504-6A5C-4845-91C5-79FFC05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96951-1D96-451B-B497-999D711C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智能合約也需要完整的產品生命週期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041AD-3736-47D9-9217-3558321F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EDEFA-1223-450B-B2F8-749891F6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23B77-1155-47BF-A069-8D7D2BA3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3365-4C28-449D-8D79-AD227572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D0B77-86CF-4EF7-A55F-E58B82B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需求與控制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7D3CF-9B0D-4C17-9A90-AD2D8B57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把業務規則、權限與例外寫清楚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6F25C-09CB-4303-A49F-14331DA7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1887B-42F3-4751-938C-ADE59A7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測試與驗證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0D284-51EF-455A-B76A-2AE9900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正常、邊界、失敗與詐欺情境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2972D-047A-4FC3-8733-ADBCD74E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02819-49BB-408D-8991-C38E50F7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核准與部署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C3ED4-2766-4F84-AA32-2F82FF45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多人審核、版本簽署與可追溯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FE2A1-82FF-43EC-B9AA-0F73EDC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3EBA1-5AA5-4F54-AFB7-0314224D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升級與停用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26C3B-EDAE-4B16-9D85-3B2BE505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相容性、資料移轉與緊急停止</a:t>
            </a:r>
          </a:p>
        </p:txBody>
      </p:sp>
    </p:spTree>
    <p:extLst>
      <p:ext uri="{BB962C8B-B14F-4D97-AF65-F5344CB8AC3E}">
        <p14:creationId xmlns:p14="http://schemas.microsoft.com/office/powerpoint/2010/main" val="17003444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F2AD1-B48F-4DCB-93C9-2517339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39305-0FF9-4F27-B4B7-C1B8148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營運指標必須同時觀察技術與業務結果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11E25-525E-4495-93E0-107833F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0A6DB-1C4F-4BFD-BE97-D566E32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399A0-7187-4C93-9E9D-A92B3AB8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AC1CE-07B5-4404-A989-526DF4D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2EBF5-BB1B-4BFD-A002-64FCDE0A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技術SLA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8E623-0A4F-4E34-A2E7-1F74DB0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可用率、延遲、錯誤率與復原時間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04ED3-4A24-4A12-9A54-CE8997E4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442CE-BD66-4431-B504-8546F5F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安全訊號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2CB24-977A-46F8-934F-20569FD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異常登入、金鑰使用與權限變更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791F7-A375-4EB7-BFD4-8AC568B3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17326-74B5-4426-ACE0-9F42A10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業務KPI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4B2AA-8CF8-488A-8203-ADD3D643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處理時間、拒絕率、人工例外與成本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40382-AEEF-41D7-93F1-ED26FC0F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A93B9-B034-43C1-925A-ADB085DF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治理KPI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17682-7ECA-41A8-83EC-4BDE89C6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成員參與、爭議、升級與稽核缺失</a:t>
            </a:r>
          </a:p>
        </p:txBody>
      </p:sp>
    </p:spTree>
    <p:extLst>
      <p:ext uri="{BB962C8B-B14F-4D97-AF65-F5344CB8AC3E}">
        <p14:creationId xmlns:p14="http://schemas.microsoft.com/office/powerpoint/2010/main" val="12271708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EE09E-ABF4-4725-9FF9-6F6B565C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82DEE-99D7-4913-877F-DABEEE9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成本模型要看每筆交易之外的隱藏成本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1D874-BD76-43E5-9977-88B90E2E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DC5DD-3626-46A5-AF73-E429B1E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5B685-2A90-436A-95AD-2A02AB66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9CD5A-F7BE-40C1-A9F4-0986E2E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D750C-2163-4C01-A666-C87F9B71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ACE33-986F-4551-BEBF-E921BBA8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直接成本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1616F-5BE6-4A50-BF3B-63A4900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節點、API請求與資料儲存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網路傳輸與監控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軟體授權與顧問服務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公有鏈Gas與價格波動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45E2A-4A05-4634-9C69-2BDA1F2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間接成本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53797-8875-4264-AE66-1744D323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系統整合與資料清理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法遵、稽核及契約協商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成員教育與營運人力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遷移、退出與雙軌運作</a:t>
            </a:r>
          </a:p>
        </p:txBody>
      </p:sp>
    </p:spTree>
    <p:extLst>
      <p:ext uri="{BB962C8B-B14F-4D97-AF65-F5344CB8AC3E}">
        <p14:creationId xmlns:p14="http://schemas.microsoft.com/office/powerpoint/2010/main" val="8711844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3E0F5-75BD-4EFC-987C-ADCA46D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第二節｜企業導入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ED3D4-9ACC-450F-B5A8-FF10428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供應商鎖定要在簽約前設計退出方案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E4095-26E5-4096-B296-D7607AD8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6469D-AA48-41F6-9D38-C9020DB1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13｜第二節｜企業導入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C4AD-942C-4521-9581-9460478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9C9D3-7436-4C71-B012-E9C9BEF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鎖定不只來自技術格式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20992-11D9-47EF-8770-79253A3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專屬API、身分體系、監控工具、資料匯出限制、顧問知識與長期合約，都可能提高替換成本。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07636-1A3B-439E-8429-A417075B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33AC9-848F-4E4B-90E0-B71F31B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509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要求開放格式、完整資料匯出、金鑰可攜、文件與演練；並明訂服務終止、資料刪除與協助移轉責任。</a:t>
            </a:r>
          </a:p>
        </p:txBody>
      </p:sp>
    </p:spTree>
    <p:extLst>
      <p:ext uri="{BB962C8B-B14F-4D97-AF65-F5344CB8AC3E}">
        <p14:creationId xmlns:p14="http://schemas.microsoft.com/office/powerpoint/2010/main" val="283601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FA9E7E-A43A-430C-BB2E-1296D8C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EF361-340C-4ECD-B514-3D5D866B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DA5B8-AD54-4081-A1CA-8502B51A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A9996-08CF-4CD0-9045-0A2AEDCD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DC7BA-4D5D-445D-B253-181F482F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8E226-0A86-4390-9942-5F7A015B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D3F8C-CB4A-4CD8-9CB0-A71250C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0EC03-4FEB-45C0-80B3-1FEED816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15EED-AA92-4203-85D6-261FD34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C8B79-E102-45BF-AB2D-D3548EA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08EBD-2E20-4885-9DEF-CE7515DD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企業鏈最常被低估的是？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4321C-B22D-4616-BB8C-D7645BDD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顏色　B 跨機構治理　C 投影片數　D 幣價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599FE-E7E6-4A35-B378-0A7CBB4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53E57-1A76-404B-8ADA-F863CB51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答案：B。治理決定能否長期運作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EEA0C-15DF-4CEE-A6D2-F9E2CFE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敏感個資通常應？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7CDD4-18A2-4106-9F97-5D25013C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全部公開上鏈　B 留在受控鏈下系統　C 寫進區塊高度　D 放社群網站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E00D6-27D6-4BD4-A105-A910455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2BF91-01B9-4D01-ABF0-B6E6BE0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答案：B。鏈上只留必要資訊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E4349-2DE1-4B27-A896-27CD66A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Oracle錯誤可能造成？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AAC47-DF40-4F94-A981-A259D4C8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鏈上正確反映錯誤輸入　B 自動修正現實　C 永不影響　D 增加去中心化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DDF6A-31E2-4F7A-90DA-8CD97AA0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6DAD0-3B28-4C3A-9014-3E57E6F1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1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答案：A。垃圾進、可信地垃圾出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F04CC-EB07-4E43-86BE-77C4CF8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營運KPI只看交易量足夠嗎？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1B2E5-14E0-4D20-BFF9-AD7BAC8A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足夠　B 不足，還需業務與治理結果　C 只看節點　D 只看Gas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7D317-7FB7-4576-82FF-0707639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FBE01-995D-4376-820D-6AFE38D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答案：B。價值不等於流量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9B1B5-F426-420A-89E0-1EA5137C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降低供應商鎖定應要求？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C3895-9972-49B6-B0CA-7CF2033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禁止匯出　B 可攜格式與退出演練　C 永久合約　D 單一管理員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AF922-8B44-4450-B839-52DA4AB0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FC4E91-B159-4B25-A837-E52895E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答案：B。先設計可退出性</a:t>
            </a:r>
          </a:p>
        </p:txBody>
      </p:sp>
    </p:spTree>
    <p:extLst>
      <p:ext uri="{BB962C8B-B14F-4D97-AF65-F5344CB8AC3E}">
        <p14:creationId xmlns:p14="http://schemas.microsoft.com/office/powerpoint/2010/main" val="1828296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746D9-2290-4AF7-8E1C-F8E8CFB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59A65-B9A8-4B0A-BD20-97149616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金融業導入BaaS必須從風險偏好與監理義務出發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26BA2-76AB-4E0B-9EDE-2876572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EC503-AEB0-4BDC-8685-697D774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1BCA2-8C6C-4D31-99FF-01FF42DA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ACC82-D777-409B-94BB-EED9CA2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5A2FC-5FA8-4C90-9EEC-51480F8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作業風險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F7A7B-3D9A-4BE9-A8C7-336A1A01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停機、錯誤交易與復原能力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9A383-DD63-4953-9837-5EA752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39291-705A-4F7D-AB64-61C49D7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第三方風險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60311-68C2-425B-84C2-7B221C9C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集中度、分包商與供應商財務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73AE8-E5BF-4364-BF2B-5DC57C8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B0DDF-708C-4252-9C35-23F8296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資安風險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8A5A8-A307-424D-9E51-BB4DA62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帳號、金鑰、漏洞與資料外洩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5635A-D4D1-4C5B-9AEC-6E2A6DDB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05DDE-A537-4DE3-B1E0-DA65261A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法遵風險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5E3BF-0858-4B9F-96A8-AED879E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個資、AML、紀錄保存與跨境資料</a:t>
            </a:r>
          </a:p>
        </p:txBody>
      </p:sp>
    </p:spTree>
    <p:extLst>
      <p:ext uri="{BB962C8B-B14F-4D97-AF65-F5344CB8AC3E}">
        <p14:creationId xmlns:p14="http://schemas.microsoft.com/office/powerpoint/2010/main" val="5586218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C6F41-EC11-4813-899F-FB22241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2235C-47C1-41C6-94A6-1F985AE5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代幣化需要的是完整市場基礎設施，不只是發行平台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D0036-B5C6-47F1-95DE-2DCFF71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8410F-D931-43BC-AFBE-23C2B17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590DE-325A-45D3-9A84-43AE35F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9F562-26FE-44BB-A91F-8D61F92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1F8E7-2AEF-4B58-BEBF-0FA6D158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C691-2497-4E66-8E68-17ACD3BE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技術層可提供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31F01-9D72-4A80-9DDD-55876812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資產表示與可程式化條件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所有權或權利移轉紀錄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交割流程與即時查核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跨機構共用狀態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D6CB1-747E-4F88-8177-35DC68C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制度層仍需要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7C2F2-5536-412A-853B-F27ED88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資產法律權利與投資人保護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現金腿、託管與最終清算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流動性、估值及市場監理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違約、撤銷與法院可執行性</a:t>
            </a:r>
          </a:p>
        </p:txBody>
      </p:sp>
    </p:spTree>
    <p:extLst>
      <p:ext uri="{BB962C8B-B14F-4D97-AF65-F5344CB8AC3E}">
        <p14:creationId xmlns:p14="http://schemas.microsoft.com/office/powerpoint/2010/main" val="16713416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D2A34-909F-4EB5-9087-46D009B3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8C9B7-1A36-42B9-BD6D-5362A978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跨境支付案例：共享帳本不能單獨解決所有摩擦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AD1E0-901D-4ED3-AF5F-2841E31E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D65F6-4B3A-45FC-A822-47FF1B6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C3F3A-91B4-4F99-9CB8-62811E0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A742-E142-43FD-9444-F7CFA7D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80CD5-34DD-43D9-8E28-2B71496A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8ACD4-22A0-4DD2-931C-53F2F064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C650D-3849-4817-B471-CA86E0A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多方看到一致交易狀態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減少對帳與訊息往返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條件達成後自動處理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延長服務時間與可追溯性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ABDA5-2FF8-44F9-AC20-2707E7E9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仍受限制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75DBD-9C08-423C-A5EC-37EAD846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外匯與流動性成本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各地AML與制裁規則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法幣進出與最終清算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錯誤付款、退款與客訴</a:t>
            </a:r>
          </a:p>
        </p:txBody>
      </p:sp>
    </p:spTree>
    <p:extLst>
      <p:ext uri="{BB962C8B-B14F-4D97-AF65-F5344CB8AC3E}">
        <p14:creationId xmlns:p14="http://schemas.microsoft.com/office/powerpoint/2010/main" val="16007212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C7B6F-673F-42B4-84F8-8C1CD0EA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43379-B57A-48C4-835B-9C45615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供應鏈金融的關鍵是事件真實與權利不重複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4E488-05D1-460A-A49B-2E0A5A3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5749-B4F9-445E-9BE7-33DE9A6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55476-48BF-4E0E-B3BF-7BBEBAAC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FA358-3070-4C55-B527-1E180C4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5CFBB-2727-425D-92AB-BA7FC77D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可共享事件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F2F95-4EDF-4443-A9C0-3D923A08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訂單、出貨、驗收與發票狀態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423BC-C39F-42E9-BE1A-550AC2BA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C6A13-1853-41ED-B7A2-B759D92F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融資價值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ED56-9A72-4991-961C-9A9A185C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縮短查核、降低對帳與詐欺風險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CBCA9-2559-41C6-9D03-AB45CBB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E5F7-CEF5-4B16-9001-6C69CED1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主要漏洞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CC97F-B41B-4866-A146-27B262B8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鏈下貨物或文件可能造假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D7F9A-6CF5-45E2-9155-E7467346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37BDA-C3F7-4ECD-B8B9-1E9D93AF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37A3F-C67D-4419-927A-623E1E23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資料責任、重複融資檢查與追索</a:t>
            </a:r>
          </a:p>
        </p:txBody>
      </p:sp>
    </p:spTree>
    <p:extLst>
      <p:ext uri="{BB962C8B-B14F-4D97-AF65-F5344CB8AC3E}">
        <p14:creationId xmlns:p14="http://schemas.microsoft.com/office/powerpoint/2010/main" val="15708266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8E762-06D2-4BF2-8B7D-E6AC7FD3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BA9EA-9E24-46FC-BA6A-D66E73FF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採購評分卡應比較價值、控制、成本與退出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F4BB4-ED90-4829-BACC-A77FA02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71D44-F142-4363-83E5-6273A6E9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2E039-6D77-4391-A742-13AB0E84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E3FD6-1EE6-4AEF-ABF9-882729CB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6A03C-9E0C-499F-9C97-2A071FB3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商業價值 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4B2C7-85EF-413D-9BD1-1CC93B9B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流程時間、錯誤、資金占用與客戶體驗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C381C-E9E7-4C9A-B8DD-166B3C6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37D83-683F-4FAB-80CD-C45FEB28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風險控制 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1803C-3C57-4DCA-8AEE-71E90675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安全、隱私、法遵、韌性與責任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9F9B6-3B1F-4971-B015-A81CD92F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4DAFB-A310-41BB-832A-28650C83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技術適配 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53F7E-7827-432A-9973-9C634D3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效能、整合、互通與可觀測性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CB3FA-5A17-46FA-8943-7F023E1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BDD71-427F-4768-BF50-1A0C0A3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總成本與退出 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C53B3-3806-4723-9402-5CE121A0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三至五年成本、移轉與替代方案</a:t>
            </a:r>
          </a:p>
        </p:txBody>
      </p:sp>
    </p:spTree>
    <p:extLst>
      <p:ext uri="{BB962C8B-B14F-4D97-AF65-F5344CB8AC3E}">
        <p14:creationId xmlns:p14="http://schemas.microsoft.com/office/powerpoint/2010/main" val="8373423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859D3-26F4-45FA-9DD2-1EBF3475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FBE2D-ACC3-41D1-99FD-71772BF7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供應商盡職調查要問到可驗證證據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A9D69-D2F9-431F-9431-BAE1CAD2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D0AE8-B4F5-40CA-BC71-B59D385A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71A2A-D6C5-44A1-AA31-F63E930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D3AD2-22C3-4F2E-AFAB-D7536F4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FD108-B8F2-4638-950E-107501B7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E8DEC-33EF-4FDC-B000-95327919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關鍵問題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8B3DD-F27F-4491-A0DF-762E941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服務部署在哪些司法管轄區？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有哪些獨立稽核與認證？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事故通報與復原目標為何？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如何管理分包商與版本終止？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5E82F-3E95-460A-AC30-1472AD7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要求證據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D501E-2580-4DC5-AA54-D752D62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SLA與歷史可用率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滲透測試及缺失改善摘要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備援、復原與退出演練紀錄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資料流向、刪除與稽核權條款</a:t>
            </a:r>
          </a:p>
        </p:txBody>
      </p:sp>
    </p:spTree>
    <p:extLst>
      <p:ext uri="{BB962C8B-B14F-4D97-AF65-F5344CB8AC3E}">
        <p14:creationId xmlns:p14="http://schemas.microsoft.com/office/powerpoint/2010/main" val="18245465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10CE2-4028-4D7B-ACDB-23D581C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B3030-39D5-4CC8-9808-9C5991D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PoC到正式營運要通過四道關卡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B963D-7777-4428-900F-AD1FACD6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4F792-1A65-4379-9AD7-0E7C213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9CB8E-F98A-43BB-B334-B5F7225A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9E696-5291-4DDF-A210-AD4333B2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C7F1E-541D-4F48-AB15-23649D3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價值 Gate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695AC-AD28-4437-9BFA-E87A36F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有量化基準與可驗證改善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2EB30-A419-4C6D-9464-277CD52F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0F61B-4096-42AC-A374-DD72DD1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 Gate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96E22-8D8D-44A4-B1DE-5F572D29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成員、責任、規則與預算已承諾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A88C4-3C70-4968-BAFF-5532563F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472D0-E5D6-48B4-82ED-D7DC43E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控制 Gate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4E945-5895-4634-8E10-5427D59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安全、法遵、韌性與稽核可接受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DA2AA-A0C7-4926-A1E3-3D25FA71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6CA18-1EBF-4704-93D1-9DEE739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 Gate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E8C94-0244-45CC-ABB4-E3F404B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有人值班、支援、復原並持續改版</a:t>
            </a:r>
          </a:p>
        </p:txBody>
      </p:sp>
    </p:spTree>
    <p:extLst>
      <p:ext uri="{BB962C8B-B14F-4D97-AF65-F5344CB8AC3E}">
        <p14:creationId xmlns:p14="http://schemas.microsoft.com/office/powerpoint/2010/main" val="18770937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304E0-8A90-4BE6-BB92-7EF4A65C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61B0C-0BF1-4255-B0EA-A54E9F29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韌性設計要假設雲端、網路與合作成員都可能失效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C4436-6815-40A6-B9A7-DCEA817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95FFD-CD3F-40EF-96D7-BBC57E9E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BD734-1284-4215-9299-1F54801F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038E8-77AB-4761-80FB-2D1856D7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9ABA3-C9BE-49B8-AF8B-27FB2549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服務中斷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9F79B-0650-44FE-8DBB-9B3C3C4B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定義可接受停機與替代作業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50404-EE48-407F-88D8-5A07CAE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8ADC9-073D-4B16-B3D7-3BF34C4F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區域故障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E6EB8-99C9-4464-84F5-AA02FA59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跨區備援、資料一致性與切換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5C081-B22A-4FE8-961E-2268070E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8B048-F96B-4D11-A1E0-7C2EEC1F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成員離線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3D59B-2C6E-4CCA-8119-62853F6C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最低可運作節點與交易排隊規則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8BEB8-FD10-4104-8ACF-35817145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9DCE9-C65A-43D8-AA06-39915A02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供應商終止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00EBC-61F5-4DBB-A5E9-767E76BE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資料、金鑰、程式與紀錄可完整移轉</a:t>
            </a:r>
          </a:p>
        </p:txBody>
      </p:sp>
    </p:spTree>
    <p:extLst>
      <p:ext uri="{BB962C8B-B14F-4D97-AF65-F5344CB8AC3E}">
        <p14:creationId xmlns:p14="http://schemas.microsoft.com/office/powerpoint/2010/main" val="17921847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CFA07-E362-44DA-ACB8-81F6171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E49B3-F565-4C8C-80C7-5B44BAA2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情境練習：三家銀行共用KYC狀態，該用什麼？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F0636-E090-49E9-9446-C3EE251D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56207-9FB9-47C0-BB28-1376417B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00D5D-8D49-44A8-9842-57B70F77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BF8DF-1719-4297-9143-9377DC97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50FBE-70E3-4BFF-BB52-4CE9BE53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EE04E-C50E-4122-8C0D-6BDDEBF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需求線索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5DFB4-23AD-4CC0-93FF-3E9E4F45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三家受監理機構共同更新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只共享查核狀態與必要屬性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完整文件留在各銀行受控系統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需撤銷、稽核與明確責任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5CF94-8B8D-45C3-99E3-82DFEA1D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決策任務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DC2D5-B204-47D7-BA0E-D4246EAA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比較一般共享平台與聯盟鏈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定義誰簽發、誰驗證、誰負責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估算整合與持續營運成本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提出不採用區塊鏈的退出條件</a:t>
            </a:r>
          </a:p>
        </p:txBody>
      </p:sp>
    </p:spTree>
    <p:extLst>
      <p:ext uri="{BB962C8B-B14F-4D97-AF65-F5344CB8AC3E}">
        <p14:creationId xmlns:p14="http://schemas.microsoft.com/office/powerpoint/2010/main" val="12360365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7F617-7F53-46E1-B007-98D0617A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第三節｜金融決策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2D32C-36AC-45F7-BB11-ABAF31F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本週結論：BaaS是工具，治理與價值才是投資理由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D1A2-92EA-4288-A101-D2B17B06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85C6F-C383-4007-975E-C47AAC6C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13｜第三節｜金融決策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5CEF1-93A7-4C08-943B-1069B735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09517-C8FC-4C1C-BBDD-9A9A9F8A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金融管理者要能做的不是架設節點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5865D-BB87-4F7C-9A67-B8AD1B94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辨識適合共享帳本的流程，理解服務邊界，追問資料、金鑰、法遵、SLA與退出責任，並用量化指標驗證價值。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DD8E4-99E1-4E88-8511-39C4FBD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29D24-7ED8-43E0-BC1E-4B44E00C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選擇BaaS不代表選擇區塊鏈；選擇區塊鏈也不代表必須上公有鏈。正確答案可能是資料庫、聯盟鏈、公有鏈服務或不做。</a:t>
            </a:r>
          </a:p>
        </p:txBody>
      </p:sp>
    </p:spTree>
    <p:extLst>
      <p:ext uri="{BB962C8B-B14F-4D97-AF65-F5344CB8AC3E}">
        <p14:creationId xmlns:p14="http://schemas.microsoft.com/office/powerpoint/2010/main" val="15077890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15990D-2A20-427A-B144-C1BB3AF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14FA3-0A61-4549-8ECD-A8BFC63F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8EC0E-8A7C-410A-BCCC-53CBC6A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8A1C1-3095-4EF7-AF62-3549094E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5BE6-68EE-4524-8F79-2C995B3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DE216-4B42-4BF0-AEEC-D5021D3F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BFCB5-5500-4794-A955-67FA513D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BE00B-4BE0-4CCB-B693-9DE09039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5F91B-6034-4ADF-873C-8492D624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13｜第三節｜快問快答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B1CE9-C5F7-4A22-999E-C9F7C5A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46639-79E5-4328-BF6B-A6DA61FC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金融機構使用BaaS後責任？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398C6-51F5-477F-AB0F-7AB5CBB3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全轉給雲商　B 仍由機構承擔監理與風險管理　C 由節點承擔　D 消失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9B80F-6DD2-4B7C-B82F-44157A9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5B80D-2B4D-4794-8E18-F4704E9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答案：B。外包不等於外責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09E6F-B087-429E-8F96-588C1925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代幣化只需發行平台嗎？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E6482-A250-4459-B9D3-484A5CBB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否，還需法律、現金、託管與市場制度　C 只需NFT　D 只需API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3E873-FD2E-4B9A-B901-CF347BA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355FF-89D9-4734-AE19-7E58199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答案：B。需完整基礎設施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5DC0C-FD5D-46EA-8028-781973A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供應鏈資料上鏈代表貨物真實？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13B5E-8A4A-438E-A8A1-60AA0E98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必然　B 不必然　C 只要雜湊就必然　D 節點多就必然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ADA88-F962-4419-9BBD-1CBCBEBF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F7178-A925-4BBD-AF90-54329862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答案：B。鏈下來源仍需驗證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E8B87-EC41-4630-957E-0ABB329A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PoC成功後可直接上線？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ADF2F-06D7-4353-B9F3-4C8CA17A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可以　B 不可，還需價值、治理、控制與營運關卡　C 只需加節點　D 只需改名稱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2EF63-40FC-4979-BB99-C9F75968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0EBAA-87B4-4A43-951C-90FE0D6A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答案：B。展示不等於生產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D21C7-831F-48E5-8861-8361FC05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BaaS投資的核心判斷？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9E07E-7677-4E5E-91E9-D122BE8A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技術熱門度　B 可量化價值與可治理風險　C 投影片漂亮　D 節點越多越好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C7911-2B84-4344-ABDE-C1C69D1D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B3019-45AD-45AC-8949-2AC9F53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答案：B。價值、控制與退出</a:t>
            </a:r>
          </a:p>
        </p:txBody>
      </p:sp>
    </p:spTree>
    <p:extLst>
      <p:ext uri="{BB962C8B-B14F-4D97-AF65-F5344CB8AC3E}">
        <p14:creationId xmlns:p14="http://schemas.microsoft.com/office/powerpoint/2010/main" val="376130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2026-09-03T07:04:24.1880000Z</dcterms:created>
  <dcterms:modified xsi:type="dcterms:W3CDTF">2026-09-03T07:04:24.1880000Z</dcterms:modified>
</coreProperties>
</file>