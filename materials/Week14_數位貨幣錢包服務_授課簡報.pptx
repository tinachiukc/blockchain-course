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2b079346844808" /><Relationship Type="http://schemas.openxmlformats.org/officeDocument/2006/relationships/extended-properties" Target="/docProps/app.xml" Id="R453e19cba4db4102" /><Relationship Type="http://schemas.openxmlformats.org/officeDocument/2006/relationships/officeDocument" Target="/ppt/presentation.xml" Id="Rfa72f094c78c42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e46765105d4545"/>
  </p:sldMasterIdLst>
  <p:notesMasterIdLst>
    <p:notesMasterId xmlns:r="http://schemas.openxmlformats.org/officeDocument/2006/relationships" r:id="R6c3470a422c24743"/>
  </p:notesMasterIdLst>
  <p:sldIdLst>
    <p:sldId xmlns:r="http://schemas.openxmlformats.org/officeDocument/2006/relationships" id="256" r:id="Rdee2950466f243d1"/>
    <p:sldId xmlns:r="http://schemas.openxmlformats.org/officeDocument/2006/relationships" id="257" r:id="R748ad92a98df4a81"/>
    <p:sldId xmlns:r="http://schemas.openxmlformats.org/officeDocument/2006/relationships" id="258" r:id="Re9b1a267db47484f"/>
    <p:sldId xmlns:r="http://schemas.openxmlformats.org/officeDocument/2006/relationships" id="259" r:id="R4bedf7b0d97f4250"/>
    <p:sldId xmlns:r="http://schemas.openxmlformats.org/officeDocument/2006/relationships" id="260" r:id="R8a6d1d4e23d64b53"/>
    <p:sldId xmlns:r="http://schemas.openxmlformats.org/officeDocument/2006/relationships" id="261" r:id="R11983a366e9c47e2"/>
    <p:sldId xmlns:r="http://schemas.openxmlformats.org/officeDocument/2006/relationships" id="262" r:id="R1c7e685048d74f4a"/>
    <p:sldId xmlns:r="http://schemas.openxmlformats.org/officeDocument/2006/relationships" id="263" r:id="Rac01a8dab31a416e"/>
    <p:sldId xmlns:r="http://schemas.openxmlformats.org/officeDocument/2006/relationships" id="264" r:id="Rdc715c8b9b2d4a1c"/>
    <p:sldId xmlns:r="http://schemas.openxmlformats.org/officeDocument/2006/relationships" id="265" r:id="Raaf54cdc7c964665"/>
    <p:sldId xmlns:r="http://schemas.openxmlformats.org/officeDocument/2006/relationships" id="266" r:id="Rd7390df75dd144de"/>
    <p:sldId xmlns:r="http://schemas.openxmlformats.org/officeDocument/2006/relationships" id="267" r:id="R9dd28f6154474bee"/>
    <p:sldId xmlns:r="http://schemas.openxmlformats.org/officeDocument/2006/relationships" id="268" r:id="Rcb706a54bc644780"/>
    <p:sldId xmlns:r="http://schemas.openxmlformats.org/officeDocument/2006/relationships" id="269" r:id="Rb4f493aaa2c44ba1"/>
    <p:sldId xmlns:r="http://schemas.openxmlformats.org/officeDocument/2006/relationships" id="270" r:id="R0a8a1abe60d44182"/>
    <p:sldId xmlns:r="http://schemas.openxmlformats.org/officeDocument/2006/relationships" id="271" r:id="R7eb4869cbae34efe"/>
    <p:sldId xmlns:r="http://schemas.openxmlformats.org/officeDocument/2006/relationships" id="272" r:id="R6dd4eca5d3044a72"/>
    <p:sldId xmlns:r="http://schemas.openxmlformats.org/officeDocument/2006/relationships" id="273" r:id="Rba9ae1ac3e094afc"/>
    <p:sldId xmlns:r="http://schemas.openxmlformats.org/officeDocument/2006/relationships" id="274" r:id="R083de093d1f0407f"/>
    <p:sldId xmlns:r="http://schemas.openxmlformats.org/officeDocument/2006/relationships" id="275" r:id="R431c1ff805d74858"/>
    <p:sldId xmlns:r="http://schemas.openxmlformats.org/officeDocument/2006/relationships" id="276" r:id="R8f9093c7126c487d"/>
    <p:sldId xmlns:r="http://schemas.openxmlformats.org/officeDocument/2006/relationships" id="277" r:id="R44a5fa4e1df542ab"/>
    <p:sldId xmlns:r="http://schemas.openxmlformats.org/officeDocument/2006/relationships" id="278" r:id="R20b9f625e2d04422"/>
    <p:sldId xmlns:r="http://schemas.openxmlformats.org/officeDocument/2006/relationships" id="279" r:id="Ra1dc9aafffff448d"/>
    <p:sldId xmlns:r="http://schemas.openxmlformats.org/officeDocument/2006/relationships" id="280" r:id="R7b40fdb9f65c404e"/>
    <p:sldId xmlns:r="http://schemas.openxmlformats.org/officeDocument/2006/relationships" id="281" r:id="R205e37066ea54a3d"/>
    <p:sldId xmlns:r="http://schemas.openxmlformats.org/officeDocument/2006/relationships" id="282" r:id="R0d5e991da7ff4e47"/>
    <p:sldId xmlns:r="http://schemas.openxmlformats.org/officeDocument/2006/relationships" id="283" r:id="R1a85e6a0c9644593"/>
    <p:sldId xmlns:r="http://schemas.openxmlformats.org/officeDocument/2006/relationships" id="284" r:id="R923a7f607ab14096"/>
    <p:sldId xmlns:r="http://schemas.openxmlformats.org/officeDocument/2006/relationships" id="285" r:id="Rf3fb981f2f14448e"/>
    <p:sldId xmlns:r="http://schemas.openxmlformats.org/officeDocument/2006/relationships" id="286" r:id="R1fcf7642c3f94c5f"/>
    <p:sldId xmlns:r="http://schemas.openxmlformats.org/officeDocument/2006/relationships" id="287" r:id="Rc2c8d7e8e7834808"/>
    <p:sldId xmlns:r="http://schemas.openxmlformats.org/officeDocument/2006/relationships" id="288" r:id="R9a74c18a4e3b49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556cf302b54e7f" /><Relationship Type="http://schemas.openxmlformats.org/officeDocument/2006/relationships/slideMaster" Target="/ppt/slideMasters/slideMaster1.xml" Id="R6ce46765105d4545" /><Relationship Type="http://schemas.openxmlformats.org/officeDocument/2006/relationships/notesMaster" Target="/ppt/notesMasters/notesMaster1.xml" Id="R6c3470a422c24743" /><Relationship Type="http://schemas.openxmlformats.org/officeDocument/2006/relationships/presProps" Target="/ppt/presProps.xml" Id="R808cd7da271b4db5" /><Relationship Type="http://schemas.openxmlformats.org/officeDocument/2006/relationships/tableStyles" Target="/ppt/tableStyles.xml" Id="R7022a46e93cc42f6" /><Relationship Type="http://schemas.openxmlformats.org/officeDocument/2006/relationships/slide" Target="/ppt/slides/slide1.xml" Id="Rdee2950466f243d1" /><Relationship Type="http://schemas.openxmlformats.org/officeDocument/2006/relationships/slide" Target="/ppt/slides/slide2.xml" Id="R748ad92a98df4a81" /><Relationship Type="http://schemas.openxmlformats.org/officeDocument/2006/relationships/slide" Target="/ppt/slides/slide3.xml" Id="Re9b1a267db47484f" /><Relationship Type="http://schemas.openxmlformats.org/officeDocument/2006/relationships/slide" Target="/ppt/slides/slide4.xml" Id="R4bedf7b0d97f4250" /><Relationship Type="http://schemas.openxmlformats.org/officeDocument/2006/relationships/slide" Target="/ppt/slides/slide5.xml" Id="R8a6d1d4e23d64b53" /><Relationship Type="http://schemas.openxmlformats.org/officeDocument/2006/relationships/slide" Target="/ppt/slides/slide6.xml" Id="R11983a366e9c47e2" /><Relationship Type="http://schemas.openxmlformats.org/officeDocument/2006/relationships/slide" Target="/ppt/slides/slide7.xml" Id="R1c7e685048d74f4a" /><Relationship Type="http://schemas.openxmlformats.org/officeDocument/2006/relationships/slide" Target="/ppt/slides/slide8.xml" Id="Rac01a8dab31a416e" /><Relationship Type="http://schemas.openxmlformats.org/officeDocument/2006/relationships/slide" Target="/ppt/slides/slide9.xml" Id="Rdc715c8b9b2d4a1c" /><Relationship Type="http://schemas.openxmlformats.org/officeDocument/2006/relationships/slide" Target="/ppt/slides/slide10.xml" Id="Raaf54cdc7c964665" /><Relationship Type="http://schemas.openxmlformats.org/officeDocument/2006/relationships/slide" Target="/ppt/slides/slide11.xml" Id="Rd7390df75dd144de" /><Relationship Type="http://schemas.openxmlformats.org/officeDocument/2006/relationships/slide" Target="/ppt/slides/slide12.xml" Id="R9dd28f6154474bee" /><Relationship Type="http://schemas.openxmlformats.org/officeDocument/2006/relationships/slide" Target="/ppt/slides/slide13.xml" Id="Rcb706a54bc644780" /><Relationship Type="http://schemas.openxmlformats.org/officeDocument/2006/relationships/slide" Target="/ppt/slides/slide14.xml" Id="Rb4f493aaa2c44ba1" /><Relationship Type="http://schemas.openxmlformats.org/officeDocument/2006/relationships/slide" Target="/ppt/slides/slide15.xml" Id="R0a8a1abe60d44182" /><Relationship Type="http://schemas.openxmlformats.org/officeDocument/2006/relationships/slide" Target="/ppt/slides/slide16.xml" Id="R7eb4869cbae34efe" /><Relationship Type="http://schemas.openxmlformats.org/officeDocument/2006/relationships/slide" Target="/ppt/slides/slide17.xml" Id="R6dd4eca5d3044a72" /><Relationship Type="http://schemas.openxmlformats.org/officeDocument/2006/relationships/slide" Target="/ppt/slides/slide18.xml" Id="Rba9ae1ac3e094afc" /><Relationship Type="http://schemas.openxmlformats.org/officeDocument/2006/relationships/slide" Target="/ppt/slides/slide19.xml" Id="R083de093d1f0407f" /><Relationship Type="http://schemas.openxmlformats.org/officeDocument/2006/relationships/slide" Target="/ppt/slides/slide20.xml" Id="R431c1ff805d74858" /><Relationship Type="http://schemas.openxmlformats.org/officeDocument/2006/relationships/slide" Target="/ppt/slides/slide21.xml" Id="R8f9093c7126c487d" /><Relationship Type="http://schemas.openxmlformats.org/officeDocument/2006/relationships/slide" Target="/ppt/slides/slide22.xml" Id="R44a5fa4e1df542ab" /><Relationship Type="http://schemas.openxmlformats.org/officeDocument/2006/relationships/slide" Target="/ppt/slides/slide23.xml" Id="R20b9f625e2d04422" /><Relationship Type="http://schemas.openxmlformats.org/officeDocument/2006/relationships/slide" Target="/ppt/slides/slide24.xml" Id="Ra1dc9aafffff448d" /><Relationship Type="http://schemas.openxmlformats.org/officeDocument/2006/relationships/slide" Target="/ppt/slides/slide25.xml" Id="R7b40fdb9f65c404e" /><Relationship Type="http://schemas.openxmlformats.org/officeDocument/2006/relationships/slide" Target="/ppt/slides/slide26.xml" Id="R205e37066ea54a3d" /><Relationship Type="http://schemas.openxmlformats.org/officeDocument/2006/relationships/slide" Target="/ppt/slides/slide27.xml" Id="R0d5e991da7ff4e47" /><Relationship Type="http://schemas.openxmlformats.org/officeDocument/2006/relationships/slide" Target="/ppt/slides/slide28.xml" Id="R1a85e6a0c9644593" /><Relationship Type="http://schemas.openxmlformats.org/officeDocument/2006/relationships/slide" Target="/ppt/slides/slide29.xml" Id="R923a7f607ab14096" /><Relationship Type="http://schemas.openxmlformats.org/officeDocument/2006/relationships/slide" Target="/ppt/slides/slide30.xml" Id="Rf3fb981f2f14448e" /><Relationship Type="http://schemas.openxmlformats.org/officeDocument/2006/relationships/slide" Target="/ppt/slides/slide31.xml" Id="R1fcf7642c3f94c5f" /><Relationship Type="http://schemas.openxmlformats.org/officeDocument/2006/relationships/slide" Target="/ppt/slides/slide32.xml" Id="Rc2c8d7e8e7834808" /><Relationship Type="http://schemas.openxmlformats.org/officeDocument/2006/relationships/slide" Target="/ppt/slides/slide33.xml" Id="R9a74c18a4e3b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497fc5ae22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0781cf34fe4674" /><Relationship Type="http://schemas.openxmlformats.org/officeDocument/2006/relationships/notesMaster" Target="/ppt/notesMasters/notesMaster1.xml" Id="R70a0d210472a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1aad03b32643e7" /><Relationship Type="http://schemas.openxmlformats.org/officeDocument/2006/relationships/notesMaster" Target="/ppt/notesMasters/notesMaster1.xml" Id="R848f36328c3b47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ab988657cb42eb" /><Relationship Type="http://schemas.openxmlformats.org/officeDocument/2006/relationships/notesMaster" Target="/ppt/notesMasters/notesMaster1.xml" Id="R6bb6d6cfa0c048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9041d943084c23" /><Relationship Type="http://schemas.openxmlformats.org/officeDocument/2006/relationships/notesMaster" Target="/ppt/notesMasters/notesMaster1.xml" Id="R8b097194e80146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9f9c8130a14b59" /><Relationship Type="http://schemas.openxmlformats.org/officeDocument/2006/relationships/notesMaster" Target="/ppt/notesMasters/notesMaster1.xml" Id="R0d154ff4afc74d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7ec31bf5ef4e4d" /><Relationship Type="http://schemas.openxmlformats.org/officeDocument/2006/relationships/notesMaster" Target="/ppt/notesMasters/notesMaster1.xml" Id="R1b8b72c1f1af49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5830b7e7a44ca3" /><Relationship Type="http://schemas.openxmlformats.org/officeDocument/2006/relationships/notesMaster" Target="/ppt/notesMasters/notesMaster1.xml" Id="R19dda0b010a343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289cac3d6d44e8" /><Relationship Type="http://schemas.openxmlformats.org/officeDocument/2006/relationships/notesMaster" Target="/ppt/notesMasters/notesMaster1.xml" Id="R735334f43a504b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6bb48354594d6f" /><Relationship Type="http://schemas.openxmlformats.org/officeDocument/2006/relationships/notesMaster" Target="/ppt/notesMasters/notesMaster1.xml" Id="R6251f087de0241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3e6b3261444ddc" /><Relationship Type="http://schemas.openxmlformats.org/officeDocument/2006/relationships/notesMaster" Target="/ppt/notesMasters/notesMaster1.xml" Id="Rd68470bbec3f41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28ca727aea42d2" /><Relationship Type="http://schemas.openxmlformats.org/officeDocument/2006/relationships/notesMaster" Target="/ppt/notesMasters/notesMaster1.xml" Id="Ra72558e09bf94a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a56af745cb450b" /><Relationship Type="http://schemas.openxmlformats.org/officeDocument/2006/relationships/notesMaster" Target="/ppt/notesMasters/notesMaster1.xml" Id="R02a881bfca2d46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dac85640004183" /><Relationship Type="http://schemas.openxmlformats.org/officeDocument/2006/relationships/notesMaster" Target="/ppt/notesMasters/notesMaster1.xml" Id="R16d7b3ac5e8f42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774d3dd02f4181" /><Relationship Type="http://schemas.openxmlformats.org/officeDocument/2006/relationships/notesMaster" Target="/ppt/notesMasters/notesMaster1.xml" Id="R266b2c34a28449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6a7499960c4340" /><Relationship Type="http://schemas.openxmlformats.org/officeDocument/2006/relationships/notesMaster" Target="/ppt/notesMasters/notesMaster1.xml" Id="Ra9e0832ea08745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deb22abf1048eb" /><Relationship Type="http://schemas.openxmlformats.org/officeDocument/2006/relationships/notesMaster" Target="/ppt/notesMasters/notesMaster1.xml" Id="R6afb8fa052f244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ec758ad00b4abc" /><Relationship Type="http://schemas.openxmlformats.org/officeDocument/2006/relationships/notesMaster" Target="/ppt/notesMasters/notesMaster1.xml" Id="R3f94d88df23d47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4bf9a0dd274120" /><Relationship Type="http://schemas.openxmlformats.org/officeDocument/2006/relationships/notesMaster" Target="/ppt/notesMasters/notesMaster1.xml" Id="R666e38ac2f2745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7a3c4e104a4d5b" /><Relationship Type="http://schemas.openxmlformats.org/officeDocument/2006/relationships/notesMaster" Target="/ppt/notesMasters/notesMaster1.xml" Id="R8cfa082707054d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b3315b5c8645ea" /><Relationship Type="http://schemas.openxmlformats.org/officeDocument/2006/relationships/notesMaster" Target="/ppt/notesMasters/notesMaster1.xml" Id="Raf4845270d804c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55346fe717429a" /><Relationship Type="http://schemas.openxmlformats.org/officeDocument/2006/relationships/notesMaster" Target="/ppt/notesMasters/notesMaster1.xml" Id="Rf447fda2ad574e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e70af90d7a41e4" /><Relationship Type="http://schemas.openxmlformats.org/officeDocument/2006/relationships/notesMaster" Target="/ppt/notesMasters/notesMaster1.xml" Id="R78603893b7ae44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c95122042c74d46" /><Relationship Type="http://schemas.openxmlformats.org/officeDocument/2006/relationships/notesMaster" Target="/ppt/notesMasters/notesMaster1.xml" Id="R0eaaf5a7f5eb4a1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57d4115acc94ffb" /><Relationship Type="http://schemas.openxmlformats.org/officeDocument/2006/relationships/notesMaster" Target="/ppt/notesMasters/notesMaster1.xml" Id="Re04c90ec36ac4b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ad476146b7a4eaa" /><Relationship Type="http://schemas.openxmlformats.org/officeDocument/2006/relationships/notesMaster" Target="/ppt/notesMasters/notesMaster1.xml" Id="R7592fe16530549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47f27bb3684cd9" /><Relationship Type="http://schemas.openxmlformats.org/officeDocument/2006/relationships/notesMaster" Target="/ppt/notesMasters/notesMaster1.xml" Id="Rb55ac7feee4c4f4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b0867ce56c24338" /><Relationship Type="http://schemas.openxmlformats.org/officeDocument/2006/relationships/notesMaster" Target="/ppt/notesMasters/notesMaster1.xml" Id="Rb96137e3766f4e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c4a4e4fd5c9489c" /><Relationship Type="http://schemas.openxmlformats.org/officeDocument/2006/relationships/notesMaster" Target="/ppt/notesMasters/notesMaster1.xml" Id="R98081bfbb7f0436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a2b346a2f354605" /><Relationship Type="http://schemas.openxmlformats.org/officeDocument/2006/relationships/notesMaster" Target="/ppt/notesMasters/notesMaster1.xml" Id="Rd9c6196f6b924c3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fd6934fbb0b4384" /><Relationship Type="http://schemas.openxmlformats.org/officeDocument/2006/relationships/notesMaster" Target="/ppt/notesMasters/notesMaster1.xml" Id="R93631b3db4a04b8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39cc69f0be241ad" /><Relationship Type="http://schemas.openxmlformats.org/officeDocument/2006/relationships/notesMaster" Target="/ppt/notesMasters/notesMaster1.xml" Id="R2d7b839d57ce46c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be9570f46f04dd6" /><Relationship Type="http://schemas.openxmlformats.org/officeDocument/2006/relationships/notesMaster" Target="/ppt/notesMasters/notesMaster1.xml" Id="Rd8b3cfce282f481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6869f5bef784201" /><Relationship Type="http://schemas.openxmlformats.org/officeDocument/2006/relationships/notesMaster" Target="/ppt/notesMasters/notesMaster1.xml" Id="R836e170fef92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本週承接數位資產、交易平台與數位身分，聚焦錢包作為資產存取與交易授權介面。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錢包是帳戶介面；換錢包App不必然更換鏈上帳戶。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https://ethereum.org/wallets/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知道地址只能觀察或轉入；取得私鑰或助記詞通常能移轉資產。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按下確認鍵不代表已完成；應用介面也可能要求簽署訊息而非轉帳。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『誰控制交易簽署權』比產品名稱更能判斷保管模式。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冷錢包不是絕對安全；安全來自整套人員、設備、流程與復原控制。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硬體錢包可以自我保管；交易所App通常是保管型，不能用載體直接分類。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任何索取完整助記詞的客服或網站都應視為詐騙警訊。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https://ethereum.org/security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EVM鏈可能使用相同地址外觀，但資產仍位於不同網路。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https://ethereum.org/guides/how-to-use-a-wallet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慢十秒核對，比事後追討更有效。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https://ethereum.org/security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錢包沒有被破解，也可能因使用者授權惡意交易而失去資產。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撤銷授權也需要鏈上交易費；事前最小權限更重要。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多簽是共同控制，不等於自動具備良好內控。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MPC、多簽與HSM是不同工具，選擇取決於信任與營運需求。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https://www.fsc.gov.tw/uploaddowndoc?file=20160223020901%2F202507211128401.pdf&amp;filedisplay=uploaddowndoc+%282%29.pdf&amp;flag=doc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功能增加也帶來合約漏洞、相容性與升級治理風險。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https://ethereum.org/roadmap/account-abstraction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隔離的目的不是增加帳戶數，而是縮小一次失誤的損失範圍。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沒有演練的備份只是希望，不是控制。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區塊瀏覽器可查狀態，但不代表能取消已確認交易。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https://ethereum.org/guides/how-to-use-a-wallet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保管商不是只提供錢包介面，而是承擔持續的受託與營運責任。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臺灣自2026年起對虛擬資產保管商規定冷熱錢包比例與核心系統資安標準。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https://law.fsc.gov.tw/LawContent.aspx?id=GL004216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這是保管商最低規範，不代表每家機構的最佳風險配置。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https://law.fsc.gov.tw/LawContent.aspx?id=GL004216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鏈上透明不會自動保證平台內部帳務正確。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應搭配財務報表、負債查核、資產權利與獨立確信。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FATF要求依風險採取相稱措施，並持續關注非託管錢包與P2P活動。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https://www.fatf-gafi.org/content/dam/fatf-gafi/guidance/Targeted-Update-Implementation-FATF%20Standards-Virtual%20Assets-VASPs.pdf.coredownload.pdf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還要檢查隱私資料蒐集與所在司法管轄區；不要只看下載量或代言。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供應商名稱不是控制；需取得報告、條款與演練紀錄。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答案不是全自管或全託管，而是讓責任、能力與風險承擔相匹配。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d6297798d42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b5461417df48da" /><Relationship Type="http://schemas.openxmlformats.org/officeDocument/2006/relationships/slideLayout" Target="/ppt/slideLayouts/slideLayout1.xml" Id="Rf66a596c5b384a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6a596c5b384a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e04a682034e65" /><Relationship Type="http://schemas.openxmlformats.org/officeDocument/2006/relationships/notesSlide" Target="/ppt/notesSlides/notesSlide1.xml" Id="Rbe466410088e4e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e106d05314964" /><Relationship Type="http://schemas.openxmlformats.org/officeDocument/2006/relationships/notesSlide" Target="/ppt/notesSlides/notesSlide2.xml" Id="R216c21d6bc1b46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be5627b494f4a" /><Relationship Type="http://schemas.openxmlformats.org/officeDocument/2006/relationships/notesSlide" Target="/ppt/notesSlides/notesSlide3.xml" Id="Rff8c404949fa4f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186be2908480e" /><Relationship Type="http://schemas.openxmlformats.org/officeDocument/2006/relationships/notesSlide" Target="/ppt/notesSlides/notesSlide4.xml" Id="R9e6428591d4d48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8f779c29041f5" /><Relationship Type="http://schemas.openxmlformats.org/officeDocument/2006/relationships/notesSlide" Target="/ppt/notesSlides/notesSlide5.xml" Id="R93c33c69f2c948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e91c5fa014cdb" /><Relationship Type="http://schemas.openxmlformats.org/officeDocument/2006/relationships/notesSlide" Target="/ppt/notesSlides/notesSlide6.xml" Id="Rd66cd69ff91b4b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adc72e64e4db4" /><Relationship Type="http://schemas.openxmlformats.org/officeDocument/2006/relationships/notesSlide" Target="/ppt/notesSlides/notesSlide7.xml" Id="R5752ab43c7374a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d89c1b3df426f" /><Relationship Type="http://schemas.openxmlformats.org/officeDocument/2006/relationships/notesSlide" Target="/ppt/notesSlides/notesSlide8.xml" Id="Rd07dc7827dd848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e0c8ac8114726" /><Relationship Type="http://schemas.openxmlformats.org/officeDocument/2006/relationships/notesSlide" Target="/ppt/notesSlides/notesSlide9.xml" Id="R72be576479b547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94230c7e84853" /><Relationship Type="http://schemas.openxmlformats.org/officeDocument/2006/relationships/notesSlide" Target="/ppt/notesSlides/notesSlide10.xml" Id="Rdd986ca80b5e44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a7206c9b14917" /><Relationship Type="http://schemas.openxmlformats.org/officeDocument/2006/relationships/notesSlide" Target="/ppt/notesSlides/notesSlide11.xml" Id="Reb8e3ece06904e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2c20827574beb" /><Relationship Type="http://schemas.openxmlformats.org/officeDocument/2006/relationships/notesSlide" Target="/ppt/notesSlides/notesSlide12.xml" Id="R2fb5849c500b45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b754a36ba4f07" /><Relationship Type="http://schemas.openxmlformats.org/officeDocument/2006/relationships/notesSlide" Target="/ppt/notesSlides/notesSlide13.xml" Id="R82076ca07ec247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13ebde92244c6" /><Relationship Type="http://schemas.openxmlformats.org/officeDocument/2006/relationships/notesSlide" Target="/ppt/notesSlides/notesSlide14.xml" Id="Rca9f9dbb944d43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3a872b6ef4041" /><Relationship Type="http://schemas.openxmlformats.org/officeDocument/2006/relationships/notesSlide" Target="/ppt/notesSlides/notesSlide15.xml" Id="Reab3c88536c34c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aa9281cae416f" /><Relationship Type="http://schemas.openxmlformats.org/officeDocument/2006/relationships/notesSlide" Target="/ppt/notesSlides/notesSlide16.xml" Id="R372a3836229841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2bafda38747a5" /><Relationship Type="http://schemas.openxmlformats.org/officeDocument/2006/relationships/notesSlide" Target="/ppt/notesSlides/notesSlide17.xml" Id="R865876d4c2a24a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62680a76c4602" /><Relationship Type="http://schemas.openxmlformats.org/officeDocument/2006/relationships/notesSlide" Target="/ppt/notesSlides/notesSlide18.xml" Id="R83db75648c9348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9d4127e914250" /><Relationship Type="http://schemas.openxmlformats.org/officeDocument/2006/relationships/notesSlide" Target="/ppt/notesSlides/notesSlide19.xml" Id="R26a2391911d449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5f31be98443d" /><Relationship Type="http://schemas.openxmlformats.org/officeDocument/2006/relationships/notesSlide" Target="/ppt/notesSlides/notesSlide20.xml" Id="R27b5a402230644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8cbe73bbd464e" /><Relationship Type="http://schemas.openxmlformats.org/officeDocument/2006/relationships/notesSlide" Target="/ppt/notesSlides/notesSlide21.xml" Id="R3394517c5f08485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51240d5294b84" /><Relationship Type="http://schemas.openxmlformats.org/officeDocument/2006/relationships/notesSlide" Target="/ppt/notesSlides/notesSlide22.xml" Id="Rcf7508e6a9a149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febd3c79e455a" /><Relationship Type="http://schemas.openxmlformats.org/officeDocument/2006/relationships/notesSlide" Target="/ppt/notesSlides/notesSlide23.xml" Id="R40dec0b7ea2e43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84d13453a4a04" /><Relationship Type="http://schemas.openxmlformats.org/officeDocument/2006/relationships/notesSlide" Target="/ppt/notesSlides/notesSlide24.xml" Id="Raf61fba3a9e445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42d5a0f5a4a87" /><Relationship Type="http://schemas.openxmlformats.org/officeDocument/2006/relationships/notesSlide" Target="/ppt/notesSlides/notesSlide25.xml" Id="R2f1517c6667c4c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067226a8c4565" /><Relationship Type="http://schemas.openxmlformats.org/officeDocument/2006/relationships/notesSlide" Target="/ppt/notesSlides/notesSlide26.xml" Id="R777734416cc941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55e537fd74aea" /><Relationship Type="http://schemas.openxmlformats.org/officeDocument/2006/relationships/notesSlide" Target="/ppt/notesSlides/notesSlide27.xml" Id="R56f47ffae5af46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e1ee767484ce2" /><Relationship Type="http://schemas.openxmlformats.org/officeDocument/2006/relationships/notesSlide" Target="/ppt/notesSlides/notesSlide28.xml" Id="R125978940bf8494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9d2c65b4d4dc4" /><Relationship Type="http://schemas.openxmlformats.org/officeDocument/2006/relationships/notesSlide" Target="/ppt/notesSlides/notesSlide29.xml" Id="R8212919e6360444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2189117ae4aa9" /><Relationship Type="http://schemas.openxmlformats.org/officeDocument/2006/relationships/notesSlide" Target="/ppt/notesSlides/notesSlide30.xml" Id="R4bbaec72ae244de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f3ee8e1634a20" /><Relationship Type="http://schemas.openxmlformats.org/officeDocument/2006/relationships/notesSlide" Target="/ppt/notesSlides/notesSlide31.xml" Id="R47fd4e98ea0c411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2471630fa4292" /><Relationship Type="http://schemas.openxmlformats.org/officeDocument/2006/relationships/notesSlide" Target="/ppt/notesSlides/notesSlide32.xml" Id="Rbef129d562034d3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f97c1591d4a35" /><Relationship Type="http://schemas.openxmlformats.org/officeDocument/2006/relationships/notesSlide" Target="/ppt/notesSlides/notesSlide33.xml" Id="R6e19b682f9fa4b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27141-7726-4857-95EE-6973CFA9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1019C-8BC2-45B4-A59B-90435D97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104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14</a:t>
            </a:r>
          </a:p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數位貨幣錢包服務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9EA26-7F7F-46A5-BE06-085171E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52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錢包不是裝錢的盒子，而是管理交易權限的工具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908F1-9F6A-4105-A266-57EF4A12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第一節：看懂地址、私鑰與保管模式</a:t>
            </a:r>
          </a:p>
        </p:txBody>
      </p:sp>
    </p:spTree>
    <p:extLst>
      <p:ext uri="{BB962C8B-B14F-4D97-AF65-F5344CB8AC3E}">
        <p14:creationId xmlns:p14="http://schemas.microsoft.com/office/powerpoint/2010/main" val="173301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36B6C-C5F6-40DE-A2A4-A06F4B0D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第一節｜錢包基礎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E29F8-E360-47E6-AB68-2CCAE094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資產記錄在區塊鏈上，錢包保存的是控制能力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F3D83-5B75-4D36-8A01-B8F26139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03739-465C-48A9-A932-027D5BB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14｜第一節｜錢包基礎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07483-7583-48E7-B66B-D322DF1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E493B-5137-4A16-AE95-A7C2B70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68156-8C22-41AB-8E53-9D8CF4A7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0AFBD-28A1-43B7-921F-A39AC008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鏈上保存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FEB02-3576-4BBF-94D1-1A96A015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地址與交易紀錄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代幣餘額或未花費輸出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智能合約狀態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全網依規則更新帳本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2D341-138D-44FB-A8FD-913422E9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90E0B-773F-4827-901D-4E8BF265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私鑰或簽署權限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地址與帳戶畫面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交易建立、簽署與廣播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備份、復原與連接應用</a:t>
            </a:r>
          </a:p>
        </p:txBody>
      </p:sp>
    </p:spTree>
    <p:extLst>
      <p:ext uri="{BB962C8B-B14F-4D97-AF65-F5344CB8AC3E}">
        <p14:creationId xmlns:p14="http://schemas.microsoft.com/office/powerpoint/2010/main" val="221984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3EF56-B384-4C64-BB93-BDE046BF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第一節｜錢包基礎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C8ADD-02AB-4C9F-9BF8-29C0375D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地址可以公開，私鑰與助記詞必須保密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E416A-4BC4-4848-9333-ECE7D5EC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2D5B6-370C-4393-BD99-9006D70D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14｜第一節｜錢包基礎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D78A7-F7B2-4418-B801-0315ECEF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13E4C-DB1A-4CCD-96F5-74C0FFC3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68129-9533-46A4-AD14-BA31DD63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地址 Address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FCB9F-3B2C-4C87-975C-D6A5AB99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像收款帳號，可供他人轉入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24CFD-AF84-4AB8-9D06-BD733F6F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68150-431D-4F88-BF77-F5E911A5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 Private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58385-E273-47A0-A6F5-92611AA5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簽署交易的控制秘密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E426D-B7B6-434C-896D-169CC7B6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08446-2BF8-457C-A8B3-A5EFA0E0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公鑰 Public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6C79A-8D7A-404B-98CE-B3A09164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可由私鑰推導並驗證簽章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8D506-5F9B-473A-8655-0C39E38F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FC039-CBF2-4764-BE3B-B58A8671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助記詞 Seed phrase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5D7A4-B8F2-43BD-8DA5-8F907423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可復原一組帳戶的最高權限</a:t>
            </a:r>
          </a:p>
        </p:txBody>
      </p:sp>
    </p:spTree>
    <p:extLst>
      <p:ext uri="{BB962C8B-B14F-4D97-AF65-F5344CB8AC3E}">
        <p14:creationId xmlns:p14="http://schemas.microsoft.com/office/powerpoint/2010/main" val="13805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B24A3-F66C-4076-89C5-FF794B56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第一節｜錢包基礎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FE885-2381-45F8-B3CC-D061FAAC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簽署、廣播與確認是三個不同階段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5C669-9876-44DA-9E48-FBF5513A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0FFB2-9F27-4361-A4E6-5183E8C2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14｜第一節｜錢包基礎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796B0-01B4-4D75-82B8-17BCC486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AFF0D-F40C-41CF-8235-AD6AAF77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F49E3-47F2-4760-A807-AF2F0B7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建立交易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13CDE-D9C7-4446-9B70-6BF7C293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指定網路、收款地址、金額與費用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301F4-1B1C-4FD5-A429-442AC01C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44FEA-8ABB-4C2D-BA5F-9DD7828A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簽署交易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4B3B5-8BD1-4F91-990A-53574485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私鑰證明同意該筆指令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77076-1385-4771-AA05-CE6E839E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02A78-3508-48AF-B9ED-ABF6287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廣播交易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40B3D-0A9A-4E63-9172-83877BD3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將已簽交易送入區塊鏈網路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FAF5B-C710-4206-BD25-4C139BC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BD561-888A-4B75-BCFA-7022CD56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77483-57C7-433E-B885-BBA86C45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驗證者納入區塊並達到所需最終性</a:t>
            </a:r>
          </a:p>
        </p:txBody>
      </p:sp>
    </p:spTree>
    <p:extLst>
      <p:ext uri="{BB962C8B-B14F-4D97-AF65-F5344CB8AC3E}">
        <p14:creationId xmlns:p14="http://schemas.microsoft.com/office/powerpoint/2010/main" val="271074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E9F99-505C-4B86-B4F4-96BD080D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第一節｜錢包基礎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531C2-9619-4966-9E76-6AAAB9F3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保管型與自我保管型錢包的責任分配不同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4A28-1EB1-4E7A-8BAF-0976620E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59E13-E51E-4795-B91E-E36696DD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14｜第一節｜錢包基礎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2FC3A-5805-479E-971C-1852BBFA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887FB-C241-46D5-8A6B-D8428FD7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1C2DC-6D92-483D-B945-73FF043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B1F18-CD05-4C44-ABDE-59583FA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保管型 Custodial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64C43-3633-41EC-A4C0-7C1E6F3D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平台或機構控制私鑰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使用者以帳號密碼登入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可提供客服、凍結與復原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承擔對手方與平台營運風險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44ADD-E418-4068-9921-3CC5C844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自我保管 Self-custody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1361F-71D1-4B39-BD1C-5306D27D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使用者控制私鑰或助記詞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不必依賴平台批准提款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可直接連接鏈上應用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遺失或外洩通常自行承擔</a:t>
            </a:r>
          </a:p>
        </p:txBody>
      </p:sp>
    </p:spTree>
    <p:extLst>
      <p:ext uri="{BB962C8B-B14F-4D97-AF65-F5344CB8AC3E}">
        <p14:creationId xmlns:p14="http://schemas.microsoft.com/office/powerpoint/2010/main" val="1729061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CF8F4-962A-4BC8-BF96-D6137F2E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第一節｜錢包基礎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60115-E055-4EA0-A495-B5D74221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熱錢包與冷錢包描述的是金鑰是否接近網路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75D-4C00-4692-AAF5-C0D51DA4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886E2-2193-415B-AD68-55590313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14｜第一節｜錢包基礎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A8F60-B58F-426C-8827-870346C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92B2D-C965-4798-84F9-B4F38367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4E540-27F3-4E9F-BA3D-1B0DB994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F16FF-AB1E-4B18-8006-37E54B8D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熱錢包 Hot wallet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DA0FC-A548-4AF4-A3FC-5B809CD0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連線裝置可直接簽署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交易快速、適合日常流動性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暴露於惡意程式與釣魚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通常只放營運所需部位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E9ED7-A60D-48C1-9DF1-7A0CEEA9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冷錢包 Cold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99A95-A5BF-4B0A-A05C-3D10EF34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金鑰保持離線或高度隔離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降低遠端攻擊面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轉出流程較慢且管控較多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仍須防遺失、內控與實體風險</a:t>
            </a:r>
          </a:p>
        </p:txBody>
      </p:sp>
    </p:spTree>
    <p:extLst>
      <p:ext uri="{BB962C8B-B14F-4D97-AF65-F5344CB8AC3E}">
        <p14:creationId xmlns:p14="http://schemas.microsoft.com/office/powerpoint/2010/main" val="1405074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7151E-E428-4517-A926-A1DD801B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第一節｜錢包基礎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0DD1B-14A6-4157-A8E2-248CF4E6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軟體、硬體與紙本只是載體，不等同保管模式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05E9A-6EFB-457E-951A-E31AF545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A6E15-B289-46EA-84BD-88FB1781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14｜第一節｜錢包基礎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8FCD9-19A7-4C54-85EB-241C2C83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A0251-6346-4F56-81F0-C19DD77B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3513C-D261-4C88-A382-318F8193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手機／瀏覽器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BD6E0-9532-491B-8089-6D03D146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方便連接服務，需防惡意網站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F1D6A-CDF8-4B67-84D3-5EEAC304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AB91D-B709-41F7-A3D8-C3A1FD50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桌面軟體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88E15-AE3D-49A7-B237-F68FCFB9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功能完整，依賴電腦安全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4D25E-F04D-4A71-B77C-78420585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C3542-C7B7-492B-B17F-79699987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硬體錢包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529C2-FA69-4E8F-9B7B-9BF12466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私鑰隔離簽署，仍須核對螢幕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B96D7-ECB1-4AD0-8263-F2D384E2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AE381-88DB-4F6E-9A7A-274366A6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紙本／離線備份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49C24-F757-4231-8903-3D79E5A3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遠離網路，但易損毀或被複製</a:t>
            </a:r>
          </a:p>
        </p:txBody>
      </p:sp>
    </p:spTree>
    <p:extLst>
      <p:ext uri="{BB962C8B-B14F-4D97-AF65-F5344CB8AC3E}">
        <p14:creationId xmlns:p14="http://schemas.microsoft.com/office/powerpoint/2010/main" val="1695378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8FC3B-4038-4A84-808D-BCB8C5D9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第一節｜錢包基礎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415A4-66F5-4D53-9D78-1029B0E8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助記詞是備份，不是每天登入的密碼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78D1B-B389-4119-BA6C-5B41679E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790BD-3325-4B99-AAC2-F9325E57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14｜第一節｜錢包基礎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1E077-12CF-400E-BE9F-0F938B62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75120-8D72-44FC-93CB-FA43F05F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ED3FF-F463-4B6B-990F-49535D73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67454-A982-4957-8957-B4BE59DC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正確理解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7FF4F-C1DE-4515-92BE-86C68796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可在相容錢包中重建私鑰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持有者通常可控制全部帳戶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應離線記錄並防火、防水、防竊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備份位置要避免單點故障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F509E-75AD-4BD0-BD1F-AFBC316E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高風險行為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4EB15-48E7-4B1C-A9EB-A1B72444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截圖、寄信或放雲端硬碟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輸入陌生網站或客服表單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與他人共享完整助記詞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未演練就假設一定能復原</a:t>
            </a:r>
          </a:p>
        </p:txBody>
      </p:sp>
    </p:spTree>
    <p:extLst>
      <p:ext uri="{BB962C8B-B14F-4D97-AF65-F5344CB8AC3E}">
        <p14:creationId xmlns:p14="http://schemas.microsoft.com/office/powerpoint/2010/main" val="1263314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4E08B-07C1-49AA-BB49-5784CF44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第一節｜錢包基礎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E2A23-E355-4BA8-A11C-3C29E058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區塊鏈網路與地址格式必須同時核對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D4BD6-B3EF-4D00-9D3F-1A44B0E4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F0A1C-AE18-488B-8385-83594034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14｜第一節｜錢包基礎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BAA0D-414D-4661-8CF9-77ED435D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08833-59E2-4510-B276-F2275B87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083B0-8AD0-4BAB-A96C-9E9C7F7F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96643-4249-4E4A-9DA9-E72A39C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轉帳前確認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6121E-88B8-4B68-A15A-5B45574B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資產名稱與代幣合約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來源鏈與目的鏈是否相同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完整地址及Memo／Tag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小額測試與預估手續費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A3878-5495-4065-B886-3A90DEF4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常見錯誤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39994-D753-463B-99EF-DE012E70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同名代幣其實不是同一資產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地址相似但貼到錯誤網路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漏填交易所Memo或Tag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把合約地址當收款地址</a:t>
            </a:r>
          </a:p>
        </p:txBody>
      </p:sp>
    </p:spTree>
    <p:extLst>
      <p:ext uri="{BB962C8B-B14F-4D97-AF65-F5344CB8AC3E}">
        <p14:creationId xmlns:p14="http://schemas.microsoft.com/office/powerpoint/2010/main" val="529511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D1030-F2D3-4740-BEFD-81671C0E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第一節｜錢包基礎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5C0EF-A667-4DD3-8055-16B09DBA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錢包選擇沒有單一最佳答案，要配合使用情境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50FAF-B6F6-4118-80DC-9058FF7A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DF871-2F92-4E48-9386-D0E65431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14｜第一節｜錢包基礎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2E809-7EDD-47F0-910E-40255804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CAAAE-63E0-4037-8FE4-9C2622B7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先回答四個問題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4FE59-E87E-40F4-A4B7-E236F6AA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資產價值多大？多久交易一次？能否自行承擔備份與安全？是否需要客服、繼承、多人核准或法遵紀錄？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0D9F-B947-4282-9E05-2983FFA6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D7D15-6E56-4592-B100-E4AD19FF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7388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小額日常重視便利；長期高額重視隔離與復原；機構資產重視職務分離、稽核與營運持續。</a:t>
            </a:r>
          </a:p>
        </p:txBody>
      </p:sp>
    </p:spTree>
    <p:extLst>
      <p:ext uri="{BB962C8B-B14F-4D97-AF65-F5344CB8AC3E}">
        <p14:creationId xmlns:p14="http://schemas.microsoft.com/office/powerpoint/2010/main" val="3101945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A48A55-F2B2-443C-BA20-689CB68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8CBEE-1BCD-4DC9-A99E-F2D843F3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E3A4E-482C-40F7-B070-3EC8FE54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D7993-0AB2-4F40-A5A1-E9D01CE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77837-5D70-4EE8-9BB1-8C6CFD04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87BB7-9CEA-4DC4-AC69-187BC276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A4FD2-337A-4694-A78C-27103D00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132A2-93BB-498C-9765-7A404332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C7B4C-6C06-43CB-BFEC-2234D9DC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1E901-2411-4A89-9AB7-B9B6D4D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F2D27-5E47-4F67-BF7F-CCA4D8C7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錢包內真正保管的是？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41F4B-9731-4AE8-AD71-A9324A5C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區塊鏈　B 私鑰或簽署權限　C 所有節點　D 幣價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356B2-A67D-4C15-9021-26775F82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E71A5-5312-433B-BB69-3D0593C0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答案：B。資產紀錄仍在鏈上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803BE-51EC-4998-BFBC-CE880459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地址可以公開嗎？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8214C-615D-4428-A5A4-A521DE50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通常可以　B 絕對不可　C 只有礦工可看　D 只有銀行可看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9D8EA-B84C-4335-974A-231835E1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41A82-A76B-44F8-B267-31849B40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答案：A。但交易可能被關聯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5F368-A961-4891-83AA-67E77680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誰控制私鑰可判斷？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0E36F-16EA-4728-A7C4-F73B2A3E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幣價　B 保管責任　C 區塊大小　D 挖礦速度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89691-79A0-4EE9-B1FD-0D0ADCC3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297AD-207F-484B-A641-18A59A90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答案：B。決定誰能授權移轉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9453D-D1CA-49BD-8866-5C329535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冷錢包一定零風險嗎？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AAE03-FC0A-4EA3-A934-1B8FAAEA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只要離線就是　D 只要昂貴就是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DCC69-9494-4E58-82E9-5E2E955A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A38E4D-772C-4472-A919-FE5CD0C1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答案：B。仍有實體與流程風險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33949-65E7-4B35-84BF-0B5803CC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助記詞適合存雲端截圖嗎？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046A7B-18BE-4B1B-9AD7-17701D4B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適合　B 不適合　C 公開更安全　D 交給陌生客服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80993B-472E-4A39-9EFE-BDA1DF7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A1791B-C1AF-4A67-9AC8-E285E24A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答案：B。應安全離線保存</a:t>
            </a:r>
          </a:p>
        </p:txBody>
      </p:sp>
    </p:spTree>
    <p:extLst>
      <p:ext uri="{BB962C8B-B14F-4D97-AF65-F5344CB8AC3E}">
        <p14:creationId xmlns:p14="http://schemas.microsoft.com/office/powerpoint/2010/main" val="11791402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93633-D516-416F-A253-73C9890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2689D-3DF3-4D8F-81DF-97E7F26E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使用錢包的真正高風險時刻是簽署之前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AE366-85FA-4C92-88D6-5B466FDE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0149A-A4AD-40AD-870C-84646B13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74774-80EC-4AAF-85F5-92FFC105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C9098-09C6-405C-BFC2-C71510F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C8E54-ECB5-415C-A2F8-2A95B3C9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09089-46E7-4C84-8A08-4E4DF6D0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畫面必須看懂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C9027-1EB2-4565-9B05-3039E5FB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連接哪個網站與網路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要求簽署訊息或交易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轉給誰、轉多少、支付多少Gas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是否授予代幣支出權限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CD71C-48E7-404F-8A33-075C1CDB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不要只看按鈕文字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298B1-081F-4070-A155-F9E26BDB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惡意網站可偽裝品牌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簽章內容可能與畫面宣稱不同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Unlimited approval可長期授權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確認後通常難以撤回</a:t>
            </a:r>
          </a:p>
        </p:txBody>
      </p:sp>
    </p:spTree>
    <p:extLst>
      <p:ext uri="{BB962C8B-B14F-4D97-AF65-F5344CB8AC3E}">
        <p14:creationId xmlns:p14="http://schemas.microsoft.com/office/powerpoint/2010/main" val="143441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7E03D-31F4-4E31-B5F7-B8BA6FF5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DFA11-F896-48CE-A54B-FBF60FD6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釣魚攻擊通常先奪取信任，再奪取簽署權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1659-53E9-4F08-A368-D34AD5C5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97F01-36A0-4686-9C9C-B4C7B350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2AA88-2E0E-4F7F-8057-E3EC72EB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1868A-086E-4B9C-8E13-6DBD5536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E5387-C516-43D5-92E7-352FA170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假網站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40760-1BA5-4A45-B237-C9834DCE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搜尋廣告、仿冒網址與假空投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0D808-C558-4DDC-967B-D1F63C71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F0148-F438-4AEE-892F-CF5CBFDF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假客服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B43B6-6CB9-4F5D-AC19-F5031940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主動私訊並索取助記詞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C2F5A-5DEA-443E-BAFA-27D2E954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6B5C4-AB1C-4488-9550-96E540CA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惡意簽章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173DB-C2B9-4E71-88FC-6CE4A1D9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聲稱登入，實際要求授權或轉移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A9C75-A9EE-4EB9-9C7D-72DD63E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3034A-5626-4D99-B609-0817AF85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剪貼簿替換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4ED28-9DB3-4756-B730-14AD7732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貼上後收款地址被惡意程式更換</a:t>
            </a:r>
          </a:p>
        </p:txBody>
      </p:sp>
    </p:spTree>
    <p:extLst>
      <p:ext uri="{BB962C8B-B14F-4D97-AF65-F5344CB8AC3E}">
        <p14:creationId xmlns:p14="http://schemas.microsoft.com/office/powerpoint/2010/main" val="15650473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60E16-BA77-485C-A06B-AEB683D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64D1E-7F91-4CA9-8F08-ED15D61C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代幣授權會把未來支出權交給智能合約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FBDBB-7118-481C-AE3D-5EE48187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85B24-13D5-4313-BDD3-991AA71E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4EEFB-BA0A-49E5-8E7E-46C87D10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C5B29-FC7D-4172-85C8-DCE96E24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7AF2B-22E6-470D-9F09-F5406EF8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88483-8D4B-4417-99DE-D27F432E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便利性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5E4B6-4BDB-4A55-838A-DBF45116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先批准合約可使用某種代幣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後續交換或服務流程更順暢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授權額度可限定或無上限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授權本身也是鏈上交易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29403-7CD3-4DAF-8D71-3772A5A5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A822E-1863-4133-9F5C-5624705D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只授權必要額度與期間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核對合約來源及網站網域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定期檢查並撤銷不再使用的授權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高額資產與互動錢包分離</a:t>
            </a:r>
          </a:p>
        </p:txBody>
      </p:sp>
    </p:spTree>
    <p:extLst>
      <p:ext uri="{BB962C8B-B14F-4D97-AF65-F5344CB8AC3E}">
        <p14:creationId xmlns:p14="http://schemas.microsoft.com/office/powerpoint/2010/main" val="11981304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DC59F-09E3-40D1-9AB2-F49C8DBD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E0F4C-3336-4144-91CD-A693D563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多重簽名把單點私鑰風險改成共同授權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B2C15-9329-4E5C-956F-98A477AC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DC135-A354-40AE-9CAE-77092A7C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EB7B5-6FC7-4DD3-8E31-1B7E4460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245A-72C9-43CF-B9C1-5C5D6F6E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44AB1-EBED-4C0B-8DF4-679D6689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M-of-N規則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A5054-6068-46F9-B004-D2112ABE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N把金鑰中至少M把同意才執行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BE8CE-689A-45A9-B370-9B7AB73E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75F0E-213D-451B-95DA-29E0DC91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主要優點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CE41B-1C11-4EE3-8E2A-872F5C74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降低單人舞弊、遺失與綁架風險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CCCAF-9727-4A6F-BE17-B2EDC85F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224C6-D2F8-4C00-A6C6-871F94C8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新的問題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7549D-ECE1-4CB9-8B1E-B3E3FB3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簽署者勾結、延遲與金鑰同地保存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59EBB-D05E-4847-A779-C71E0E70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5ECBE-D87A-47BF-9006-0AE6B032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08CF0-FEAB-46F7-9EEE-3CB6CECE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限額、角色、替補與緊急程序</a:t>
            </a:r>
          </a:p>
        </p:txBody>
      </p:sp>
    </p:spTree>
    <p:extLst>
      <p:ext uri="{BB962C8B-B14F-4D97-AF65-F5344CB8AC3E}">
        <p14:creationId xmlns:p14="http://schemas.microsoft.com/office/powerpoint/2010/main" val="40327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65BD1-10DF-4C91-A36D-26221A47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69C35-CA95-40CA-8D12-56F32F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MPC把簽署能力分散，不必重建完整私鑰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21AEF-F020-473D-B38D-4A41105C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BE1E9-2566-40BD-B05D-0F999735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040A0-D94D-482F-9B31-A9948762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EDCF4-417B-42B0-BAB7-131CC4B2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2AA48-6680-409B-A63C-EC81BE8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10C6C-11E6-4F77-870F-A92C3DF0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可能優勢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59ED6-E969-4B1B-B676-6E338ED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金鑰分片由多方共同計算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降低完整私鑰單點暴露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可設人員、設備與政策門檻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適合機構化工作流程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A5971-91E9-463E-AF49-365DD75F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管理重點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DFC87-2AA6-4510-81A8-32E569B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分片由誰持有與託管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演算法與供應商可否替換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備份、輪替與災難復原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失效時能否證明及追責</a:t>
            </a:r>
          </a:p>
        </p:txBody>
      </p:sp>
    </p:spTree>
    <p:extLst>
      <p:ext uri="{BB962C8B-B14F-4D97-AF65-F5344CB8AC3E}">
        <p14:creationId xmlns:p14="http://schemas.microsoft.com/office/powerpoint/2010/main" val="5873216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EA9CC-F457-44C2-8367-941AB1A4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2DAC6-F6B7-49CF-A463-ACDC6BF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智慧合約錢包可把安全規則寫入帳戶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E64DA-CB29-494C-868E-E61DAE29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3CF21-D503-4B36-A770-EC9D992E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CBE8F-6631-4405-9CA0-954EC13D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FFF02-FC18-4186-9CD7-93163C9C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40346-EE2B-4E1A-8C4C-B56076B6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社交復原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7AFE9-814F-4725-BDB5-03CE605C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由預先指定守護者協助更換金鑰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17359-D424-4203-A8C8-3BABBFE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BEC05-6D18-479F-9C89-086C855D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限額與延遲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DE04F-3A11-436B-8DBA-80C81400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大額交易等待或需要額外核准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284B6-F817-48B1-937C-5D4F7E95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DF1B3-1610-4D96-96DD-A74EA9CC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批次與代付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6C9F3-B6B0-4D08-865E-18D38053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多步交易合併、費用可由他方支付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D91F1-11E2-4FFF-AC5A-B58B43B0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77B6D-0FD2-4563-9D0C-72103C8C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模組化權限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2FA43-E68B-4A19-BC4C-30DE0011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依應用、時間或資產設定範圍</a:t>
            </a:r>
          </a:p>
        </p:txBody>
      </p:sp>
    </p:spTree>
    <p:extLst>
      <p:ext uri="{BB962C8B-B14F-4D97-AF65-F5344CB8AC3E}">
        <p14:creationId xmlns:p14="http://schemas.microsoft.com/office/powerpoint/2010/main" val="3506481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8C372-BDF9-426F-9C41-49460AE7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B5AFA-686D-4888-9050-AB81810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分層錢包能把高頻操作與長期資產隔離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5D7A9-60EA-4263-956D-1EF5BA90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676B2-2BCA-4602-B94D-A3B6146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9583E-CCBE-4ED8-9C30-F82711DA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CCD16-2BBF-45DA-8867-64D12D96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AD3E5-5A0C-4E8E-BB70-F98CD235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日常互動錢包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CDF93-FDBB-4AA4-BAD4-C98A855E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只放小額，連接較多DApp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35DB2-2A4F-443F-9C6A-E758AF89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73F3F-CA5B-44C3-A43D-E51C9F25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儲備錢包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BC44C-0E6B-4051-B410-E6C932D1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低頻使用，強化離線與多人核准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B5A91-2083-4440-AF5A-310AC186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178AF-75FE-4CEC-8756-3514B0E6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收款地址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04BCA-C277-43DF-ACC4-6C44C5A9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可公開，但避免不必要重複使用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58793-697C-482F-98F5-584FDF16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C7D3A-965B-4525-A1C0-D0794786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觀察錢包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1FE6F-09FD-4274-8F50-AA6F1C8A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只有公鑰，查詢但不能簽署</a:t>
            </a:r>
          </a:p>
        </p:txBody>
      </p:sp>
    </p:spTree>
    <p:extLst>
      <p:ext uri="{BB962C8B-B14F-4D97-AF65-F5344CB8AC3E}">
        <p14:creationId xmlns:p14="http://schemas.microsoft.com/office/powerpoint/2010/main" val="356455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89EA0-85CB-459A-96EE-23DCC354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659E3-4CA9-4E2B-85FD-18DCD98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復原設計要同時防止遺失與未授權接管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01E28-DA63-43B0-B0C2-D8F89D7C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47F47-CAE9-440F-BD5F-C332409C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C125D-9D2F-421B-8902-B71BC182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2DECC-EC15-4FD5-89AB-71C89BC7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534CA-043D-477D-BD62-31361245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F3992-23E5-4B37-A3F8-E3ED784D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個人復原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1D2FC-0BA3-4595-862E-7964E389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確認助記詞可還原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備份分開保存並防災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留下可信且安全的繼承安排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定期更新裝置與聯絡方式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0938A-8504-4911-9597-49245249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機構復原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52CE5-0A0F-4A29-BFE8-139A17EE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金鑰分片或多簽替補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離職撤權與角色輪替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跨地備援及定期演練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全程留下核准與稽核紀錄</a:t>
            </a:r>
          </a:p>
        </p:txBody>
      </p:sp>
    </p:spTree>
    <p:extLst>
      <p:ext uri="{BB962C8B-B14F-4D97-AF65-F5344CB8AC3E}">
        <p14:creationId xmlns:p14="http://schemas.microsoft.com/office/powerpoint/2010/main" val="1049508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2328F-C92F-47BC-B801-A12A343C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6574E-BEAB-4577-B977-AB2663E7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鏈上交易多半不可逆，錯誤處理要預先設計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F8A80-3BC0-447B-9D13-0C33C0E7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72A1B-D863-48ED-B9FE-97110373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25E76-C15E-4129-9B3A-FB448CEF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3FD92-A1EC-47D2-913A-0A1437FC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7F9A9-26BC-4E5D-9615-6D68A66B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未確認交易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E6DE1-A13A-4384-89BB-F5874673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檢查費率、Nonce與網路狀態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A0002-2B7D-4700-BD4A-BF22A07A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0BDAF-2D2A-4235-BF8C-C1243A45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轉錯地址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2F5F9-FBB0-47FA-ACCB-F9D344A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通常無強制退款機制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8D675-EC68-4B62-BAA8-3C20CD69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98A64-F9DA-4A9D-9609-142D7998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遭詐或盜用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641A5-1F76-49FB-94C8-B31F1D03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停止後續授權、保全證據並通報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73FEA-BC42-4693-8F14-85BF5D91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C212D-F1AC-4FE4-B767-654D99F7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服務爭議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B7B33-7A7B-407B-A72E-8560FC2A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分清鏈上移轉與平台內部帳務</a:t>
            </a:r>
          </a:p>
        </p:txBody>
      </p:sp>
    </p:spTree>
    <p:extLst>
      <p:ext uri="{BB962C8B-B14F-4D97-AF65-F5344CB8AC3E}">
        <p14:creationId xmlns:p14="http://schemas.microsoft.com/office/powerpoint/2010/main" val="1774794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BB1A2-AB0F-495E-A5E6-9B93892E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第二節｜交易安全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CFEA6-691A-4F09-A599-846AA5C6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安全操作口訣：停、看、分、驗、留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8EE60-C580-4B13-A801-6D871A9E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E0176-CF6B-4F53-833C-78DAF4D0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14｜第二節｜交易安全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34A5D-8EC5-4180-B50D-1EC91CB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BAD88-D5F6-4E6B-84A4-6E615967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每次簽署前都能使用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596E2-91C2-4C1C-AFC5-DFB02FFA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82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停：不被倒數催促；看：讀懂資產、地址、網路與權限；分：日常與儲備隔離；驗：以第二管道核對；留：保存交易ID與必要證據。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D0523-F63A-410F-B44F-1B6B30B8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FDB8C-3C09-4CD3-AEF2-53824936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9698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安全不是買一個硬體裝置就完成，而是讓錯誤不容易發生、損失範圍有限、事後能追查。</a:t>
            </a:r>
          </a:p>
        </p:txBody>
      </p:sp>
    </p:spTree>
    <p:extLst>
      <p:ext uri="{BB962C8B-B14F-4D97-AF65-F5344CB8AC3E}">
        <p14:creationId xmlns:p14="http://schemas.microsoft.com/office/powerpoint/2010/main" val="18850291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07281-8B41-4A5C-B847-93E4F787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DE6C4-5A5E-4C2A-89A4-A493AD67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E5416-53A2-4838-87F4-A0DD72FB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6FF44-CE17-4C98-8382-250147A6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8690C-CF47-448E-AA3D-53E4F2FB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B4ECF-1405-4135-98A9-68096C8C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C1793-ABC2-4EFC-B288-291C959F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430C2-F14C-4E56-A1CA-3960B0F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C8EA1-EBE0-4C85-BE03-763289FF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C7636-AD01-4638-B30C-F88C1601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F31A8-AC1B-43F5-A0F8-09F29646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Unlimited approval主要風險？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9C6F4-C215-4F46-A9D3-4C918D1E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永久免費　B 合約可能持續動用代幣　C 無法交易　D 地址消失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32845-1951-4E0E-81BD-1B45C298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DE0CB-75FB-402E-9008-4434E5BD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答案：B。授權範圍過大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094E6-1890-4A18-A412-BEF2B0EF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多簽能自動防止勾結嗎？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5C57D-DE5E-4C28-A062-F0A9D62E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能　B 不能　C 金鑰越少越能　D 不需治理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7FC53-2580-4C64-A93A-051793FF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29F02-F520-432F-98ED-1F71FC87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答案：B。仍需角色與門檻設計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B4432-0AD4-4A36-BC57-E3B8948F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MPC主要分散什麼？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151BB-991C-4312-AF6F-84682B8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幣價　B 簽署能力或金鑰分片　C 區塊高度　D 交易平台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05000-4EFD-4A61-A578-076F5661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F1C31-AAF9-46CB-B391-4D87E912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答案：B。降低完整私鑰暴露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34B97-DEE6-4A07-AFC0-ADAD5F4B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觀察錢包能轉帳嗎？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07D2E0-E4B1-4DE7-907C-BFBE8DE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能　B 不能，沒有簽署權　C 一定能挖礦　D 只在銀行能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60695-899B-40FB-A7A9-CE5206B7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7BA4E0-BC19-4F36-B75C-7E89B71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答案：B。只能查詢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BEDBD9-637F-4A53-B375-1FCD6E58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已確認鏈上交易通常可撤回嗎？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7B1E1-63A0-44B8-94D2-7032321B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可　B 不可　C 客服一定可　D 換App即可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1FBA98-5F59-4559-B3CF-E0941DE6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EC16B3-32FF-4756-8DBC-6C90DEFD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答案：B。須在簽署前核對</a:t>
            </a:r>
          </a:p>
        </p:txBody>
      </p:sp>
    </p:spTree>
    <p:extLst>
      <p:ext uri="{BB962C8B-B14F-4D97-AF65-F5344CB8AC3E}">
        <p14:creationId xmlns:p14="http://schemas.microsoft.com/office/powerpoint/2010/main" val="3544847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5B217-CF60-42AC-83B7-2F368E53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20801-C9B3-4F2C-A2E8-0AC04147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機構保管的核心是控制、紀錄與客戶權利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A9007-96B9-4FD2-8488-2CF429C1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CB608-E345-4379-B1AB-EFC37899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B6D5D-8E83-4C3C-9F7A-E381695A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213BB-6281-4EB7-923D-FF696791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28A5C-70C5-4356-A4AC-E7D0388B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資產隔離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C9D4B-0051-49C6-8F08-3B5C0B28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客戶資產與自有資產分開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A9AE6-1849-4A26-9559-F7EE4F41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3A742-5BA7-45F8-8C12-B2DF0C59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金鑰治理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F674F-2A79-45B9-8C73-F31C38E0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產生、保存、使用、輪替與銷毀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E9933-A4AB-4F23-86BE-BD2EA9A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33D76-C501-46C6-AD9F-7275418A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B4C16-22B6-43AC-A68A-1A749615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白名單、限額、多人核准與監控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A1995-42AF-4350-A41C-E9AD1FB0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14314-8E62-48EA-8A77-7C73C00E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權益保障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83631-9C2F-4A93-A0B8-7570D322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對帳、紀錄、事件處理與返還安排</a:t>
            </a:r>
          </a:p>
        </p:txBody>
      </p:sp>
    </p:spTree>
    <p:extLst>
      <p:ext uri="{BB962C8B-B14F-4D97-AF65-F5344CB8AC3E}">
        <p14:creationId xmlns:p14="http://schemas.microsoft.com/office/powerpoint/2010/main" val="3912419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2B238-CBE1-423D-84CD-B6D40359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00709-3074-403F-B976-79802B31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冷熱錢包配置是在流動性與安全間取捨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F6E7F-7258-45B0-8807-4D51C07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B522F-8557-413A-81C2-B7A28C00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552D1-55BB-469E-B9CA-185543B5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F253F-B5E6-4916-B90F-F91A5BF4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D508F-D3C7-4556-9F51-69369948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38278-358C-4878-95B6-D3D41A7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熱端需求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22157-1B21-4808-B8FD-C1905D7E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支援即時提款與日常交易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需設定限額、監控及自動補充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暴露面高，部位宜受控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異常時要能立即停止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348EC-E881-4575-8FC6-E1D43B15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冷端需求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5879F-01DF-484E-B3E1-A6F4F91C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保存大部分客戶資產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離線、多地、多人程序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調撥較慢且成本較高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定期盤點並驗證可復原</a:t>
            </a:r>
          </a:p>
        </p:txBody>
      </p:sp>
    </p:spTree>
    <p:extLst>
      <p:ext uri="{BB962C8B-B14F-4D97-AF65-F5344CB8AC3E}">
        <p14:creationId xmlns:p14="http://schemas.microsoft.com/office/powerpoint/2010/main" val="14739818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9788D-20C0-421A-93BA-BC2EC3CC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63209-E6FF-4252-9133-9E471AE1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2026年臺灣冷錢包比例依計算方式設定底線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C114E-5E78-4638-B640-249B3A4E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6FB59-96AE-4C65-91CA-7F5DD458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3C428-DAAD-427D-8BDE-2EC5D627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D4F4C-7227-4DF2-AB48-026EBBCD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28293-12BA-489B-BC1A-17C8877E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7B861-587B-436B-ABEB-BE6134C3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以客戶總市值計算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4E540-3F06-4CE4-ACF6-5E309D0E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冷錢包不得低於85%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熱錢包不得高於15%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比例隨市場價格變動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需持續監測與調撥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63C2E-C1DB-47BF-BAC1-E0499707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以個別資產數量計算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D2833-C388-48A0-9777-BD9831E5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冷錢包不得低於75%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熱錢包不得高於25%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逐項管理不同資產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仍需完整政策與紀錄</a:t>
            </a:r>
          </a:p>
        </p:txBody>
      </p:sp>
    </p:spTree>
    <p:extLst>
      <p:ext uri="{BB962C8B-B14F-4D97-AF65-F5344CB8AC3E}">
        <p14:creationId xmlns:p14="http://schemas.microsoft.com/office/powerpoint/2010/main" val="2380153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A5BB6-6F46-49B9-B8A3-7D21EFE5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CC0F3-F5CB-419F-94A0-C171EC8F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帳務、鏈上餘額與客戶權益必須持續對帳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67AE3-5EAF-4DE0-BE05-24F3612E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E85B4-D826-41B1-8AEC-90963A56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289D0-CE6E-4524-B47C-0CD258D2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35427-9F9D-4643-82C3-AB418559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1AAD9-C4CD-4A31-82FF-9302012F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鏈上盤點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35861-DC5A-40A4-8C27-AE58AA68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確認各地址與網路的實際餘額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7DE13-0CC6-4755-B75A-8BA24038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9AAB5-74EB-4973-8684-E922E952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客戶分戶帳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6A21E-7ABD-4E64-BCCA-762AF8BA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記錄每位客戶資產與異動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0A3E2-C658-4262-9A0D-044C579A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0781C-7BEB-41BD-BFA8-567D2150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總分核對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4633B-221C-46F0-ACC9-895AFAC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分戶合計、內部總帳與鏈上資產一致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06D7F-21BC-4247-AE69-50D891EC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4D70C-192E-4011-A2FE-309959FD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差異處理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46A16-79A1-4DB0-BC7B-A4FFA490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即時調查、升級通報與更正紀錄</a:t>
            </a:r>
          </a:p>
        </p:txBody>
      </p:sp>
    </p:spTree>
    <p:extLst>
      <p:ext uri="{BB962C8B-B14F-4D97-AF65-F5344CB8AC3E}">
        <p14:creationId xmlns:p14="http://schemas.microsoft.com/office/powerpoint/2010/main" val="18774856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88E9F-420E-4F85-A9B2-7D213598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51864-5E0B-44EC-82DA-D1379EB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儲備證明有訊息價值，但不能取代完整查核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D99ED-1549-4772-934B-6DFC8BB0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47CDF-DC15-4C9B-9F39-9288898B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46AED-A30B-4611-9D75-70D29DBA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E9287-7DE7-4723-A50B-8EF0FD4A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675E4-4BFB-4424-9648-BABA0889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3F58D-2CF9-4DD9-B3AB-0E03CD14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可能證明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66528-81BC-4554-A86E-2AD2FDED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特定時點控制部分鏈上資產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客戶負債可用Merkle結構彙總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外部觀察者可驗證部分資料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提高揭露與監督壓力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B6A25-36A1-4934-B61F-7DC4F46C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不能單獨證明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E588F-ED69-4A9B-8839-DA76EAD2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沒有隱藏負債或借入資產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資產可自由支配且未設質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公司具持續經營能力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內控、治理與法遵都健全</a:t>
            </a:r>
          </a:p>
        </p:txBody>
      </p:sp>
    </p:spTree>
    <p:extLst>
      <p:ext uri="{BB962C8B-B14F-4D97-AF65-F5344CB8AC3E}">
        <p14:creationId xmlns:p14="http://schemas.microsoft.com/office/powerpoint/2010/main" val="15888897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8FED8-AD13-4440-8FDB-F3592C43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88DF1-82C4-432B-AF5F-BBDE1ADB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非託管錢包仍會進入VASP的風險管理範圍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4B61D-F1BA-48F9-AFC3-1C5365A4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79976-805B-4820-AC16-EF693C9D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A3838-811E-4933-8E41-D496A276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B987E-1A3E-405F-B6C2-F6AE82D1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BE211-E61A-41E7-AE7A-CD27D40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67373-C0E9-4BCE-A684-0C55AAD8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合規關切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81DE3-7032-4343-BD2C-82663E04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交易對手未由另一VASP管理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難直接取得發送人或受益人資訊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需評估洗錢、制裁與詐欺風險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可能要求額外查核或限制交易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FB5BE-CECD-41C8-9D99-FB09640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不可簡化成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16D5C-C453-44AF-90BD-46BBEA5C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非託管等於非法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鏈上分析能確認真實身分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地址風險分數永遠正確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一律禁止即可消除風險</a:t>
            </a:r>
          </a:p>
        </p:txBody>
      </p:sp>
    </p:spTree>
    <p:extLst>
      <p:ext uri="{BB962C8B-B14F-4D97-AF65-F5344CB8AC3E}">
        <p14:creationId xmlns:p14="http://schemas.microsoft.com/office/powerpoint/2010/main" val="18247420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48F69-3BA1-44AD-9F90-319547AA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5D6AB-9FE7-4101-8DAD-0DDD3F8C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個人選錢包要檢查六個面向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3F097-6FA8-47D6-9F3D-61DD953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25A3C-09D4-4EEC-9E6C-80412567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A1546-201B-4842-88FC-341E8D03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58F3D-477C-4E8C-9032-088DEBEF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0059F-48E5-4FD4-BCC9-65FB6D8F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控制權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B351C-244B-45AD-9475-C8367946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誰握私鑰，能否匯出與復原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E88E8-78C1-4382-B5AB-CDD43F42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E32D4-5C52-490B-8078-EDDB3AC1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7CCD3-7389-4E60-BB2D-114CC655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開源、稽核、硬體支援與更新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980D7-2AE6-4225-93F5-9F81635E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5DF94-7118-4FFD-9E68-1C8D6BC1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相容性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C6210-DBF3-43F6-A3BB-FA9D3DAC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支援的鏈、資產、DApp與標準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18D0C-90BE-421C-8C11-217EDBCE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C8BEC-72C4-4019-A2D1-15B25258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服務品質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1021B-C6D2-4D5D-8607-5430FFFE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費用、客服、教育與存續能力</a:t>
            </a:r>
          </a:p>
        </p:txBody>
      </p:sp>
    </p:spTree>
    <p:extLst>
      <p:ext uri="{BB962C8B-B14F-4D97-AF65-F5344CB8AC3E}">
        <p14:creationId xmlns:p14="http://schemas.microsoft.com/office/powerpoint/2010/main" val="20302706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C80AC-9540-4DF4-A969-A9C88E1A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9C459-548D-4B05-9248-4A5FF0B8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企業選保管商要把承諾轉成可稽核控制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39E48-9C57-411E-AC85-400F9013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86FC7-1EA8-463C-AF2D-617FFD65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C332A-4675-4A91-8E6F-13A45037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B1EF4-CE22-4475-A33B-23984615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870C7-67FB-41D8-B8A4-2DB963D7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技術證據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8DA00-5F9B-4495-B3AE-14B48BB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架構、HSM／MPC、多簽與測試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66E7F-1902-4E7C-B1AA-8A66D7EE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42DD1-506F-4488-85CB-7D2ACFE5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A15CC-3318-4291-8D61-9926C2BC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SLA、事故、復原與人員背景查核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AB6BC-5A82-4A0A-A179-D9CEAFC0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C4978-D999-4108-9A24-C80B58FC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財務法律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12AD6-C449-469D-B406-D00280B7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保險、資產隔離、破產與返還權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FD05D-4A4C-4BE8-93F4-C399C245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AFC42-F763-4B95-A742-4A431610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退出能力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55A70-5D0D-4710-9F2E-3997619D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資產移轉、資料匯出與合約終止</a:t>
            </a:r>
          </a:p>
        </p:txBody>
      </p:sp>
    </p:spTree>
    <p:extLst>
      <p:ext uri="{BB962C8B-B14F-4D97-AF65-F5344CB8AC3E}">
        <p14:creationId xmlns:p14="http://schemas.microsoft.com/office/powerpoint/2010/main" val="8865306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C50A8-B187-4F69-A37D-B16F04F6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4A9E6-7A04-49E1-B1F6-EB8BEC25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情境決策：高淨值客戶的資產該如何配置？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0C82A-05FA-461A-BA83-E371C799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BD451-31EE-4C44-86F5-E0498B1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A673B-4B64-4246-BE2A-169F7478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6C73B-DA40-4A0D-9276-06DA9973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4D0E0-9A34-4123-A3B5-AB789D1A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65647-505D-4E4D-9973-AE026FC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需求與限制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D3ED9-4112-400F-A3E2-51C4CC6C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長期持有為主、偶爾交易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需要客服與繼承安排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不熟悉自行保存助記詞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在意平台與資安風險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796F3-5B58-416E-AE86-267F6E5B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可討論方案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93951-7735-41B8-868A-5CB0D094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少量熱錢包支應交易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大額由合規機構冷端保管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多人核准與提款白名單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定期對帳並準備替代保管商</a:t>
            </a:r>
          </a:p>
        </p:txBody>
      </p:sp>
    </p:spTree>
    <p:extLst>
      <p:ext uri="{BB962C8B-B14F-4D97-AF65-F5344CB8AC3E}">
        <p14:creationId xmlns:p14="http://schemas.microsoft.com/office/powerpoint/2010/main" val="20910093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477AE-47AC-4413-BAB5-91EBEE38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第三節｜保管服務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F2B6B-14FD-4B7A-B4D9-B4EAE4C7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本週結論：錢包選擇就是責任與風險的配置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A5D11-D5F3-42AE-ACD8-A1D251C0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C840C-0C78-4602-87D0-2EB690B6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14｜第三節｜保管服務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2EFE1-9C18-407F-AE28-1238A62B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4AD23-5E13-4EFA-AE3A-84548A73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先問誰能簽、誰能復原、誰負責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D6029-4006-4340-8747-91112DFE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個人要理解私鑰、助記詞、網路與授權；機構還要建立資產隔離、多人控制、對帳、監控、法遵與退出機制。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4E325-5B6E-4D9A-A692-E9F0BE94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56CB2-AF62-44B3-B9E3-1040E712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509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便利、安全與自主無法同時最大化。依金額、頻率、能力和監理要求分層配置，才是成熟的錢包策略。</a:t>
            </a:r>
          </a:p>
        </p:txBody>
      </p:sp>
    </p:spTree>
    <p:extLst>
      <p:ext uri="{BB962C8B-B14F-4D97-AF65-F5344CB8AC3E}">
        <p14:creationId xmlns:p14="http://schemas.microsoft.com/office/powerpoint/2010/main" val="137303480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201541-EA12-4055-BAFF-A5AF9E55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E744E-D94F-429A-BC01-DCCD15CC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B14CC-EAD0-412E-8B58-77DD4B32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70BC7-7BBF-4A10-AA67-338036A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32A1A-E1D5-4B4F-ADE5-870762EC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20F80-A2D5-4018-A325-B778CB5E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54564-98DF-4CD8-886D-94B265F7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63E73-4E72-40E2-8940-0FA31011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2862A-C057-4139-9040-13B157FC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14｜第三節｜快問快答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E6398-13BF-483F-998C-37E4734E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4F8DD-707D-4C0B-93CA-216D410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保管商最核心責任？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0785C-2DAA-4C2F-B467-B7A44E73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顯示幣價　B 安全控制資產並維護客戶權益　C 發文　D 保證獲利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4272A-5BFA-4C65-9008-01593D7F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E95EB-1A73-4CED-A179-A8C778BC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答案：B。控制、紀錄與返還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CC1CF-9FC5-4E7E-A648-73405D63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2026臺灣以總市值計算的冷錢包下限？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AC606-4A46-4C89-B1A5-CBA7503C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15%　B 50%　C 85%　D 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A775E-73D7-48D6-AC72-E3224BB4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E3A2E-A05B-4CA5-BA08-1779E485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答案：C。不得低於85%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5C722-C5B9-4248-8D61-0B95FCA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儲備證明能證明沒有隱藏負債嗎？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DAE42-7FF9-40AC-9568-D5775F07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一定能　B 不能單獨證明　C 有地址就能　D 有Merkle就能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331B3-20A9-4DCC-B1A3-BBBCD1C5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9D5AB-4B5F-4339-B360-351C75D7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答案：B。需搭配完整查核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E942E-8B8A-43E2-9FFC-1E0AFBF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非託管錢包等於非法嗎？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24117-3B09-469A-8E4A-3F94A960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否，應依風險管理　C 只有硬體合法　D 只有銀行合法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2AB35-8E82-4860-9DB6-C63EC430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E0AB0-2176-4C47-90D0-130F932D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答案：B。需相稱的風險措施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68A06-3AFE-4C77-A753-34C4AD1D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成熟錢包策略依據？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30A71-0CE7-481B-A005-41CCDBF5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熱門排名　B 金額、頻率、能力與責任　C 顏色　D 免費空投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20D718-7DDD-40ED-AD95-ECE9018E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AD5075-AA04-4355-BBBC-D7FC0216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答案：B。分層配置風險</a:t>
            </a:r>
          </a:p>
        </p:txBody>
      </p:sp>
    </p:spTree>
    <p:extLst>
      <p:ext uri="{BB962C8B-B14F-4D97-AF65-F5344CB8AC3E}">
        <p14:creationId xmlns:p14="http://schemas.microsoft.com/office/powerpoint/2010/main" val="23776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2026-09-03T08:23:07.4620000Z</dcterms:created>
  <dcterms:modified xsi:type="dcterms:W3CDTF">2026-09-03T08:23:07.4620000Z</dcterms:modified>
</coreProperties>
</file>