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以舊教材的公開帳本與交易故事為基礎，改以金融管理學生可掌握的交易授權問題切入。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把公開帳本故事轉成三項需求：授權、完整性與防止重複支付。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不做數學運算，只要求學生理解資料完整性用途。</a:t>
            </a:r>
          </a:p>
          <a:p>
            <a:endParaRPr/>
          </a:p>
          <a:p>
            <a:r>
              <a:t>[Sources]</a:t>
            </a:r>
          </a:p>
          <a:p>
            <a:r>
              <a:t>- https://nvlpubs.nist.gov/nistpubs/ir/2018/NIST.IR.8202.pdf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用風險語言說明：是計算上難以做到，不是邏輯上絕對不可能。</a:t>
            </a:r>
          </a:p>
          <a:p>
            <a:endParaRPr/>
          </a:p>
          <a:p>
            <a:r>
              <a:t>[Sources]</a:t>
            </a:r>
          </a:p>
          <a:p>
            <a:r>
              <a:t>- https://nvlpubs.nist.gov/nistpubs/ir/2018/NIST.IR.8202.pdf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提醒：錢包保存的核心通常是控制金鑰的能力，不是把代幣檔案存入手機。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簽章不能單獨保證簽署者的法定姓名，也不能保證交易目的合法。</a:t>
            </a:r>
          </a:p>
          <a:p>
            <a:endParaRPr/>
          </a:p>
          <a:p>
            <a:r>
              <a:t>[Sources]</a:t>
            </a:r>
          </a:p>
          <a:p>
            <a:r>
              <a:t>- https://bitcoin.org/bitcoin.pdf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地址與真實身分的連結，通常需要KYC、調查或其他鏈下資料。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區分鏈上資產紀錄與錢包工具；後續託管單元再深入自託管與第三方託管。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以Ethereum交易定義補充：交易是由帳戶發起、經密碼學簽署的指令。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https://ethereum.org/developers/docs/transactions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保留舊教材找零交易的概念，補入帳戶模型，避免把Bitcoin設計當成所有鏈的共同做法。</a:t>
            </a:r>
          </a:p>
          <a:p>
            <a:endParaRPr/>
          </a:p>
          <a:p>
            <a:r>
              <a:t>[Sources]</a:t>
            </a:r>
          </a:p>
          <a:p>
            <a:r>
              <a:t>- https://developer.bitcoin.org/reference/transactions.html</a:t>
            </a:r>
          </a:p>
          <a:p>
            <a:r>
              <a:t>- https://ethereum.org/developers/docs/transactions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不同節點的mempool可能不同；手續費與網路狀況會影響被選取時間。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https://ethereum.org/developers/docs/consensus-mechanisms/pos/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驗證規則依鏈而異；正確格式不等於經濟活動合法。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舊教材只描述礦工；新版改成出塊者，涵蓋PoW礦工與PoS驗證者等不同角色。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入門層次只理解用途，不要求建立Merkle tree或計算。</a:t>
            </a:r>
          </a:p>
          <a:p>
            <a:endParaRPr/>
          </a:p>
          <a:p>
            <a:r>
              <a:t>[Sources]</a:t>
            </a:r>
          </a:p>
          <a:p>
            <a:r>
              <a:t>- https://bitcoin.org/bitcoin.pdf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區塊欄位因網路而異，不把Bitcoin格式誤當成唯一標準。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https://ethereum.org/developers/docs/blocks/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共識不是讓所有人對所有事情意見一致，而是就帳本狀態依規則形成一致。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舊教材以PoW挖礦為主；新版補入Ethereum已採PoS的現況，但詳細比較留到後續共識單元。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https://ethereum.org/developers/docs/consensus-mechanisms/pos/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金融作業須依資產、鏈與風險設定確認門檻，不可把『上鏈』直接等同不可逆。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https://ethereum.org/developers/docs/consensus-mechanisms/pos/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請學生指出每個階段的主要責任者與可能失敗原因。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公有、私有、聯盟、無許可與許可描述不同面向，不宜全部混為一組二分法。</a:t>
            </a:r>
          </a:p>
          <a:p>
            <a:endParaRPr/>
          </a:p>
          <a:p>
            <a:r>
              <a:t>[Sources]</a:t>
            </a:r>
          </a:p>
          <a:p>
            <a:r>
              <a:t>- https://nvlpubs.nist.gov/nistpubs/ir/2018/NIST.IR.8202.pdf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金融情境不能只問公有或私有，必須把權限拆開分析。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用『假名』而非『匿名』描述多數公開區塊鏈較準確。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連結後續錢包與託管單元；本週先建立風險辨識。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把oracle problem與真實世界資料風險留作後續應用單元的伏筆。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金融管理學生應以控制組合評估風險，而不是只看鏈本身是否被稱為安全。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只建立分層觀念，不深入rollup協議；避免學生用2009年的單鏈模型理解所有當代系統。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https://ethereum.org/roadmap/scaling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這五問把技術流程轉成金融管理與風險分析工具。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A00A346-1005-4094-A5BB-2AC04C5ACEB0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6667"/>
          </a:bodyPr>
          <a:lstStyle/>
          <a:p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43A191-897B-4856-9F60-E66D09A386D2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0287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2</a:t>
            </a:r>
          </a:p>
          <a:p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區塊鏈如何運作？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8EC250-14F7-4124-96F9-A352CC0FCF14}"/>
              </a:ext>
            </a:extLst>
          </p:cNvPr>
          <p:cNvSpPr>
            <a:spLocks noGrp="1"/>
          </p:cNvSpPr>
          <p:nvPr/>
        </p:nvSpPr>
        <p:spPr>
          <a:xfrm>
            <a:off x="419100" y="4619625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從交易授權、區塊形成到共同確認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816347-26A6-49B3-BB5C-39CB65D5148C}"/>
              </a:ext>
            </a:extLst>
          </p:cNvPr>
          <p:cNvSpPr>
            <a:spLocks noGrp="1"/>
          </p:cNvSpPr>
          <p:nvPr/>
        </p:nvSpPr>
        <p:spPr>
          <a:xfrm>
            <a:off x="419100" y="59817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5758"/>
          </a:bodyPr>
          <a:lstStyle/>
          <a:p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第一節：交易為什麼可以被驗證</a:t>
            </a:r>
          </a:p>
        </p:txBody>
      </p:sp>
    </p:spTree>
    <p:extLst>
      <p:ext uri="{BB962C8B-B14F-4D97-AF65-F5344CB8AC3E}">
        <p14:creationId xmlns:p14="http://schemas.microsoft.com/office/powerpoint/2010/main" val="695088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90FC2EA-F395-47D7-9A87-C68B0B5CE987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C27EDB-A027-4FA8-B15A-D0FDD937F25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共享帳本先要回答：誰有權改變資產狀態？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756075-001A-4189-9709-5E126C6C5F8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F6518B-07E1-40CA-B8E9-204F454C7653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064321-AF78-432B-9D26-87851B56AEF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8393C1-B395-43AA-9F0C-CD27CDD3488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2E8475-2937-4DF5-AD89-BF2B316F58A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4E3779-B242-4D5C-89A0-94C1B4C4D4D9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一筆轉帳包含兩件事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1BF397-6CA6-4FCA-BDA1-E641D83661AA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帳本狀態要改變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發起人必須證明已授權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A86FE9-01F3-4EE6-B430-E2F30E4E09A8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不能只相信一個名字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61D002-879B-4977-8740-90BCA7619255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姓名可以冒用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訊息可能被竄改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同一筆資產可能被重複使用</a:t>
            </a:r>
          </a:p>
        </p:txBody>
      </p:sp>
    </p:spTree>
    <p:extLst>
      <p:ext uri="{BB962C8B-B14F-4D97-AF65-F5344CB8AC3E}">
        <p14:creationId xmlns:p14="http://schemas.microsoft.com/office/powerpoint/2010/main" val="25315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7340263-F2AB-4B8B-9CCD-51E874148E5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05FB56-FCD2-447C-873D-37C7D6877E08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雜湊把資料轉成可比較的數位指紋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A92AE-7934-413F-AE94-0141880B3674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C097D0-86D2-4F6D-9CCD-E8FD71266A6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C19BB3-B66E-4A30-A44E-B1A05783D6A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6862F9-EB35-400E-B75D-D4FC6C5351BF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278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雜湊函數的直覺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896A8A-C61A-4372-A03E-008BAA4DCBAD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相同輸入會得到相同摘要；輸入只改一點，摘要通常就完全不同。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84DC92-0D34-4912-BE2D-2252F418EF0B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98ACC5-5FEA-49D8-AC25-CCD7B9A62395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它適合檢查資料是否改變，不是把內容加密後再解密。</a:t>
            </a:r>
          </a:p>
        </p:txBody>
      </p:sp>
    </p:spTree>
    <p:extLst>
      <p:ext uri="{BB962C8B-B14F-4D97-AF65-F5344CB8AC3E}">
        <p14:creationId xmlns:p14="http://schemas.microsoft.com/office/powerpoint/2010/main" val="101830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DD825E2-F5E0-48A2-B37D-2E71A39AE3F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100700-0884-4B5D-9E8E-95C9F7EFD11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好的密碼學雜湊具有三項實務特性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9E6D3B-C58B-4514-9C98-A5F87111B4D7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21DB85-4773-4729-B682-57A1888202F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141EFF-F4D8-4464-9D5D-617BC490A7A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E9BA9F-5922-49E6-A2BE-47F49B9B0F2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949945-84F3-4276-99D5-BE71D5FFAA25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單向性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E2BB89-1474-42EE-8991-0F417FA0B04E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從摘要反推原始資料非常困難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251FEF-F17C-4B74-BA77-E4BA8E43023E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25A7CD-9E8D-459B-B75B-A42D88B23C62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抗第二原像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0D84B9-736E-4BB8-8D24-6C19CF822847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難以替指定資料找出相同摘要的另一份資料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7B9C04-46A9-458A-B83D-7A6D2863F299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D5C986-003D-44C8-8A9E-957DBF5F8EF3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抗碰撞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FE521E-E8C6-4F70-8C38-61D3D82B34C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難以找到兩份不同資料卻具有相同摘要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A2A0A4-A844-4F43-A2B8-FAADEF020916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D18EDD-9177-47D3-8593-60F2C1B88220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固定長度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86EBDD-566C-41A4-931A-EB908D882413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無論輸入多長，輸出摘要長度固定</a:t>
            </a:r>
          </a:p>
        </p:txBody>
      </p:sp>
    </p:spTree>
    <p:extLst>
      <p:ext uri="{BB962C8B-B14F-4D97-AF65-F5344CB8AC3E}">
        <p14:creationId xmlns:p14="http://schemas.microsoft.com/office/powerpoint/2010/main" val="32199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83FEA38-223B-4258-81B8-F8E4734187D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A5743C-23E7-4CD3-ABCF-4426E8BA731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公鑰與私鑰分工：公開驗證，私下授權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24BEDA-6E21-4D91-8D73-EEEE48D2941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7A1EC7-73BC-4295-A910-A4AC9532669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E1CFD9-5EAD-414B-B720-EB14748EFE4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3127B9-B739-4E56-BA0D-4C7F11D1367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44051E-FFF6-49A0-9D5F-B9E9A9FB11C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F7ECD4-B550-4F79-AFA3-B221E89E42AC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私鑰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6E9249-A746-407D-B4AF-1E3A43F47BEF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由持有人保密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用來產生數位簽章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外洩可能造成未授權交易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1405BF-20DE-4D8F-9D2D-B8589E479801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EA57AF-212A-4D8E-8D8A-651436B46E7B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可以提供他人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用來驗證簽章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可衍生或連結到鏈上地址</a:t>
            </a:r>
          </a:p>
        </p:txBody>
      </p:sp>
    </p:spTree>
    <p:extLst>
      <p:ext uri="{BB962C8B-B14F-4D97-AF65-F5344CB8AC3E}">
        <p14:creationId xmlns:p14="http://schemas.microsoft.com/office/powerpoint/2010/main" val="54391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AC623BF-60B7-41BA-A155-614235B6BA45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DBF81C-46E4-4285-A9D3-3F15F8E8486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數位簽章同時保護授權與訊息完整性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A24E0F-D872-4901-9AD8-58A93FC6F0D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FA7859-09B3-410B-8E41-76E03BE54B58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389BD0-AD2A-40DF-84AD-ACCBF6BAA8F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F48E99-52F3-4F5F-9341-3EFBD145C061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4D31B2-D552-4C1E-A21D-A7A8421068C2}"/>
              </a:ext>
            </a:extLst>
          </p:cNvPr>
          <p:cNvSpPr>
            <a:spLocks noGrp="1"/>
          </p:cNvSpPr>
          <p:nvPr/>
        </p:nvSpPr>
        <p:spPr>
          <a:xfrm>
            <a:off x="4724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188664-8E54-4EA6-BECD-FA7DBD07FAFC}"/>
              </a:ext>
            </a:extLst>
          </p:cNvPr>
          <p:cNvSpPr>
            <a:spLocks noGrp="1"/>
          </p:cNvSpPr>
          <p:nvPr/>
        </p:nvSpPr>
        <p:spPr>
          <a:xfrm>
            <a:off x="7010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AB7B03-D8B1-44E4-81A1-2CBE590BC999}"/>
              </a:ext>
            </a:extLst>
          </p:cNvPr>
          <p:cNvSpPr>
            <a:spLocks noGrp="1"/>
          </p:cNvSpPr>
          <p:nvPr/>
        </p:nvSpPr>
        <p:spPr>
          <a:xfrm>
            <a:off x="9296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68C4E3-8459-4518-97E4-86EB9C825552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BCC6EB-24E8-4194-9D9A-F9539310BE54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E06DC-8ADD-48F4-8484-EAEC8C1CE4AD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建立交易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0A4DBB-5B05-45E7-B420-8C80079DC564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填入接收者與金額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304ED2-DBCA-4865-8BD8-3B21A6B2E14C}"/>
              </a:ext>
            </a:extLst>
          </p:cNvPr>
          <p:cNvSpPr>
            <a:spLocks noGrp="1"/>
          </p:cNvSpPr>
          <p:nvPr/>
        </p:nvSpPr>
        <p:spPr>
          <a:xfrm>
            <a:off x="2705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C1E154-CA80-45C8-952C-EE73141633F0}"/>
              </a:ext>
            </a:extLst>
          </p:cNvPr>
          <p:cNvSpPr>
            <a:spLocks noGrp="1"/>
          </p:cNvSpPr>
          <p:nvPr/>
        </p:nvSpPr>
        <p:spPr>
          <a:xfrm>
            <a:off x="2876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C43E38-21F3-493B-99D6-A4C43710DB31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產生摘要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3AB7D1-D65E-4DD7-A941-D1F0AAF8BE8E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對交易內容計算雜湊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828B5C-F281-4B4D-93E9-315E1A44CE10}"/>
              </a:ext>
            </a:extLst>
          </p:cNvPr>
          <p:cNvSpPr>
            <a:spLocks noGrp="1"/>
          </p:cNvSpPr>
          <p:nvPr/>
        </p:nvSpPr>
        <p:spPr>
          <a:xfrm>
            <a:off x="4991100" y="2143125"/>
            <a:ext cx="2019300" cy="2476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31BB09-8ABD-4004-9C5F-E717DE5958E9}"/>
              </a:ext>
            </a:extLst>
          </p:cNvPr>
          <p:cNvSpPr>
            <a:spLocks noGrp="1"/>
          </p:cNvSpPr>
          <p:nvPr/>
        </p:nvSpPr>
        <p:spPr>
          <a:xfrm>
            <a:off x="5162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A83678-8D8E-4D2C-A350-E41BEB94490C}"/>
              </a:ext>
            </a:extLst>
          </p:cNvPr>
          <p:cNvSpPr>
            <a:spLocks noGrp="1"/>
          </p:cNvSpPr>
          <p:nvPr/>
        </p:nvSpPr>
        <p:spPr>
          <a:xfrm>
            <a:off x="5162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私鑰簽署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4409C9-7D0B-471F-A05D-45FF0D50E8C7}"/>
              </a:ext>
            </a:extLst>
          </p:cNvPr>
          <p:cNvSpPr>
            <a:spLocks noGrp="1"/>
          </p:cNvSpPr>
          <p:nvPr/>
        </p:nvSpPr>
        <p:spPr>
          <a:xfrm>
            <a:off x="5162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產生專屬簽章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DED5DE-D7EA-4888-8EEE-57232EF47454}"/>
              </a:ext>
            </a:extLst>
          </p:cNvPr>
          <p:cNvSpPr>
            <a:spLocks noGrp="1"/>
          </p:cNvSpPr>
          <p:nvPr/>
        </p:nvSpPr>
        <p:spPr>
          <a:xfrm>
            <a:off x="7277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FC76C1-10BD-46FE-845A-7F0479D45AB8}"/>
              </a:ext>
            </a:extLst>
          </p:cNvPr>
          <p:cNvSpPr>
            <a:spLocks noGrp="1"/>
          </p:cNvSpPr>
          <p:nvPr/>
        </p:nvSpPr>
        <p:spPr>
          <a:xfrm>
            <a:off x="7448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E9D589-E5FF-4842-8425-45B5AC4094C6}"/>
              </a:ext>
            </a:extLst>
          </p:cNvPr>
          <p:cNvSpPr>
            <a:spLocks noGrp="1"/>
          </p:cNvSpPr>
          <p:nvPr/>
        </p:nvSpPr>
        <p:spPr>
          <a:xfrm>
            <a:off x="7448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網路驗證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AFF44D-0B95-4317-9B47-49602637A74A}"/>
              </a:ext>
            </a:extLst>
          </p:cNvPr>
          <p:cNvSpPr>
            <a:spLocks noGrp="1"/>
          </p:cNvSpPr>
          <p:nvPr/>
        </p:nvSpPr>
        <p:spPr>
          <a:xfrm>
            <a:off x="7448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用公鑰檢查簽章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DC84B6-3AC9-4F92-B810-21B67A585529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69A60B-DD99-419B-823F-E828064BC25E}"/>
              </a:ext>
            </a:extLst>
          </p:cNvPr>
          <p:cNvSpPr>
            <a:spLocks noGrp="1"/>
          </p:cNvSpPr>
          <p:nvPr/>
        </p:nvSpPr>
        <p:spPr>
          <a:xfrm>
            <a:off x="9734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9C535EB-1AE8-4F8F-8B40-F94DBAE170CF}"/>
              </a:ext>
            </a:extLst>
          </p:cNvPr>
          <p:cNvSpPr>
            <a:spLocks noGrp="1"/>
          </p:cNvSpPr>
          <p:nvPr/>
        </p:nvSpPr>
        <p:spPr>
          <a:xfrm>
            <a:off x="9734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接受或拒絕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D4F31F-6DC8-4269-92B5-DC57CB9E22F2}"/>
              </a:ext>
            </a:extLst>
          </p:cNvPr>
          <p:cNvSpPr>
            <a:spLocks noGrp="1"/>
          </p:cNvSpPr>
          <p:nvPr/>
        </p:nvSpPr>
        <p:spPr>
          <a:xfrm>
            <a:off x="9734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符合規則才繼續處理</a:t>
            </a:r>
          </a:p>
        </p:txBody>
      </p:sp>
    </p:spTree>
    <p:extLst>
      <p:ext uri="{BB962C8B-B14F-4D97-AF65-F5344CB8AC3E}">
        <p14:creationId xmlns:p14="http://schemas.microsoft.com/office/powerpoint/2010/main" val="118951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F631BEF-80DF-4CA4-967C-6ABB8F431365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690C5A-7254-47FB-9FBE-7DB02E6C9AD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地址是鏈上識別碼，不等於真實世界姓名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BA277E-6560-46F0-B6D6-6CC490C6840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40C2DF-2F3C-4D55-A0AC-9635D2E78CB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3F6B77-C067-4D85-BF5D-25BEFDD1E51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2DE4D4-139F-4378-A129-E2B8F042BD6C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70AAA4-2B69-440F-A9A5-916555E26A1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B39886-AACF-47FA-9BC9-8B8C5C97D2D2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地址能做什麼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78A50-A9E5-4254-917A-BE3C8F40370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指定資產或訊息的接收位置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讓網路辨識交易對象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方便查詢鏈上紀錄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C5FD4F-5A8D-451E-8CF5-09C55F96FB3C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地址不能自動證明什麼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40B78D-4B85-4BD4-8C74-F5E6E5923346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持有者的法定身分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資金來源是否合法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地址背後是一人、多人或機構</a:t>
            </a:r>
          </a:p>
        </p:txBody>
      </p:sp>
    </p:spTree>
    <p:extLst>
      <p:ext uri="{BB962C8B-B14F-4D97-AF65-F5344CB8AC3E}">
        <p14:creationId xmlns:p14="http://schemas.microsoft.com/office/powerpoint/2010/main" val="916261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C2D8228-9F33-443B-8C00-BDE4DCE99B2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771C97-731C-4016-B2D5-A50A83A494E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錢包管理金鑰與交易，不是資產保險箱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6A8547-F950-494E-ADCD-64BA506BC6E7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738864-ADB6-483D-B2A4-5B0104E3C784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D73CFC-8033-41D9-B646-984E7B06CAE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9CACB2-6840-492E-8FFA-F7BB222D0F63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CB94F6-B1A2-47EA-B402-A42FF668CB63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建立與保存金鑰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9268E7-6A38-40B3-88E5-15F97ABD8018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產生或匯入控制帳戶的憑證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840B5-8253-476F-8D95-E328B85111C2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FA8594-3615-4334-95E1-D5F752740347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組成交易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FF77D8-4222-4E5C-A365-1CCC6DA222C8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協助填入金額、地址與費用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465915-B14D-44CC-9B48-0DACA8CC3145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610BA2-3942-4C0E-9102-00BBA17B83EE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簽署交易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39FC2A-E859-4A97-8FB4-345413C133A5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使用私鑰表達授權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BC83A6-5400-4C2E-AD55-61F5013EF064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E92992-A3C1-4D95-B0AE-F4054844D6B4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讀取鏈上狀態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12F1C6-E84E-44A9-8BE3-70B86FE34C6F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顯示餘額與交易紀錄</a:t>
            </a:r>
          </a:p>
        </p:txBody>
      </p:sp>
    </p:spTree>
    <p:extLst>
      <p:ext uri="{BB962C8B-B14F-4D97-AF65-F5344CB8AC3E}">
        <p14:creationId xmlns:p14="http://schemas.microsoft.com/office/powerpoint/2010/main" val="990089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C6FBE83-C921-4EAF-95E0-D1D3928A26BB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B71965-1AD6-444C-9996-E6C37E67C13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一筆交易是對共享狀態提出的變更指令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FD45F5-B38B-487E-BF2D-D47F173C169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2B869A-CFC9-4664-A297-E96EA487DA7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4DA96D-BC66-4B49-84AC-C81DEA2D7C6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1F98AF-DE94-4A45-A3F2-2B4421D0AF1A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8D1F99-EBAF-484A-9EF9-57D361374C22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8F4B24-D116-4F53-8382-85E717C15B9F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常見欄位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4283B8-D108-4599-B1F5-C22FB75A654B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發送與接收地址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資產數量或操作內容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順序資訊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手續費設定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數位簽章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1E215B-B214-49AC-9709-B2FBFDA89FDC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送出前要判斷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735ACC-85E6-4466-8170-E14491962B5C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地址是否正確？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餘額或可用輸出是否足夠？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簽章是否有效？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是否符合網路規則？</a:t>
            </a:r>
          </a:p>
        </p:txBody>
      </p:sp>
    </p:spTree>
    <p:extLst>
      <p:ext uri="{BB962C8B-B14F-4D97-AF65-F5344CB8AC3E}">
        <p14:creationId xmlns:p14="http://schemas.microsoft.com/office/powerpoint/2010/main" val="113482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5794E6B-3F8F-42D5-BBCD-0C09EB464DB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BA318F-6134-4242-A1D2-40178B8B85E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同一個轉帳結果，可以用兩種帳本模型表示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62A3E1-AECF-4E88-8AFD-2C60347094D4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7B9B7A-4A1D-4B9A-870B-8FFEF125460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0A1BBB-BAA6-4FF9-8E80-70740030BBD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A76949-55D0-4989-8A9F-9DE86FC15C3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358662-4F53-4D38-A67D-18C317D88049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E9D296-5608-42CB-A24E-AFE4F9FB302D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UTXO模型：像未使用票券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C4AC3-2518-48D9-8998-088B706F5522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交易花費既有輸出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產生給收款人的新輸出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剩餘金額形成找零輸出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代表：Bitcoin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6954A7-4835-4AD7-8FDC-91A969273743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帳戶模型：像餘額表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5796BF-D24E-4646-B7F2-C46081052740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直接更新帳戶狀態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使用nonce維持交易順序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可與合約帳戶互動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代表：Ethereum</a:t>
            </a:r>
          </a:p>
        </p:txBody>
      </p:sp>
    </p:spTree>
    <p:extLst>
      <p:ext uri="{BB962C8B-B14F-4D97-AF65-F5344CB8AC3E}">
        <p14:creationId xmlns:p14="http://schemas.microsoft.com/office/powerpoint/2010/main" val="2571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62065BA-E435-4C9B-8139-DEEA8725468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A616FF-A6D5-418E-8A80-E585EA3E930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B926A6-D352-498B-A5C3-5DFFD620EE6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A1762E-E3E7-4DB5-99E4-ED6DA73C2BC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9B17C8-49D5-4CE7-A2FC-E1973E1E8EC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3FD929-F6CD-488C-8B45-AE62006AC00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C19DA9-8D6C-4ABA-813B-B1CA9A9C1D2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6971F6-D3A7-4BA4-A57D-CFBFF40AEE5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2A9B1D-1ABA-43B7-A76F-84B8D5BA8B79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2｜第一節｜快問快答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EECCBE-115F-49F1-AB0B-4150AFD25C2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C6C972-1AED-4E16-8E64-B8CC38E38100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雜湊最主要協助檢查什麼？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162059-E8E4-4C3E-9978-D804528071F2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市價　B 資料是否改變　C 法定身分　D 獲利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B93E12-1BAA-4CAB-99C4-E92485092CBC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6A551E-91BA-4777-9445-5135AA08A9AF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答案：B。資料完整性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DA99CD-185D-4025-80C8-329CEAD57B20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哪一把金鑰應由持有人保密？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D921E8-B821-47F2-B956-EEAC4593E299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公鑰　B 私鑰　C 地址　D 區塊高度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E5E788-6B63-471B-8E01-C8D14F47392F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9199BE-E842-42C2-874C-9C22ED275A59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答案：B。私鑰用於授權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3E4561-9EC1-4047-A823-4997928BAB74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數位簽章能直接證明法定姓名嗎？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2A74BA-C057-494E-885F-E3542F434387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一定能　B 不能單獨證明　C 只在週末能　D 只在PoW能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7250B6-6DEC-4102-817A-2B3E94708ABD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3E950D-BE3A-4A78-AF09-79AC8C170FCA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答案：B。仍需鏈下身分資料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68A111-284F-4059-8C93-1197219CBC53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錢包主要管理什麼？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734BF6-8C46-465A-B9F6-6F9058916FE1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區塊大小　B 金鑰與交易　C 所有節點　D 幣價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1D7BD7-7D26-4304-AB62-F10FADEC1CFB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7C4A79-D687-4884-8B92-54C3D959CCE0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答案：B。資產紀錄仍在鏈上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AF2409-4940-40C8-912E-F2457450867E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Bitcoin常見哪種交易模型？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B8F4BC-9073-441B-9BE1-0D4BC922FCB3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UTXO　B 庫存表　C 會員點數表　D 紙本帳簿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2D3CFA-6E3D-4590-90F8-2514FA11F162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89C3D3-D6B4-479E-BA1E-1FA5C8405447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125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答案：A。花費輸出並產生新輸出</a:t>
            </a:r>
          </a:p>
        </p:txBody>
      </p:sp>
    </p:spTree>
    <p:extLst>
      <p:ext uri="{BB962C8B-B14F-4D97-AF65-F5344CB8AC3E}">
        <p14:creationId xmlns:p14="http://schemas.microsoft.com/office/powerpoint/2010/main" val="40237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064809-CB4E-453D-AB79-6C650007180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586332-A314-404B-95E6-F95B2805BFE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第二節的問題：已簽署交易如何成為正式紀錄？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65B043-0771-4204-B46B-2D4436493488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BBE878-0B76-40A7-A30E-0563695B501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79A71D-AC33-4270-8C94-1FF7CA8EA27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5F0127-1908-4DAB-9DA5-72CE8FF0CE9B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278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從個人授權走向集體接受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F168EB-AD9D-4FCC-99FD-BEFD75FCED18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簽章只證明有人授權；交易還要經過傳播、驗證、排序、成塊與共識。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9D161F-B160-4C43-830F-DC9D7676676A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42888C-943A-4723-B711-F1DBC175EFFE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送出交易不等於完成交易；等待確認或最終性是不同階段。</a:t>
            </a:r>
          </a:p>
        </p:txBody>
      </p:sp>
    </p:spTree>
    <p:extLst>
      <p:ext uri="{BB962C8B-B14F-4D97-AF65-F5344CB8AC3E}">
        <p14:creationId xmlns:p14="http://schemas.microsoft.com/office/powerpoint/2010/main" val="1923022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860AAC-3ADE-426B-B59C-EB59A5FADF2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BAE79E-7EE3-4F81-B238-E6526B9DC3F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交易先進入待處理區，而不是立刻寫入鏈上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6C7CBA-CB39-452A-9DA2-25A6E3B3963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BBAE46-CF6D-485B-8701-E2C8B1200EF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8D84CF-47E5-4E15-8841-FE62E78B6A3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982227-AFEC-4217-B83C-AC1DA2632353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E2ED68-EC21-4591-BF9B-5608EF2DA472}"/>
              </a:ext>
            </a:extLst>
          </p:cNvPr>
          <p:cNvSpPr>
            <a:spLocks noGrp="1"/>
          </p:cNvSpPr>
          <p:nvPr/>
        </p:nvSpPr>
        <p:spPr>
          <a:xfrm>
            <a:off x="4724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517872-EECE-4F1F-8D67-DCB03B02BF2D}"/>
              </a:ext>
            </a:extLst>
          </p:cNvPr>
          <p:cNvSpPr>
            <a:spLocks noGrp="1"/>
          </p:cNvSpPr>
          <p:nvPr/>
        </p:nvSpPr>
        <p:spPr>
          <a:xfrm>
            <a:off x="7010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22EA99-586B-473A-B1E6-095E7DBD5A3A}"/>
              </a:ext>
            </a:extLst>
          </p:cNvPr>
          <p:cNvSpPr>
            <a:spLocks noGrp="1"/>
          </p:cNvSpPr>
          <p:nvPr/>
        </p:nvSpPr>
        <p:spPr>
          <a:xfrm>
            <a:off x="9296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C5DE58-8F08-4996-BA0C-CA9311657CC2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A90F4A-691E-4178-8293-7DE2B40216F9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828A57-ED4C-4DAF-A2BC-3A9F453F70C7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2A3A4D-9590-49C4-9070-546A8EE81F0E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使用者完成授權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DD6FF3-DDA4-4159-B04A-BA2B80BA2AB6}"/>
              </a:ext>
            </a:extLst>
          </p:cNvPr>
          <p:cNvSpPr>
            <a:spLocks noGrp="1"/>
          </p:cNvSpPr>
          <p:nvPr/>
        </p:nvSpPr>
        <p:spPr>
          <a:xfrm>
            <a:off x="2705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1047EE-6E55-4D6D-BF1F-50573B8D9D57}"/>
              </a:ext>
            </a:extLst>
          </p:cNvPr>
          <p:cNvSpPr>
            <a:spLocks noGrp="1"/>
          </p:cNvSpPr>
          <p:nvPr/>
        </p:nvSpPr>
        <p:spPr>
          <a:xfrm>
            <a:off x="2876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C87F46-28C3-4A0C-ABB2-F2066AC1D819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廣播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E931DB-6131-417C-9E5D-631E2F48531E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送給一個或多個節點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95D146-0D72-4BA1-A402-FCDBC19C3A59}"/>
              </a:ext>
            </a:extLst>
          </p:cNvPr>
          <p:cNvSpPr>
            <a:spLocks noGrp="1"/>
          </p:cNvSpPr>
          <p:nvPr/>
        </p:nvSpPr>
        <p:spPr>
          <a:xfrm>
            <a:off x="4991100" y="2143125"/>
            <a:ext cx="2019300" cy="2476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300CD2-9E6F-4B93-9C2C-8C144F35B825}"/>
              </a:ext>
            </a:extLst>
          </p:cNvPr>
          <p:cNvSpPr>
            <a:spLocks noGrp="1"/>
          </p:cNvSpPr>
          <p:nvPr/>
        </p:nvSpPr>
        <p:spPr>
          <a:xfrm>
            <a:off x="5162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E3D361-F197-47FE-8C54-DBCA5506696A}"/>
              </a:ext>
            </a:extLst>
          </p:cNvPr>
          <p:cNvSpPr>
            <a:spLocks noGrp="1"/>
          </p:cNvSpPr>
          <p:nvPr/>
        </p:nvSpPr>
        <p:spPr>
          <a:xfrm>
            <a:off x="5162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初步驗證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14232A-75D6-4776-9257-D4CEABE62611}"/>
              </a:ext>
            </a:extLst>
          </p:cNvPr>
          <p:cNvSpPr>
            <a:spLocks noGrp="1"/>
          </p:cNvSpPr>
          <p:nvPr/>
        </p:nvSpPr>
        <p:spPr>
          <a:xfrm>
            <a:off x="5162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節點檢查規則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96AA51-7C35-4FB3-A45D-9F106252E894}"/>
              </a:ext>
            </a:extLst>
          </p:cNvPr>
          <p:cNvSpPr>
            <a:spLocks noGrp="1"/>
          </p:cNvSpPr>
          <p:nvPr/>
        </p:nvSpPr>
        <p:spPr>
          <a:xfrm>
            <a:off x="7277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7D160C-5EC5-45E8-88C5-83F3E0D45C4D}"/>
              </a:ext>
            </a:extLst>
          </p:cNvPr>
          <p:cNvSpPr>
            <a:spLocks noGrp="1"/>
          </p:cNvSpPr>
          <p:nvPr/>
        </p:nvSpPr>
        <p:spPr>
          <a:xfrm>
            <a:off x="7448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00A83F-CDA8-440B-B30C-B14FADC3718F}"/>
              </a:ext>
            </a:extLst>
          </p:cNvPr>
          <p:cNvSpPr>
            <a:spLocks noGrp="1"/>
          </p:cNvSpPr>
          <p:nvPr/>
        </p:nvSpPr>
        <p:spPr>
          <a:xfrm>
            <a:off x="7448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等待區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0DBE2C-F3B0-40F0-9DFC-0830BDF9FCA3}"/>
              </a:ext>
            </a:extLst>
          </p:cNvPr>
          <p:cNvSpPr>
            <a:spLocks noGrp="1"/>
          </p:cNvSpPr>
          <p:nvPr/>
        </p:nvSpPr>
        <p:spPr>
          <a:xfrm>
            <a:off x="7448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有效交易進入mempool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DE7C53-2BB7-44D1-AEE8-54A5C8AF94C6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B2D8048-4209-4598-A6F4-37DE1894715B}"/>
              </a:ext>
            </a:extLst>
          </p:cNvPr>
          <p:cNvSpPr>
            <a:spLocks noGrp="1"/>
          </p:cNvSpPr>
          <p:nvPr/>
        </p:nvSpPr>
        <p:spPr>
          <a:xfrm>
            <a:off x="9734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234622-DEFF-4E49-A2E6-E0E9F2691377}"/>
              </a:ext>
            </a:extLst>
          </p:cNvPr>
          <p:cNvSpPr>
            <a:spLocks noGrp="1"/>
          </p:cNvSpPr>
          <p:nvPr/>
        </p:nvSpPr>
        <p:spPr>
          <a:xfrm>
            <a:off x="9734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等待選取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AE5400-6F53-4E63-8FA0-C593AB0D821E}"/>
              </a:ext>
            </a:extLst>
          </p:cNvPr>
          <p:cNvSpPr>
            <a:spLocks noGrp="1"/>
          </p:cNvSpPr>
          <p:nvPr/>
        </p:nvSpPr>
        <p:spPr>
          <a:xfrm>
            <a:off x="9734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出塊者挑選候選交易</a:t>
            </a:r>
          </a:p>
        </p:txBody>
      </p:sp>
    </p:spTree>
    <p:extLst>
      <p:ext uri="{BB962C8B-B14F-4D97-AF65-F5344CB8AC3E}">
        <p14:creationId xmlns:p14="http://schemas.microsoft.com/office/powerpoint/2010/main" val="1793045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1C0D3C7-055C-4F4B-850D-1A1C8F60F31B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631748-4779-4F70-B81F-6A125BBD96A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節點先驗證交易，避免把明顯錯誤送進區塊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7E929C-1B62-4F9C-9B2F-FA8A9ED7D548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F2D026-8B48-40F0-AB00-49C58DF5A73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B395E9-DB31-426B-B97D-FE4AE573328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2D10CD-664C-4CF6-BB00-A9B377CD09AF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BBD226-32FA-4AD8-9CFA-C170EEB015A7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75DE09-FD27-4F7E-BD94-49C2ED4276AC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欄位與編碼是否符合規則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3FD0CF-15CB-49F1-9728-AA08C3D01872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2C005A-92DC-4140-B6D3-CA1A948A6A55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授權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F9B5DF-DD8C-4E27-B544-B0CA2382C38F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數位簽章是否有效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2B0C13-F1A9-4AEE-BA81-4307050EA732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3F0211-1814-4A1E-B388-EADA635AD1D4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可用資產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A4B06E-A51F-4EE2-B491-76899B9EC5C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餘額或可用輸出是否足夠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75F3D2-720A-4005-96F6-264F8D963381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1F4E05-0E54-4077-BBA5-FF888FE062C2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狀態與順序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4E2DE9-19A5-4E47-BCD9-AD4A5E903409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nonce、重複支付或其他條件是否合理</a:t>
            </a:r>
          </a:p>
        </p:txBody>
      </p:sp>
    </p:spTree>
    <p:extLst>
      <p:ext uri="{BB962C8B-B14F-4D97-AF65-F5344CB8AC3E}">
        <p14:creationId xmlns:p14="http://schemas.microsoft.com/office/powerpoint/2010/main" val="2001968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A5FAED6-4B31-465D-B871-6A3A691D9A9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3F0CD0-F6C4-4680-8985-28732C21EF0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出塊者把候選交易排序並組成區塊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E41C69-EBA0-4ED7-97CB-C8D33F58C57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DEA4FB-F6FC-4731-A4C2-24ACCEED1E6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8746D4-2F7F-41B7-A8FD-C85A2239505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CD5267-B32E-4B52-8AEC-AB62175AD8A4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9B059A-55B9-4908-8CE9-B9B015F383DD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4D0F1C-44C9-44FC-A4D9-52BD8C545EAD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它要做的事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4F1747-449D-4B8A-B156-50E182327B2E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從待處理交易中選取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依規則排序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執行或檢查狀態變更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建立區塊資料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4F574C-2E48-4384-95FF-CAE4FEE06C88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它可能考量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8EF9AC-37F3-4737-AC6B-857940C9635E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交易手續費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區塊容量與資源限制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交易相依關係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協議與本地政策</a:t>
            </a:r>
          </a:p>
        </p:txBody>
      </p:sp>
    </p:spTree>
    <p:extLst>
      <p:ext uri="{BB962C8B-B14F-4D97-AF65-F5344CB8AC3E}">
        <p14:creationId xmlns:p14="http://schemas.microsoft.com/office/powerpoint/2010/main" val="187064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CA564B0-338D-44F5-BD29-3E83591CFAD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BA203A-4AFA-4FAB-B496-09994F2F9B1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Merkle root用一個摘要代表整批交易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FDC574-1703-47E0-8802-8FDACFFE689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3A21A0-BC68-4502-BB27-2BEDD3EF460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0ADFFF-EDD7-474F-8CCF-39D36B43B26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B93570-3FDD-4E1A-A30E-A98A8D4F2D1C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278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批次驗證的工具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23FECB-5F5C-42F7-BD6F-CE93C7F6FFAD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交易摘要兩兩組合並反覆雜湊，最後形成一個根摘要。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8BC6F-7200-4F99-AB30-7037D9ACDD53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C90F2F-8151-4321-8781-1DD08FAE82DD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只需提供相關路徑，就能證明某筆交易被納入該區塊，不必下載整批交易。</a:t>
            </a:r>
          </a:p>
        </p:txBody>
      </p:sp>
    </p:spTree>
    <p:extLst>
      <p:ext uri="{BB962C8B-B14F-4D97-AF65-F5344CB8AC3E}">
        <p14:creationId xmlns:p14="http://schemas.microsoft.com/office/powerpoint/2010/main" val="195428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1297875-3699-4362-AB74-7B70EAE6E347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D009D8-42E8-4635-851E-AEB40C9F96D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區塊標頭把本批紀錄與前一段歷史連起來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6FEA99-33B5-4D5C-B62C-A2CF78F3EBA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29807B-7C4A-4223-8829-722A3EBC7F5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B2F404-FD1C-477D-ADC6-98AB88C401F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0A4240-3F28-4083-BB20-34E93CE8556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511F8A-104E-433F-9F4C-8875BB038D24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前一區塊摘要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29E21E-0C01-4E7F-91ED-CE5A54ACF01B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建立區塊之間的鏈結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9E5CC8-A907-44B1-B6D2-1215CD357FE6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F9BDFB-4848-42B5-8E4D-5722A775650F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交易摘要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1DFBC3-C5D9-4994-9470-C67947816EB3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例如以Merkle root代表交易集合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443B0C-C4CD-400D-A145-CB3696A89A0E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FDC59E-5021-4C63-8D91-9625E745735C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時間與高度資訊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6A9F81-AEF5-40E6-A0E1-C59A408A71D8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協助排序與辨識位置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320DF7-F14A-4DF1-88EC-4E42C402FCE2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E842A7-3EFD-4156-8A1A-E5C5CCB88BCF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共識相關資料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32A181-DC8E-4691-B8FC-52413F2B54D4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依PoW、PoS或許可型機制而不同</a:t>
            </a:r>
          </a:p>
        </p:txBody>
      </p:sp>
    </p:spTree>
    <p:extLst>
      <p:ext uri="{BB962C8B-B14F-4D97-AF65-F5344CB8AC3E}">
        <p14:creationId xmlns:p14="http://schemas.microsoft.com/office/powerpoint/2010/main" val="1622655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2FB4E11-1A82-4E68-B1B9-10DCFDA98E8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88419E-2824-4B32-BA2D-474FF93AE10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共識決定哪個候選區塊成為共同歷史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A2A2A5-58A3-41AF-BB06-B47ACBF99A7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D52F6B-666E-4566-8C81-1EA008B3823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EAB75E-2192-4D02-B2B1-D4CA960116A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A061E-35E8-43BD-88D6-5839C049C81E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D781E0-2C76-4922-BEB8-D015E178452D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69DAFE-A455-4671-B4C9-1C75EA16CD7A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為什麼需要共識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2A2386-BAA7-4A5C-8C95-A68FD931D8D0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節點可能收到不同交易順序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網路延遲可能產生競爭區塊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惡意參與者可能提出衝突紀錄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AFD131-8D9C-4ED1-B633-240A618D4067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共識要完成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01258C-21D8-4677-8B98-CA7A20983FA4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確認區塊有效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選擇可接受的鏈或狀態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提供確認與最終性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設定不誠實行為成本</a:t>
            </a:r>
          </a:p>
        </p:txBody>
      </p:sp>
    </p:spTree>
    <p:extLst>
      <p:ext uri="{BB962C8B-B14F-4D97-AF65-F5344CB8AC3E}">
        <p14:creationId xmlns:p14="http://schemas.microsoft.com/office/powerpoint/2010/main" val="1563568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ACC1BF3-F165-479C-AE39-1B66C5BC0C2C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AA3E02-1D81-4785-A293-A1B1C4C889C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PoW與PoS用不同資源約束出塊行為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252968-2533-4C00-85CE-B49F40A98AF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7C5950-A163-417D-AFED-A5AE05DF10EE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E5BD7-3AE8-45B0-9667-1B491DE119D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DBDBFB-95D3-47A6-93A7-E7C63E9B13C3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84461A-7808-4633-9CEE-BC3EB8BE2910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4B5C7F-99DE-4E2E-9D8C-491FFA3DDD86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工作量證明 PoW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BC22F2-A3D6-41D3-A726-96721A48EE65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競爭計算符合條件的雜湊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安全成本與運算、能源有關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代表：Bitcoin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CB323C-6A9D-458F-8B63-55DFE58D346A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權益證明 PoS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C0C84B-D5D8-4224-BE0B-E9BF0736693C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驗證者質押資產並參與提議與投票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不當行為可能受罰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代表：Ethereum</a:t>
            </a:r>
          </a:p>
        </p:txBody>
      </p:sp>
    </p:spTree>
    <p:extLst>
      <p:ext uri="{BB962C8B-B14F-4D97-AF65-F5344CB8AC3E}">
        <p14:creationId xmlns:p14="http://schemas.microsoft.com/office/powerpoint/2010/main" val="198832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7601790-8D0D-4A59-86BF-1E98B95170E5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62EF7C-EB34-4814-B755-B9CF37B5099D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確認數增加與最終性，都是降低逆轉風險的方式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8EFCB1-8220-43FD-BE71-D7E05405A87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16EFD9-20E5-437F-956B-4C1B3934FD2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FC3B70-E357-4840-ABE1-3128740CB49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104E82-D541-4D18-8D08-4C49CA743C1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D32706-7C43-402C-B817-B6ECC86D7D2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2967D5-2FE1-4B2F-8EF6-91BFAF0C2782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機率型確認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19F814-D0BD-41E6-84EF-E3A7515BFF3D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後續區塊持續累積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重組機率通常逐步降低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常見於PoW鏈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38CF89-510D-4896-8B67-F5F07C819266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經濟或協議最終性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399763-C9FA-438F-9D2B-217A3572CD1D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驗證者投票形成檢查點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逆轉會面臨重大經濟懲罰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常見於PoS設計</a:t>
            </a:r>
          </a:p>
        </p:txBody>
      </p:sp>
    </p:spTree>
    <p:extLst>
      <p:ext uri="{BB962C8B-B14F-4D97-AF65-F5344CB8AC3E}">
        <p14:creationId xmlns:p14="http://schemas.microsoft.com/office/powerpoint/2010/main" val="2110303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F6C5DACE-8636-470E-A3AD-00764E442F8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ED0A3D-1B3D-4793-ADFF-FC21291FC980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完整流程：從按下確認到帳本共同接受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A527C9-0C2E-4E5B-9256-0B28B9A333C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E6EC4E-64A1-4AF0-AD1A-C9AB468C4C9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21E4DD-2BBC-4B63-B65C-61CD9205E2C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497F92-6999-464D-A17F-54D2057D0E57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BAD0D-D2F2-451B-9D6D-37B3FBD1DD62}"/>
              </a:ext>
            </a:extLst>
          </p:cNvPr>
          <p:cNvSpPr>
            <a:spLocks noGrp="1"/>
          </p:cNvSpPr>
          <p:nvPr/>
        </p:nvSpPr>
        <p:spPr>
          <a:xfrm>
            <a:off x="4724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5DAA72-1D86-4BDF-94E5-80E9C6330893}"/>
              </a:ext>
            </a:extLst>
          </p:cNvPr>
          <p:cNvSpPr>
            <a:spLocks noGrp="1"/>
          </p:cNvSpPr>
          <p:nvPr/>
        </p:nvSpPr>
        <p:spPr>
          <a:xfrm>
            <a:off x="7010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14A77B-B8C0-4A45-8D61-324C91E49F21}"/>
              </a:ext>
            </a:extLst>
          </p:cNvPr>
          <p:cNvSpPr>
            <a:spLocks noGrp="1"/>
          </p:cNvSpPr>
          <p:nvPr/>
        </p:nvSpPr>
        <p:spPr>
          <a:xfrm>
            <a:off x="9296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54B6D9-E47A-4E77-A038-0AABB335C87F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17636E-20E9-4451-A9CA-6A25351A68A1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335FD5-612B-441E-B5A0-528FFF8D8C12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建立簽署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3D969A-C7CE-4298-A6B6-28BCB53B7698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錢包組成並授權交易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385970-F0E1-4C3D-A5F2-AC491005795B}"/>
              </a:ext>
            </a:extLst>
          </p:cNvPr>
          <p:cNvSpPr>
            <a:spLocks noGrp="1"/>
          </p:cNvSpPr>
          <p:nvPr/>
        </p:nvSpPr>
        <p:spPr>
          <a:xfrm>
            <a:off x="2705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9197F0-6756-4A7A-82B3-6384028397AA}"/>
              </a:ext>
            </a:extLst>
          </p:cNvPr>
          <p:cNvSpPr>
            <a:spLocks noGrp="1"/>
          </p:cNvSpPr>
          <p:nvPr/>
        </p:nvSpPr>
        <p:spPr>
          <a:xfrm>
            <a:off x="2876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27C498-04AE-4F3D-8F82-9954F8211684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廣播驗證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A8A77C-88F5-4A1F-BADC-74AD1910FC3A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節點檢查並傳播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5D1A84-57C1-45BC-B522-BC4951BB980E}"/>
              </a:ext>
            </a:extLst>
          </p:cNvPr>
          <p:cNvSpPr>
            <a:spLocks noGrp="1"/>
          </p:cNvSpPr>
          <p:nvPr/>
        </p:nvSpPr>
        <p:spPr>
          <a:xfrm>
            <a:off x="4991100" y="2143125"/>
            <a:ext cx="2019300" cy="2476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42DFE7-1448-4F93-B24E-87584E4A9D9C}"/>
              </a:ext>
            </a:extLst>
          </p:cNvPr>
          <p:cNvSpPr>
            <a:spLocks noGrp="1"/>
          </p:cNvSpPr>
          <p:nvPr/>
        </p:nvSpPr>
        <p:spPr>
          <a:xfrm>
            <a:off x="5162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EA937A-21FD-4E84-B8F2-00998A33FA0A}"/>
              </a:ext>
            </a:extLst>
          </p:cNvPr>
          <p:cNvSpPr>
            <a:spLocks noGrp="1"/>
          </p:cNvSpPr>
          <p:nvPr/>
        </p:nvSpPr>
        <p:spPr>
          <a:xfrm>
            <a:off x="5162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等待選取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F909E4-1DA1-4B44-9F12-586FEDAA2F01}"/>
              </a:ext>
            </a:extLst>
          </p:cNvPr>
          <p:cNvSpPr>
            <a:spLocks noGrp="1"/>
          </p:cNvSpPr>
          <p:nvPr/>
        </p:nvSpPr>
        <p:spPr>
          <a:xfrm>
            <a:off x="5162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交易留在待處理區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75643F-92D8-4D22-9D0B-BECCB123438B}"/>
              </a:ext>
            </a:extLst>
          </p:cNvPr>
          <p:cNvSpPr>
            <a:spLocks noGrp="1"/>
          </p:cNvSpPr>
          <p:nvPr/>
        </p:nvSpPr>
        <p:spPr>
          <a:xfrm>
            <a:off x="7277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3948E8-0439-431E-92A5-DEB6F83F8900}"/>
              </a:ext>
            </a:extLst>
          </p:cNvPr>
          <p:cNvSpPr>
            <a:spLocks noGrp="1"/>
          </p:cNvSpPr>
          <p:nvPr/>
        </p:nvSpPr>
        <p:spPr>
          <a:xfrm>
            <a:off x="7448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E8101F-6F31-40BD-A72D-C7DCF384FAFE}"/>
              </a:ext>
            </a:extLst>
          </p:cNvPr>
          <p:cNvSpPr>
            <a:spLocks noGrp="1"/>
          </p:cNvSpPr>
          <p:nvPr/>
        </p:nvSpPr>
        <p:spPr>
          <a:xfrm>
            <a:off x="7448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組成區塊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7C5F15-2274-4A1A-B67C-18637B027BA9}"/>
              </a:ext>
            </a:extLst>
          </p:cNvPr>
          <p:cNvSpPr>
            <a:spLocks noGrp="1"/>
          </p:cNvSpPr>
          <p:nvPr/>
        </p:nvSpPr>
        <p:spPr>
          <a:xfrm>
            <a:off x="7448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出塊者排序與打包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059352-9B57-4BB7-9009-9DF82DC4D17E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2C31F7A-3982-4CBD-88F1-9052A37CB594}"/>
              </a:ext>
            </a:extLst>
          </p:cNvPr>
          <p:cNvSpPr>
            <a:spLocks noGrp="1"/>
          </p:cNvSpPr>
          <p:nvPr/>
        </p:nvSpPr>
        <p:spPr>
          <a:xfrm>
            <a:off x="9734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BAC87E-209B-4CDF-9AAE-B0887D8A248F}"/>
              </a:ext>
            </a:extLst>
          </p:cNvPr>
          <p:cNvSpPr>
            <a:spLocks noGrp="1"/>
          </p:cNvSpPr>
          <p:nvPr/>
        </p:nvSpPr>
        <p:spPr>
          <a:xfrm>
            <a:off x="9734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共識確認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8C496BE-F957-46BE-9654-5C7E3B08AC9C}"/>
              </a:ext>
            </a:extLst>
          </p:cNvPr>
          <p:cNvSpPr>
            <a:spLocks noGrp="1"/>
          </p:cNvSpPr>
          <p:nvPr/>
        </p:nvSpPr>
        <p:spPr>
          <a:xfrm>
            <a:off x="9734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節點接受並累積最終性</a:t>
            </a:r>
          </a:p>
        </p:txBody>
      </p:sp>
    </p:spTree>
    <p:extLst>
      <p:ext uri="{BB962C8B-B14F-4D97-AF65-F5344CB8AC3E}">
        <p14:creationId xmlns:p14="http://schemas.microsoft.com/office/powerpoint/2010/main" val="2083884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841B81F-70B6-42D3-B8BD-269E86B6BAB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E388DA-991D-412D-8A4F-E5B4DCB556C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CC27ED-3DF0-4487-918A-EE612CA56CC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9B97AC-17A9-4592-A881-C6892B212C7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742EE5-1AA3-4618-BE22-FD53D7ED440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F1EC81-2546-4D24-A08F-94D4CB82D86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055165-3BA6-4529-8238-6919C9611D1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513172-EA75-4C86-AC82-054484FEC4F7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CC1EA-473E-404B-9778-985361F895C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2｜第二節｜快問快答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351023-4B21-45A7-ADE1-05DDD81C313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1270EC-5265-4D0F-A375-987913A4959F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簽署交易後通常先去哪裡？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3FF592-B287-438D-A05E-0EF7D4B8C9B5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自動最終　B 節點與待處理區　C 法院　D 中央銀行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AAE289-D1B8-4313-81D4-C25FF5965A61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EC4D45-43A1-4DBF-B840-CDF3EDDECAC0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答案：B。仍需驗證與等待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8B9566-E8BC-4621-98C6-1E73C3D7628D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節點驗證不包含哪一項？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0A26B2-F841-49C6-B07C-722546B65DAB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簽章　B 餘額　C 格式　D 保證投資獲利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97A656-CFB9-4C78-AC46-DA07A595DEBA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06DFBE-0F81-460A-A9FA-5AC91993AB48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答案：D。技術不保證獲利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C2E25F-38E1-4BC6-B52A-AFAFE405614E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Merkle root主要代表什麼？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BF56EC-E3CB-4212-B9D7-DA2597CA01E0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整批交易摘要　B 私鑰　C 幣價　D 真實姓名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A2EB25-815A-48C7-BFF2-836CAC52430E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0D935E-9216-4F72-B0F9-D84F86C3187C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答案：A。支援納入證明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5D6F11-B780-498A-8DA9-B18D219D885C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PoS主要以什麼約束驗證者？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E2DFD7-45B0-45B0-AE7E-027FC717F61A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紙張　B 質押與懲罰　C 廣告　D 電話號碼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13305E-ED69-43B1-B9D8-F8FF81D18838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6DA529-084A-4C53-A192-D5BCAA78B5BB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答案：B。形成經濟誘因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520E23-1C66-4790-8AA4-3E8C382DEE14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交易上鏈就必然永不逆轉？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D91662D-08D3-48F9-8059-D381DA9A7462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只看金額　D 只看地址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23E2665-E867-4448-AC8F-477DF799AD87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327095-FD59-4934-BB07-C3E3E59F0524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答案：B。仍須看確認與最終性</a:t>
            </a:r>
          </a:p>
        </p:txBody>
      </p:sp>
    </p:spTree>
    <p:extLst>
      <p:ext uri="{BB962C8B-B14F-4D97-AF65-F5344CB8AC3E}">
        <p14:creationId xmlns:p14="http://schemas.microsoft.com/office/powerpoint/2010/main" val="1842130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F90DF69-0B55-4114-AEB6-8B83DC708A7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10193A-7EDE-4899-96FE-D8864D82DDF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同樣叫區塊鏈，參與權限可能完全不同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47370B-FBA9-4ED2-A8F4-7989BFF132B8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5247D2-30DB-4438-9246-AC34D161A75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6CB2F4-DBAA-4F44-89AE-9AC333AE03B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206A5F-ACB1-4A84-AEE1-30CA958B5B6F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3F34B3-E39B-4E4A-B624-EF228D45801C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A0151E-783D-4920-B3C9-BBFC2F1470F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無許可型網路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AF79AE-1AC5-4E4E-AA93-C9D961E41307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一般人可提交交易或運行節點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規則公開、參與範圍廣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治理與集中度仍需實際檢查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6BA3BD-349B-4A48-9571-CC7931BCAF9C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許可型網路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171EAE-F76C-46F3-B8ED-091381E913DC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成員經核准才能參與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可限制驗證與資料可見範圍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適合明確組織與責任架構</a:t>
            </a:r>
          </a:p>
        </p:txBody>
      </p:sp>
    </p:spTree>
    <p:extLst>
      <p:ext uri="{BB962C8B-B14F-4D97-AF65-F5344CB8AC3E}">
        <p14:creationId xmlns:p14="http://schemas.microsoft.com/office/powerpoint/2010/main" val="827044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1CD9E76-D9BB-4F7E-82B7-F29F6429BC2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2095B1-50B7-45FF-B32A-2F39591F6D5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透明度取決於誰能讀、誰能寫、誰能驗證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9E60FE-3BBB-4EDC-B5D5-7446E77EE50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EADBFD-CB74-46AC-B5BC-8FCA6A7F583D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09973C-3E42-4341-8919-336CEE97FCA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1757AA-ACCD-4701-AB22-6B85E9AD7DBC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B8AD0A-624D-4188-85D7-53863BC27865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讀取權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89E85D-1F67-4C3B-BC40-1C8823417EF8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誰可以查看帳本與交易內容？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77B65A-EC14-4EAF-8EC7-E28D33901B93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64CCCB-B6C9-4823-BCAC-F98F4E6ADC24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提交權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36A32E-804B-47CE-B04F-3649B50556DA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誰可以提出交易？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04019B-04DE-445E-8360-FDD0CD4BC367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866B05-88EE-4A2B-AA16-F0BB2536B5CD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3AFDB-8F23-4662-9229-9A0207DCFFE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誰能參與確認與出塊？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F18ADE-0DAE-4804-B55D-1BBDC36E28BE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E5B465-4F61-4534-B351-CB4E499A4E12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治理權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7A3EF4-5D14-4770-A92D-8354D83C378A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誰能修改規則與處理例外？</a:t>
            </a:r>
          </a:p>
        </p:txBody>
      </p:sp>
    </p:spTree>
    <p:extLst>
      <p:ext uri="{BB962C8B-B14F-4D97-AF65-F5344CB8AC3E}">
        <p14:creationId xmlns:p14="http://schemas.microsoft.com/office/powerpoint/2010/main" val="1607730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6837D1F-CC21-4417-8543-A421AA9A871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D59E0B-75C2-432B-8A3E-15D5AF32D961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鏈上資料公開，不代表使用者真正匿名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CD582C-994D-4704-9791-B482D9C9958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072778-5326-4839-8E3F-95CEC8953DA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8FFB6C-5865-4C1D-8DDE-F1FB37B0F34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D05B4F-6741-43B9-A802-AAADD5498C3F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B2C274-A9D3-40FB-8EC4-D1BF3C3BF135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81D13E-7B2A-4143-A6C1-AE8B6B3179F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假名性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D8C77B-AFC9-4261-BCB7-3B4E4844CAAF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地址不直接顯示姓名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交易歷史可能長期可查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多個地址仍可能被關聯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B7B7CC-E50F-4374-9F1D-A6B0571CAA11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身分連結來源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C3890A-F086-4B60-90CA-7F6204C20025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交易平台KYC資料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商戶與支付紀錄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公開資訊與行為模式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監理或司法調查</a:t>
            </a:r>
          </a:p>
        </p:txBody>
      </p:sp>
    </p:spTree>
    <p:extLst>
      <p:ext uri="{BB962C8B-B14F-4D97-AF65-F5344CB8AC3E}">
        <p14:creationId xmlns:p14="http://schemas.microsoft.com/office/powerpoint/2010/main" val="1605324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F3184CB-5F24-4799-B25D-34C4BD3A10FE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13CE6C-A7DB-48DB-B812-ABB433D1BC7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金鑰安全是金融風險，不只是技術細節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C9D73A-DEE3-403D-BE67-BDEC4CABBB98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21BE34-1788-4D45-B115-5AF938094A2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5D6906-DDF0-4CB8-9356-811C3B40500F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124CC9-526A-4FD3-B093-C9E64545082D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3F5FC-AB05-44D1-A459-F93D099B42C4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遺失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A6099-AEE8-46A4-96AA-870BD55EAA25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無復原安排時可能永久失去控制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6C7337-9AB8-4C10-8C41-79C3EBE49DC1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47BA10-38E9-41B5-AC4B-55072CAFA972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外洩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AA48C4-BDB5-4B5B-9E1C-66BE6C628E10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攻擊者可冒用私鑰發起交易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7546ED-D2D6-4B74-993E-03C977F6D73E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234269-4273-405B-B57B-CC027AAD1E8A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內控不足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4D8FE6-1F55-436A-B038-3154477A680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單一人員掌握全部權限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AA3059-8A30-4B32-B81B-DF2BE6C19C0F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072CA7-6FC8-4AF2-8197-C1B5240AE3B0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託管風險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F7DB7B-A3A3-452A-A19E-C35B33B3A4BE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第三方故障、舞弊或破產影響資產取回</a:t>
            </a:r>
          </a:p>
        </p:txBody>
      </p:sp>
    </p:spTree>
    <p:extLst>
      <p:ext uri="{BB962C8B-B14F-4D97-AF65-F5344CB8AC3E}">
        <p14:creationId xmlns:p14="http://schemas.microsoft.com/office/powerpoint/2010/main" val="1189571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6F5C70A-E6CA-418E-8625-DE6DD9DF384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4D565A-1F07-4CCD-BD89-1159C1D6C08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鏈上正確不等於鏈下事實正確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354E72-BD37-4C6B-B29E-2F322EA893CE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CF8B02-133C-4C3B-BAF8-18DB10ACB8F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FD2476-9782-4E8A-A61F-3BC427A991F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5B465C-5038-484E-B332-8B8E92C02B2D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B50AC1-F929-4B58-B984-5D0B155963A4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0C3534-C752-49A9-8CAB-0287CB3E278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鏈能驗證的事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67B7FA-D81A-4B64-9B65-2570A6E0CA37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交易是否符合協議規則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簽章是否有效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紀錄是否被改動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資產狀態如何變化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2E1140-FAA5-4892-A467-21FC05F0AFD9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鏈外仍要驗證的事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725FF6-DCE3-4F10-987D-A753852B5801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貨物是否真的送達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身份文件是否真實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價格資料是否遭操縱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法律權利是否有效移轉</a:t>
            </a:r>
          </a:p>
        </p:txBody>
      </p:sp>
    </p:spTree>
    <p:extLst>
      <p:ext uri="{BB962C8B-B14F-4D97-AF65-F5344CB8AC3E}">
        <p14:creationId xmlns:p14="http://schemas.microsoft.com/office/powerpoint/2010/main" val="224901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EF305D8-1EE7-4FF6-9F63-AF9FB12796A9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A021D4-DF9E-41C8-B7D2-70B062EB9A6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區塊鏈的安全來自一組控制，不是單一技術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088688-087F-4897-A305-728EB8DAABE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8021C8-D13D-4C77-9571-CD817F7B778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AD6D81-7267-4EFF-8733-2FA73991958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20C24A-1285-4231-B32D-F37D0345279D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106D9E-1531-4F57-B650-47D380D73312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密碼學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8AEC1A-7463-40CC-8FA5-8A26E7A78927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雜湊、簽章與金鑰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E81F24-811E-4026-AE24-8A13D6C6537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F3CA60-F2DB-42A6-B0CF-796750C577D8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分散網路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78FD74-695E-43E0-A4EC-15C8AA83CF79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節點複製、傳播與獨立驗證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75C449-8001-4C10-AB0E-5235DFDCD9B3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7885C0-744B-4B7A-8A06-3A01A1982F12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共識與誘因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61EDD6-575E-47EF-A2B0-AC9E503E49C4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選擇共同狀態並約束不當行為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C628D6-5ECF-4DBD-A26C-9D5BEE4C9F2A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0A4676-1FC2-4E12-A54A-3C430CAAF584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治理與營運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AA6925-65D8-4771-A6E4-9853E9911CC6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升級、事件處理、權限與法律責任</a:t>
            </a:r>
          </a:p>
        </p:txBody>
      </p:sp>
    </p:spTree>
    <p:extLst>
      <p:ext uri="{BB962C8B-B14F-4D97-AF65-F5344CB8AC3E}">
        <p14:creationId xmlns:p14="http://schemas.microsoft.com/office/powerpoint/2010/main" val="1245522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F4DB628-966D-4D66-8A7D-703F55C4BA6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BCA198-6101-43FF-9764-90689A84D48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到2026年，主流設計已不只是一條鏈處理全部交易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CC917C-D348-4BD2-B692-FA32263C87F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556395-CCB5-406C-BBDE-7EFE9E32D55E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D8FECB-760E-4B40-9651-67B6219C986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1D46A3-9057-49C8-A75D-98F50EFDE9CD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631717-C320-4BD0-871A-F6EBD57817A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18CC94-F1ED-4F3A-B26F-3AF5F5D43E2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基礎層 Layer 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84E59-89AE-4DFA-8B2A-C94D7DB353F0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提供共識、安全與最終結算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例如Bitcoin與Ethereum主網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62C5AC-41C1-469C-8DFA-B05D11419FEA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擴展層 Layer 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4CFDD1-4852-4652-90A4-317EA59E2F28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在基礎層之外批次處理交易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再把資料或證明提交回基礎層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例如rollups</a:t>
            </a:r>
          </a:p>
        </p:txBody>
      </p:sp>
    </p:spTree>
    <p:extLst>
      <p:ext uri="{BB962C8B-B14F-4D97-AF65-F5344CB8AC3E}">
        <p14:creationId xmlns:p14="http://schemas.microsoft.com/office/powerpoint/2010/main" val="297629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811E8F4F-D562-42E9-8EDC-946A5FD4883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C6AFB7-AC8D-4E3B-A2A4-282D4D5792D0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看到一筆鏈上交易，應依序問五個問題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9BA6D0-0FEF-4C13-AD7F-B8B51EA4B7B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55DDEF-D7A3-417A-B0D0-BC14A96F36D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29FE30-DF01-4A11-AD79-2F06C0BAC5E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A1EE28-F250-4292-A533-EF7597EE6776}"/>
              </a:ext>
            </a:extLst>
          </p:cNvPr>
          <p:cNvSpPr>
            <a:spLocks noGrp="1"/>
          </p:cNvSpPr>
          <p:nvPr/>
        </p:nvSpPr>
        <p:spPr>
          <a:xfrm>
            <a:off x="2438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BAADCD-A2DE-4145-9E15-19C72F5C267D}"/>
              </a:ext>
            </a:extLst>
          </p:cNvPr>
          <p:cNvSpPr>
            <a:spLocks noGrp="1"/>
          </p:cNvSpPr>
          <p:nvPr/>
        </p:nvSpPr>
        <p:spPr>
          <a:xfrm>
            <a:off x="4724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B799D3-1767-4885-97FD-1218670FF9E9}"/>
              </a:ext>
            </a:extLst>
          </p:cNvPr>
          <p:cNvSpPr>
            <a:spLocks noGrp="1"/>
          </p:cNvSpPr>
          <p:nvPr/>
        </p:nvSpPr>
        <p:spPr>
          <a:xfrm>
            <a:off x="7010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75F3F6-EA37-4BE4-A4D1-440DE18DF3CF}"/>
              </a:ext>
            </a:extLst>
          </p:cNvPr>
          <p:cNvSpPr>
            <a:spLocks noGrp="1"/>
          </p:cNvSpPr>
          <p:nvPr/>
        </p:nvSpPr>
        <p:spPr>
          <a:xfrm>
            <a:off x="9296400" y="3181350"/>
            <a:ext cx="266700" cy="47625"/>
          </a:xfrm>
          <a:prstGeom prst="rect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1D2C3E-DFF4-4A23-B54C-1B22080399BA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ACC0A8-68B5-4A52-AE44-E636BC0F9F7F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ABCAB4-3541-4D13-8204-3B697D1A6394}"/>
              </a:ext>
            </a:extLst>
          </p:cNvPr>
          <p:cNvSpPr>
            <a:spLocks noGrp="1"/>
          </p:cNvSpPr>
          <p:nvPr/>
        </p:nvSpPr>
        <p:spPr>
          <a:xfrm>
            <a:off x="590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誰授權？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D2673E-3EEF-4972-9217-1FAF7E4C741F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金鑰與簽章是否可信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FDBAF1-89DA-4C2A-ABE2-34FCC88C4149}"/>
              </a:ext>
            </a:extLst>
          </p:cNvPr>
          <p:cNvSpPr>
            <a:spLocks noGrp="1"/>
          </p:cNvSpPr>
          <p:nvPr/>
        </p:nvSpPr>
        <p:spPr>
          <a:xfrm>
            <a:off x="2705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782612-E2C9-4B39-BAED-61C5D035B2B3}"/>
              </a:ext>
            </a:extLst>
          </p:cNvPr>
          <p:cNvSpPr>
            <a:spLocks noGrp="1"/>
          </p:cNvSpPr>
          <p:nvPr/>
        </p:nvSpPr>
        <p:spPr>
          <a:xfrm>
            <a:off x="2876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B62871-230A-4993-BBEB-C6114B963786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誰驗證？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F58D6F-E1C1-4295-B3D5-38B46441A0C1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節點與規則是否明確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8B16CD-1A4C-459C-9B08-68EEFEC4E6AF}"/>
              </a:ext>
            </a:extLst>
          </p:cNvPr>
          <p:cNvSpPr>
            <a:spLocks noGrp="1"/>
          </p:cNvSpPr>
          <p:nvPr/>
        </p:nvSpPr>
        <p:spPr>
          <a:xfrm>
            <a:off x="4991100" y="2143125"/>
            <a:ext cx="2019300" cy="2476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2AB6AD-31FA-42DE-BD34-78B69B03DFE8}"/>
              </a:ext>
            </a:extLst>
          </p:cNvPr>
          <p:cNvSpPr>
            <a:spLocks noGrp="1"/>
          </p:cNvSpPr>
          <p:nvPr/>
        </p:nvSpPr>
        <p:spPr>
          <a:xfrm>
            <a:off x="5162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1A1A2C-9988-4E20-B679-E0495252383A}"/>
              </a:ext>
            </a:extLst>
          </p:cNvPr>
          <p:cNvSpPr>
            <a:spLocks noGrp="1"/>
          </p:cNvSpPr>
          <p:nvPr/>
        </p:nvSpPr>
        <p:spPr>
          <a:xfrm>
            <a:off x="5162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誰排序？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DEA558-12EB-491E-BC3D-07A07955920F}"/>
              </a:ext>
            </a:extLst>
          </p:cNvPr>
          <p:cNvSpPr>
            <a:spLocks noGrp="1"/>
          </p:cNvSpPr>
          <p:nvPr/>
        </p:nvSpPr>
        <p:spPr>
          <a:xfrm>
            <a:off x="5162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出塊權是否集中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8DC189-540B-4AD2-8374-F7BD5F876AC1}"/>
              </a:ext>
            </a:extLst>
          </p:cNvPr>
          <p:cNvSpPr>
            <a:spLocks noGrp="1"/>
          </p:cNvSpPr>
          <p:nvPr/>
        </p:nvSpPr>
        <p:spPr>
          <a:xfrm>
            <a:off x="7277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90BD65-E9FF-4E31-96E7-30A2788D012D}"/>
              </a:ext>
            </a:extLst>
          </p:cNvPr>
          <p:cNvSpPr>
            <a:spLocks noGrp="1"/>
          </p:cNvSpPr>
          <p:nvPr/>
        </p:nvSpPr>
        <p:spPr>
          <a:xfrm>
            <a:off x="7448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3E2E0A-BCA5-494A-A249-D235761EFA21}"/>
              </a:ext>
            </a:extLst>
          </p:cNvPr>
          <p:cNvSpPr>
            <a:spLocks noGrp="1"/>
          </p:cNvSpPr>
          <p:nvPr/>
        </p:nvSpPr>
        <p:spPr>
          <a:xfrm>
            <a:off x="7448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何時完成？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A67CA5-162A-4C27-8C81-B26D5C22C3A2}"/>
              </a:ext>
            </a:extLst>
          </p:cNvPr>
          <p:cNvSpPr>
            <a:spLocks noGrp="1"/>
          </p:cNvSpPr>
          <p:nvPr/>
        </p:nvSpPr>
        <p:spPr>
          <a:xfrm>
            <a:off x="7448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確認與最終性如何定義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ABF008-5361-4CBE-B537-03D3E7DFFC1D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2019300" cy="2476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C7F78B-5FC3-44D1-9266-F16E628F7545}"/>
              </a:ext>
            </a:extLst>
          </p:cNvPr>
          <p:cNvSpPr>
            <a:spLocks noGrp="1"/>
          </p:cNvSpPr>
          <p:nvPr/>
        </p:nvSpPr>
        <p:spPr>
          <a:xfrm>
            <a:off x="9734550" y="23241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03E6A8-CDC7-4F92-ACB6-40291E5C7A88}"/>
              </a:ext>
            </a:extLst>
          </p:cNvPr>
          <p:cNvSpPr>
            <a:spLocks noGrp="1"/>
          </p:cNvSpPr>
          <p:nvPr/>
        </p:nvSpPr>
        <p:spPr>
          <a:xfrm>
            <a:off x="9734550" y="2838450"/>
            <a:ext cx="1676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誰負責？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FF48EE-8A1D-4FA2-AF2E-9016A96B8D50}"/>
              </a:ext>
            </a:extLst>
          </p:cNvPr>
          <p:cNvSpPr>
            <a:spLocks noGrp="1"/>
          </p:cNvSpPr>
          <p:nvPr/>
        </p:nvSpPr>
        <p:spPr>
          <a:xfrm>
            <a:off x="9734550" y="36385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錯誤、損失與爭議如何處理</a:t>
            </a:r>
          </a:p>
        </p:txBody>
      </p:sp>
    </p:spTree>
    <p:extLst>
      <p:ext uri="{BB962C8B-B14F-4D97-AF65-F5344CB8AC3E}">
        <p14:creationId xmlns:p14="http://schemas.microsoft.com/office/powerpoint/2010/main" val="417075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38902CC-4EB9-4183-9A14-EFB2B194055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E6140C-24F2-42D6-B015-89A59F99117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本週結論：有效交易要跨過三道門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82A333-116E-4A57-988C-4F0FFF8E47F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AFD36F-DA5B-4959-AF09-F19CA28A2FE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AA8482-3F24-4641-B731-E367C855312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E322A9-1E02-42D1-B013-878ABF7082DA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278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授權、規則、共同接受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3F9A3C-66BD-4F0E-BDFA-1C394F13A3D8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先由私鑰簽署表達授權；再由節點驗證規則；最後透過區塊與共識形成共同紀錄。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7C7F99-917F-4525-B177-79F8411E9FA0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6F047D-5037-406E-A2A9-186DEDA0357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鏈上安全仍仰賴金鑰、節點分布、共識、治理，以及鏈下資料與法律安排。</a:t>
            </a:r>
          </a:p>
        </p:txBody>
      </p:sp>
    </p:spTree>
    <p:extLst>
      <p:ext uri="{BB962C8B-B14F-4D97-AF65-F5344CB8AC3E}">
        <p14:creationId xmlns:p14="http://schemas.microsoft.com/office/powerpoint/2010/main" val="1254208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6B9B41D-C020-4456-A808-1BBBD698D6F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C44F7F-4479-4429-9B42-9DCF5F17776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B0BC46-2C86-4D19-AA0F-1C6E4105CD3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210BC6-63D8-48B5-AD4E-8021A28BCD4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20D2A1-8165-440D-A257-58E1777E20C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D97035-EA14-454E-B789-EBEFFF28BAF7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E37703-4C22-4033-B5EE-EE2086284CA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28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99E507-0800-477C-9EAB-67364AFF017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365383-E688-4975-B259-DA3ACDE09F8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2｜第三節｜快問快答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D6195D-DAD6-474A-8079-EEE25A67769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59524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2A8460-EB19-42C9-80DC-B4DBC523F690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許可型鏈的特徵通常是？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B86274-B0AD-4D25-B34A-26562BF152B8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無人管理　B 參與者需經核准　C 沒有節點　D 沒有規則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2DD09E-A7C0-4FD4-939D-B60B7DD12B39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880EF7-7BB1-4331-A950-7393D707025F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答案：B。可限制參與與權限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ADF508-79B3-4360-B3B6-A4087A49C927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公開地址通常提供什麼程度身分？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5D761B-32C4-4848-A06A-1F3F2B8883CD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完全匿名　B 假名識別　C 法定姓名　D 生物辨識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AB7839-920B-4926-A04C-5C3D3ACE6D58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336A45-FAC8-4EBD-8716-C08B9D078BD7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830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答案：B。仍可能被鏈下資料連結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447DA8-EB64-4D4D-8AA7-840652EC7228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哪個屬於鏈下真實性問題？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51E37B-5FE4-4726-AEDD-3B91F75A5B84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簽章格式　B 貨物是否送達　C 區塊摘要　D nonce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2195C3-C891-4009-9EBC-F78E9AC72805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E42D46-AE0E-4593-8CDA-A88D6ADF64B4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答案：B。需外部資料證明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7A3392-BA61-4395-A31C-4BFBD18E82BC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2022年Ethereum完成哪項重要改變？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527F9A-9A91-48D1-A431-0EF3597FD5F2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關閉網路　B 轉向PoS　C 取消交易　D 取消區塊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3A7A9D-30A5-4A33-9A16-232367CE9B47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E34163-1B1D-43C4-8A27-A836B4D49A30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答案：B。The Merge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E533C3-E369-4159-9DBB-6524A08FAE00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分析鏈上交易最先應問？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3992F3-5322-4B3E-B034-F1A77B705E3C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幣價會不會漲　B 誰授權與誰驗證　C 顏色　D 廣告量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913692-B9FB-4864-A665-7AE53FDC52C4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6A3CB8-7B73-45E2-A147-E7E0BE9677CC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答案：B。先確認控制與責任</a:t>
            </a:r>
          </a:p>
        </p:txBody>
      </p:sp>
    </p:spTree>
    <p:extLst>
      <p:ext uri="{BB962C8B-B14F-4D97-AF65-F5344CB8AC3E}">
        <p14:creationId xmlns:p14="http://schemas.microsoft.com/office/powerpoint/2010/main" val="5954603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1468</Words>
  <Application>Microsoft Office PowerPoint</Application>
  <DocSecurity>0</DocSecurity>
  <PresentationFormat>寬螢幕</PresentationFormat>
  <Paragraphs>488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5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usc</cp:lastModifiedBy>
  <cp:revision>2</cp:revision>
  <dcterms:created xsi:type="dcterms:W3CDTF">2026-09-03T04:28:55Z</dcterms:created>
  <dcterms:modified xsi:type="dcterms:W3CDTF">2026-09-23T01:25:28Z</dcterms:modified>
</cp:coreProperties>
</file>