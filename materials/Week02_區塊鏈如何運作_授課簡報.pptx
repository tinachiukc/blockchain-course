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a63b4cbc8f04f72" /><Relationship Type="http://schemas.openxmlformats.org/officeDocument/2006/relationships/extended-properties" Target="/docProps/app.xml" Id="R7c899c6551724972" /><Relationship Type="http://schemas.openxmlformats.org/officeDocument/2006/relationships/officeDocument" Target="/ppt/presentation.xml" Id="Rd3a38ba7028f4b1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2a51d4238624200"/>
  </p:sldMasterIdLst>
  <p:notesMasterIdLst>
    <p:notesMasterId xmlns:r="http://schemas.openxmlformats.org/officeDocument/2006/relationships" r:id="R23b2f81c6416494d"/>
  </p:notesMasterIdLst>
  <p:sldIdLst>
    <p:sldId xmlns:r="http://schemas.openxmlformats.org/officeDocument/2006/relationships" id="256" r:id="Rbb6b584c43564d69"/>
    <p:sldId xmlns:r="http://schemas.openxmlformats.org/officeDocument/2006/relationships" id="257" r:id="R89057a7e3f984d2b"/>
    <p:sldId xmlns:r="http://schemas.openxmlformats.org/officeDocument/2006/relationships" id="258" r:id="Ra0acf2bcd46f497a"/>
    <p:sldId xmlns:r="http://schemas.openxmlformats.org/officeDocument/2006/relationships" id="259" r:id="Rc19facc717394a8c"/>
    <p:sldId xmlns:r="http://schemas.openxmlformats.org/officeDocument/2006/relationships" id="260" r:id="R7c884dbc100a48dc"/>
    <p:sldId xmlns:r="http://schemas.openxmlformats.org/officeDocument/2006/relationships" id="261" r:id="Ra7c948314f914e54"/>
    <p:sldId xmlns:r="http://schemas.openxmlformats.org/officeDocument/2006/relationships" id="262" r:id="Re9003a1a93f24b3a"/>
    <p:sldId xmlns:r="http://schemas.openxmlformats.org/officeDocument/2006/relationships" id="263" r:id="R1e2d424204804383"/>
    <p:sldId xmlns:r="http://schemas.openxmlformats.org/officeDocument/2006/relationships" id="264" r:id="R72e042787a94459c"/>
    <p:sldId xmlns:r="http://schemas.openxmlformats.org/officeDocument/2006/relationships" id="265" r:id="R0bab18dc8e5d4bfa"/>
    <p:sldId xmlns:r="http://schemas.openxmlformats.org/officeDocument/2006/relationships" id="266" r:id="R4204b525eb944b79"/>
    <p:sldId xmlns:r="http://schemas.openxmlformats.org/officeDocument/2006/relationships" id="267" r:id="R2cec11e7d9fa4297"/>
    <p:sldId xmlns:r="http://schemas.openxmlformats.org/officeDocument/2006/relationships" id="268" r:id="R8398f5564a8d4b25"/>
    <p:sldId xmlns:r="http://schemas.openxmlformats.org/officeDocument/2006/relationships" id="269" r:id="R14d3d25d18c648d7"/>
    <p:sldId xmlns:r="http://schemas.openxmlformats.org/officeDocument/2006/relationships" id="270" r:id="Rab44286492c44711"/>
    <p:sldId xmlns:r="http://schemas.openxmlformats.org/officeDocument/2006/relationships" id="271" r:id="R1b5c52bac5514fdc"/>
    <p:sldId xmlns:r="http://schemas.openxmlformats.org/officeDocument/2006/relationships" id="272" r:id="R6e854035f31e457b"/>
    <p:sldId xmlns:r="http://schemas.openxmlformats.org/officeDocument/2006/relationships" id="273" r:id="R5d17240c2dbf4dce"/>
    <p:sldId xmlns:r="http://schemas.openxmlformats.org/officeDocument/2006/relationships" id="274" r:id="Rb93077ec81a74418"/>
    <p:sldId xmlns:r="http://schemas.openxmlformats.org/officeDocument/2006/relationships" id="275" r:id="Rebef09ccf9234317"/>
    <p:sldId xmlns:r="http://schemas.openxmlformats.org/officeDocument/2006/relationships" id="276" r:id="Rfe8d140d444f4b59"/>
    <p:sldId xmlns:r="http://schemas.openxmlformats.org/officeDocument/2006/relationships" id="277" r:id="Rd26a220ec3514994"/>
    <p:sldId xmlns:r="http://schemas.openxmlformats.org/officeDocument/2006/relationships" id="278" r:id="R52508f07f4224461"/>
    <p:sldId xmlns:r="http://schemas.openxmlformats.org/officeDocument/2006/relationships" id="279" r:id="Rc1f1c2bbe55d4f28"/>
    <p:sldId xmlns:r="http://schemas.openxmlformats.org/officeDocument/2006/relationships" id="280" r:id="R4072ed240d7d4a02"/>
    <p:sldId xmlns:r="http://schemas.openxmlformats.org/officeDocument/2006/relationships" id="281" r:id="R6118d77bd57d47e8"/>
    <p:sldId xmlns:r="http://schemas.openxmlformats.org/officeDocument/2006/relationships" id="282" r:id="Ra69c1ad9c165499a"/>
    <p:sldId xmlns:r="http://schemas.openxmlformats.org/officeDocument/2006/relationships" id="283" r:id="Rc8961660abb3493c"/>
    <p:sldId xmlns:r="http://schemas.openxmlformats.org/officeDocument/2006/relationships" id="284" r:id="Rd0fd4120858641bc"/>
    <p:sldId xmlns:r="http://schemas.openxmlformats.org/officeDocument/2006/relationships" id="285" r:id="Ra6e9b392b6cf451e"/>
    <p:sldId xmlns:r="http://schemas.openxmlformats.org/officeDocument/2006/relationships" id="286" r:id="Re0188347c8d44e76"/>
    <p:sldId xmlns:r="http://schemas.openxmlformats.org/officeDocument/2006/relationships" id="287" r:id="R90300268be144fa0"/>
    <p:sldId xmlns:r="http://schemas.openxmlformats.org/officeDocument/2006/relationships" id="288" r:id="R74d08aba935a433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49b1e2faddc43f9" /><Relationship Type="http://schemas.openxmlformats.org/officeDocument/2006/relationships/slideMaster" Target="/ppt/slideMasters/slideMaster1.xml" Id="R92a51d4238624200" /><Relationship Type="http://schemas.openxmlformats.org/officeDocument/2006/relationships/notesMaster" Target="/ppt/notesMasters/notesMaster1.xml" Id="R23b2f81c6416494d" /><Relationship Type="http://schemas.openxmlformats.org/officeDocument/2006/relationships/presProps" Target="/ppt/presProps.xml" Id="R40c59de7f0234a70" /><Relationship Type="http://schemas.openxmlformats.org/officeDocument/2006/relationships/tableStyles" Target="/ppt/tableStyles.xml" Id="R3a244bff25134e9e" /><Relationship Type="http://schemas.openxmlformats.org/officeDocument/2006/relationships/slide" Target="/ppt/slides/slide1.xml" Id="Rbb6b584c43564d69" /><Relationship Type="http://schemas.openxmlformats.org/officeDocument/2006/relationships/slide" Target="/ppt/slides/slide2.xml" Id="R89057a7e3f984d2b" /><Relationship Type="http://schemas.openxmlformats.org/officeDocument/2006/relationships/slide" Target="/ppt/slides/slide3.xml" Id="Ra0acf2bcd46f497a" /><Relationship Type="http://schemas.openxmlformats.org/officeDocument/2006/relationships/slide" Target="/ppt/slides/slide4.xml" Id="Rc19facc717394a8c" /><Relationship Type="http://schemas.openxmlformats.org/officeDocument/2006/relationships/slide" Target="/ppt/slides/slide5.xml" Id="R7c884dbc100a48dc" /><Relationship Type="http://schemas.openxmlformats.org/officeDocument/2006/relationships/slide" Target="/ppt/slides/slide6.xml" Id="Ra7c948314f914e54" /><Relationship Type="http://schemas.openxmlformats.org/officeDocument/2006/relationships/slide" Target="/ppt/slides/slide7.xml" Id="Re9003a1a93f24b3a" /><Relationship Type="http://schemas.openxmlformats.org/officeDocument/2006/relationships/slide" Target="/ppt/slides/slide8.xml" Id="R1e2d424204804383" /><Relationship Type="http://schemas.openxmlformats.org/officeDocument/2006/relationships/slide" Target="/ppt/slides/slide9.xml" Id="R72e042787a94459c" /><Relationship Type="http://schemas.openxmlformats.org/officeDocument/2006/relationships/slide" Target="/ppt/slides/slide10.xml" Id="R0bab18dc8e5d4bfa" /><Relationship Type="http://schemas.openxmlformats.org/officeDocument/2006/relationships/slide" Target="/ppt/slides/slide11.xml" Id="R4204b525eb944b79" /><Relationship Type="http://schemas.openxmlformats.org/officeDocument/2006/relationships/slide" Target="/ppt/slides/slide12.xml" Id="R2cec11e7d9fa4297" /><Relationship Type="http://schemas.openxmlformats.org/officeDocument/2006/relationships/slide" Target="/ppt/slides/slide13.xml" Id="R8398f5564a8d4b25" /><Relationship Type="http://schemas.openxmlformats.org/officeDocument/2006/relationships/slide" Target="/ppt/slides/slide14.xml" Id="R14d3d25d18c648d7" /><Relationship Type="http://schemas.openxmlformats.org/officeDocument/2006/relationships/slide" Target="/ppt/slides/slide15.xml" Id="Rab44286492c44711" /><Relationship Type="http://schemas.openxmlformats.org/officeDocument/2006/relationships/slide" Target="/ppt/slides/slide16.xml" Id="R1b5c52bac5514fdc" /><Relationship Type="http://schemas.openxmlformats.org/officeDocument/2006/relationships/slide" Target="/ppt/slides/slide17.xml" Id="R6e854035f31e457b" /><Relationship Type="http://schemas.openxmlformats.org/officeDocument/2006/relationships/slide" Target="/ppt/slides/slide18.xml" Id="R5d17240c2dbf4dce" /><Relationship Type="http://schemas.openxmlformats.org/officeDocument/2006/relationships/slide" Target="/ppt/slides/slide19.xml" Id="Rb93077ec81a74418" /><Relationship Type="http://schemas.openxmlformats.org/officeDocument/2006/relationships/slide" Target="/ppt/slides/slide20.xml" Id="Rebef09ccf9234317" /><Relationship Type="http://schemas.openxmlformats.org/officeDocument/2006/relationships/slide" Target="/ppt/slides/slide21.xml" Id="Rfe8d140d444f4b59" /><Relationship Type="http://schemas.openxmlformats.org/officeDocument/2006/relationships/slide" Target="/ppt/slides/slide22.xml" Id="Rd26a220ec3514994" /><Relationship Type="http://schemas.openxmlformats.org/officeDocument/2006/relationships/slide" Target="/ppt/slides/slide23.xml" Id="R52508f07f4224461" /><Relationship Type="http://schemas.openxmlformats.org/officeDocument/2006/relationships/slide" Target="/ppt/slides/slide24.xml" Id="Rc1f1c2bbe55d4f28" /><Relationship Type="http://schemas.openxmlformats.org/officeDocument/2006/relationships/slide" Target="/ppt/slides/slide25.xml" Id="R4072ed240d7d4a02" /><Relationship Type="http://schemas.openxmlformats.org/officeDocument/2006/relationships/slide" Target="/ppt/slides/slide26.xml" Id="R6118d77bd57d47e8" /><Relationship Type="http://schemas.openxmlformats.org/officeDocument/2006/relationships/slide" Target="/ppt/slides/slide27.xml" Id="Ra69c1ad9c165499a" /><Relationship Type="http://schemas.openxmlformats.org/officeDocument/2006/relationships/slide" Target="/ppt/slides/slide28.xml" Id="Rc8961660abb3493c" /><Relationship Type="http://schemas.openxmlformats.org/officeDocument/2006/relationships/slide" Target="/ppt/slides/slide29.xml" Id="Rd0fd4120858641bc" /><Relationship Type="http://schemas.openxmlformats.org/officeDocument/2006/relationships/slide" Target="/ppt/slides/slide30.xml" Id="Ra6e9b392b6cf451e" /><Relationship Type="http://schemas.openxmlformats.org/officeDocument/2006/relationships/slide" Target="/ppt/slides/slide31.xml" Id="Re0188347c8d44e76" /><Relationship Type="http://schemas.openxmlformats.org/officeDocument/2006/relationships/slide" Target="/ppt/slides/slide32.xml" Id="R90300268be144fa0" /><Relationship Type="http://schemas.openxmlformats.org/officeDocument/2006/relationships/slide" Target="/ppt/slides/slide33.xml" Id="R74d08aba935a433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53fc788da4a493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bed26ac14e148cb" /><Relationship Type="http://schemas.openxmlformats.org/officeDocument/2006/relationships/notesMaster" Target="/ppt/notesMasters/notesMaster1.xml" Id="R8a68a86a51704a1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f3234f48aa647f0" /><Relationship Type="http://schemas.openxmlformats.org/officeDocument/2006/relationships/notesMaster" Target="/ppt/notesMasters/notesMaster1.xml" Id="Rf88fcf487c2c4a6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107f1ee9d1d4f6a" /><Relationship Type="http://schemas.openxmlformats.org/officeDocument/2006/relationships/notesMaster" Target="/ppt/notesMasters/notesMaster1.xml" Id="R7bd3fc8c34214d3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30cec83be074b41" /><Relationship Type="http://schemas.openxmlformats.org/officeDocument/2006/relationships/notesMaster" Target="/ppt/notesMasters/notesMaster1.xml" Id="R3d7e9ab35eb24cc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060bd83fd6e4296" /><Relationship Type="http://schemas.openxmlformats.org/officeDocument/2006/relationships/notesMaster" Target="/ppt/notesMasters/notesMaster1.xml" Id="Rf18a72d0bd07440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60436a1641b40dc" /><Relationship Type="http://schemas.openxmlformats.org/officeDocument/2006/relationships/notesMaster" Target="/ppt/notesMasters/notesMaster1.xml" Id="R7612974ea35c47f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07cc8f5806e4c19" /><Relationship Type="http://schemas.openxmlformats.org/officeDocument/2006/relationships/notesMaster" Target="/ppt/notesMasters/notesMaster1.xml" Id="Re1728ecff3b043e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e009300e32743c2" /><Relationship Type="http://schemas.openxmlformats.org/officeDocument/2006/relationships/notesMaster" Target="/ppt/notesMasters/notesMaster1.xml" Id="Ra66065c52f08403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0702b46e29f47ed" /><Relationship Type="http://schemas.openxmlformats.org/officeDocument/2006/relationships/notesMaster" Target="/ppt/notesMasters/notesMaster1.xml" Id="R33213d9ca050439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df0ccbbaecd43a9" /><Relationship Type="http://schemas.openxmlformats.org/officeDocument/2006/relationships/notesMaster" Target="/ppt/notesMasters/notesMaster1.xml" Id="R57f73968298e4e4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ce8b79bd91246ee" /><Relationship Type="http://schemas.openxmlformats.org/officeDocument/2006/relationships/notesMaster" Target="/ppt/notesMasters/notesMaster1.xml" Id="R903abf4c084c4d8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9f582ee4bc84cce" /><Relationship Type="http://schemas.openxmlformats.org/officeDocument/2006/relationships/notesMaster" Target="/ppt/notesMasters/notesMaster1.xml" Id="R831097a6309b42f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eed202b874d4f3c" /><Relationship Type="http://schemas.openxmlformats.org/officeDocument/2006/relationships/notesMaster" Target="/ppt/notesMasters/notesMaster1.xml" Id="R94624cdf5c79415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936ef29cf3d48bd" /><Relationship Type="http://schemas.openxmlformats.org/officeDocument/2006/relationships/notesMaster" Target="/ppt/notesMasters/notesMaster1.xml" Id="R7642fb257ff24885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4f0b3f817a04801" /><Relationship Type="http://schemas.openxmlformats.org/officeDocument/2006/relationships/notesMaster" Target="/ppt/notesMasters/notesMaster1.xml" Id="R5ea9f23d87404c8c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ef531251ef8f42b8" /><Relationship Type="http://schemas.openxmlformats.org/officeDocument/2006/relationships/notesMaster" Target="/ppt/notesMasters/notesMaster1.xml" Id="R237fb280d4444975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2929a9135d24e44" /><Relationship Type="http://schemas.openxmlformats.org/officeDocument/2006/relationships/notesMaster" Target="/ppt/notesMasters/notesMaster1.xml" Id="R9ecb9a14b314483f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9b680d0ea3e047ee" /><Relationship Type="http://schemas.openxmlformats.org/officeDocument/2006/relationships/notesMaster" Target="/ppt/notesMasters/notesMaster1.xml" Id="R5dcf139131b140b4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8b5baa4263034619" /><Relationship Type="http://schemas.openxmlformats.org/officeDocument/2006/relationships/notesMaster" Target="/ppt/notesMasters/notesMaster1.xml" Id="R6cae014465714920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3477ad6d1321400a" /><Relationship Type="http://schemas.openxmlformats.org/officeDocument/2006/relationships/notesMaster" Target="/ppt/notesMasters/notesMaster1.xml" Id="R2b712e6fa378436e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a774f18b12f144ab" /><Relationship Type="http://schemas.openxmlformats.org/officeDocument/2006/relationships/notesMaster" Target="/ppt/notesMasters/notesMaster1.xml" Id="R9e1f7a4894794a3e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524b25d48b52470f" /><Relationship Type="http://schemas.openxmlformats.org/officeDocument/2006/relationships/notesMaster" Target="/ppt/notesMasters/notesMaster1.xml" Id="Rf925608d2e6b4ea1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ce5b06c1b317473a" /><Relationship Type="http://schemas.openxmlformats.org/officeDocument/2006/relationships/notesMaster" Target="/ppt/notesMasters/notesMaster1.xml" Id="R15707ae2414147f7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155e1502e8c04390" /><Relationship Type="http://schemas.openxmlformats.org/officeDocument/2006/relationships/notesMaster" Target="/ppt/notesMasters/notesMaster1.xml" Id="Ra8ba866d6d6a4ed9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305338c8d3fb4f0e" /><Relationship Type="http://schemas.openxmlformats.org/officeDocument/2006/relationships/notesMaster" Target="/ppt/notesMasters/notesMaster1.xml" Id="Ref0e531d4dd14bad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57b6693d6abb4d3b" /><Relationship Type="http://schemas.openxmlformats.org/officeDocument/2006/relationships/notesMaster" Target="/ppt/notesMasters/notesMaster1.xml" Id="Rc50d55de826a40bc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c1d14861f85f48fd" /><Relationship Type="http://schemas.openxmlformats.org/officeDocument/2006/relationships/notesMaster" Target="/ppt/notesMasters/notesMaster1.xml" Id="R1c1e071993d54125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5af3527df77e43d8" /><Relationship Type="http://schemas.openxmlformats.org/officeDocument/2006/relationships/notesMaster" Target="/ppt/notesMasters/notesMaster1.xml" Id="R110be45d39444d64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1b3ebb427f164016" /><Relationship Type="http://schemas.openxmlformats.org/officeDocument/2006/relationships/notesMaster" Target="/ppt/notesMasters/notesMaster1.xml" Id="Rdd394a0b48034b29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940f949f3df34025" /><Relationship Type="http://schemas.openxmlformats.org/officeDocument/2006/relationships/notesMaster" Target="/ppt/notesMasters/notesMaster1.xml" Id="Ra0e374413e0d4361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6db95a7f54924998" /><Relationship Type="http://schemas.openxmlformats.org/officeDocument/2006/relationships/notesMaster" Target="/ppt/notesMasters/notesMaster1.xml" Id="R41529144445f4da0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eee0319e2252426a" /><Relationship Type="http://schemas.openxmlformats.org/officeDocument/2006/relationships/notesMaster" Target="/ppt/notesMasters/notesMaster1.xml" Id="Reb7936b3a8a947f7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5855f883fc7f4449" /><Relationship Type="http://schemas.openxmlformats.org/officeDocument/2006/relationships/notesMaster" Target="/ppt/notesMasters/notesMaster1.xml" Id="R9b062674a7ed442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以舊教材的公開帳本與交易故事為基礎，改以金融管理學生可掌握的交易授權問題切入。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把公開帳本故事轉成三項需求：授權、完整性與防止重複支付。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不做數學運算，只要求學生理解資料完整性用途。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https://nvlpubs.nist.gov/nistpubs/ir/2018/NIST.IR.8202.pdf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用風險語言說明：是計算上難以做到，不是邏輯上絕對不可能。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https://nvlpubs.nist.gov/nistpubs/ir/2018/NIST.IR.8202.pdf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提醒：錢包保存的核心通常是控制金鑰的能力，不是把代幣檔案存入手機。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簽章不能單獨保證簽署者的法定姓名，也不能保證交易目的合法。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https://bitcoin.org/bitcoin.pdf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地址與真實身分的連結，通常需要KYC、調查或其他鏈下資料。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區分鏈上資產紀錄與錢包工具；後續託管單元再深入自託管與第三方託管。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以Ethereum交易定義補充：交易是由帳戶發起、經密碼學簽署的指令。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https://ethereum.org/developers/docs/transactions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保留舊教材找零交易的概念，補入帳戶模型，避免把Bitcoin設計當成所有鏈的共同做法。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https://developer.bitcoin.org/reference/transactions.html</a:t>
            </a:r>
          </a:p>
          <a:p xmlns:a="http://schemas.openxmlformats.org/drawingml/2006/main">
            <a:r>
              <a:t>- https://ethereum.org/developers/docs/transactions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不同節點的mempool可能不同；手續費與網路狀況會影響被選取時間。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https://ethereum.org/developers/docs/consensus-mechanisms/pos/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驗證規則依鏈而異；正確格式不等於經濟活動合法。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舊教材只描述礦工；新版改成出塊者，涵蓋PoW礦工與PoS驗證者等不同角色。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入門層次只理解用途，不要求建立Merkle tree或計算。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https://bitcoin.org/bitcoin.pdf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區塊欄位因網路而異，不把Bitcoin格式誤當成唯一標準。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https://ethereum.org/developers/docs/blocks/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共識不是讓所有人對所有事情意見一致，而是就帳本狀態依規則形成一致。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舊教材以PoW挖礦為主；新版補入Ethereum已採PoS的現況，但詳細比較留到後續共識單元。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https://ethereum.org/developers/docs/consensus-mechanisms/pos/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金融作業須依資產、鏈與風險設定確認門檻，不可把『上鏈』直接等同不可逆。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https://ethereum.org/developers/docs/consensus-mechanisms/pos/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請學生指出每個階段的主要責任者與可能失敗原因。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公有、私有、聯盟、無許可與許可描述不同面向，不宜全部混為一組二分法。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https://nvlpubs.nist.gov/nistpubs/ir/2018/NIST.IR.8202.pdf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金融情境不能只問公有或私有，必須把權限拆開分析。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用『假名』而非『匿名』描述多數公開區塊鏈較準確。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連結後續錢包與託管單元；本週先建立風險辨識。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把oracle problem與真實世界資料風險留作後續應用單元的伏筆。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金融管理學生應以控制組合評估風險，而不是只看鏈本身是否被稱為安全。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舊教材把Hal Finney與Satoshi並列於1998並不準確；改為可核對的里程碑。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https://bitcoin.org/bitcoin.pdf</a:t>
            </a:r>
          </a:p>
          <a:p xmlns:a="http://schemas.openxmlformats.org/drawingml/2006/main">
            <a:r>
              <a:t>- https://ethereum.org/developers/docs/consensus-mechanisms/pos/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只建立分層觀念，不深入rollup協議；避免學生用2009年的單鏈模型理解所有當代系統。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https://ethereum.org/roadmap/scaling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這五問把技術流程轉成金融管理與風險分析工具。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14f09f035841f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7d2462075834dc7" /><Relationship Type="http://schemas.openxmlformats.org/officeDocument/2006/relationships/slideLayout" Target="/ppt/slideLayouts/slideLayout1.xml" Id="R08d7087ca4dd4f0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8d7087ca4dd4f0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3a185f0a4643b0" /><Relationship Type="http://schemas.openxmlformats.org/officeDocument/2006/relationships/notesSlide" Target="/ppt/notesSlides/notesSlide1.xml" Id="R2ed8f353847b4d4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6190550b244d86" /><Relationship Type="http://schemas.openxmlformats.org/officeDocument/2006/relationships/notesSlide" Target="/ppt/notesSlides/notesSlide2.xml" Id="Rcd94f41617a84d2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7aad4512944747" /><Relationship Type="http://schemas.openxmlformats.org/officeDocument/2006/relationships/notesSlide" Target="/ppt/notesSlides/notesSlide3.xml" Id="R1fc50edf37c6482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f5991a9ea546ea" /><Relationship Type="http://schemas.openxmlformats.org/officeDocument/2006/relationships/notesSlide" Target="/ppt/notesSlides/notesSlide4.xml" Id="R7546117ca67f4f5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d8b88957b7473e" /><Relationship Type="http://schemas.openxmlformats.org/officeDocument/2006/relationships/notesSlide" Target="/ppt/notesSlides/notesSlide5.xml" Id="R5ed2f2f275d845e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5b2b4e613a4b13" /><Relationship Type="http://schemas.openxmlformats.org/officeDocument/2006/relationships/notesSlide" Target="/ppt/notesSlides/notesSlide6.xml" Id="R64e855ade6e8404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2e3e64572d4dfc" /><Relationship Type="http://schemas.openxmlformats.org/officeDocument/2006/relationships/notesSlide" Target="/ppt/notesSlides/notesSlide7.xml" Id="Re47d35f5e4a6451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bbd2b9709341d4" /><Relationship Type="http://schemas.openxmlformats.org/officeDocument/2006/relationships/notesSlide" Target="/ppt/notesSlides/notesSlide8.xml" Id="R078973f4a85349b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47144d40744713" /><Relationship Type="http://schemas.openxmlformats.org/officeDocument/2006/relationships/notesSlide" Target="/ppt/notesSlides/notesSlide9.xml" Id="R2683ee3e645641f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91ffe3037a4ee7" /><Relationship Type="http://schemas.openxmlformats.org/officeDocument/2006/relationships/notesSlide" Target="/ppt/notesSlides/notesSlide10.xml" Id="R605e1b9a1da34a9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1e12c7ab6c4c17" /><Relationship Type="http://schemas.openxmlformats.org/officeDocument/2006/relationships/notesSlide" Target="/ppt/notesSlides/notesSlide11.xml" Id="R8ee2c4aebe9348e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8678fbdf714f2f" /><Relationship Type="http://schemas.openxmlformats.org/officeDocument/2006/relationships/notesSlide" Target="/ppt/notesSlides/notesSlide12.xml" Id="Rab75900ea3c642b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fe4b2ae8294c7c" /><Relationship Type="http://schemas.openxmlformats.org/officeDocument/2006/relationships/notesSlide" Target="/ppt/notesSlides/notesSlide13.xml" Id="R40ea30e2dc994e2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86af0e96184297" /><Relationship Type="http://schemas.openxmlformats.org/officeDocument/2006/relationships/notesSlide" Target="/ppt/notesSlides/notesSlide14.xml" Id="R492ccdd1babe410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dbcc19fca54d64" /><Relationship Type="http://schemas.openxmlformats.org/officeDocument/2006/relationships/notesSlide" Target="/ppt/notesSlides/notesSlide15.xml" Id="R936a87a039aa4f9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09c094459042de" /><Relationship Type="http://schemas.openxmlformats.org/officeDocument/2006/relationships/notesSlide" Target="/ppt/notesSlides/notesSlide16.xml" Id="R8d0a181a0989479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e00ca50d7643e3" /><Relationship Type="http://schemas.openxmlformats.org/officeDocument/2006/relationships/notesSlide" Target="/ppt/notesSlides/notesSlide17.xml" Id="R97707b3905ce491e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2aea4de1af4a65" /><Relationship Type="http://schemas.openxmlformats.org/officeDocument/2006/relationships/notesSlide" Target="/ppt/notesSlides/notesSlide18.xml" Id="R0253ce258dea435c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68ba4c95db44df" /><Relationship Type="http://schemas.openxmlformats.org/officeDocument/2006/relationships/notesSlide" Target="/ppt/notesSlides/notesSlide19.xml" Id="R87f6711bfd3a40a0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0c72f2f3cc40cd" /><Relationship Type="http://schemas.openxmlformats.org/officeDocument/2006/relationships/notesSlide" Target="/ppt/notesSlides/notesSlide20.xml" Id="Rb242eb16e7644e45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8c45ff7e164118" /><Relationship Type="http://schemas.openxmlformats.org/officeDocument/2006/relationships/notesSlide" Target="/ppt/notesSlides/notesSlide21.xml" Id="Ra73f20e0316b45a4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3b5e3f530d4b7c" /><Relationship Type="http://schemas.openxmlformats.org/officeDocument/2006/relationships/notesSlide" Target="/ppt/notesSlides/notesSlide22.xml" Id="R40fcbd37e00840cf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45f0190bc04929" /><Relationship Type="http://schemas.openxmlformats.org/officeDocument/2006/relationships/notesSlide" Target="/ppt/notesSlides/notesSlide23.xml" Id="Ra236a213ff624af8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386262d415405b" /><Relationship Type="http://schemas.openxmlformats.org/officeDocument/2006/relationships/notesSlide" Target="/ppt/notesSlides/notesSlide24.xml" Id="Rd1846d79d5f34505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59c9d0357f4d6b" /><Relationship Type="http://schemas.openxmlformats.org/officeDocument/2006/relationships/notesSlide" Target="/ppt/notesSlides/notesSlide25.xml" Id="Rfb63be93f33a4404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dcbd2e90d34cb8" /><Relationship Type="http://schemas.openxmlformats.org/officeDocument/2006/relationships/notesSlide" Target="/ppt/notesSlides/notesSlide26.xml" Id="Re8b221111bf44e9f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d475c39d184bf7" /><Relationship Type="http://schemas.openxmlformats.org/officeDocument/2006/relationships/notesSlide" Target="/ppt/notesSlides/notesSlide27.xml" Id="Rd040ba77779b4ef0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bb7014acdc4220" /><Relationship Type="http://schemas.openxmlformats.org/officeDocument/2006/relationships/notesSlide" Target="/ppt/notesSlides/notesSlide28.xml" Id="R6ea444049a5c4d17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2c91096df942bf" /><Relationship Type="http://schemas.openxmlformats.org/officeDocument/2006/relationships/notesSlide" Target="/ppt/notesSlides/notesSlide29.xml" Id="R8211732539c8411f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126c089a32477e" /><Relationship Type="http://schemas.openxmlformats.org/officeDocument/2006/relationships/notesSlide" Target="/ppt/notesSlides/notesSlide30.xml" Id="R8bcce14538ac4ea3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3e83e1cc2346d7" /><Relationship Type="http://schemas.openxmlformats.org/officeDocument/2006/relationships/notesSlide" Target="/ppt/notesSlides/notesSlide31.xml" Id="R1c096b67bf4949ab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62605c43ea4bdb" /><Relationship Type="http://schemas.openxmlformats.org/officeDocument/2006/relationships/notesSlide" Target="/ppt/notesSlides/notesSlide32.xml" Id="Ra56ab73f9644480c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e5821719fd4d96" /><Relationship Type="http://schemas.openxmlformats.org/officeDocument/2006/relationships/notesSlide" Target="/ppt/notesSlides/notesSlide33.xml" Id="Rac6b304f480c44f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00A346-1005-4094-A5BB-2AC04C5AC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810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86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區塊鏈概論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43A191-897B-4856-9F60-E66D09A38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524000"/>
            <a:ext cx="10287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9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9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Week 2</a:t>
            </a:r>
          </a:p>
          <a:p xmlns:a="http://schemas.openxmlformats.org/drawingml/2006/main">
            <a:pPr algn="l">
              <a:defRPr sz="49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9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區塊鏈如何運作？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8EC250-14F7-4124-96F9-A352CC0FC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619625"/>
            <a:ext cx="9144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從交易授權、區塊形成到共同確認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816347-26A6-49B3-BB5C-39CB65D51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8170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75758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第一節：交易為什麼可以被驗證</a:t>
            </a:r>
          </a:p>
        </p:txBody>
      </p:sp>
    </p:spTree>
    <p:extLst>
      <p:ext uri="{BB962C8B-B14F-4D97-AF65-F5344CB8AC3E}">
        <p14:creationId xmlns:p14="http://schemas.microsoft.com/office/powerpoint/2010/main" val="69508885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0FC2EA-F395-47D7-9A87-C68B0B5CE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第一節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C27EDB-A027-4FA8-B15A-D0FDD937F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287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共享帳本先要回答：誰有權改變資產狀態？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756075-001A-4189-9709-5E126C6C5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F6518B-07E1-40CA-B8E9-204F454C7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2｜第一節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064321-AF78-432B-9D26-87851B56A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8393C1-B395-43AA-9F0C-CD27CDD34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57375"/>
            <a:ext cx="54292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2E8475-2937-4DF5-AD89-BF2B316F5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57375"/>
            <a:ext cx="56578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4E3779-B242-4D5C-89A0-94C1B4C4D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145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一筆轉帳包含兩件事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1BF397-6CA6-4FCA-BDA1-E641D8366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09875"/>
            <a:ext cx="4953000" cy="2524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帳本狀態要改變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發起人必須證明已授權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A86FE9-01F3-4EE6-B430-E2F30E4E0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14550"/>
            <a:ext cx="5162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不能只相信一個名字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61D002-879B-4977-8740-90BCA7619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09875"/>
            <a:ext cx="5162550" cy="2524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姓名可以冒用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訊息可能被竄改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同一筆資產可能被重複使用</a:t>
            </a:r>
          </a:p>
        </p:txBody>
      </p:sp>
    </p:spTree>
    <p:extLst>
      <p:ext uri="{BB962C8B-B14F-4D97-AF65-F5344CB8AC3E}">
        <p14:creationId xmlns:p14="http://schemas.microsoft.com/office/powerpoint/2010/main" val="25315938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340263-F2AB-4B8B-9CCD-51E874148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第一節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05FB56-FCD2-447C-873D-37C7D6877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287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雜湊把資料轉成可比較的數位指紋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7A92AE-7934-413F-AE94-0141880B3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C097D0-86D2-4F6D-9CCD-E8FD71266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2｜第一節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C19BB3-B66E-4A30-A44E-B1A05783D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6862F9-EB35-400E-B75D-D4FC6C535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952625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0278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雜湊函數的直覺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896A8A-C61A-4372-A03E-008BAA4DC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571750"/>
            <a:ext cx="111442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2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相同輸入會得到相同摘要；輸入只改一點，摘要通常就完全不同。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84DC92-0D34-4912-BE2D-2252F418E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267200"/>
            <a:ext cx="113538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98ACC5-5FEA-49D8-AC25-CCD7B9A62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0"/>
            <a:ext cx="108108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它適合檢查資料是否改變，不是把內容加密後再解密。</a:t>
            </a:r>
          </a:p>
        </p:txBody>
      </p:sp>
    </p:spTree>
    <p:extLst>
      <p:ext uri="{BB962C8B-B14F-4D97-AF65-F5344CB8AC3E}">
        <p14:creationId xmlns:p14="http://schemas.microsoft.com/office/powerpoint/2010/main" val="101830814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DD825E2-F5E0-48A2-B37D-2E71A39AE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第一節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100700-0884-4B5D-9E8E-95C9F7EFD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287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好的密碼學雜湊具有三項實務特性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9E6D3B-C58B-4514-9C98-A5F87111B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21DB85-4773-4729-B682-57A188820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2｜第一節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141EFF-F4D8-4464-9D5D-617BC490A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E9BA9F-5922-49E6-A2BE-47F49B9B0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57375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949945-84F3-4276-99D5-BE71D5FFA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47875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單向性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E2BB89-1474-42EE-8991-0F417FA0B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19375"/>
            <a:ext cx="49720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從摘要反推原始資料非常困難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251FEF-F17C-4B74-BA77-E4BA8E430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57375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25A7CD-9E8D-459B-B75B-A42D88B23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047875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抗第二原像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0D84B9-736E-4BB8-8D24-6C19CF822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619375"/>
            <a:ext cx="49720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難以替指定資料找出相同摘要的另一份資料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7B9C04-46A9-458A-B83D-7A6D2863F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905250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D5C986-003D-44C8-8A9E-957DBF5F8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95750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抗碰撞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FE521E-E8C6-4F70-8C38-61D3D82B3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0"/>
            <a:ext cx="49720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難以找到兩份不同資料卻具有相同摘要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A2A0A4-A844-4F43-A2B8-FAADEF020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05250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D18EDD-9177-47D3-8593-60F2C1B88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095750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固定長度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86EBDD-566C-41A4-931A-EB908D882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667250"/>
            <a:ext cx="49720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無論輸入多長，輸出摘要長度固定</a:t>
            </a:r>
          </a:p>
        </p:txBody>
      </p:sp>
    </p:spTree>
    <p:extLst>
      <p:ext uri="{BB962C8B-B14F-4D97-AF65-F5344CB8AC3E}">
        <p14:creationId xmlns:p14="http://schemas.microsoft.com/office/powerpoint/2010/main" val="32199609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3FEA38-223B-4258-81B8-F8E473418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第一節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A5743C-23E7-4CD3-ABCF-4426E8BA7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287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公鑰與私鑰分工：公開驗證，私下授權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24BEDA-6E21-4D91-8D73-EEEE48D29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7A1EC7-73BC-4295-A910-A4AC95326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2｜第一節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E1CFD9-5EAD-414B-B720-EB14748EF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3127B9-B739-4E56-BA0D-4C7F11D13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57375"/>
            <a:ext cx="54292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44051E-FFF6-49A0-9D5F-B9E9A9FB1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57375"/>
            <a:ext cx="56578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F7ECD4-B550-4F79-AFA3-B221E89E4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145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私鑰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6E9249-A746-407D-B4AF-1E3A43F47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09875"/>
            <a:ext cx="4953000" cy="2524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由持有人保密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用來產生數位簽章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外洩可能造成未授權交易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1405BF-20DE-4D8F-9D2D-B8589E479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14550"/>
            <a:ext cx="5162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公鑰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EA57AF-212A-4D8E-8D8A-651436B46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09875"/>
            <a:ext cx="5162550" cy="2524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可以提供他人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用來驗證簽章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可衍生或連結到鏈上地址</a:t>
            </a:r>
          </a:p>
        </p:txBody>
      </p:sp>
    </p:spTree>
    <p:extLst>
      <p:ext uri="{BB962C8B-B14F-4D97-AF65-F5344CB8AC3E}">
        <p14:creationId xmlns:p14="http://schemas.microsoft.com/office/powerpoint/2010/main" val="54391836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AC623BF-60B7-41BA-A155-614235B6B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第一節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DBF81C-46E4-4285-A9D3-3F15F8E84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287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數位簽章同時保護授權與訊息完整性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A24E0F-D872-4901-9AD8-58A93FC6F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FA7859-09B3-410B-8E41-76E03BE54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2｜第一節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389BD0-AD2A-40DF-84AD-ACCBF6BAA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F48E99-52F3-4F5F-9341-3EFBD145C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181350"/>
            <a:ext cx="266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4D31B2-D552-4C1E-A21D-A7A842106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181350"/>
            <a:ext cx="266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188664-8E54-4EA6-BECD-FA7DBD07F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181350"/>
            <a:ext cx="266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AB7B03-D8B1-44E4-81A1-2CBE590BC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181350"/>
            <a:ext cx="266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68C4E3-8459-4518-97E4-86EB9C825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143125"/>
            <a:ext cx="20193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BCC6EB-24E8-4194-9D9A-F9539310B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324100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EE06DC-8ADD-48F4-8484-EAEC8C1CE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38450"/>
            <a:ext cx="1676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建立交易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0A4DBB-5B05-45E7-B420-8C80079DC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38550"/>
            <a:ext cx="1676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填入接收者與金額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304ED2-DBCA-4865-8BD8-3B21A6B2E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2143125"/>
            <a:ext cx="20193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C1E154-CA80-45C8-952C-EE7314163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324100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2C43E38-21F3-493B-99D6-A4C43710D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838450"/>
            <a:ext cx="1676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產生摘要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93AB7D1-D65E-4DD7-A941-D1F0AAF8B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638550"/>
            <a:ext cx="1676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對交易內容計算雜湊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828B5C-F281-4B4D-93E9-315E1A44C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143125"/>
            <a:ext cx="20193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831BB09-8ABD-4004-9C5F-E717DE595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324100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7A83678-8D8E-4D2C-A350-E41BEB944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838450"/>
            <a:ext cx="1676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私鑰簽署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34409C9-7D0B-471F-A05D-45FF0D50E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638550"/>
            <a:ext cx="1676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產生專屬簽章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2DED5DE-D7EA-4888-8EEE-57232EF47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143125"/>
            <a:ext cx="20193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9FC76C1-10BD-46FE-845A-7F0479D45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324100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2E9D589-E5FF-4842-8425-45B5AC409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838450"/>
            <a:ext cx="1676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網路驗證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0AFF44D-0B95-4317-9B47-49602637A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638550"/>
            <a:ext cx="1676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用公鑰檢查簽章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2DC84B6-3AC9-4F92-B810-21B67A585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143125"/>
            <a:ext cx="20193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D69A60B-DD99-419B-823F-E828064BC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324100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9C535EB-1AE8-4F8F-8B40-F94DBAE17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838450"/>
            <a:ext cx="1676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接受或拒絕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6D4F31F-6DC8-4269-92B5-DC57CB9E2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638550"/>
            <a:ext cx="1676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符合規則才繼續處理</a:t>
            </a:r>
          </a:p>
        </p:txBody>
      </p:sp>
    </p:spTree>
    <p:extLst>
      <p:ext uri="{BB962C8B-B14F-4D97-AF65-F5344CB8AC3E}">
        <p14:creationId xmlns:p14="http://schemas.microsoft.com/office/powerpoint/2010/main" val="118951805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631BEF-80DF-4CA4-967C-6ABB8F431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第一節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690C5A-7254-47FB-9FBE-7DB02E6C9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287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地址是鏈上識別碼，不等於真實世界姓名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BA277E-6560-46F0-B6D6-6CC490C68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40C2DF-2F3C-4D55-A0AC-9635D2E78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2｜第一節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3F6B77-C067-4D85-BF5D-25BEFDD1E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2DE4D4-139F-4378-A129-E2B8F042B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57375"/>
            <a:ext cx="54292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70AAA4-2B69-440F-A9A5-916555E26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57375"/>
            <a:ext cx="56578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B39886-AACF-47FA-9BC9-8B8C5C97D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145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地址能做什麼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378A50-A9E5-4254-917A-BE3C8F403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09875"/>
            <a:ext cx="4953000" cy="2524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指定資產或訊息的接收位置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讓網路辨識交易對象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方便查詢鏈上紀錄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C5FD4F-5A8D-451E-8CF5-09C55F96F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14550"/>
            <a:ext cx="5162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地址不能自動證明什麼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40B78D-4B85-4BD4-8C74-F5E6E5923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09875"/>
            <a:ext cx="5162550" cy="2524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持有者的法定身分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資金來源是否合法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地址背後是一人、多人或機構</a:t>
            </a:r>
          </a:p>
        </p:txBody>
      </p:sp>
    </p:spTree>
    <p:extLst>
      <p:ext uri="{BB962C8B-B14F-4D97-AF65-F5344CB8AC3E}">
        <p14:creationId xmlns:p14="http://schemas.microsoft.com/office/powerpoint/2010/main" val="91626127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2D8228-9F33-443B-8C00-BDE4DCE99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第一節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771C97-731C-4016-B2D5-A50A83A49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287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錢包管理金鑰與交易，不是資產保險箱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6A8547-F950-494E-ADCD-64BA506BC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738864-ADB6-483D-B2A4-5B0104E3C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2｜第一節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D73CFC-8033-41D9-B646-984E7B06C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9CACB2-6840-492E-8FFA-F7BB222D0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57375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CB94F6-B1A2-47EA-B402-A42FF668C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47875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建立與保存金鑰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9268E7-6A38-40B3-88E5-15F97ABD8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19375"/>
            <a:ext cx="49720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產生或匯入控制帳戶的憑證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4840B5-8253-476F-8D95-E328B8511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57375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FA8594-3615-4334-95E1-D5F752740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047875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組成交易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FF77D8-4222-4E5C-A365-1CCC6DA22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619375"/>
            <a:ext cx="49720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協助填入金額、地址與費用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465915-B14D-44CC-9B48-0DACA8CC3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905250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610BA2-3942-4C0E-9102-00BBA17B8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95750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簽署交易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39FC2A-E859-4A97-8FB4-345413C13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0"/>
            <a:ext cx="49720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使用私鑰表達授權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BC83A6-5400-4C2E-AD55-61F5013EF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05250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E92992-A3C1-4D95-B0AE-F4054844D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095750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讀取鏈上狀態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12F1C6-E84E-44A9-8BE3-70B86FE34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667250"/>
            <a:ext cx="49720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顯示餘額與交易紀錄</a:t>
            </a:r>
          </a:p>
        </p:txBody>
      </p:sp>
    </p:spTree>
    <p:extLst>
      <p:ext uri="{BB962C8B-B14F-4D97-AF65-F5344CB8AC3E}">
        <p14:creationId xmlns:p14="http://schemas.microsoft.com/office/powerpoint/2010/main" val="99008987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6FBE83-C921-4EAF-95E0-D1D3928A2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第一節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B71965-1AD6-444C-9996-E6C37E67C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287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一筆交易是對共享狀態提出的變更指令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FD45F5-B38B-487E-BF2D-D47F173C1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2B869A-CFC9-4664-A297-E96EA487D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2｜第一節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4DA96D-BC66-4B49-84AC-C81DEA2D7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1F98AF-DE94-4A45-A3F2-2B4421D0A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57375"/>
            <a:ext cx="54292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8D1F99-EBAF-484A-9EF9-57D361374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57375"/>
            <a:ext cx="56578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8F4B24-D116-4F53-8382-85E717C15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145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常見欄位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4283B8-D108-4599-B1F5-C22FB75A6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09875"/>
            <a:ext cx="4953000" cy="2524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發送與接收地址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資產數量或操作內容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順序資訊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手續費設定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數位簽章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1E215B-B214-49AC-9709-B2FBFDA89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14550"/>
            <a:ext cx="5162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送出前要判斷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735ACC-85E6-4466-8170-E14491962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09875"/>
            <a:ext cx="5162550" cy="2524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地址是否正確？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餘額或可用輸出是否足夠？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簽章是否有效？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是否符合網路規則？</a:t>
            </a:r>
          </a:p>
        </p:txBody>
      </p:sp>
    </p:spTree>
    <p:extLst>
      <p:ext uri="{BB962C8B-B14F-4D97-AF65-F5344CB8AC3E}">
        <p14:creationId xmlns:p14="http://schemas.microsoft.com/office/powerpoint/2010/main" val="113482204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794E6B-3F8F-42D5-BBCD-0C09EB464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第一節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BA318F-6134-4242-A1D2-40178B8B8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287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同一個轉帳結果，可以用兩種帳本模型表示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62A3E1-AECF-4E88-8AFD-2C6034709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7B9B7A-4A1D-4B9A-870B-8FFEF1254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2｜第一節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0A1BBB-BAA6-4FF9-8E80-70740030B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A76949-55D0-4989-8A9F-9DE86FC15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57375"/>
            <a:ext cx="54292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358662-4F53-4D38-A67D-18C317D88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57375"/>
            <a:ext cx="56578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E9D296-5608-42CB-A24E-AFE4F9FB3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145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UTXO模型：像未使用票券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FC4AC3-2518-48D9-8998-088B706F5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09875"/>
            <a:ext cx="4953000" cy="2524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交易花費既有輸出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產生給收款人的新輸出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剩餘金額形成找零輸出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代表：Bitcoin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6954A7-4835-4AD7-8FDC-91A969273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14550"/>
            <a:ext cx="5162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帳戶模型：像餘額表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5796BF-D24E-4646-B7F2-C46081052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09875"/>
            <a:ext cx="5162550" cy="2524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直接更新帳戶狀態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使用nonce維持交易順序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可與合約帳戶互動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代表：Ethereum</a:t>
            </a:r>
          </a:p>
        </p:txBody>
      </p:sp>
    </p:spTree>
    <p:extLst>
      <p:ext uri="{BB962C8B-B14F-4D97-AF65-F5344CB8AC3E}">
        <p14:creationId xmlns:p14="http://schemas.microsoft.com/office/powerpoint/2010/main" val="2571288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62065BA-E435-4C9B-8139-DEEA87254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第一節｜快問快答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A616FF-A6D5-418E-8A80-E585EA3E9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287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B926A6-D352-498B-A5C3-5DFFD620E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A1762E-E3E7-4DB5-99E4-ED6DA73C2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2｜第一節｜快問快答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9B17C8-49D5-4CE7-A2FC-E1973E1E8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3FD929-F6CD-488C-8B45-AE62006AC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第一節｜快問快答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C19DA9-8D6C-4ABA-813B-B1CA9A9C1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287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快問快答：5題確認本節學習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6971F6-D3A7-4BA4-A57D-CFBFF40AE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2A9B1D-1ABA-43B7-A76F-84B8D5BA8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2｜第一節｜快問快答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EECCBE-115F-49F1-AB0B-4150AFD25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11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C6C972-1AED-4E16-8E64-B8CC38E38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628775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1. 雜湊最主要協助檢查什麼？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162059-E8E4-4C3E-9978-D80452807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09775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rPr>
              <a:t>A 市價　B 資料是否改變　C 法定身分　D 獲利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B93E12-1BAA-4CAB-99C4-E92485092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628775"/>
            <a:ext cx="3524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6A551E-91BA-4777-9445-5135AA08A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809750"/>
            <a:ext cx="3105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rPr>
              <a:t>答案：B。資料完整性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DA99CD-185D-4025-80C8-329CEAD57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552700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2. 哪一把金鑰應由持有人保密？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D921E8-B821-47F2-B956-EEAC4593E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3370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rPr>
              <a:t>A 公鑰　B 私鑰　C 地址　D 區塊高度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EE5E788-6B63-471B-8E01-C8D14F473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552700"/>
            <a:ext cx="3524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89199BE-E842-42C2-874C-9C22ED275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733675"/>
            <a:ext cx="3105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rPr>
              <a:t>答案：B。私鑰用於授權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F3E4561-9EC1-4047-A823-4997928BA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476625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3. 數位簽章能直接證明法定姓名嗎？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B2A74BA-C057-494E-885F-E3542F434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57625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rPr>
              <a:t>A 一定能　B 不能單獨證明　C 只在週末能　D 只在PoW能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F7250B6-6DEC-4102-817A-2B3E94708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476625"/>
            <a:ext cx="3524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E3E950D-BE3A-4A78-AF09-79AC8C170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657600"/>
            <a:ext cx="3105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rPr>
              <a:t>答案：B。仍需鏈下身分資料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168A111-284F-4059-8C93-1197219CB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400550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4. 錢包主要管理什麼？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7734BF6-8C46-465A-B9F6-6F9058916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78155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rPr>
              <a:t>A 區塊大小　B 金鑰與交易　C 所有節點　D 幣價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31D7BD7-7D26-4304-AB62-F10FADEC1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400550"/>
            <a:ext cx="3524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57C4A79-D687-4884-8B92-54C3D959C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581525"/>
            <a:ext cx="3105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rPr>
              <a:t>答案：B。資產紀錄仍在鏈上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DAF2409-4940-40C8-912E-F24574508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324475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5. Bitcoin常見哪種交易模型？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3B8F4BC-9073-441B-9BE1-0D4BC922F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705475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rPr>
              <a:t>A UTXO　B 庫存表　C 會員點數表　D 紙本帳簿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D2D3CFA-6E3D-4590-90F8-2514FA11F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324475"/>
            <a:ext cx="3524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D89C3D3-D6B4-479E-BA1E-1FA5C8405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5505450"/>
            <a:ext cx="3105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8125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rPr>
              <a:t>答案：A。花費輸出並產生新輸出</a:t>
            </a:r>
          </a:p>
        </p:txBody>
      </p:sp>
    </p:spTree>
    <p:extLst>
      <p:ext uri="{BB962C8B-B14F-4D97-AF65-F5344CB8AC3E}">
        <p14:creationId xmlns:p14="http://schemas.microsoft.com/office/powerpoint/2010/main" val="40237610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064809-CB4E-453D-AB79-6C6500071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第二節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586332-A314-404B-95E6-F95B2805B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287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第二節的問題：已簽署交易如何成為正式紀錄？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65B043-0771-4204-B46B-2D4436493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BBE878-0B76-40A7-A30E-0563695B5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2｜第二節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79A71D-AC33-4270-8C94-1FF7CA8EA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5F0127-1908-4DAB-9DA5-72CE8FF0C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952625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0278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從個人授權走向集體接受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F168EB-AD9D-4FCC-99FD-BEFD75FCE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571750"/>
            <a:ext cx="111442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2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簽章只證明有人授權；交易還要經過傳播、驗證、排序、成塊與共識。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9D161F-B160-4C43-830F-DC9D76766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267200"/>
            <a:ext cx="113538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42888C-943A-4723-B711-F1DBC175E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0"/>
            <a:ext cx="108108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送出交易不等於完成交易；等待確認或最終性是不同階段。</a:t>
            </a:r>
          </a:p>
        </p:txBody>
      </p:sp>
    </p:spTree>
    <p:extLst>
      <p:ext uri="{BB962C8B-B14F-4D97-AF65-F5344CB8AC3E}">
        <p14:creationId xmlns:p14="http://schemas.microsoft.com/office/powerpoint/2010/main" val="192302228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8860AAC-3ADE-426B-B59C-EB59A5FAD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第二節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BAE79E-7EE3-4F81-B238-E6526B9DC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287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交易先進入待處理區，而不是立刻寫入鏈上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6C7CBA-CB39-452A-9DA2-25A6E3B39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BBAE46-CF6D-485B-8701-E2C8B1200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2｜第二節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8D84CF-47E5-4E15-8841-FE62E78B6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982227-AFEC-4217-B83C-AC1DA2632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181350"/>
            <a:ext cx="266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E2ED68-EC21-4591-BF9B-5608EF2DA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181350"/>
            <a:ext cx="266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517872-EECE-4F1F-8D67-DCB03B02B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181350"/>
            <a:ext cx="266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22EA99-586B-473A-B1E6-095E7DBD5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181350"/>
            <a:ext cx="266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C5DE58-8F08-4996-BA0C-CA9311657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143125"/>
            <a:ext cx="20193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A90F4A-691E-4178-8293-7DE2B4021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324100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828A57-ED4C-4DAF-A2BC-3A9F453F7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38450"/>
            <a:ext cx="1676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簽署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2A3A4D-9590-49C4-9070-546A8EE81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38550"/>
            <a:ext cx="1676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使用者完成授權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DD6FF3-DDA4-4159-B04A-BA2B80BA2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2143125"/>
            <a:ext cx="20193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1047EE-6E55-4D6D-BF1F-50573B8D9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324100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C87F46-28C3-4A0C-ABB2-F2066AC1D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838450"/>
            <a:ext cx="1676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廣播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E931DB-6131-417C-9E5D-631E2F485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638550"/>
            <a:ext cx="1676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送給一個或多個節點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95D146-0D72-4BA1-A402-FCDBC19C3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143125"/>
            <a:ext cx="20193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3300CD2-9E6F-4B93-9C2C-8C144F35B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324100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E3D361-F197-47FE-8C54-DBCA55066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838450"/>
            <a:ext cx="1676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初步驗證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614232A-75D6-4776-9257-D4CEABE62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638550"/>
            <a:ext cx="1676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節點檢查規則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396AA51-7C35-4FB3-A45D-9F106252E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143125"/>
            <a:ext cx="20193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B7D160C-5EC5-45E8-88C5-83F3E0D45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324100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800A83F-CDA8-440B-B30C-B14FADC37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838450"/>
            <a:ext cx="1676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等待區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30DBE2C-F3B0-40F0-9DFC-0830BDF9F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638550"/>
            <a:ext cx="1676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有效交易進入mempool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2DE7C53-2BB7-44D1-AEE8-54A5C8AF9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143125"/>
            <a:ext cx="20193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B2D8048-4209-4598-A6F4-37DE18947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324100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5234622-DEFF-4E49-A2E6-E0E9F2691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838450"/>
            <a:ext cx="1676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等待選取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DAE5400-6F53-4E63-8FA0-C593AB0D8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638550"/>
            <a:ext cx="1676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出塊者挑選候選交易</a:t>
            </a:r>
          </a:p>
        </p:txBody>
      </p:sp>
    </p:spTree>
    <p:extLst>
      <p:ext uri="{BB962C8B-B14F-4D97-AF65-F5344CB8AC3E}">
        <p14:creationId xmlns:p14="http://schemas.microsoft.com/office/powerpoint/2010/main" val="179304527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1C0D3C7-055C-4F4B-850D-1A1C8F60F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第二節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631748-4779-4F70-B81F-6A125BBD9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287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節點先驗證交易，避免把明顯錯誤送進區塊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7E929C-1B62-4F9C-9B2F-FA8A9ED7D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F2D026-8B48-40F0-AB00-49C58DF5A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2｜第二節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B395E9-DB31-426B-B97D-FE4AE5733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2D10CD-664C-4CF6-BB00-A9B377CD0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57375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BBD226-32FA-4AD8-9CFA-C170EEB01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47875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格式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75DE09-FD27-4F7E-BD94-49C2ED427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19375"/>
            <a:ext cx="49720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欄位與編碼是否符合規則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3FD0CF-15CB-49F1-9728-AA08C3D01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57375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2C005A-92DC-4140-B6D3-CA1A948A6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047875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授權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F9B5DF-DD8C-4E27-B544-B0CA2382C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619375"/>
            <a:ext cx="49720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數位簽章是否有效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2B0C13-F1A9-4AEE-BA81-4307050EA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905250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3F0211-1814-4A1E-B388-EADA635AD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95750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可用資產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A4B06E-A51F-4EE2-B491-76899B9EC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0"/>
            <a:ext cx="49720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餘額或可用輸出是否足夠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75F3D2-720A-4005-96F6-264F8D963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05250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1F4E05-0E54-4077-BBA5-FF888FE06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095750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狀態與順序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4E2DE9-19A5-4E47-BCD9-AD4A5E903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667250"/>
            <a:ext cx="49720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nonce、重複支付或其他條件是否合理</a:t>
            </a:r>
          </a:p>
        </p:txBody>
      </p:sp>
    </p:spTree>
    <p:extLst>
      <p:ext uri="{BB962C8B-B14F-4D97-AF65-F5344CB8AC3E}">
        <p14:creationId xmlns:p14="http://schemas.microsoft.com/office/powerpoint/2010/main" val="200196860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5FAED6-4B31-465D-B871-6A3A691D9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第二節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3F0CD0-F6C4-4680-8985-28732C21E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287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出塊者把候選交易排序並組成區塊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E41C69-EBA0-4ED7-97CB-C8D33F58C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DEA4FB-F6FC-4731-A4C2-24ACCEED1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2｜第二節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8746D4-2F7F-41B7-A8FD-C85A22395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CD5267-B32E-4B52-8AEC-AB62175AD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57375"/>
            <a:ext cx="54292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9B059A-55B9-4908-8CE9-B9B015F38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57375"/>
            <a:ext cx="56578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4D0F1C-44C9-44FC-A4D9-52BD8C545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145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它要做的事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4F1747-449D-4B8A-B156-50E182327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09875"/>
            <a:ext cx="4953000" cy="2524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從待處理交易中選取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依規則排序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執行或檢查狀態變更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建立區塊資料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4F574C-2E48-4384-95FF-CAE4FEE06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14550"/>
            <a:ext cx="5162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它可能考量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8EF9AC-37F3-4737-AC6B-857940C96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09875"/>
            <a:ext cx="5162550" cy="2524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交易手續費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區塊容量與資源限制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交易相依關係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協議與本地政策</a:t>
            </a:r>
          </a:p>
        </p:txBody>
      </p:sp>
    </p:spTree>
    <p:extLst>
      <p:ext uri="{BB962C8B-B14F-4D97-AF65-F5344CB8AC3E}">
        <p14:creationId xmlns:p14="http://schemas.microsoft.com/office/powerpoint/2010/main" val="187064829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A564B0-338D-44F5-BD29-3E83591CF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第二節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BA203A-4AFA-4FAB-B496-09994F2F9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287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Merkle root用一個摘要代表整批交易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FDC574-1703-47E0-8802-8FDACFFE6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3A21A0-BC68-4502-BB27-2BEDD3EF4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2｜第二節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0ADFFF-EDD7-474F-8CCF-39D36B43B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B93570-3FDD-4E1A-A30E-A98A8D4F2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952625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0278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批次驗證的工具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23FECB-5F5C-42F7-BD6F-CE93C7F6F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571750"/>
            <a:ext cx="111442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2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交易摘要兩兩組合並反覆雜湊，最後形成一個根摘要。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18BC6F-7200-4F99-AB30-7037D9ACD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267200"/>
            <a:ext cx="113538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C90F2F-8151-4321-8781-1DD08FAE8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0"/>
            <a:ext cx="108108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只需提供相關路徑，就能證明某筆交易被納入該區塊，不必下載整批交易。</a:t>
            </a:r>
          </a:p>
        </p:txBody>
      </p:sp>
    </p:spTree>
    <p:extLst>
      <p:ext uri="{BB962C8B-B14F-4D97-AF65-F5344CB8AC3E}">
        <p14:creationId xmlns:p14="http://schemas.microsoft.com/office/powerpoint/2010/main" val="195428172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1297875-3699-4362-AB74-7B70EAE6E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第二節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D009D8-42E8-4635-851E-AEB40C9F9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287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區塊標頭把本批紀錄與前一段歷史連起來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6FEA99-33B5-4D5C-B62C-A2CF78F3E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29807B-7C4A-4223-8829-722A3EBC7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2｜第二節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B2F404-FD1C-477D-ADC6-98AB88C40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17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0A4240-3F28-4083-BB20-34E93CE85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57375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511F8A-104E-433F-9F4C-8875BB038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47875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前一區塊摘要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29E21E-0C01-4E7F-91ED-CE5A54ACF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19375"/>
            <a:ext cx="49720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建立區塊之間的鏈結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9E5CC8-A907-44B1-B6D2-1215CD357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57375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F9BDFB-4848-42B5-8E4D-5722A7756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047875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交易摘要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1DFBC3-C5D9-4994-9470-C67947816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619375"/>
            <a:ext cx="49720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例如以Merkle root代表交易集合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443B0C-C4CD-400D-A145-CB3696A89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905250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FDC59E-5021-4C63-8D91-9625E7457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95750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時間與高度資訊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6A9F81-AEF5-40E6-A0E1-C59A408A7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0"/>
            <a:ext cx="49720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協助排序與辨識位置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320DF7-F14A-4DF1-88EC-4E42C402F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05250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E842A7-3EFD-4156-8A1A-E5C5CCB88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095750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共識相關資料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232A181-DC8E-4691-B8FC-52413F2B5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667250"/>
            <a:ext cx="49720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依PoW、PoS或許可型機制而不同</a:t>
            </a:r>
          </a:p>
        </p:txBody>
      </p:sp>
    </p:spTree>
    <p:extLst>
      <p:ext uri="{BB962C8B-B14F-4D97-AF65-F5344CB8AC3E}">
        <p14:creationId xmlns:p14="http://schemas.microsoft.com/office/powerpoint/2010/main" val="1622655871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FB4E11-1A82-4E68-B1B9-10DCFDA98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第二節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88419E-2824-4B32-BA2D-474FF93AE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287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共識決定哪個候選區塊成為共同歷史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A2A2A5-58A3-41AF-BB06-B47ACBF99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D52F6B-666E-4566-8C81-1EA008B38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2｜第二節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EAB75E-2192-4D02-B2B1-D4CA96011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18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0A061E-35E8-43BD-88D6-5839C049C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57375"/>
            <a:ext cx="54292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D781E0-2C76-4922-BEB8-D015E1784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57375"/>
            <a:ext cx="56578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69DAFE-A455-4671-B4C9-1C75EA16C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145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為什麼需要共識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2A2386-BAA7-4A5C-8C95-A68FD931D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09875"/>
            <a:ext cx="4953000" cy="2524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節點可能收到不同交易順序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網路延遲可能產生競爭區塊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惡意參與者可能提出衝突紀錄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AFD131-8D9C-4ED1-B633-240A618D4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14550"/>
            <a:ext cx="5162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共識要完成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01258C-21D8-4677-8B98-CA7A20983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09875"/>
            <a:ext cx="5162550" cy="2524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確認區塊有效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選擇可接受的鏈或狀態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提供確認與最終性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設定不誠實行為成本</a:t>
            </a:r>
          </a:p>
        </p:txBody>
      </p:sp>
    </p:spTree>
    <p:extLst>
      <p:ext uri="{BB962C8B-B14F-4D97-AF65-F5344CB8AC3E}">
        <p14:creationId xmlns:p14="http://schemas.microsoft.com/office/powerpoint/2010/main" val="156356878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CC1BF3-F165-479C-AE39-1B66C5BC0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第二節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AA3E02-1D81-4785-A293-A1B1C4C88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287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PoW與PoS用不同資源約束出塊行為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252968-2533-4C00-85CE-B49F40A98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7C5950-A163-417D-AFED-A5AE05DF1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2｜第二節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CE5BD7-3AE8-45B0-9667-1B491DE11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19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DBDBFB-95D3-47A6-93A7-E7C63E9B1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57375"/>
            <a:ext cx="54292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84461A-7808-4633-9CEE-BC3EB8BE2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57375"/>
            <a:ext cx="56578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4B5C7F-99DE-4E2E-9D8C-491FFA3DD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145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工作量證明 PoW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BC22F2-A3D6-41D3-A726-96721A48E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09875"/>
            <a:ext cx="4953000" cy="2524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競爭計算符合條件的雜湊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安全成本與運算、能源有關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代表：Bitcoin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CB323C-6A9D-458F-8B63-55DFE58D3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14550"/>
            <a:ext cx="5162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權益證明 PoS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C0C84B-D5D8-4224-BE0B-E9BF07366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09875"/>
            <a:ext cx="5162550" cy="2524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驗證者質押資產並參與提議與投票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不當行為可能受罰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代表：Ethereum</a:t>
            </a:r>
          </a:p>
        </p:txBody>
      </p:sp>
    </p:spTree>
    <p:extLst>
      <p:ext uri="{BB962C8B-B14F-4D97-AF65-F5344CB8AC3E}">
        <p14:creationId xmlns:p14="http://schemas.microsoft.com/office/powerpoint/2010/main" val="198832654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601790-8D0D-4A59-86BF-1E98B9517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第二節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62EF7C-EB34-4814-B755-B9CF37B50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287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確認數增加與最終性，都是降低逆轉風險的方式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8EFCB1-8220-43FD-BE71-D7E05405A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16EFD9-20E5-437F-956B-4C1B3934F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2｜第二節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FC3B70-E357-4840-ABE1-3128740CB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20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104E82-D541-4D18-8D08-4C49CA743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57375"/>
            <a:ext cx="54292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D32706-7C43-402C-B817-B6ECC86D7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57375"/>
            <a:ext cx="56578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2967D5-2FE1-4B2F-8EF6-91BFAF0C2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145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機率型確認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19F814-D0BD-41E6-84EF-E3A7515BF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09875"/>
            <a:ext cx="4953000" cy="2524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後續區塊持續累積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重組機率通常逐步降低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常見於PoW鏈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38CF89-510D-4896-8B67-F5F07C819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14550"/>
            <a:ext cx="5162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經濟或協議最終性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399763-C9FA-438F-9D2B-217A3572C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09875"/>
            <a:ext cx="5162550" cy="2524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驗證者投票形成檢查點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逆轉會面臨重大經濟懲罰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常見於PoS設計</a:t>
            </a:r>
          </a:p>
        </p:txBody>
      </p:sp>
    </p:spTree>
    <p:extLst>
      <p:ext uri="{BB962C8B-B14F-4D97-AF65-F5344CB8AC3E}">
        <p14:creationId xmlns:p14="http://schemas.microsoft.com/office/powerpoint/2010/main" val="2110303659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6C5DACE-8636-470E-A3AD-00764E442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第二節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ED0A3D-1B3D-4793-ADFF-FC21291FC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287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完整流程：從按下確認到帳本共同接受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A527C9-0C2E-4E5B-9256-0B28B9A33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E6EC4E-64A1-4AF0-AD1A-C9AB468C4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2｜第二節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21E4DD-2BBC-4B63-B65C-61CD9205E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21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497F92-6999-464D-A17F-54D2057D0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181350"/>
            <a:ext cx="266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5BAD0D-D2F2-451B-9D6D-37B3FBD1D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181350"/>
            <a:ext cx="266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5DAA72-1D86-4BDF-94E5-80E9C6330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181350"/>
            <a:ext cx="266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14A77B-B8C0-4A45-8D61-324C91E49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181350"/>
            <a:ext cx="266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54B6D9-E47A-4E77-A038-0AABB335C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143125"/>
            <a:ext cx="20193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17636E-20E9-4451-A9CA-6A25351A6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324100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335FD5-612B-441E-B5A0-528FFF8D8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38450"/>
            <a:ext cx="1676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建立簽署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3D969A-C7CE-4298-A6B6-28BCB53B7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38550"/>
            <a:ext cx="1676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錢包組成並授權交易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385970-F0E1-4C3D-A5F2-AC4910057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2143125"/>
            <a:ext cx="20193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9197F0-6756-4A7A-82B3-638402839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324100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27C498-04AE-4F3D-8F82-9954F8211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838450"/>
            <a:ext cx="1676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廣播驗證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A8A77C-88F5-4A1F-BADC-74AD1910F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638550"/>
            <a:ext cx="1676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節點檢查並傳播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5D1A84-57C1-45BC-B522-BC4951BB9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143125"/>
            <a:ext cx="20193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A42DFE7-1448-4F93-B24E-87584E4A9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324100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EA937A-21FD-4E84-B8F2-00998A33F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838450"/>
            <a:ext cx="1676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等待選取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4F909E4-1DA1-4B44-9F12-586FEDAA2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638550"/>
            <a:ext cx="1676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交易留在待處理區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75643F-92D8-4D22-9D0B-BECCB1234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143125"/>
            <a:ext cx="20193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63948E8-0439-431E-92A5-DEB6F83F8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324100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3E8101F-6F31-40BD-A72D-C7DCF384F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838450"/>
            <a:ext cx="1676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組成區塊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07C5F15-2274-4A1A-B67C-18637B027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638550"/>
            <a:ext cx="1676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出塊者排序與打包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F059352-9B57-4BB7-9009-9DF82DC4D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143125"/>
            <a:ext cx="20193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2C31F7A-3982-4CBD-88F1-9052A37CB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324100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6BAC87E-209B-4CDF-9AAE-B0887D8A2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838450"/>
            <a:ext cx="1676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共識確認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8C496BE-F957-46BE-9654-5C7E3B08A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638550"/>
            <a:ext cx="1676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節點接受並累積最終性</a:t>
            </a:r>
          </a:p>
        </p:txBody>
      </p:sp>
    </p:spTree>
    <p:extLst>
      <p:ext uri="{BB962C8B-B14F-4D97-AF65-F5344CB8AC3E}">
        <p14:creationId xmlns:p14="http://schemas.microsoft.com/office/powerpoint/2010/main" val="2083884270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841B81F-70B6-42D3-B8BD-269E86B6B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第二節｜快問快答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E388DA-991D-412D-8A4F-E5B4DCB55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287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CC27ED-3DF0-4487-918A-EE612CA56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9B97AC-17A9-4592-A881-C6892B212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2｜第二節｜快問快答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742EE5-1AA3-4618-BE22-FD53D7ED4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22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F1EC81-2546-4D24-A08F-94D4CB82D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第二節｜快問快答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055165-3BA6-4529-8238-6919C9611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287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快問快答：5題確認本節學習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513172-EA75-4C86-AC82-054484FEC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4CC1EA-473E-404B-9778-985361F89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2｜第二節｜快問快答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351023-4B21-45A7-ADE1-05DDD81C3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22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1270EC-5265-4D0F-A375-987913A49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628775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1. 簽署交易後通常先去哪裡？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3FF592-B287-438D-A05E-0EF7D4B8C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09775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rPr>
              <a:t>A 自動最終　B 節點與待處理區　C 法院　D 中央銀行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AAE289-D1B8-4313-81D4-C25FF5965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628775"/>
            <a:ext cx="3524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EC4D45-43A1-4DBF-B840-CDF3EDDEC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809750"/>
            <a:ext cx="3105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rPr>
              <a:t>答案：B。仍需驗證與等待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8B9566-E8BC-4621-98C6-1E73C3D76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552700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2. 節點驗證不包含哪一項？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0A26B2-F841-49C6-B07C-722546B65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3370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rPr>
              <a:t>A 簽章　B 餘額　C 格式　D 保證投資獲利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097A656-CFB9-4C78-AC46-DA07A595D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552700"/>
            <a:ext cx="3524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06DFBE-0F81-460A-A9FA-5AC91993A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733675"/>
            <a:ext cx="3105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rPr>
              <a:t>答案：D。技術不保證獲利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C2E25F-38E1-4BC6-B52A-AFAFE4056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476625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3. Merkle root主要代表什麼？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2BF56EC-E3CB-4212-B9D7-DA2597CA0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57625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rPr>
              <a:t>A 整批交易摘要　B 私鑰　C 幣價　D 真實姓名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8A2EB25-815A-48C7-BFF2-836CAC524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476625"/>
            <a:ext cx="3524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80D935E-9216-4F72-B0F9-D84F86C31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657600"/>
            <a:ext cx="3105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rPr>
              <a:t>答案：A。支援納入證明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B5D6F11-B780-498A-8DA9-B18D219D8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400550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4. PoS主要以什麼約束驗證者？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AE2DFD7-45B0-45B0-AE7E-027FC717F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78155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rPr>
              <a:t>A 紙張　B 質押與懲罰　C 廣告　D 電話號碼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713305E-ED69-43B1-B9D8-F8FF81D18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400550"/>
            <a:ext cx="3524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96DA529-084A-4C53-A192-D5BCAA78B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581525"/>
            <a:ext cx="3105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rPr>
              <a:t>答案：B。形成經濟誘因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5520E23-1C66-4790-8AA4-3E8C382DE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324475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5. 交易上鏈就必然永不逆轉？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D91662D-08D3-48F9-8059-D381DA9A7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705475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rPr>
              <a:t>A 是　B 否　C 只看金額　D 只看地址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23E2665-E867-4448-AC8F-477DF799A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324475"/>
            <a:ext cx="3524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D327095-FD59-4934-BB07-C3E3E59F0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5505450"/>
            <a:ext cx="3105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rPr>
              <a:t>答案：B。仍須看確認與最終性</a:t>
            </a:r>
          </a:p>
        </p:txBody>
      </p:sp>
    </p:spTree>
    <p:extLst>
      <p:ext uri="{BB962C8B-B14F-4D97-AF65-F5344CB8AC3E}">
        <p14:creationId xmlns:p14="http://schemas.microsoft.com/office/powerpoint/2010/main" val="1842130647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90DF69-0B55-4114-AEB6-8B83DC708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第三節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10193A-7EDE-4899-96FE-D8864D82D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287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同樣叫區塊鏈，參與權限可能完全不同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47370B-FBA9-4ED2-A8F4-7989BFF13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5247D2-30DB-4438-9246-AC34D161A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2｜第三節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6CB2F4-DBAA-4F44-89AE-9AC333AE0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23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206A5F-ACB1-4A84-AEE1-30CA958B5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57375"/>
            <a:ext cx="54292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3F34B3-E39B-4E4A-B624-EF228D458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57375"/>
            <a:ext cx="56578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A0151E-783D-4920-B3C9-BBFC2F147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145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無許可型網路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AF79AE-1AC5-4E4E-AA93-C9D961E41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09875"/>
            <a:ext cx="4953000" cy="2524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一般人可提交交易或運行節點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規則公開、參與範圍廣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治理與集中度仍需實際檢查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6BA3BD-349B-4A48-9571-CC7931BCA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14550"/>
            <a:ext cx="5162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許可型網路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171EAE-F76C-46F3-B8ED-091381E91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09875"/>
            <a:ext cx="5162550" cy="2524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成員經核准才能參與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可限制驗證與資料可見範圍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適合明確組織與責任架構</a:t>
            </a:r>
          </a:p>
        </p:txBody>
      </p:sp>
    </p:spTree>
    <p:extLst>
      <p:ext uri="{BB962C8B-B14F-4D97-AF65-F5344CB8AC3E}">
        <p14:creationId xmlns:p14="http://schemas.microsoft.com/office/powerpoint/2010/main" val="827044929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CD9E76-D9BB-4F7E-82B7-F29F6429B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第三節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2095B1-50B7-45FF-B32A-2F39591F6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287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透明度取決於誰能讀、誰能寫、誰能驗證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9E60FE-3BBB-4EDC-B5D5-7446E77EE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EADBFD-CB74-46AC-B5BC-8FCA6A7F5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2｜第三節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09973C-3E42-4341-8919-336CEE97F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1757AA-ACCD-4701-AB22-6B85E9AD7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57375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B8AD0A-624D-4188-85D7-53863BC27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47875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讀取權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89E85D-1F67-4C3B-BC40-1C8823417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19375"/>
            <a:ext cx="49720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誰可以查看帳本與交易內容？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77B65A-EC14-4EAF-8EC7-E28D33901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57375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64CCCB-B6C9-4823-BCAC-F98F4E6AD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047875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提交權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36A32E-804B-47CE-B04F-3649B5055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619375"/>
            <a:ext cx="49720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誰可以提出交易？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04019B-04DE-445E-8360-FDD0CD4BC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905250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866B05-88EE-4A2B-AA16-F0BB2536B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95750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驗證權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03AFDB-8F23-4662-9229-9A0207DCF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0"/>
            <a:ext cx="49720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誰能參與確認與出塊？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F18ADE-0DAE-4804-B55D-1BBDC36E2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05250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E5B465-4F61-4534-B351-CB4E499A4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095750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治理權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7A3EF4-5D14-4770-A92D-8354D83C3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667250"/>
            <a:ext cx="49720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誰能修改規則與處理例外？</a:t>
            </a:r>
          </a:p>
        </p:txBody>
      </p:sp>
    </p:spTree>
    <p:extLst>
      <p:ext uri="{BB962C8B-B14F-4D97-AF65-F5344CB8AC3E}">
        <p14:creationId xmlns:p14="http://schemas.microsoft.com/office/powerpoint/2010/main" val="1607730693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837D1F-CC21-4417-8543-A421AA9A8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第三節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D59E0B-75C2-432B-8A3E-15D5AF32D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287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鏈上資料公開，不代表使用者真正匿名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CD582C-994D-4704-9791-B482D9C99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072778-5326-4839-8E3F-95CEC8953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2｜第三節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8FFB6C-5865-4C1D-8DDE-F1FB37B0F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25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D05B4F-6741-43B9-A802-AAADD5498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57375"/>
            <a:ext cx="54292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B2C274-A9D3-40FB-8EC4-D1BF3C3BF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57375"/>
            <a:ext cx="56578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81D13E-7B2A-4143-A6C1-AE8B6B317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145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假名性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D8C77B-AFC9-4261-BCB7-3B4E4844C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09875"/>
            <a:ext cx="4953000" cy="2524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地址不直接顯示姓名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交易歷史可能長期可查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多個地址仍可能被關聯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B7B7CC-E50F-4374-9F1D-A6B0571CA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14550"/>
            <a:ext cx="5162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身分連結來源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C3890A-F086-4B60-90CA-7F6204C20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09875"/>
            <a:ext cx="5162550" cy="2524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交易平台KYC資料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商戶與支付紀錄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公開資訊與行為模式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監理或司法調查</a:t>
            </a:r>
          </a:p>
        </p:txBody>
      </p:sp>
    </p:spTree>
    <p:extLst>
      <p:ext uri="{BB962C8B-B14F-4D97-AF65-F5344CB8AC3E}">
        <p14:creationId xmlns:p14="http://schemas.microsoft.com/office/powerpoint/2010/main" val="1605324385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3184CB-5F24-4799-B25D-34C4BD3A1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第三節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13CE6C-A7DB-48DB-B812-ABB433D1B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287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金鑰安全是金融風險，不只是技術細節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C9D73A-DEE3-403D-BE67-BDEC4CABB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21BE34-1788-4D45-B115-5AF938094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2｜第三節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5D6906-DDF0-4CB8-9356-811C3B405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124CC9-526A-4FD3-B093-C9E645450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57375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83F5FC-AB05-44D1-A459-F93D099B4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47875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遺失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3A6099-AEE8-46A4-96AA-870BD55EA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19375"/>
            <a:ext cx="49720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無復原安排時可能永久失去控制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6C7337-9AB8-4C10-8C41-79C3EBE49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57375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47BA10-38E9-41B5-AC4B-55072CAFA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047875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外洩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AA48C4-BDB5-4B5B-9E1C-66BE6C628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619375"/>
            <a:ext cx="49720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攻擊者可冒用私鑰發起交易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7546ED-D2D6-4B74-993E-03C977F6D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905250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234269-4273-405B-B57B-CC027AAD1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95750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內控不足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4D8FE6-1F55-436A-B038-3154477A6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0"/>
            <a:ext cx="49720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單一人員掌握全部權限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AA3059-8A30-4B32-B81B-DF2BE6C19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05250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072CA7-6FC8-4AF2-8197-C1B5240AE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095750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託管風險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F7DB7B-A3A3-452A-A19E-C35B33B3A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667250"/>
            <a:ext cx="49720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第三方故障、舞弊或破產影響資產取回</a:t>
            </a:r>
          </a:p>
        </p:txBody>
      </p:sp>
    </p:spTree>
    <p:extLst>
      <p:ext uri="{BB962C8B-B14F-4D97-AF65-F5344CB8AC3E}">
        <p14:creationId xmlns:p14="http://schemas.microsoft.com/office/powerpoint/2010/main" val="1189571468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F5C70A-E6CA-418E-8625-DE6DD9DF3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第三節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4D565A-1F07-4CCD-BD89-1159C1D6C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287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鏈上正確不等於鏈下事實正確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354E72-BD37-4C6B-B29E-2F322EA89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CF8B02-133C-4C3B-BAF8-18DB10ACB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2｜第三節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FD2476-9782-4E8A-A61F-3BC427A99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5B465C-5038-484E-B332-8B8E92C02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57375"/>
            <a:ext cx="54292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B50AC1-F929-4B58-B984-5D0B15596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57375"/>
            <a:ext cx="56578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0C3534-C752-49A9-8CAB-0287CB3E2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145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鏈能驗證的事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67B7FA-D81A-4B64-9B65-2570A6E0C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09875"/>
            <a:ext cx="4953000" cy="2524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交易是否符合協議規則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簽章是否有效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紀錄是否被改動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資產狀態如何變化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2E1140-FAA5-4892-A467-21FC05F0A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14550"/>
            <a:ext cx="5162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鏈外仍要驗證的事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725FF6-DCE3-4F10-987D-A753852B5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09875"/>
            <a:ext cx="5162550" cy="2524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貨物是否真的送達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身份文件是否真實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價格資料是否遭操縱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法律權利是否有效移轉</a:t>
            </a:r>
          </a:p>
        </p:txBody>
      </p:sp>
    </p:spTree>
    <p:extLst>
      <p:ext uri="{BB962C8B-B14F-4D97-AF65-F5344CB8AC3E}">
        <p14:creationId xmlns:p14="http://schemas.microsoft.com/office/powerpoint/2010/main" val="224901672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EF305D8-1EE7-4FF6-9F63-AF9FB1279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第三節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A021D4-DF9E-41C8-B7D2-70B062EB9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287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區塊鏈的安全來自一組控制，不是單一技術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088688-087F-4897-A305-728EB8DAA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8021C8-D13D-4C77-9571-CD817F7B7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2｜第三節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AD6D81-7267-4EFF-8733-2FA739919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28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20C24A-1285-4231-B32D-F37D03452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57375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106D9E-1531-4F57-B650-47D380D73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47875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密碼學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8AEC1A-7463-40CC-8FA5-8A26E7A78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19375"/>
            <a:ext cx="49720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雜湊、簽章與金鑰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E81F24-811E-4026-AE24-8A13D6C65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57375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F3CA60-F2DB-42A6-B0CF-796750C57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047875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分散網路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78FD74-695E-43E0-A4EC-15C8AA83C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619375"/>
            <a:ext cx="49720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節點複製、傳播與獨立驗證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75C449-8001-4C10-AB0E-5235DFDCD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905250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7885C0-744B-4B7A-8A06-3A01A1982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95750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共識與誘因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61EDD6-575E-47EF-A2B0-AC9E503E4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0"/>
            <a:ext cx="49720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選擇共同狀態並約束不當行為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C628D6-5ECF-4DBD-A26C-9D5BEE4C9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05250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0A4676-1FC2-4E12-A54A-3C430CAAF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095750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治理與營運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AA6925-65D8-4771-A6E4-9853E9911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667250"/>
            <a:ext cx="49720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升級、事件處理、權限與法律責任</a:t>
            </a:r>
          </a:p>
        </p:txBody>
      </p:sp>
    </p:spTree>
    <p:extLst>
      <p:ext uri="{BB962C8B-B14F-4D97-AF65-F5344CB8AC3E}">
        <p14:creationId xmlns:p14="http://schemas.microsoft.com/office/powerpoint/2010/main" val="1245522434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29E3F2-1B9E-4E14-A25B-84A0AC216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第三節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E7AA12-16DE-47B9-92DA-73E6A6FEC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287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區塊鏈發展史：保留里程碑，修正舊教材錯誤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F28ACC-38C0-41E6-BAD9-0EB6F5F66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C64DB8-F1E5-4B0C-9111-BF556DD46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2｜第三節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DA4EBC-5CF2-4BFB-87B4-05D32FE37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29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374DEF-7C5D-4929-AE41-B3AFD83B7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57375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7C5058-D58B-47CE-82D1-8BE245231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47875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1991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720D7B-26E9-4D91-927D-F08CCB070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19375"/>
            <a:ext cx="49720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9359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Haber與Stornetta提出防竄改時間戳文件方法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E3ADCF-877D-4C04-8087-3E81B8420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57375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4A4B60-FA81-4228-926F-18FDBEF14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047875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2004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BF3506-1B06-41F5-9AC3-E54B91DD7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619375"/>
            <a:ext cx="49720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Hal Finney提出Reusable Proof of Work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6573BE-C8BA-41F4-ADD2-5B21799FB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905250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0EEC92-76B9-47D0-A00D-538EF372D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95750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2008–2009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AB9792-4EC6-4BD3-9D2E-F89C380EF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0"/>
            <a:ext cx="49720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Bitcoin白皮書發布；網路與創世區塊啟動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98494F-B5F8-4F2A-BFFA-52CE96449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05250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E64D00-CAF9-46C4-9A82-489B80FD5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095750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2015–2022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CBF56C-8BAC-45FD-B52F-65C2D581A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667250"/>
            <a:ext cx="49720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Ethereum上線；2022完成PoS合併升級</a:t>
            </a:r>
          </a:p>
        </p:txBody>
      </p:sp>
    </p:spTree>
    <p:extLst>
      <p:ext uri="{BB962C8B-B14F-4D97-AF65-F5344CB8AC3E}">
        <p14:creationId xmlns:p14="http://schemas.microsoft.com/office/powerpoint/2010/main" val="949821183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4DB628-966D-4D66-8A7D-703F55C4B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第三節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BCA198-6101-43FF-9764-90689A84D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287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到2026年，主流設計已不只是一條鏈處理全部交易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CC917C-D348-4BD2-B692-FA32263C8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556395-CCB5-406C-BBDE-7EFE9E32D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2｜第三節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D8FECB-760E-4B40-9651-67B6219C9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30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1D46A3-9057-49C8-A75D-98F50EFDE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57375"/>
            <a:ext cx="54292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631717-C320-4BD0-871A-F6EBD5781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57375"/>
            <a:ext cx="56578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18CC94-F1ED-4F3A-B26F-3AF5F5D43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145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基礎層 Layer 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A84E59-89AE-4DFA-8B2A-C94D7DB35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09875"/>
            <a:ext cx="4953000" cy="2524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提供共識、安全與最終結算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例如Bitcoin與Ethereum主網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62C5AC-41C1-469C-8DFA-B05D11419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14550"/>
            <a:ext cx="5162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擴展層 Layer 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4CFDD1-4852-4652-90A4-317EA59E2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09875"/>
            <a:ext cx="5162550" cy="2524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在基礎層之外批次處理交易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再把資料或證明提交回基礎層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例如rollups</a:t>
            </a:r>
          </a:p>
        </p:txBody>
      </p:sp>
    </p:spTree>
    <p:extLst>
      <p:ext uri="{BB962C8B-B14F-4D97-AF65-F5344CB8AC3E}">
        <p14:creationId xmlns:p14="http://schemas.microsoft.com/office/powerpoint/2010/main" val="297629126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11E8F4F-D562-42E9-8EDC-946A5FD48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第三節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C6AFB7-AC8D-4E3B-A2A4-282D4D579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287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看到一筆鏈上交易，應依序問五個問題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9BA6D0-0FEF-4C13-AD7F-B8B51EA4B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55DDEF-D7A3-417A-B0D0-BC14A96F3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2｜第三節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29FE30-DF01-4A11-AD79-2F06C0BAC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31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A1EE28-F250-4292-A533-EF7597EE6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181350"/>
            <a:ext cx="266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BAADCD-A2DE-4145-9E15-19C72F5C2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181350"/>
            <a:ext cx="266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B799D3-1767-4885-97FD-1218670FF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181350"/>
            <a:ext cx="266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75F3F6-EA37-4BE4-A4D1-440DE18DF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181350"/>
            <a:ext cx="266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1D2C3E-DFF4-4A23-B54C-1B2208039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143125"/>
            <a:ext cx="20193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ACC0A8-68B5-4A52-AE44-E636BC0F9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324100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ABCAB4-3541-4D13-8204-3B697D1A6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38450"/>
            <a:ext cx="1676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誰授權？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D2673E-3EEF-4972-9217-1FAF7E4C7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38550"/>
            <a:ext cx="1676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金鑰與簽章是否可信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FDBAF1-89DA-4C2A-ABE2-34FCC88C4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2143125"/>
            <a:ext cx="20193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782612-E2C9-4B39-BAED-61C5D035B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324100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B62871-230A-4993-BBEB-C6114B963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838450"/>
            <a:ext cx="1676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誰驗證？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2F58D6F-E1C1-4295-B3D5-38B46441A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638550"/>
            <a:ext cx="1676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節點與規則是否明確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8B16CD-1A4C-459C-9B08-68EEFEC4E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143125"/>
            <a:ext cx="20193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12AB6AD-31FA-42DE-BD34-78B69B03D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324100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1A1A2C-9988-4E20-B679-E04952523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838450"/>
            <a:ext cx="1676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誰排序？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7DEA558-12EB-491E-BC3D-07A079559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638550"/>
            <a:ext cx="1676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出塊權是否集中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E8DC189-540B-4AD2-8374-F7BD5F876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143125"/>
            <a:ext cx="20193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590BD65-E9FF-4E31-96E7-30A2788D0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324100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03E2E0A-BCA5-494A-A249-D235761EF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838450"/>
            <a:ext cx="1676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何時完成？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4A67CA5-162A-4C27-8C81-B26D5C22C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638550"/>
            <a:ext cx="1676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確認與最終性如何定義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3ABF008-5361-4CBE-B537-03D3E7DFF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143125"/>
            <a:ext cx="20193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5C7F78B-5FC3-44D1-9266-F16E628F7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324100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403E6A8-CDC7-4F92-ACB6-40291E5C7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838450"/>
            <a:ext cx="1676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誰負責？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FFF48EE-8A1D-4FA2-AF2E-9016A96B8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638550"/>
            <a:ext cx="1676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錯誤、損失與爭議如何處理</a:t>
            </a:r>
          </a:p>
        </p:txBody>
      </p:sp>
    </p:spTree>
    <p:extLst>
      <p:ext uri="{BB962C8B-B14F-4D97-AF65-F5344CB8AC3E}">
        <p14:creationId xmlns:p14="http://schemas.microsoft.com/office/powerpoint/2010/main" val="417075043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8902CC-4EB9-4183-9A14-EFB2B1940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第三節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E6140C-24F2-42D6-B015-89A59F991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287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本週結論：有效交易要跨過三道門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82A333-116E-4A57-988C-4F0FFF8E4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AFD36F-DA5B-4959-AF09-F19CA28A2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2｜第三節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AA8482-3F24-4641-B731-E367C8553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32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E322A9-1E02-42D1-B013-878ABF708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952625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0278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授權、規則、共同接受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3F9A3C-66BD-4F0E-BDFA-1C394F13A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571750"/>
            <a:ext cx="111442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2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先由私鑰簽署表達授權；再由節點驗證規則；最後透過區塊與共識形成共同紀錄。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7C7F99-917F-4525-B177-79F8411E9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267200"/>
            <a:ext cx="113538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6F047D-5037-406E-A2A9-186DEDA03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0"/>
            <a:ext cx="108108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鏈上安全仍仰賴金鑰、節點分布、共識、治理，以及鏈下資料與法律安排。</a:t>
            </a:r>
          </a:p>
        </p:txBody>
      </p:sp>
    </p:spTree>
    <p:extLst>
      <p:ext uri="{BB962C8B-B14F-4D97-AF65-F5344CB8AC3E}">
        <p14:creationId xmlns:p14="http://schemas.microsoft.com/office/powerpoint/2010/main" val="1254208390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6B9B41D-C020-4456-A808-1BBBD698D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第三節｜快問快答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C44F7F-4479-4429-9B42-9DCF5F177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287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B0BC46-2C86-4D19-AA0F-1C6E4105C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210BC6-63D8-48B5-AD4E-8021A28BC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2｜第三節｜快問快答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20D2A1-8165-440D-A257-58E1777E2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33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D97035-EA14-454E-B789-EBEFFF28B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第三節｜快問快答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E37703-4C22-4033-B5EE-EE2086284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287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快問快答：5題確認本節學習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99E507-0800-477C-9EAB-67364AFF0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365383-E688-4975-B259-DA3ACDE09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2｜第三節｜快問快答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D6195D-DAD6-474A-8079-EEE25A677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33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2A8460-EB19-42C9-80DC-B4DBC523F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628775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1. 許可型鏈的特徵通常是？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B86274-B0AD-4D25-B34A-26562BF15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09775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rPr>
              <a:t>A 無人管理　B 參與者需經核准　C 沒有節點　D 沒有規則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2DD09E-A7C0-4FD4-939D-B60B7DD12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628775"/>
            <a:ext cx="3524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880EF7-7BB1-4331-A950-7393D7070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809750"/>
            <a:ext cx="3105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rPr>
              <a:t>答案：B。可限制參與與權限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ADF508-79B3-4360-B3B6-A4087A49C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552700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2. 公開地址通常提供什麼程度身分？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E5D761B-32C4-4848-A06A-1F3F2B888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3370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rPr>
              <a:t>A 完全匿名　B 假名識別　C 法定姓名　D 生物辨識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EAB7839-920B-4926-A04C-5C3D3ACE6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552700"/>
            <a:ext cx="3524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4336A45-FAC8-4EBD-8716-C08B9D078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733675"/>
            <a:ext cx="3105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883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rPr>
              <a:t>答案：B。仍可能被鏈下資料連結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447DA8-EB64-4D4D-8AA7-840652EC7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476625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3. 哪個屬於鏈下真實性問題？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51E37B-5FE4-4726-AEDD-3B91F75A5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57625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rPr>
              <a:t>A 簽章格式　B 貨物是否送達　C 區塊摘要　D nonce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2195C3-C891-4009-9EBC-F78E9AC72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476625"/>
            <a:ext cx="3524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8E42D46-AE0E-4593-8CDA-A88D6ADF6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657600"/>
            <a:ext cx="3105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rPr>
              <a:t>答案：B。需外部資料證明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77A3392-BA61-4395-A31C-4BFBD18E8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400550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4. 2022年Ethereum完成哪項重要改變？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7527F9A-9A91-48D1-A431-0EF3597FD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78155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rPr>
              <a:t>A 關閉網路　B 轉向PoS　C 取消交易　D 取消區塊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33A7A9D-30A5-4A33-9A16-232367CE9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400550"/>
            <a:ext cx="3524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2E34163-1B1D-43C4-8A27-A836B4D49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581525"/>
            <a:ext cx="3105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rPr>
              <a:t>答案：B。The Merge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6E533C3-E369-4159-9DBB-6524A08FA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324475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5. 分析鏈上交易最先應問？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E3992F3-5322-4B3E-B034-F1A77B705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705475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rPr>
              <a:t>A 幣價會不會漲　B 誰授權與誰驗證　C 顏色　D 廣告量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1913692-B9FB-4864-A665-7AE53FDC5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324475"/>
            <a:ext cx="3524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A6A3CB8-7B73-45E2-A147-E7E0BE967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5505450"/>
            <a:ext cx="3105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rPr>
              <a:t>答案：B。先確認控制與責任</a:t>
            </a:r>
          </a:p>
        </p:txBody>
      </p:sp>
    </p:spTree>
    <p:extLst>
      <p:ext uri="{BB962C8B-B14F-4D97-AF65-F5344CB8AC3E}">
        <p14:creationId xmlns:p14="http://schemas.microsoft.com/office/powerpoint/2010/main" val="59546032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2026-09-03T04:28:55.9980000Z</dcterms:created>
  <dcterms:modified xsi:type="dcterms:W3CDTF">2026-09-03T04:28:55.9980000Z</dcterms:modified>
</coreProperties>
</file>