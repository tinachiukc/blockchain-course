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e0ef66c2564987" /><Relationship Type="http://schemas.openxmlformats.org/officeDocument/2006/relationships/extended-properties" Target="/docProps/app.xml" Id="R438de23137dd4fb8" /><Relationship Type="http://schemas.openxmlformats.org/officeDocument/2006/relationships/officeDocument" Target="/ppt/presentation.xml" Id="R76dd04dd298044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aa527a56484d02"/>
  </p:sldMasterIdLst>
  <p:notesMasterIdLst>
    <p:notesMasterId xmlns:r="http://schemas.openxmlformats.org/officeDocument/2006/relationships" r:id="Rf0e54c8386de4269"/>
  </p:notesMasterIdLst>
  <p:sldIdLst>
    <p:sldId xmlns:r="http://schemas.openxmlformats.org/officeDocument/2006/relationships" id="256" r:id="R3533f39bba18476f"/>
    <p:sldId xmlns:r="http://schemas.openxmlformats.org/officeDocument/2006/relationships" id="257" r:id="R8c4d9fc5cec54b9c"/>
    <p:sldId xmlns:r="http://schemas.openxmlformats.org/officeDocument/2006/relationships" id="258" r:id="R02bad10b4e8e4fd4"/>
    <p:sldId xmlns:r="http://schemas.openxmlformats.org/officeDocument/2006/relationships" id="259" r:id="R748a8b8e4d404019"/>
    <p:sldId xmlns:r="http://schemas.openxmlformats.org/officeDocument/2006/relationships" id="260" r:id="R5780daa21afb4d79"/>
    <p:sldId xmlns:r="http://schemas.openxmlformats.org/officeDocument/2006/relationships" id="261" r:id="R46827faf9ed04516"/>
    <p:sldId xmlns:r="http://schemas.openxmlformats.org/officeDocument/2006/relationships" id="262" r:id="Rb3733c4cc4304870"/>
    <p:sldId xmlns:r="http://schemas.openxmlformats.org/officeDocument/2006/relationships" id="263" r:id="Ra60a314f530f4bf9"/>
    <p:sldId xmlns:r="http://schemas.openxmlformats.org/officeDocument/2006/relationships" id="264" r:id="R2e94d02f52b64018"/>
    <p:sldId xmlns:r="http://schemas.openxmlformats.org/officeDocument/2006/relationships" id="265" r:id="Rdec9780c4fc04ff9"/>
    <p:sldId xmlns:r="http://schemas.openxmlformats.org/officeDocument/2006/relationships" id="266" r:id="R258260fde001492c"/>
    <p:sldId xmlns:r="http://schemas.openxmlformats.org/officeDocument/2006/relationships" id="267" r:id="R226dc6d12ec44405"/>
    <p:sldId xmlns:r="http://schemas.openxmlformats.org/officeDocument/2006/relationships" id="268" r:id="R893091f7e9df4aa6"/>
    <p:sldId xmlns:r="http://schemas.openxmlformats.org/officeDocument/2006/relationships" id="269" r:id="Rd750f3c9f9f64013"/>
    <p:sldId xmlns:r="http://schemas.openxmlformats.org/officeDocument/2006/relationships" id="270" r:id="R6244b9e7041e4597"/>
    <p:sldId xmlns:r="http://schemas.openxmlformats.org/officeDocument/2006/relationships" id="271" r:id="R9660a99f95264d7d"/>
    <p:sldId xmlns:r="http://schemas.openxmlformats.org/officeDocument/2006/relationships" id="272" r:id="R43627c63b26f4cc5"/>
    <p:sldId xmlns:r="http://schemas.openxmlformats.org/officeDocument/2006/relationships" id="273" r:id="Rdadadfbf645a491b"/>
    <p:sldId xmlns:r="http://schemas.openxmlformats.org/officeDocument/2006/relationships" id="274" r:id="R400b060a79f44326"/>
    <p:sldId xmlns:r="http://schemas.openxmlformats.org/officeDocument/2006/relationships" id="275" r:id="Rc8ccb0dd4a6241a4"/>
    <p:sldId xmlns:r="http://schemas.openxmlformats.org/officeDocument/2006/relationships" id="276" r:id="R133d40e7edea414a"/>
    <p:sldId xmlns:r="http://schemas.openxmlformats.org/officeDocument/2006/relationships" id="277" r:id="R65c0bd528cec4f23"/>
    <p:sldId xmlns:r="http://schemas.openxmlformats.org/officeDocument/2006/relationships" id="278" r:id="R50c3926bf92147e8"/>
    <p:sldId xmlns:r="http://schemas.openxmlformats.org/officeDocument/2006/relationships" id="279" r:id="R1718ea4c11dd4057"/>
    <p:sldId xmlns:r="http://schemas.openxmlformats.org/officeDocument/2006/relationships" id="280" r:id="Rc8074262bbaa488e"/>
    <p:sldId xmlns:r="http://schemas.openxmlformats.org/officeDocument/2006/relationships" id="281" r:id="R5ce7e430a1fe489d"/>
    <p:sldId xmlns:r="http://schemas.openxmlformats.org/officeDocument/2006/relationships" id="282" r:id="R2c5f69cedde84332"/>
    <p:sldId xmlns:r="http://schemas.openxmlformats.org/officeDocument/2006/relationships" id="283" r:id="R335f7e3176dd4560"/>
    <p:sldId xmlns:r="http://schemas.openxmlformats.org/officeDocument/2006/relationships" id="284" r:id="Red26675fd1c14836"/>
    <p:sldId xmlns:r="http://schemas.openxmlformats.org/officeDocument/2006/relationships" id="285" r:id="R124beb52c6e54a3f"/>
    <p:sldId xmlns:r="http://schemas.openxmlformats.org/officeDocument/2006/relationships" id="286" r:id="Rd88bf06f84f9453e"/>
    <p:sldId xmlns:r="http://schemas.openxmlformats.org/officeDocument/2006/relationships" id="287" r:id="R9464cfa02ebe427e"/>
    <p:sldId xmlns:r="http://schemas.openxmlformats.org/officeDocument/2006/relationships" id="288" r:id="Rf36429762d4743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c501ab8c854bfe" /><Relationship Type="http://schemas.openxmlformats.org/officeDocument/2006/relationships/slideMaster" Target="/ppt/slideMasters/slideMaster1.xml" Id="R47aa527a56484d02" /><Relationship Type="http://schemas.openxmlformats.org/officeDocument/2006/relationships/notesMaster" Target="/ppt/notesMasters/notesMaster1.xml" Id="Rf0e54c8386de4269" /><Relationship Type="http://schemas.openxmlformats.org/officeDocument/2006/relationships/presProps" Target="/ppt/presProps.xml" Id="R80bc94c8b7e94ffc" /><Relationship Type="http://schemas.openxmlformats.org/officeDocument/2006/relationships/tableStyles" Target="/ppt/tableStyles.xml" Id="R055c7a99b30d426d" /><Relationship Type="http://schemas.openxmlformats.org/officeDocument/2006/relationships/slide" Target="/ppt/slides/slide1.xml" Id="R3533f39bba18476f" /><Relationship Type="http://schemas.openxmlformats.org/officeDocument/2006/relationships/slide" Target="/ppt/slides/slide2.xml" Id="R8c4d9fc5cec54b9c" /><Relationship Type="http://schemas.openxmlformats.org/officeDocument/2006/relationships/slide" Target="/ppt/slides/slide3.xml" Id="R02bad10b4e8e4fd4" /><Relationship Type="http://schemas.openxmlformats.org/officeDocument/2006/relationships/slide" Target="/ppt/slides/slide4.xml" Id="R748a8b8e4d404019" /><Relationship Type="http://schemas.openxmlformats.org/officeDocument/2006/relationships/slide" Target="/ppt/slides/slide5.xml" Id="R5780daa21afb4d79" /><Relationship Type="http://schemas.openxmlformats.org/officeDocument/2006/relationships/slide" Target="/ppt/slides/slide6.xml" Id="R46827faf9ed04516" /><Relationship Type="http://schemas.openxmlformats.org/officeDocument/2006/relationships/slide" Target="/ppt/slides/slide7.xml" Id="Rb3733c4cc4304870" /><Relationship Type="http://schemas.openxmlformats.org/officeDocument/2006/relationships/slide" Target="/ppt/slides/slide8.xml" Id="Ra60a314f530f4bf9" /><Relationship Type="http://schemas.openxmlformats.org/officeDocument/2006/relationships/slide" Target="/ppt/slides/slide9.xml" Id="R2e94d02f52b64018" /><Relationship Type="http://schemas.openxmlformats.org/officeDocument/2006/relationships/slide" Target="/ppt/slides/slide10.xml" Id="Rdec9780c4fc04ff9" /><Relationship Type="http://schemas.openxmlformats.org/officeDocument/2006/relationships/slide" Target="/ppt/slides/slide11.xml" Id="R258260fde001492c" /><Relationship Type="http://schemas.openxmlformats.org/officeDocument/2006/relationships/slide" Target="/ppt/slides/slide12.xml" Id="R226dc6d12ec44405" /><Relationship Type="http://schemas.openxmlformats.org/officeDocument/2006/relationships/slide" Target="/ppt/slides/slide13.xml" Id="R893091f7e9df4aa6" /><Relationship Type="http://schemas.openxmlformats.org/officeDocument/2006/relationships/slide" Target="/ppt/slides/slide14.xml" Id="Rd750f3c9f9f64013" /><Relationship Type="http://schemas.openxmlformats.org/officeDocument/2006/relationships/slide" Target="/ppt/slides/slide15.xml" Id="R6244b9e7041e4597" /><Relationship Type="http://schemas.openxmlformats.org/officeDocument/2006/relationships/slide" Target="/ppt/slides/slide16.xml" Id="R9660a99f95264d7d" /><Relationship Type="http://schemas.openxmlformats.org/officeDocument/2006/relationships/slide" Target="/ppt/slides/slide17.xml" Id="R43627c63b26f4cc5" /><Relationship Type="http://schemas.openxmlformats.org/officeDocument/2006/relationships/slide" Target="/ppt/slides/slide18.xml" Id="Rdadadfbf645a491b" /><Relationship Type="http://schemas.openxmlformats.org/officeDocument/2006/relationships/slide" Target="/ppt/slides/slide19.xml" Id="R400b060a79f44326" /><Relationship Type="http://schemas.openxmlformats.org/officeDocument/2006/relationships/slide" Target="/ppt/slides/slide20.xml" Id="Rc8ccb0dd4a6241a4" /><Relationship Type="http://schemas.openxmlformats.org/officeDocument/2006/relationships/slide" Target="/ppt/slides/slide21.xml" Id="R133d40e7edea414a" /><Relationship Type="http://schemas.openxmlformats.org/officeDocument/2006/relationships/slide" Target="/ppt/slides/slide22.xml" Id="R65c0bd528cec4f23" /><Relationship Type="http://schemas.openxmlformats.org/officeDocument/2006/relationships/slide" Target="/ppt/slides/slide23.xml" Id="R50c3926bf92147e8" /><Relationship Type="http://schemas.openxmlformats.org/officeDocument/2006/relationships/slide" Target="/ppt/slides/slide24.xml" Id="R1718ea4c11dd4057" /><Relationship Type="http://schemas.openxmlformats.org/officeDocument/2006/relationships/slide" Target="/ppt/slides/slide25.xml" Id="Rc8074262bbaa488e" /><Relationship Type="http://schemas.openxmlformats.org/officeDocument/2006/relationships/slide" Target="/ppt/slides/slide26.xml" Id="R5ce7e430a1fe489d" /><Relationship Type="http://schemas.openxmlformats.org/officeDocument/2006/relationships/slide" Target="/ppt/slides/slide27.xml" Id="R2c5f69cedde84332" /><Relationship Type="http://schemas.openxmlformats.org/officeDocument/2006/relationships/slide" Target="/ppt/slides/slide28.xml" Id="R335f7e3176dd4560" /><Relationship Type="http://schemas.openxmlformats.org/officeDocument/2006/relationships/slide" Target="/ppt/slides/slide29.xml" Id="Red26675fd1c14836" /><Relationship Type="http://schemas.openxmlformats.org/officeDocument/2006/relationships/slide" Target="/ppt/slides/slide30.xml" Id="R124beb52c6e54a3f" /><Relationship Type="http://schemas.openxmlformats.org/officeDocument/2006/relationships/slide" Target="/ppt/slides/slide31.xml" Id="Rd88bf06f84f9453e" /><Relationship Type="http://schemas.openxmlformats.org/officeDocument/2006/relationships/slide" Target="/ppt/slides/slide32.xml" Id="R9464cfa02ebe427e" /><Relationship Type="http://schemas.openxmlformats.org/officeDocument/2006/relationships/slide" Target="/ppt/slides/slide33.xml" Id="Rf36429762d4743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eebb854e6b41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b7c50e12924d60" /><Relationship Type="http://schemas.openxmlformats.org/officeDocument/2006/relationships/notesMaster" Target="/ppt/notesMasters/notesMaster1.xml" Id="Rc70772835fb04c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b59f9f932e4f92" /><Relationship Type="http://schemas.openxmlformats.org/officeDocument/2006/relationships/notesMaster" Target="/ppt/notesMasters/notesMaster1.xml" Id="R2da22fd3c29a4b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0e0ad4085544c1" /><Relationship Type="http://schemas.openxmlformats.org/officeDocument/2006/relationships/notesMaster" Target="/ppt/notesMasters/notesMaster1.xml" Id="R4dd408fbf56043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71ba22168b490e" /><Relationship Type="http://schemas.openxmlformats.org/officeDocument/2006/relationships/notesMaster" Target="/ppt/notesMasters/notesMaster1.xml" Id="R17a8fb66320240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2d71007b6f4679" /><Relationship Type="http://schemas.openxmlformats.org/officeDocument/2006/relationships/notesMaster" Target="/ppt/notesMasters/notesMaster1.xml" Id="Rca3c0db18d6144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282b268f454c03" /><Relationship Type="http://schemas.openxmlformats.org/officeDocument/2006/relationships/notesMaster" Target="/ppt/notesMasters/notesMaster1.xml" Id="Re7f27a06b1f542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1adf43df2b4efd" /><Relationship Type="http://schemas.openxmlformats.org/officeDocument/2006/relationships/notesMaster" Target="/ppt/notesMasters/notesMaster1.xml" Id="Rb9e5a286d47e4a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f5738aee264e30" /><Relationship Type="http://schemas.openxmlformats.org/officeDocument/2006/relationships/notesMaster" Target="/ppt/notesMasters/notesMaster1.xml" Id="R95eb0605737646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45a7b56e54432c" /><Relationship Type="http://schemas.openxmlformats.org/officeDocument/2006/relationships/notesMaster" Target="/ppt/notesMasters/notesMaster1.xml" Id="R097d8cbaa94542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8fedb778b5413e" /><Relationship Type="http://schemas.openxmlformats.org/officeDocument/2006/relationships/notesMaster" Target="/ppt/notesMasters/notesMaster1.xml" Id="Rbf701a9aa37d48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e25a589c0c4c59" /><Relationship Type="http://schemas.openxmlformats.org/officeDocument/2006/relationships/notesMaster" Target="/ppt/notesMasters/notesMaster1.xml" Id="Rfe90805f8784408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f32d3c41704f1f" /><Relationship Type="http://schemas.openxmlformats.org/officeDocument/2006/relationships/notesMaster" Target="/ppt/notesMasters/notesMaster1.xml" Id="R3ea2c3b50e8e4f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98042da29e4741" /><Relationship Type="http://schemas.openxmlformats.org/officeDocument/2006/relationships/notesMaster" Target="/ppt/notesMasters/notesMaster1.xml" Id="R724bdfea2a6c479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064782676946ef" /><Relationship Type="http://schemas.openxmlformats.org/officeDocument/2006/relationships/notesMaster" Target="/ppt/notesMasters/notesMaster1.xml" Id="R0d21ddca970b4a7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9fe38fa05f4381" /><Relationship Type="http://schemas.openxmlformats.org/officeDocument/2006/relationships/notesMaster" Target="/ppt/notesMasters/notesMaster1.xml" Id="Rf318eb52023648b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a78c26106a4d13" /><Relationship Type="http://schemas.openxmlformats.org/officeDocument/2006/relationships/notesMaster" Target="/ppt/notesMasters/notesMaster1.xml" Id="Rbbea7f6fd25d456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fa0b246866b46da" /><Relationship Type="http://schemas.openxmlformats.org/officeDocument/2006/relationships/notesMaster" Target="/ppt/notesMasters/notesMaster1.xml" Id="Rc4daaad23dc041c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ef3558c8291462e" /><Relationship Type="http://schemas.openxmlformats.org/officeDocument/2006/relationships/notesMaster" Target="/ppt/notesMasters/notesMaster1.xml" Id="R8ef50019fda24f6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c0af20c6054df2" /><Relationship Type="http://schemas.openxmlformats.org/officeDocument/2006/relationships/notesMaster" Target="/ppt/notesMasters/notesMaster1.xml" Id="R19b567c73c5c414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ff4a9d4d0af4cef" /><Relationship Type="http://schemas.openxmlformats.org/officeDocument/2006/relationships/notesMaster" Target="/ppt/notesMasters/notesMaster1.xml" Id="R4771aff228264ea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0e2e6b91cfe41a2" /><Relationship Type="http://schemas.openxmlformats.org/officeDocument/2006/relationships/notesMaster" Target="/ppt/notesMasters/notesMaster1.xml" Id="Ref522ccbf34a43d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7d0ed4fea904517" /><Relationship Type="http://schemas.openxmlformats.org/officeDocument/2006/relationships/notesMaster" Target="/ppt/notesMasters/notesMaster1.xml" Id="R37b7444c6f6d439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de88f5f4b944d81" /><Relationship Type="http://schemas.openxmlformats.org/officeDocument/2006/relationships/notesMaster" Target="/ppt/notesMasters/notesMaster1.xml" Id="R2f18167205da418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937746e4c8c4842" /><Relationship Type="http://schemas.openxmlformats.org/officeDocument/2006/relationships/notesMaster" Target="/ppt/notesMasters/notesMaster1.xml" Id="Rfae4ccf73293452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91c429336ab4295" /><Relationship Type="http://schemas.openxmlformats.org/officeDocument/2006/relationships/notesMaster" Target="/ppt/notesMasters/notesMaster1.xml" Id="Rfc763e7be7a64aa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871278bd3b247e2" /><Relationship Type="http://schemas.openxmlformats.org/officeDocument/2006/relationships/notesMaster" Target="/ppt/notesMasters/notesMaster1.xml" Id="R2fd0070891dd463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26d280d62fe4151" /><Relationship Type="http://schemas.openxmlformats.org/officeDocument/2006/relationships/notesMaster" Target="/ppt/notesMasters/notesMaster1.xml" Id="R3d997cfb3cad463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0687ce806c94e2c" /><Relationship Type="http://schemas.openxmlformats.org/officeDocument/2006/relationships/notesMaster" Target="/ppt/notesMasters/notesMaster1.xml" Id="R277a9924ca71444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6a6199cdd0842f8" /><Relationship Type="http://schemas.openxmlformats.org/officeDocument/2006/relationships/notesMaster" Target="/ppt/notesMasters/notesMaster1.xml" Id="R30ccadbf1b3e420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df6e36f478a4a8c" /><Relationship Type="http://schemas.openxmlformats.org/officeDocument/2006/relationships/notesMaster" Target="/ppt/notesMasters/notesMaster1.xml" Id="Rad52495267f7431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688151b72ca4033" /><Relationship Type="http://schemas.openxmlformats.org/officeDocument/2006/relationships/notesMaster" Target="/ppt/notesMasters/notesMaster1.xml" Id="R0f78d3324c854fc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0455a5674ae46f2" /><Relationship Type="http://schemas.openxmlformats.org/officeDocument/2006/relationships/notesMaster" Target="/ppt/notesMasters/notesMaster1.xml" Id="R3b79f0e9147a42d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d9b2db874e548bc" /><Relationship Type="http://schemas.openxmlformats.org/officeDocument/2006/relationships/notesMaster" Target="/ppt/notesMasters/notesMaster1.xml" Id="R1bf3e3315d1044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以舊教材貨幣演進與分類為基礎，將判斷焦點改為貨幣功能、發行人、請求權與清償風險。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歷史簡化為功能演進，不花大量時間背誦古代幣制。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LINE Pay是支付服務；付款背後通常仍是新臺幣存款、信用額度或電子支付帳戶資金。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舊教材將銀行卡、PayPal、支付平台餘額全部視為同一類電子貨幣，需依各地法律與實際資金結構判斷。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避免把數位貨幣、虛擬貨幣、加密貨幣當成可互換的標籤。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將Bitcoin、Ether稱為加密資產較中性；是否構成貨幣要看功能與使用情境。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修正舊教材把虛擬代幣說成由私有鏈發行；多數代幣建立在公有鏈或其他既有網路上。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NFT屬數位資產議題，不宜直接視為貨幣。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第五問是失敗時如何贖回、補救與求償；用於後續所有分類。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以發行人與請求權分類，比只看技術名稱更適合金融管理。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CBDC不必然使用區塊鏈，也不等於央行發行的加密貨幣。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https://museum.cbc.gov.tw/web/zh-tw/story/evolution/digit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修正舊教材容易讓學生以為即將正式發行的表述；截至2026年仍重視政策目標與社會溝通。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https://www.cbc.gov.tw/tw/cp-302-191133-c1456-1.html</a:t>
            </a:r>
          </a:p>
          <a:p xmlns:a="http://schemas.openxmlformats.org/drawingml/2006/main">
            <a:r>
              <a:t>- https://www.cbc.gov.tw/tw/dl-217456-dc20d4918e574f8c9103b072e23f365e.html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與穩定幣最大的差異之一，是法律與資產負債表上的發行人身分。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『1枚約等於1美元』是目標，不是無條件保證；需檢查儲備品質、隔離、揭露與贖回權。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穩定幣價格仍可能短暫脫鉤；不能把穩定理解成保本。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用TerraUSD崩潰的教訓說明：機制設計不能取代高品質儲備與可信贖回。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把技術能力與政策選擇分開討論。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修正舊教材將區塊鏈描述為直接取代SWIFT；訊息、資金與結算是不同層次。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BIS以此檢視穩定幣、存款代幣與央行貨幣的角色。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https://www.bis.org/media-releases/20250624-next-generation-monetary-and-financial-system-takes-shape-based-tokenised-unified-ledger-bis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不要因名稱含coin就假設它具備一般貨幣功能。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修正舊教材『任何人皆可、成本低、無需中介』的絕對表述；前端、治理、預言機與託管仍可能集中。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高收益通常對應槓桿、流動性或代幣獎勵等風險來源。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保留收藏與粉絲經濟案例，降低對價格與跨遊戲互通的過度承諾。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跨境更快或更便宜不是普遍保證，必須比較完整端到端成本。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鏈上可追蹤不代表自動合規；跨平台與自託管錢包仍有資料缺口。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https://www.fatf-gafi.org/en/topics/virtual-assets.html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截至2026年7月法律已公布，部分條文尚待施行；授課時須區分公布與實際生效。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https://law.fsc.gov.tw/LawContent.aspx?id=GL004301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同一種代幣透過不同平台持有，投資人承擔的服務商風險也不同。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要求學生以端到端流程比較銀行匯款與穩定幣方案，而非只比較鏈上速度。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4315cdb7794f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628954f3a144a3" /><Relationship Type="http://schemas.openxmlformats.org/officeDocument/2006/relationships/slideLayout" Target="/ppt/slideLayouts/slideLayout1.xml" Id="R6a03411c9bfb44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03411c9bfb44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810290ce2458f" /><Relationship Type="http://schemas.openxmlformats.org/officeDocument/2006/relationships/notesSlide" Target="/ppt/notesSlides/notesSlide1.xml" Id="R7fba8ce2cf5242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7b1004d8c4c4f" /><Relationship Type="http://schemas.openxmlformats.org/officeDocument/2006/relationships/notesSlide" Target="/ppt/notesSlides/notesSlide2.xml" Id="R746895f7cef94c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6f88f7f2e477c" /><Relationship Type="http://schemas.openxmlformats.org/officeDocument/2006/relationships/notesSlide" Target="/ppt/notesSlides/notesSlide3.xml" Id="R83ecf4d459e74a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3cbb6bb79417a" /><Relationship Type="http://schemas.openxmlformats.org/officeDocument/2006/relationships/notesSlide" Target="/ppt/notesSlides/notesSlide4.xml" Id="R20d31756220e49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b3931091342a8" /><Relationship Type="http://schemas.openxmlformats.org/officeDocument/2006/relationships/notesSlide" Target="/ppt/notesSlides/notesSlide5.xml" Id="R57703517a6ec4a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7beb231a34397" /><Relationship Type="http://schemas.openxmlformats.org/officeDocument/2006/relationships/notesSlide" Target="/ppt/notesSlides/notesSlide6.xml" Id="R99bd390a14284f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de6cc8c084ec7" /><Relationship Type="http://schemas.openxmlformats.org/officeDocument/2006/relationships/notesSlide" Target="/ppt/notesSlides/notesSlide7.xml" Id="R07a47d26bfab4f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2e0a19a0a4b0c" /><Relationship Type="http://schemas.openxmlformats.org/officeDocument/2006/relationships/notesSlide" Target="/ppt/notesSlides/notesSlide8.xml" Id="Ra242d3ed8c604f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7cbff21604a74" /><Relationship Type="http://schemas.openxmlformats.org/officeDocument/2006/relationships/notesSlide" Target="/ppt/notesSlides/notesSlide9.xml" Id="Rc5d82dc9f8324c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b53e590ce45ba" /><Relationship Type="http://schemas.openxmlformats.org/officeDocument/2006/relationships/notesSlide" Target="/ppt/notesSlides/notesSlide10.xml" Id="Rfafcd75fe6f2431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9b156c1e8406a" /><Relationship Type="http://schemas.openxmlformats.org/officeDocument/2006/relationships/notesSlide" Target="/ppt/notesSlides/notesSlide11.xml" Id="Rf67e586faefb4b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ff7f0dfce4a82" /><Relationship Type="http://schemas.openxmlformats.org/officeDocument/2006/relationships/notesSlide" Target="/ppt/notesSlides/notesSlide12.xml" Id="Rcfc9d7248cbd49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f954a6442437a" /><Relationship Type="http://schemas.openxmlformats.org/officeDocument/2006/relationships/notesSlide" Target="/ppt/notesSlides/notesSlide13.xml" Id="Rd70d6a59ca39470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1a0a7347844bc" /><Relationship Type="http://schemas.openxmlformats.org/officeDocument/2006/relationships/notesSlide" Target="/ppt/notesSlides/notesSlide14.xml" Id="Ref0b2c6ae72845d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1a464a45c4500" /><Relationship Type="http://schemas.openxmlformats.org/officeDocument/2006/relationships/notesSlide" Target="/ppt/notesSlides/notesSlide15.xml" Id="R38eed7b9c485477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cdd1c41354540" /><Relationship Type="http://schemas.openxmlformats.org/officeDocument/2006/relationships/notesSlide" Target="/ppt/notesSlides/notesSlide16.xml" Id="R8f0aa057efcc42f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f34b2f84d43c7" /><Relationship Type="http://schemas.openxmlformats.org/officeDocument/2006/relationships/notesSlide" Target="/ppt/notesSlides/notesSlide17.xml" Id="R79e48bb2e0ba4be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70ea736f244f7" /><Relationship Type="http://schemas.openxmlformats.org/officeDocument/2006/relationships/notesSlide" Target="/ppt/notesSlides/notesSlide18.xml" Id="R0ecf4d49f47543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7879f7f13436b" /><Relationship Type="http://schemas.openxmlformats.org/officeDocument/2006/relationships/notesSlide" Target="/ppt/notesSlides/notesSlide19.xml" Id="Rae1c7871bead4e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e054f33fb4b6e" /><Relationship Type="http://schemas.openxmlformats.org/officeDocument/2006/relationships/notesSlide" Target="/ppt/notesSlides/notesSlide20.xml" Id="R1af508dd720840a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e43ed550446c5" /><Relationship Type="http://schemas.openxmlformats.org/officeDocument/2006/relationships/notesSlide" Target="/ppt/notesSlides/notesSlide21.xml" Id="R5f91584ce157474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f3aade27c47ff" /><Relationship Type="http://schemas.openxmlformats.org/officeDocument/2006/relationships/notesSlide" Target="/ppt/notesSlides/notesSlide22.xml" Id="Re903ce68db74437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be702a1ab485c" /><Relationship Type="http://schemas.openxmlformats.org/officeDocument/2006/relationships/notesSlide" Target="/ppt/notesSlides/notesSlide23.xml" Id="Rb62fb2927abe495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42ecc29414882" /><Relationship Type="http://schemas.openxmlformats.org/officeDocument/2006/relationships/notesSlide" Target="/ppt/notesSlides/notesSlide24.xml" Id="R4b5312d67773486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0bfd25b2548d8" /><Relationship Type="http://schemas.openxmlformats.org/officeDocument/2006/relationships/notesSlide" Target="/ppt/notesSlides/notesSlide25.xml" Id="R44466816621b4d0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27993407884945" /><Relationship Type="http://schemas.openxmlformats.org/officeDocument/2006/relationships/notesSlide" Target="/ppt/notesSlides/notesSlide26.xml" Id="R4a39c41cbf4d43d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18db912004544" /><Relationship Type="http://schemas.openxmlformats.org/officeDocument/2006/relationships/notesSlide" Target="/ppt/notesSlides/notesSlide27.xml" Id="R16d89a26c056446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de18ac1f84d45" /><Relationship Type="http://schemas.openxmlformats.org/officeDocument/2006/relationships/notesSlide" Target="/ppt/notesSlides/notesSlide28.xml" Id="Re1a45a6a7dc6447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dea8b9f1c0492e" /><Relationship Type="http://schemas.openxmlformats.org/officeDocument/2006/relationships/notesSlide" Target="/ppt/notesSlides/notesSlide29.xml" Id="R624206bc15c449b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fe77e820e4b93" /><Relationship Type="http://schemas.openxmlformats.org/officeDocument/2006/relationships/notesSlide" Target="/ppt/notesSlides/notesSlide30.xml" Id="R5e1d0375d3324d5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93a44ef414226" /><Relationship Type="http://schemas.openxmlformats.org/officeDocument/2006/relationships/notesSlide" Target="/ppt/notesSlides/notesSlide31.xml" Id="R15101a5004854b8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472a733e64830" /><Relationship Type="http://schemas.openxmlformats.org/officeDocument/2006/relationships/notesSlide" Target="/ppt/notesSlides/notesSlide32.xml" Id="R57e7a250d6864e1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406c9850b4058" /><Relationship Type="http://schemas.openxmlformats.org/officeDocument/2006/relationships/notesSlide" Target="/ppt/notesSlides/notesSlide33.xml" Id="R263dafbff8b245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5E86F6-5A7D-4249-B75E-B83277CA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區塊鏈概論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E68B6-BBBB-4AD5-B007-0602395F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047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Week 5</a:t>
            </a:r>
          </a:p>
          <a:p xmlns:a="http://schemas.openxmlformats.org/drawingml/2006/main">
            <a:pPr algn="l">
              <a:def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9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區塊鏈與數位貨幣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6DCA7-C084-4978-806C-87BDDBE6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19625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從貨幣功能、發行人到風險與監理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32231-0695-4202-92FA-0CD6475B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第一節：先分清楚貨幣、支付與數位資產</a:t>
            </a:r>
          </a:p>
        </p:txBody>
      </p:sp>
    </p:spTree>
    <p:extLst>
      <p:ext uri="{BB962C8B-B14F-4D97-AF65-F5344CB8AC3E}">
        <p14:creationId xmlns:p14="http://schemas.microsoft.com/office/powerpoint/2010/main" val="5291521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4D4206-F8AA-42F3-BE5E-7154905A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B9BEE-D9DE-4810-8046-45FF9E80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貨幣形式改變，核心功能沒有消失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DE8BC-CBFA-4EA0-B513-0B47D297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60A535-3656-423B-B5B0-B7EEBA28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F86C1-24C1-415A-8742-969C7CC5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45136-9CE6-43B7-BC48-B6E49D05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BB84D6-ADD8-4C76-8BFE-AEF1D4E7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交易媒介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D5685-26C9-44E8-B7F9-48CA0928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降低以物易物尋找需求的成本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EA094-9E98-4DBF-82EA-F24FA2C8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515419-BFEC-49B5-AB9A-6D7A1EBA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記帳單位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F16CA5-2233-46BD-BB02-2825522A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用共同尺度標示價格與債務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65AD1-171A-4448-B29A-FDFB7E8D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BB0D7-1AA8-41C5-800B-D23B51F8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價值儲藏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22981-6C65-4F19-8042-E5EE80B4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把購買力移轉到未來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6C977-4972-4853-9B86-ABF13FBA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64D81E-2B09-4314-979E-05430A0B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延後支付標準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287302-B61C-4A6A-9797-35352F3F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支援借貸、契約與長期計價</a:t>
            </a:r>
          </a:p>
        </p:txBody>
      </p:sp>
    </p:spTree>
    <p:extLst>
      <p:ext uri="{BB962C8B-B14F-4D97-AF65-F5344CB8AC3E}">
        <p14:creationId xmlns:p14="http://schemas.microsoft.com/office/powerpoint/2010/main" val="10330907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4CF0D-FBC2-4A4F-ADAE-E7030519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2A7059-32B2-49EE-8903-8AF68897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支付工具不是貨幣本身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2B8C1A-3DEB-4DB0-8AB0-581CA73B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3A1F5-92DE-4827-99CB-5339A44B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F605D-BD93-455E-A26C-C02E4A1A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D2068D-863C-4FB6-84F7-025E56D6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5061B-E427-4F2F-96C1-4A89F903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726EB-8545-446E-B9BF-6257A9A4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貨幣回答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11EFA-D7F9-4AB0-A870-2DB3A476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債務用什麼單位計價？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誰發行或承擔負債？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持有人對誰有請求權？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16D68A-952A-40C6-8442-6EF447BB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支付工具回答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4E6191-616E-4DFD-B9B8-2714F6AB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如何傳送付款指令？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使用卡片、App、銀行轉帳或鏈？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何時完成清算與結算？</a:t>
            </a:r>
          </a:p>
        </p:txBody>
      </p:sp>
    </p:spTree>
    <p:extLst>
      <p:ext uri="{BB962C8B-B14F-4D97-AF65-F5344CB8AC3E}">
        <p14:creationId xmlns:p14="http://schemas.microsoft.com/office/powerpoint/2010/main" val="10301714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0635E-DBFE-47DD-8309-BA61338A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96221D-49EB-42ED-89E5-2ADAB091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現代貨幣多數早已是數位帳本紀錄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0DCCA-4965-4953-BD97-57EB84AA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73726-B1C3-4023-A610-E3927ECF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8C9AB-AF8B-4984-842E-3C807B21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43B9C-EBC6-4071-A23A-FEC95F3C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數位化不等於區塊鏈化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342E6-A8CC-47F1-A76C-50A160E8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銀行存款、信用卡與電子支付早已透過數位系統運作，卻通常由中心化機構管理。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73904-4BD1-459A-BAA6-795F200F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1800A-A293-4E6C-9A36-983907F1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7388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判斷新型數位貨幣時，不能只問是否電子化；更要問發行人、法律地位、贖回與結算資產。</a:t>
            </a:r>
          </a:p>
        </p:txBody>
      </p:sp>
    </p:spTree>
    <p:extLst>
      <p:ext uri="{BB962C8B-B14F-4D97-AF65-F5344CB8AC3E}">
        <p14:creationId xmlns:p14="http://schemas.microsoft.com/office/powerpoint/2010/main" val="692911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98541E-1EA9-43D4-9CE2-BF653659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A00AC-91B8-4531-A748-B047795F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電子支付、電子貨幣與銀行存款不能完全畫等號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A8399-5DA4-48E5-AD34-0533DF62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0F8A7-3838-4EB1-AA5C-B778A362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73E25-9277-416E-9B16-7E3B0D06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D56EC9-E86B-4B34-81EB-5E595533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DC2B9-7F3E-4653-AF0A-72F380A8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電子支付服務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846FC-205C-4C39-B0E1-3362EC02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提供收付款介面與交易處理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DB882-2B13-4807-86B9-4E9CB1B7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E27875-BBEC-4391-8531-27D9ECB7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電子貨幣／儲值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04338-0FB1-4C0A-86F3-597BD3B1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預先收受資金並以電子價值表示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9C289-DD41-4C00-96F7-C6788B55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017319-5CE9-4052-A016-262C291A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銀行存款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67E6FA-A683-4B63-822A-2252B200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對商業銀行的請求權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959594-F194-4E9D-9D47-F4E2F005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BB075D-02AA-45E2-B807-B68B2ECC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信用卡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8AAE0F-DC5C-450C-A3EC-6B52AE3B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先使用信用額度，之後以貨幣清償</a:t>
            </a:r>
          </a:p>
        </p:txBody>
      </p:sp>
    </p:spTree>
    <p:extLst>
      <p:ext uri="{BB962C8B-B14F-4D97-AF65-F5344CB8AC3E}">
        <p14:creationId xmlns:p14="http://schemas.microsoft.com/office/powerpoint/2010/main" val="1524976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010D9F-B8DE-4D05-A611-4026A9CC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67A00-0D58-4ECA-AE83-13807F09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『數位貨幣』是廣義詞，不能直接推論法律地位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C7D22-1B12-4FE3-BAB6-3D6E7AEB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3D1A4-5B84-402B-BB17-7BBCAA0E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20603-3972-4BA3-A14F-839D93D7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B0817-FA61-417A-B6E0-09B4071B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BFB0C-A190-472E-B079-329ECE6F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E305D-4257-4A95-A3DF-19B31E34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可能包含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9666C-AD97-45F2-B8CF-34F2C934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中央銀行數位貨幣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銀行存款與存款代幣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電子貨幣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穩定幣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原生加密資產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290CA-1C4A-4316-A46B-AD21CD15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分類時應先問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70C81-542D-4141-994F-EAC452F4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誰發行？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持有人對誰有債權？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能否按面額贖回？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以何種資產結算？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受哪套法律監管？</a:t>
            </a:r>
          </a:p>
        </p:txBody>
      </p:sp>
    </p:spTree>
    <p:extLst>
      <p:ext uri="{BB962C8B-B14F-4D97-AF65-F5344CB8AC3E}">
        <p14:creationId xmlns:p14="http://schemas.microsoft.com/office/powerpoint/2010/main" val="13554115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043F56-BE0B-43CD-8E63-18F2838E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BC252-40D9-4952-A006-29919E51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加密資產不一定符合完整的貨幣功能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5AE11-EC25-46A7-95BF-173B0347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F39CF-F56B-4A51-AEC8-4A1E133F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B9E58-D05B-4F99-83FE-ABDD223D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EBFD5-161B-4081-AC05-CD6B69B6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B4AE4-88C1-48BF-B74A-420ADEE1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交易媒介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D530B-76BC-470A-8DAD-D9811EE7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接受範圍與網路費用因資產而異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E66AEA-92C8-434B-995E-349B8F47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6EA663-2D55-479A-82FB-0B31CFF4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記帳單位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AF9B2C-D26F-4129-96C7-906081BE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多數商品仍以法定貨幣標價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8FB10F-B998-419F-8531-EB2B50F1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4FE654-834B-4AD5-A9A6-FCE6BFCD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價值儲藏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1141DA-5EE0-4376-9972-A73DAC71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價格波動可能很大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E51BD-973D-4D28-9325-496A827E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0FFCAF-DF21-4741-9D3E-D76439D8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投資或效用資產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3D50C-4025-4A4E-AE4B-2BFD8033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部分代幣主要提供治理、服務或投資曝險</a:t>
            </a:r>
          </a:p>
        </p:txBody>
      </p:sp>
    </p:spTree>
    <p:extLst>
      <p:ext uri="{BB962C8B-B14F-4D97-AF65-F5344CB8AC3E}">
        <p14:creationId xmlns:p14="http://schemas.microsoft.com/office/powerpoint/2010/main" val="3732844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2A581-7AB0-407C-8A6C-534C2913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60F83-870E-462B-B5AA-3AE636DF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原生幣與代幣的技術位置不同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4FF46-E951-4D5A-A473-8E411EA6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D2FED-E025-4E8F-BFA8-A319AFBE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3158F-488B-4B17-B825-36402CE5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DAC7F7-E2AF-4E8C-8C55-4F1BB3CF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2EF61-1C93-41AE-BED8-A6C486FC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1B828-F12F-4185-8082-B3993A6C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原生幣 Coin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B0D711-056F-45AE-B310-D3CCEC78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由該區塊鏈協議本身記錄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常用於支付網路費或提供安全誘因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例如BTC、ETH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61604-B481-4420-91A1-366F03F6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代幣 Token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E649C7-B48F-4497-96A5-D80FB0C8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由既有區塊鏈上的合約或發行機制建立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可代表穩定幣、治理權、證券或其他權利</a:t>
            </a:r>
          </a:p>
        </p:txBody>
      </p:sp>
    </p:spTree>
    <p:extLst>
      <p:ext uri="{BB962C8B-B14F-4D97-AF65-F5344CB8AC3E}">
        <p14:creationId xmlns:p14="http://schemas.microsoft.com/office/powerpoint/2010/main" val="20976874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75C2F-8540-4E8F-B56D-6146FC1A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43FC5-E197-46A2-BCC8-FA3B6C32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同質化與非同質化描述可互換程度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8C9296-2D58-4D96-803E-1A7C6E28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CE9B9-8678-4CFF-A325-82DAE17E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A15A87-3284-4AA7-8659-BDC8280C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ACA832-9999-4015-999D-7A5123C1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EE926E-3145-41A4-9729-ECCB22BA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A4747-166A-401C-B8DB-E695F7B0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同質化代幣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E0846-ADAE-4F4F-B2EA-ED3083FE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同一類單位可互相替代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適合貨幣、點數、基金份額等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每一單位經濟性質相同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4BBE09-3644-4831-95D4-7ED92889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非同質化代幣 NFT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BD9A0-9F4E-4456-810A-F3747A43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每一代幣具有不同識別或屬性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適合憑證、收藏或特定權利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不自動等於著作權或實體資產</a:t>
            </a:r>
          </a:p>
        </p:txBody>
      </p:sp>
    </p:spTree>
    <p:extLst>
      <p:ext uri="{BB962C8B-B14F-4D97-AF65-F5344CB8AC3E}">
        <p14:creationId xmlns:p14="http://schemas.microsoft.com/office/powerpoint/2010/main" val="4977259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1714E-5B28-4872-A8DD-AFB71A77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BB62E-C041-4426-81CD-D8B42363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比較數位價值時，先用五問建立責任地圖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8F479-7C15-485E-AFAB-B32CB988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46CAF2-5D4D-4953-A6D1-3BD4C288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63F65-64DD-4AD9-85DB-4AD60357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DAD1B-7777-434E-AD8B-88088FFE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12957-EEDA-44B0-8434-4C01D101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誰發行？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6DED95-E9AF-4DC4-970F-3294F1A0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央行、銀行、私人公司或無單一發行人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F922FD-A66A-44B6-B30A-628D4C66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B9F0AE-B3F1-4AC5-B873-5C2CF885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誰承擔？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7CE48D-523C-47A5-A9C1-1FDB8654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持有人究竟對誰有請求權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8A868A-DB83-41B4-9211-26A3A394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22F7F-9E11-46C5-B6C8-8A356862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如何穩定？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A92CCE-51A1-4E6B-956A-313C1CE2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法償地位、資產儲備或市場供需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54AB96-5E4E-45BD-98F8-E4639FA9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C36061-F5A1-4BCC-9B1A-3C0C01DB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如何使用？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492E0-9D48-4FA3-856D-F2F0B135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支付、結算、投資、治理或收藏</a:t>
            </a:r>
          </a:p>
        </p:txBody>
      </p:sp>
    </p:spTree>
    <p:extLst>
      <p:ext uri="{BB962C8B-B14F-4D97-AF65-F5344CB8AC3E}">
        <p14:creationId xmlns:p14="http://schemas.microsoft.com/office/powerpoint/2010/main" val="8017491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895C8F-AFD1-45BD-A0E3-CDA59129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C6F58-C2B8-4430-B083-69444BDD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7F2F1-80AB-4951-91E4-01CC444F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084CE-F145-48F1-B9BE-6D64378F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E067B-F7D5-4228-B368-F4FCE871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AD076-B642-4DC3-8237-128D8324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第一節｜快問快答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9CA65C-C4A1-4DA0-B987-D87751DB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8B59F-1701-4B61-8141-7AEC4986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06F2D-A0C3-4E8C-A7F2-A565E1F1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5｜第一節｜快問快答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30143-5269-44C1-82D5-154159E0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A6321B-5C42-48CC-B620-8519C80B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LINE Pay最適合先視為？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3E5C9E-4ADF-4329-831A-5F8CBAB2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新貨幣　B 支付服務　C 原生幣　D NFT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C2D86D-B526-4E8F-A5A3-82C91CB2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24084-6860-4C73-A80B-4CAB0C54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83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答案：B。背後仍以法幣資金清償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C8248-FF14-454F-AE68-18C5F077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數位化一定使用區塊鏈嗎？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8BDB5-353F-47A1-8F9E-A09E710F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只有銀行否　D 只有政府否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1077B9-6958-4E95-8E02-B38023D8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D3DC9-7A2B-4376-A909-17C9112D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227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答案：B。多數數位帳本仍集中管理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D4E351-B600-4CA0-9C17-00FD2076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銀行存款代表？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69A982-1C68-4FF9-9DD5-EECE6C13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對商業銀行的請求權　B 對礦工債權　C NFT　D 無人負責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4BF687-B0E3-4588-94E6-EA1D79A8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F7588C-EFD9-4B12-BA25-A9D67A3A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答案：A。銀行負債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81E9EE-3BD6-4C48-9786-987AD820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ETH屬於？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106A32-11AE-4803-BFE4-AEE57330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Ethereum原生資產　B 新臺幣存款　C CBDC　D 信用卡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B3EA3C-A7B4-4A05-99AE-BB91B30A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0D3F32-7836-4E99-830F-F08ACE6B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12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答案：A。用於網路費與安全誘因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A93F32-FD2D-43F3-A0D0-F91454ED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NFT一定是貨幣嗎？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D7ECD7-F8C6-4CE4-80F9-112E4F29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只要昂貴就是　D 只要可交易就是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F3F241-7B88-4E3D-A72B-6460CA99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65786C-F1C6-48F6-BB0F-D3FA431F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676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答案：B。通常是特定數位資產或憑證</a:t>
            </a:r>
          </a:p>
        </p:txBody>
      </p:sp>
    </p:spTree>
    <p:extLst>
      <p:ext uri="{BB962C8B-B14F-4D97-AF65-F5344CB8AC3E}">
        <p14:creationId xmlns:p14="http://schemas.microsoft.com/office/powerpoint/2010/main" val="3964985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D6BF80-5CBC-4604-88D1-8993E2DD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41171-82B1-46F1-A47E-09F3F841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四種新型數位貨幣，背後是四種不同信用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9198B-15CA-46F2-B6BF-B5067603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22E04-4570-4786-8414-6F8D1770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236741-757D-4902-9A78-55C22408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312C8-BE60-47B0-8012-09B0782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0A0F4C-E21D-42D3-8600-AC5C11BA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零售型CBDC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A4EE3-C2EA-4389-B4C3-AE36E1CD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公眾持有的中央銀行數位負債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46902-4CFD-4FA5-9EA5-1A292543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C3D68-F194-424C-862A-7D78F54D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批發型CBDC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E227D-3B40-42C2-B3AA-1452C21B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金融機構間使用的央行結算資產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95526-448F-438B-980D-657031AF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B261DC-1ACC-4DC2-BBEA-0813E035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存款代幣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A0164B-CE44-4B72-B7DC-A67F5008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商業銀行存款的鏈上表徵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8C344-E233-435E-8FDD-20D67C9A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9CAC6C-7B1B-433C-9B79-2618C251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穩定幣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AE5DB4-8B52-4210-AA42-8D6F7DA9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私人發行人依儲備與贖回承諾維持價格</a:t>
            </a:r>
          </a:p>
        </p:txBody>
      </p:sp>
    </p:spTree>
    <p:extLst>
      <p:ext uri="{BB962C8B-B14F-4D97-AF65-F5344CB8AC3E}">
        <p14:creationId xmlns:p14="http://schemas.microsoft.com/office/powerpoint/2010/main" val="7177167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6DFC0-6621-435C-8C4B-B8522F4C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C4DC1-A248-479D-B5DC-20AC9118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CBDC是中央銀行貨幣的新數位形式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588C8-7EAA-4B75-986A-90C6FAC2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7D6C2E-A3A8-41DA-9D5E-1E682586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FDBC5-30A3-4082-B1C3-324D1C2F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DBF6A-F4FF-4523-80E1-F1BABEE4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CA044-4A2D-430D-8677-CB2F6C8F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300B1-00A5-4D86-B4AA-2BF16278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零售型CBDC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D7294-7875-430C-A72F-46E7AE02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面向一般民眾與商家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可能採帳戶型或代幣型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涉及隱私、普惠與銀行中介影響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5B90D-21CC-4DAD-862E-88BB6749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批發型CBDC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5BB855-C7C1-4C38-A22B-ED5E69B9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面向銀行與金融機構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用於跨行清算、證券結算與代幣化市場</a:t>
            </a:r>
          </a:p>
        </p:txBody>
      </p:sp>
    </p:spTree>
    <p:extLst>
      <p:ext uri="{BB962C8B-B14F-4D97-AF65-F5344CB8AC3E}">
        <p14:creationId xmlns:p14="http://schemas.microsoft.com/office/powerpoint/2010/main" val="10627415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23C3B-F412-42C8-891A-1060FB56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9B290-A6C6-48A6-9B49-42732C85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臺灣數位新臺幣仍在研究、試驗與溝通階段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0219F-D9CC-48FA-9045-6816A1A1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DD9B0-E47E-4072-984A-7041FB91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0DC03-044A-4C4C-8497-FFB4B636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68F22-1D16-48C6-8A0F-B581D9CC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E6D24-5F1F-4D98-89AD-0DEAAFA4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E8142-3AA4-4E53-9FE7-06E14E59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零售型方向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EA2C9C-A5A5-4E37-A7E8-178558C1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臺灣支付環境已高度便利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央行認為尚無迫切發行需求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以政府數位券金流作為先行試作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63DF2-EBCF-42F9-A436-DFEAC6D5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批發型方向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4A0A8-ACCC-4B61-8334-1C4E2896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與金融機構及集保合作試驗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探索存款代幣、債券代幣與DvP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避免市場基礎設施碎片化</a:t>
            </a:r>
          </a:p>
        </p:txBody>
      </p:sp>
    </p:spTree>
    <p:extLst>
      <p:ext uri="{BB962C8B-B14F-4D97-AF65-F5344CB8AC3E}">
        <p14:creationId xmlns:p14="http://schemas.microsoft.com/office/powerpoint/2010/main" val="6630321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5B329-D4D0-4BD9-961F-4E28355A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FF9D6-62D8-4BFA-A4A1-296EBFE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存款代幣把銀行存款帶入可程式化帳本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FD1C5-5FF9-4250-B1ED-00DB2C7B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9BA0F-99D2-4095-B938-4C663D96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67814-4C71-4D17-A3A6-93718AFE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243AC-CBD4-4AA8-AE27-4DBE5DA8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79EE4-FA17-4291-9B38-DFB53AE0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C9829-D94C-47D1-9773-85AD35FE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經濟性質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EE71D-DD00-440D-8CDF-836D18DC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仍是對發行銀行的存款請求權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信用與流動性依賴該銀行及監理制度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4B7909-3EDC-45DD-9233-559A5ED1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可能用途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0290E-BFC0-4606-BF3E-D5759DAE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機構付款與資金調度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鏈上資產的現金交割腿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條件式付款與日內流動性管理</a:t>
            </a:r>
          </a:p>
        </p:txBody>
      </p:sp>
    </p:spTree>
    <p:extLst>
      <p:ext uri="{BB962C8B-B14F-4D97-AF65-F5344CB8AC3E}">
        <p14:creationId xmlns:p14="http://schemas.microsoft.com/office/powerpoint/2010/main" val="10859672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2A7F7E-0D87-41BB-AC2E-5342192F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22CB3-0349-4389-A228-36700DE2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法幣儲備型穩定幣靠儲備與贖回維持錨定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15FA9E-ED10-4CC6-8798-0D44C0D5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0E1BC-90C3-4E99-AB31-E9806EB4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983DB-3B00-4A44-BCE6-B9F67197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E3ACC-1CA8-421F-853D-BFEA92E4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0A9FF-3B86-4152-8E43-D97BB78B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發行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C6594C-F537-4D57-9FDB-9527B025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使用者交付法幣，發行人鑄造代幣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5C95B6-8A0C-4C29-9E6E-92235007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664D13-E9EE-4DF9-9E7F-45A2F222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儲備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13F7D-1C94-43BF-89F2-9F52475C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發行人持有現金、存款或短期資產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A49C55-FD9E-4C2B-872F-8528AC51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BB872F-341E-468B-BD8A-EC3892B0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流通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EF2821-53A9-423C-8B88-12F52827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代幣在鏈上轉移並於市場交易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02A8AA-6AB6-40D2-BD33-898164A5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5FE609-43F6-49DE-865C-47DAFBBD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贖回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CA3C5-66D0-4B2F-958B-D394C887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合格持有人交回代幣取得法幣</a:t>
            </a:r>
          </a:p>
        </p:txBody>
      </p:sp>
    </p:spTree>
    <p:extLst>
      <p:ext uri="{BB962C8B-B14F-4D97-AF65-F5344CB8AC3E}">
        <p14:creationId xmlns:p14="http://schemas.microsoft.com/office/powerpoint/2010/main" val="80276440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917D96-B0F5-4D5B-B144-F7AAB21E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B0E22-E978-46C7-BCC0-5BAD6D0E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穩定幣的穩定性來自風險控制，不只名稱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652A3-3F3B-408C-9601-98921AE8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64E0D0-92B7-4E99-8017-2D5DA01B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95BC2-2997-4415-B9CD-6A3E29FE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71462-54D6-4B05-BDE4-28060F7B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2F462-5FD6-403D-A555-5682A2C1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信用風險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B9E76-8893-4F2E-8E35-2AFB098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儲備資產或往來銀行可能違約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62324-404D-431C-8B72-FEC9FB0C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B5B77-5A85-4587-8BAF-A237134F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流動性風險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7AEDAC-EF8B-4B91-87CA-1761D14D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大量贖回時資產能否及時變現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7DE56-F222-4067-9B3D-A5983C4B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DD056A-7DF0-4B01-A58B-2C36EDB7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法律風險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A75551-0532-4ADE-8B83-985679E7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持有人對儲備有何順位與權利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E77139-C300-4679-AA7C-00F70898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75250-A351-40F6-B683-69E58F73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營運與技術風險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E9B54F-4C33-46EC-9B19-8346595F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私鑰、合約、凍結與跨鏈機制可能失效</a:t>
            </a:r>
          </a:p>
        </p:txBody>
      </p:sp>
    </p:spTree>
    <p:extLst>
      <p:ext uri="{BB962C8B-B14F-4D97-AF65-F5344CB8AC3E}">
        <p14:creationId xmlns:p14="http://schemas.microsoft.com/office/powerpoint/2010/main" val="19752085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4AA75-2DD6-4A68-9309-3831987B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7C3A4-60B7-4A03-A643-C8FF9EBE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演算法穩定幣以機制調節供需，風險更高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25DDF-96BC-4F4A-BB4E-599B04F1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10BE2-1BAF-42D5-9049-A68DB74B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857D-C02D-440A-AE6D-2BACAB8F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5F2D3A-9BD7-4B1C-A888-2D3AFB35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5AE23-872E-4C07-918B-A80F9CD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9CF8B-26BC-41F8-93C3-D8CA82B7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運作想法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A67CC-D65F-4B1F-A2FE-37B8BF1C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透過另一代幣、抵押品或演算法調節供給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試圖維持目標價格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F0567-BF9C-48C9-8AA5-B2F4F8DF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主要脆弱點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A0A7D-E341-4094-86AD-545FB775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信心崩潰可能形成死亡螺旋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抵押價值下跌造成清算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流動性不足使套利機制失效</a:t>
            </a:r>
          </a:p>
        </p:txBody>
      </p:sp>
    </p:spTree>
    <p:extLst>
      <p:ext uri="{BB962C8B-B14F-4D97-AF65-F5344CB8AC3E}">
        <p14:creationId xmlns:p14="http://schemas.microsoft.com/office/powerpoint/2010/main" val="7963094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F41ED3-8136-4D2D-9297-B32A8AEC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BC318D-9B39-4994-82B8-C3967F2E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數位貨幣可程式化，不代表發行人可以任意控制一切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B7540-DFAC-4561-82A1-5800D180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2FF02-3689-432F-ADE8-E67AD371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4B17F-6958-49FA-A087-CAF60EAD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C468A-4CA6-4957-B7B5-B324D748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3E3A9F-18F7-4615-AF9B-A3D0F3C3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900F9-602E-4BDD-A978-CC01AC76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可程式化的價值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CDC68-B705-4C71-B1E5-E521CC1E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條件式撥款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自動化付款與DvP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合規檢查與使用限制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利息或權利自動計算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C2EFCE-458B-4E5D-8420-0E5DDC9C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必須防範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18E27-7CBA-4631-8A92-61502545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過度監控與隱私侵害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規則錯誤或歧視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單點權力與凍結風險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跨系統互通不足</a:t>
            </a:r>
          </a:p>
        </p:txBody>
      </p:sp>
    </p:spTree>
    <p:extLst>
      <p:ext uri="{BB962C8B-B14F-4D97-AF65-F5344CB8AC3E}">
        <p14:creationId xmlns:p14="http://schemas.microsoft.com/office/powerpoint/2010/main" val="19950173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F83482-D055-49A0-B47A-72350FBB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EC0BE-5435-4FA0-BF14-85CB8EF9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跨境支付的難題不只交易速度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1EF0C5-B303-49A8-85AD-5F9024C3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D982A-97FB-4F71-9F2D-D94544FD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A4B845-D6A9-4E9D-BDE4-57F6E36F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F5602-18AD-4819-9612-E7B59CC2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2DF0A-1ACA-445E-BF94-9E3635C4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貨幣兌換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4E26F-2136-4699-8095-9A8172C7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匯率、點差與外匯流動性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5DEC9-6A89-4775-A8C4-20A72394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843ADA-05B8-45FD-8BC0-9F823C25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合規資料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79FCE4-3A73-4420-975E-D02EE92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付款人與受款人資訊需可傳遞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47DA64-EEB5-4E29-BC97-1A85CE7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D7174-56BB-4FD9-94CD-5FCB23D3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法幣出入金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B01779-3368-4963-8D89-2F6E012F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鏈上代幣如何兌換當地貨幣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8D0D2F-9947-4432-A715-35A82627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B70A64-471F-4BC8-A6A6-6ED978DF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最終結算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95784-5C4F-4C42-B8FF-B30173CD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哪個資產完成債務清償</a:t>
            </a:r>
          </a:p>
        </p:txBody>
      </p:sp>
    </p:spTree>
    <p:extLst>
      <p:ext uri="{BB962C8B-B14F-4D97-AF65-F5344CB8AC3E}">
        <p14:creationId xmlns:p14="http://schemas.microsoft.com/office/powerpoint/2010/main" val="186984642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484151-D8B4-4F96-93B0-2B4E76BE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68CD6-DC54-4D5E-AAEC-99F7EF29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理想的數位貨幣體系需要單一性、彈性與完整性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0009DC-F314-4793-AFBC-8B0D57AD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FA1ED-87E7-4A61-9511-40E92A14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41B6A-4796-4881-80C2-05E63CEE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B5E52-B062-4FE4-BEA8-75DFA522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349A4-1EEB-4342-9D6B-C1664F2F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單一性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561FB-BC8E-4496-99AC-CA1B564D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同一貨幣單位能按面額互換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270E1-006E-481F-8116-99959A59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0827C8-4954-4D21-BED8-821464F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彈性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A2C2F-7117-4778-AC34-42F5EBE1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金融體系能依需求提供流動性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6EF46-3428-4052-AC8B-2D82766F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86C0B-6486-46D1-8740-D4E7F413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完整性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9AD99-7E1B-4DDB-A4EC-C798D02F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防制非法金融並維持制度可信度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16DAF9-1630-4C5D-8E4C-9EA9BCD7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8324CB-FF61-45B9-A04D-88DF1CBE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互通性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E69B7F-CB19-4C36-92FB-E3174067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不同平台與資產可以安全交換</a:t>
            </a:r>
          </a:p>
        </p:txBody>
      </p:sp>
    </p:spTree>
    <p:extLst>
      <p:ext uri="{BB962C8B-B14F-4D97-AF65-F5344CB8AC3E}">
        <p14:creationId xmlns:p14="http://schemas.microsoft.com/office/powerpoint/2010/main" val="1281177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590FDD-E982-45B5-9980-43D7B721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494FC-7A48-4A6B-8547-F6FA74E4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11EA3-2FF1-48AB-9CA5-C05736E8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4203E-D778-45C9-A6AC-D5925830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0508D-EF63-4A26-91BC-8D00E8A5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95D96-EE96-4DF7-934C-B0A602B5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第二節｜快問快答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6000C-2829-4760-81B8-D9E57AD7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67DC4E-A64E-4947-98AC-6DFD3315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89274-E2EE-4A13-A8EA-26DF151A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5｜第二節｜快問快答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2FA7B8-B8E5-46F2-BA0E-501E74A9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D5CE0-F9F0-4C0A-9D96-616F8983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CBDC由誰發行？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02498F-E6B3-40B4-BB16-ADED98EB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交易所　B 中央銀行　C 礦池　D 遊戲公司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F5A815-05A7-4A7C-953A-6EE5E207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6847A0-88A5-4CE8-B87C-FFD23356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答案：B。是中央銀行負債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65F6F-BD66-4A16-A613-650C99A0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存款代幣代表？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401187-CAF8-4E5A-8BF0-41372997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商業銀行存款　B 黃金必然所有權　C NFT　D 無人負責的資產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1D41D6-6DD6-413C-9DA3-0271997B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09B3F2-C849-487E-95F0-30719CA3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12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答案：A。持有人對銀行有請求權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A1AF96-B979-4419-B4BA-8F5EC1FC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穩定幣一定保本嗎？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8ED65A-9E20-456A-BD11-8B33DA66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名稱有USD就保本　D 上鏈就保本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2835BE-3E2E-4269-8255-7F0981F4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3AA500-9249-46AF-8870-0A238B8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答案：B。仍有儲備與贖回風險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CCF49F-7DFD-4B4A-BBC9-2600729C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臺灣零售型CBDC已正式發行嗎？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C976FD-969F-47ED-AF05-38F9566E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已發行　B 尚未，仍研究試驗　C 只發給銀行　D 等於LINE Pay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3B3CCD-7C9A-4C6E-831C-DCCFBF4F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132A63-FD97-4EB2-BEE1-6BFDA070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50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答案：B。截至2026年仍在規劃溝通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18B49-0760-47A0-BCB6-8DCACD2A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SWIFT主要處理哪一層？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2BF3F6-0F0C-47E1-9B46-AE1AB2AA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支付訊息　B 挖礦　C NFT鑄造　D 私鑰保管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C4B2B3-D8C6-426C-840A-F2C93E9B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9F1A1B-3428-45AC-9474-CB4FEA1A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答案：A。訊息不等於結算資產</a:t>
            </a:r>
          </a:p>
        </p:txBody>
      </p:sp>
    </p:spTree>
    <p:extLst>
      <p:ext uri="{BB962C8B-B14F-4D97-AF65-F5344CB8AC3E}">
        <p14:creationId xmlns:p14="http://schemas.microsoft.com/office/powerpoint/2010/main" val="133781281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876325-587A-4681-AEA3-78626E9C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98F3E4-E739-45DB-9719-E1CD0AE8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加密資產的用途可以是支付，也可以是投資與網路資源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78C17-C55A-488D-B692-7AEEDF62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9E45AA-5915-4AB6-91C6-81CBA050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CD65E-6610-4C91-8345-52341EA6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A47F8-111A-4019-B99C-5F9D3330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9B39C-2DB8-4B29-BD48-DDA35FDD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價值移轉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5EADE-B55D-41E6-968D-E0CB402D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直接在鏈上轉移資產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D4432-098F-4AD2-82EC-DD070801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AE4AA9-C5F9-4A0B-91D9-F7FFBFA2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網路費用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CA6905-9ECD-4AFD-9D56-5293A0C2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支付交易或運算資源費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47D04-4063-4B95-84BA-1E47A196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4D75C6-1368-4757-ABEC-E6079083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安全與質押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5A0125-330E-466B-866A-89A74585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參與共識並獲取或承擔獎懲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48058A-FE19-4675-9856-1A47490C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968C9B-DC2B-4212-AF06-D7DDC093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治理與使用權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E4ADE-C0BC-40BE-A8CB-F78E12C6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參與投票或存取特定服務</a:t>
            </a:r>
          </a:p>
        </p:txBody>
      </p:sp>
    </p:spTree>
    <p:extLst>
      <p:ext uri="{BB962C8B-B14F-4D97-AF65-F5344CB8AC3E}">
        <p14:creationId xmlns:p14="http://schemas.microsoft.com/office/powerpoint/2010/main" val="22493786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E0408D-E969-413C-BB88-9AE94C6A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63CD29-558F-49EF-A7CB-75F6693D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DeFi把金融功能拆成公開協議與智慧合約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414CF-7BCF-4CBE-B292-0DD1F188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6B2DD-5645-4B0E-A6A3-BD6BA36A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2396D6-DAE8-4984-9910-3B3006DE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452DA5-A7A6-4E05-BA30-3F07D5E5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E1E0E-078B-490C-9860-F4EB470F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去中心化交易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464C6-9B07-4D06-AD4B-2A2139C3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透過流動性池交換鏈上資產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78F65-E1F8-4AD7-99AE-485C4F51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18528-0448-4D1D-BECD-8DB71555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超額抵押借貸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DAF33-36D8-49C1-AAA6-DFBE7235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鎖定加密資產後借出另一資產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CBDF99-6C56-4066-8B81-D1ACC9CB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50FCDF-A746-4874-ADC3-F174303D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穩定幣與衍生品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93408-9ADB-4A40-B430-C68C6763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建立合成曝險與風險移轉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F448FF-A0A1-46E1-BE98-B43BE4DD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7FFD30-772E-4D40-8B22-E0F7D610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收益與資產管理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CEE9A-506B-42E0-B71D-A6F52C4D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以策略合約配置資金與獎勵</a:t>
            </a:r>
          </a:p>
        </p:txBody>
      </p:sp>
    </p:spTree>
    <p:extLst>
      <p:ext uri="{BB962C8B-B14F-4D97-AF65-F5344CB8AC3E}">
        <p14:creationId xmlns:p14="http://schemas.microsoft.com/office/powerpoint/2010/main" val="169505646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DB508-5526-44B6-8A88-E450775D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D9F2B-469D-4F66-A146-2ED958CA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DeFi風險會在協議之間快速傳遞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89681-3A1B-4FBD-A1D3-CBC84962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8ABEF-2664-41ED-B7D0-2E0EBF41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3825F7-E8BD-4DE9-8078-D8E43B2E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47764E-1DD9-4C3B-9AC4-71FD3ECF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63F04-ACDB-4190-9801-EF4BC26C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智慧合約風險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29FEF-0545-4C36-9E3F-9686A69E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程式漏洞或權限設計錯誤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254D3-426C-4820-BB85-728D0501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DD0FE-BFEF-45D9-9B51-ED08F8E3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預言機風險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C74FE-AABB-42ED-8C38-C2DF856A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外部價格錯誤或遭操縱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86CC6-D506-452B-BCED-EC35F9E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16630-867C-40B4-94DA-1F1983C2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清算風險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CC8FCA-684E-4314-9058-895AB6D2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抵押品下跌引發連鎖賣出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6982E1-DC03-4446-A6AF-9636841B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38697F-D9DD-41FF-B736-4F71E5B5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組合性風險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0357C4-7093-4237-ACDA-F7E1EC08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一個協議失效波及依賴它的服務</a:t>
            </a:r>
          </a:p>
        </p:txBody>
      </p:sp>
    </p:spTree>
    <p:extLst>
      <p:ext uri="{BB962C8B-B14F-4D97-AF65-F5344CB8AC3E}">
        <p14:creationId xmlns:p14="http://schemas.microsoft.com/office/powerpoint/2010/main" val="123245113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EB43DA-9569-4BBA-B054-843D8ADC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2E1401-A350-4606-8EFC-6EE34B9F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NFT記錄代幣歸屬，不自動等於內容所有權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D230E-7568-403E-9BA7-A2AC922B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2965D-EB71-4672-9DEB-7CF65CFC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3F1A5-06EE-4716-ACF6-F563CBC4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7A767-7A4B-4DF9-95F3-5CE2EE51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FA337-C464-44FD-95C8-08DAAB29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14031-D647-42F8-AEA4-595A74A3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鏈上可以證明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FD1026-7EC6-4F54-8522-B0EF29CA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特定代幣的合約與編號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地址間的轉移歷史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部分創作者設定的分潤規則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FCD20-D8DF-4119-8DE4-EFD765A7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仍要看鏈下權利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7EFBDC-4332-4955-ADF8-777C9214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圖片或影音可能另存他處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著作權需依契約與法律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發行人可能未獲原作者授權</a:t>
            </a:r>
          </a:p>
        </p:txBody>
      </p:sp>
    </p:spTree>
    <p:extLst>
      <p:ext uri="{BB962C8B-B14F-4D97-AF65-F5344CB8AC3E}">
        <p14:creationId xmlns:p14="http://schemas.microsoft.com/office/powerpoint/2010/main" val="143069822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7516D-2118-449A-BAB7-AC147949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2B3D4-038B-45CC-A3EC-7D0A37E7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加密資產跨境轉移仍需面對法幣入口與監理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9D24B8-E195-4C96-A6A8-081B4BB5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CFECC-4F1D-4E94-93C6-430F80C9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47AB8-1EDE-465A-979A-24165FD7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D3415-D1C1-4F7B-9F7D-E8E9E537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4CF84-CF1E-45DB-90DD-1271376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6AE2D0-9309-44B1-8050-CF369603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鏈上階段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B73DC4-3679-4DD5-A873-4015E569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可跨時區轉移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確認時間依網路而異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費用隨壅塞與路徑變動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7278F-B008-4FE9-9596-D4A531B5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現實世界階段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930EF-1F76-47C6-84BD-E62CCA09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買入與贖回需銀行或平台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涉及外匯、稅務、制裁與AML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收款人承擔代幣與平台風險</a:t>
            </a:r>
          </a:p>
        </p:txBody>
      </p:sp>
    </p:spTree>
    <p:extLst>
      <p:ext uri="{BB962C8B-B14F-4D97-AF65-F5344CB8AC3E}">
        <p14:creationId xmlns:p14="http://schemas.microsoft.com/office/powerpoint/2010/main" val="165125477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27393-8EE3-4428-A702-C65DA3F0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CF943F-4B66-45BE-943D-2F2BAF10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洗錢防制的重點是把地址、交易與真實身分連結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0FD39-E0D9-4C6E-B13C-984FCB1C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7FF86-B3A5-4385-B4A5-F63627D1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A8B54-587B-4B7F-8228-CE2688D8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C2AEF-1A7A-4E13-B3DE-A1998A98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CB724-85D9-4BDF-AA8D-CFCB5402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KYC／CDD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54468-BF5B-4389-86DA-B6CF7BC9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確認客戶身分與風險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7E53B-A640-4C13-8EE1-64D9D9CF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2BB71-287A-4485-95B6-2F91A4D1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交易監控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55ABDC-78D3-4938-96BB-1FB78CB0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分析地址、金流模式與異常行為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9E2A4-7200-448C-A07F-E73866E8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271825-DA30-4579-B865-88EACA0B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Travel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BF8178-3A50-4FD2-9B91-E0D6DFF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傳遞匯款人與受款人必要資訊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927FC-0348-401C-95DA-0920DB20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EF2F5A-01EC-4C5C-B98A-7FE3C2C0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可疑交易申報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B51D36-04E2-4C22-A6DD-2FC1AA97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由服務商依規定調查與通報</a:t>
            </a:r>
          </a:p>
        </p:txBody>
      </p:sp>
    </p:spTree>
    <p:extLst>
      <p:ext uri="{BB962C8B-B14F-4D97-AF65-F5344CB8AC3E}">
        <p14:creationId xmlns:p14="http://schemas.microsoft.com/office/powerpoint/2010/main" val="4636605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2AD803-4248-40CE-869E-8092FEFD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AA2602-C822-4AEA-9696-A5A77CDC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臺灣已公布《虛擬資產服務法》，監管走向專法化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94D50-37E3-4314-A1AB-4C0EE9FE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43ED5-4E62-48C2-9DA5-C7B316DD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8F34A-EC7C-4A78-A7B3-F868018D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C0501-E308-4FDC-B5A6-4156A9C7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71FF87-074C-489B-8567-ADA10B63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業者管理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A6C0A-8080-4D61-8A09-D359676B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服務商須依制度取得許可與接受監督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8F86B-BF85-4511-A256-03176C86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668441-1FC5-4470-8C38-C1677A69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客戶資產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77C4D-E472-4EB7-AE67-0C008013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要求與業者自有財產分離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45107-BF65-4133-B06A-289B875A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C7BFD7-B3AE-454B-8B27-EE2F60B4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穩定幣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B7730-C958-4863-BAA4-99154BA6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法律明定與法定貨幣價值連結的定義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6AD13-727C-4517-9ECC-AB3E3F18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054406-5F0A-48B0-96ED-AD0A6F77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消費者保護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FE0F12-63A4-4ADE-9902-415BE2B0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強化誠信義務、資訊與風險管理</a:t>
            </a:r>
          </a:p>
        </p:txBody>
      </p:sp>
    </p:spTree>
    <p:extLst>
      <p:ext uri="{BB962C8B-B14F-4D97-AF65-F5344CB8AC3E}">
        <p14:creationId xmlns:p14="http://schemas.microsoft.com/office/powerpoint/2010/main" val="25997564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8A2A43-2AAF-401B-8AFC-E8456F97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50EE1-A3CD-497E-8E31-88119A54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判斷數位貨幣風險，要看四層而非只看價格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58F7A1-A081-4B47-8FCA-1358BAF3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1F85E-72FB-4FC9-AB2A-5AE3E5AC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96178-F294-4BAD-8668-B300CD04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3C85C-C1C0-431D-A450-38D54420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540C9-EC37-4251-BEB6-58CE2855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資產層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F984FF-F3A6-4305-8D7B-C22AF3E2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價值來源、儲備與市場波動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2AD5D-D168-4734-812B-3FD410C0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7900A-530D-44D9-8AAB-794D8076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47875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發行人層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17B1EF-9472-48FB-BD59-F3A3A09B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19375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治理、財務、贖回與法律責任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AE86E6-121A-4EAA-BED8-BB48A513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06A031-AC60-49E7-949F-80590851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技術層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325DD7-CA22-40E4-8C6E-8F1DAC03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鏈、合約、橋接與金鑰安全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F96943-BDA6-4E2A-9AFD-796DBD6B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542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FF3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22A548-89B2-4F5C-81D0-0BB406DF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95750"/>
            <a:ext cx="497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服務層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BDF62D-B2F2-4274-9611-DF1E74F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交易平台、託管、銀行與法幣出入金</a:t>
            </a:r>
          </a:p>
        </p:txBody>
      </p:sp>
    </p:spTree>
    <p:extLst>
      <p:ext uri="{BB962C8B-B14F-4D97-AF65-F5344CB8AC3E}">
        <p14:creationId xmlns:p14="http://schemas.microsoft.com/office/powerpoint/2010/main" val="194193407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26E9F-261B-417C-B74C-871E1EF5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97BA9-ADE1-401C-A499-7C9B57A6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案例判斷：企業該用穩定幣收跨境貨款嗎？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93800-97A9-496D-A4B4-D600FE90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E4CF5-7331-45D1-A75F-5CECC0E1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C7205-BBBF-4D32-B82C-7CB3BBFF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EC4AC-8C7B-4F41-9AD9-AB1D2669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57375"/>
            <a:ext cx="54292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0A7C0-CAFF-4F81-8556-B6861E60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57375"/>
            <a:ext cx="5657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66FA5-1936-4D6F-9EC7-0CE1B901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可能的效益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505C01-0873-4F51-867D-1BB86D35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跨時區收款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鏈上狀態可查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降低部分中介與預存資金需求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411CE-C5CE-4B8C-B1CC-2143B611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必須先回答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582E8-0799-450E-A100-0B30F261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51625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客戶與供應商是否合法合規？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哪種穩定幣、哪條鏈與誰託管？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如何贖回法幣？</a:t>
            </a:r>
          </a:p>
          <a:p xmlns:a="http://schemas.openxmlformats.org/drawingml/2006/main">
            <a:pPr algn="l">
              <a:def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脫鉤、凍結或平台失效怎麼辦？</a:t>
            </a:r>
          </a:p>
        </p:txBody>
      </p:sp>
    </p:spTree>
    <p:extLst>
      <p:ext uri="{BB962C8B-B14F-4D97-AF65-F5344CB8AC3E}">
        <p14:creationId xmlns:p14="http://schemas.microsoft.com/office/powerpoint/2010/main" val="35611515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BF78A2-7BBF-4FF6-8C81-DE94A206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EF3F7-E10B-4AC9-98C1-B2064EC2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本週結論：數位形式不會消除貨幣信用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FA105-C786-4AC8-875B-45D4F153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AED5A-2EB8-4E23-B8AA-E1D34367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6E95D-5A12-40B5-833F-A992A195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4CC9F6-725C-47F3-A134-FD6F89F5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5262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四個判斷順序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B3C3D-0503-4F85-9D5F-DA5CC835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71750"/>
            <a:ext cx="11144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先辨識它是支付工具、貨幣請求權或投資資產；再確認發行人、價值支持、贖回機制與監管。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9C2ED-4A67-4EAC-AA06-AEC40AD1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67200"/>
            <a:ext cx="1135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7EE4F-B9C6-4353-83D1-851E79FC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8233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區塊鏈改變價值移轉與程式化方式，但央行信用、銀行信用、私人發行人信用與市場風險仍然不同。</a:t>
            </a:r>
          </a:p>
        </p:txBody>
      </p:sp>
    </p:spTree>
    <p:extLst>
      <p:ext uri="{BB962C8B-B14F-4D97-AF65-F5344CB8AC3E}">
        <p14:creationId xmlns:p14="http://schemas.microsoft.com/office/powerpoint/2010/main" val="109530299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A779D3-1DAD-4843-9255-12FD75E9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第三節｜快問快答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B9F99-1FEF-43DE-B051-5E69FFCC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62E31-2303-4F89-BBAA-EF6FC1B1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5B85A-35D9-47D3-8510-FBD686D6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5｜第三節｜快問快答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0AC31-228C-4D62-8946-EDA87D4A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26D8A1-4AEF-4D24-8FFD-774E0CC8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77FF"/>
                </a:solidFill>
                <a:latin typeface="Microsoft JhengHei"/>
                <a:ea typeface="Microsoft JhengHei"/>
                <a:cs typeface="Microsoft JhengHei"/>
              </a:rPr>
              <a:t>第三節｜快問快答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E6D50-B72F-46F2-AEF7-D2FC7B7C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"/>
            <a:ext cx="1133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快問快答：5題確認本節學習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06881-77E8-494E-AA83-822E171B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2"/>
          </a:solidFill>
          <a:ln xmlns:a="http://schemas.openxmlformats.org/drawingml/2006/main" w="9525">
            <a:solidFill>
              <a:srgbClr val="AEB7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D8F627-3B28-42BE-9ED5-E3380086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區塊鏈概論｜Week 5｜第三節｜快問快答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3B4BAB-20EA-4258-8E48-CF67D561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23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5952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56616D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CE896-C744-4AA5-83F9-D8BC3D08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287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1. DeFi真的完全沒有中介嗎？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5EE56-72E1-48E8-9E4D-A0DCA8D3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否，仍有前端、治理與預言機　C 只有銀行是中介　D 有代幣就無中介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B99EB3-7D2C-4197-A34A-51935B4A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287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5ACE5B-9810-4D67-8A22-65766B4C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答案：B。中介功能被重新組合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D899F1-5897-4BD2-AC35-9E33F03C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527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2. NFT一定包含著作權嗎？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0E2A23-E804-4666-AEA2-7FDD2A60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是　B 否　C 價格高就有　D 上鏈就有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BB08A-E5A7-4FB5-BAC0-5F7D819A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5270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B6E682-F001-48FD-8643-A05B3EA2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答案：B。須看契約與法律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26BE23-C64F-4C75-9050-70261975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76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3. Travel Rule要求？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082998-C77C-4D29-A5F6-1004942A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保證獲利　B 傳遞匯款雙方必要資訊　C 公開私鑰　D 取消KYC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4AB742-9E3F-4EEF-B6FC-B4A90B72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7662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0FCAC-42F1-487B-AE62-B8C86C51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5760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答案：B。支援AML追蹤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C11D5A-F4C5-4F68-BF7A-9065B256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4. 臺灣虛擬資產服務法公布時間？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AFD685-9EA6-48C3-844F-F7E61363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2026年　B 2009年　C 尚無專法　D 1991年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E7AF55-60AC-4354-B3A3-DD4DF8AB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00550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02A749-8F21-4EB1-8498-75F9796D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81525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答案：A。部分條文尚待施行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7A5A6C-3C22-4396-8559-92D8EAB3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244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01419"/>
                </a:solidFill>
                <a:latin typeface="Microsoft JhengHei"/>
                <a:ea typeface="Microsoft JhengHei"/>
                <a:cs typeface="Microsoft JhengHei"/>
              </a:rPr>
              <a:t>5. 分析數位貨幣第一步？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37F675-9B82-4DCD-ADBD-09E4F7C8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4C5865"/>
                </a:solidFill>
                <a:latin typeface="Microsoft JhengHei"/>
                <a:ea typeface="Microsoft JhengHei"/>
                <a:cs typeface="Microsoft JhengHei"/>
              </a:rPr>
              <a:t>A 看名稱　B 先辨識請求權與發行人　C 看廣告　D 只看價格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8F6E4D-DDDD-4C99-A030-E36E9785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24475"/>
            <a:ext cx="3524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F"/>
          </a:solidFill>
          <a:ln xmlns:a="http://schemas.openxmlformats.org/drawingml/2006/main" w="9525">
            <a:solidFill>
              <a:srgbClr val="1677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5A8EDE-BE0C-49E0-B6AE-5E53C496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3105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87A55"/>
                </a:solidFill>
                <a:latin typeface="Microsoft JhengHei"/>
                <a:ea typeface="Microsoft JhengHei"/>
                <a:cs typeface="Microsoft JhengHei"/>
              </a:rPr>
              <a:t>答案：B。信用來源決定風險</a:t>
            </a:r>
          </a:p>
        </p:txBody>
      </p:sp>
    </p:spTree>
    <p:extLst>
      <p:ext uri="{BB962C8B-B14F-4D97-AF65-F5344CB8AC3E}">
        <p14:creationId xmlns:p14="http://schemas.microsoft.com/office/powerpoint/2010/main" val="997080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2026-09-03T05:07:55.9280000Z</dcterms:created>
  <dcterms:modified xsi:type="dcterms:W3CDTF">2026-09-03T05:07:55.9280000Z</dcterms:modified>
</coreProperties>
</file>