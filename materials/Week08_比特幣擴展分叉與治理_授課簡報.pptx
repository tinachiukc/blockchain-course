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f89ff8bd04cfb" /><Relationship Type="http://schemas.openxmlformats.org/officeDocument/2006/relationships/extended-properties" Target="/docProps/app.xml" Id="Ra11424d6f84e48af" /><Relationship Type="http://schemas.openxmlformats.org/officeDocument/2006/relationships/officeDocument" Target="/ppt/presentation.xml" Id="R66166a5009e646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2c4bf9a5b4415"/>
  </p:sldMasterIdLst>
  <p:notesMasterIdLst>
    <p:notesMasterId xmlns:r="http://schemas.openxmlformats.org/officeDocument/2006/relationships" r:id="R37333fd219fa497d"/>
  </p:notesMasterIdLst>
  <p:sldIdLst>
    <p:sldId xmlns:r="http://schemas.openxmlformats.org/officeDocument/2006/relationships" id="256" r:id="R3c4dd67cc3144f08"/>
    <p:sldId xmlns:r="http://schemas.openxmlformats.org/officeDocument/2006/relationships" id="257" r:id="Rf72e695413f64c17"/>
    <p:sldId xmlns:r="http://schemas.openxmlformats.org/officeDocument/2006/relationships" id="258" r:id="R33ce889167ac4d27"/>
    <p:sldId xmlns:r="http://schemas.openxmlformats.org/officeDocument/2006/relationships" id="259" r:id="Rae6057da59784e73"/>
    <p:sldId xmlns:r="http://schemas.openxmlformats.org/officeDocument/2006/relationships" id="260" r:id="R812d82f62f3c4378"/>
    <p:sldId xmlns:r="http://schemas.openxmlformats.org/officeDocument/2006/relationships" id="261" r:id="Re0b0fb5c2da44ffd"/>
    <p:sldId xmlns:r="http://schemas.openxmlformats.org/officeDocument/2006/relationships" id="262" r:id="R475d9db62a194e3e"/>
    <p:sldId xmlns:r="http://schemas.openxmlformats.org/officeDocument/2006/relationships" id="263" r:id="Raa99d1ee020a4134"/>
    <p:sldId xmlns:r="http://schemas.openxmlformats.org/officeDocument/2006/relationships" id="264" r:id="Re2e7f955a1b54510"/>
    <p:sldId xmlns:r="http://schemas.openxmlformats.org/officeDocument/2006/relationships" id="265" r:id="R58e16c13a1944352"/>
    <p:sldId xmlns:r="http://schemas.openxmlformats.org/officeDocument/2006/relationships" id="266" r:id="Rea7f9b908b704408"/>
    <p:sldId xmlns:r="http://schemas.openxmlformats.org/officeDocument/2006/relationships" id="267" r:id="R38472f1be3a34d21"/>
    <p:sldId xmlns:r="http://schemas.openxmlformats.org/officeDocument/2006/relationships" id="268" r:id="Ra7917c7e9d0c4c03"/>
    <p:sldId xmlns:r="http://schemas.openxmlformats.org/officeDocument/2006/relationships" id="269" r:id="R6ba47d4ae9ac4599"/>
    <p:sldId xmlns:r="http://schemas.openxmlformats.org/officeDocument/2006/relationships" id="270" r:id="Re4443738b6e74c1d"/>
    <p:sldId xmlns:r="http://schemas.openxmlformats.org/officeDocument/2006/relationships" id="271" r:id="R333c6f1438724683"/>
    <p:sldId xmlns:r="http://schemas.openxmlformats.org/officeDocument/2006/relationships" id="272" r:id="Re67f16fb3c114d4e"/>
    <p:sldId xmlns:r="http://schemas.openxmlformats.org/officeDocument/2006/relationships" id="273" r:id="R6881759df121406b"/>
    <p:sldId xmlns:r="http://schemas.openxmlformats.org/officeDocument/2006/relationships" id="274" r:id="R9a1894fb54a94c4f"/>
    <p:sldId xmlns:r="http://schemas.openxmlformats.org/officeDocument/2006/relationships" id="275" r:id="Rf3e9f7ced8f54992"/>
    <p:sldId xmlns:r="http://schemas.openxmlformats.org/officeDocument/2006/relationships" id="276" r:id="R91bb0bd784e04357"/>
    <p:sldId xmlns:r="http://schemas.openxmlformats.org/officeDocument/2006/relationships" id="277" r:id="R4cd8682465354a8c"/>
    <p:sldId xmlns:r="http://schemas.openxmlformats.org/officeDocument/2006/relationships" id="278" r:id="R34c1bda793724678"/>
    <p:sldId xmlns:r="http://schemas.openxmlformats.org/officeDocument/2006/relationships" id="279" r:id="R7bc3b2b372704a5a"/>
    <p:sldId xmlns:r="http://schemas.openxmlformats.org/officeDocument/2006/relationships" id="280" r:id="R8d53869f41514ce4"/>
    <p:sldId xmlns:r="http://schemas.openxmlformats.org/officeDocument/2006/relationships" id="281" r:id="R10df4173d3da4a2b"/>
    <p:sldId xmlns:r="http://schemas.openxmlformats.org/officeDocument/2006/relationships" id="282" r:id="R68e5fc022820443f"/>
    <p:sldId xmlns:r="http://schemas.openxmlformats.org/officeDocument/2006/relationships" id="283" r:id="R6dba45973e16463b"/>
    <p:sldId xmlns:r="http://schemas.openxmlformats.org/officeDocument/2006/relationships" id="284" r:id="Rf106c38f701c4184"/>
    <p:sldId xmlns:r="http://schemas.openxmlformats.org/officeDocument/2006/relationships" id="285" r:id="R1b4759c7261e43a2"/>
    <p:sldId xmlns:r="http://schemas.openxmlformats.org/officeDocument/2006/relationships" id="286" r:id="R40fac92b1e444999"/>
    <p:sldId xmlns:r="http://schemas.openxmlformats.org/officeDocument/2006/relationships" id="287" r:id="Rf3595ac6bf9d4ebd"/>
    <p:sldId xmlns:r="http://schemas.openxmlformats.org/officeDocument/2006/relationships" id="288" r:id="R145832ff7dbb47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2e4193bc5b4c5a" /><Relationship Type="http://schemas.openxmlformats.org/officeDocument/2006/relationships/slideMaster" Target="/ppt/slideMasters/slideMaster1.xml" Id="Rfa92c4bf9a5b4415" /><Relationship Type="http://schemas.openxmlformats.org/officeDocument/2006/relationships/notesMaster" Target="/ppt/notesMasters/notesMaster1.xml" Id="R37333fd219fa497d" /><Relationship Type="http://schemas.openxmlformats.org/officeDocument/2006/relationships/presProps" Target="/ppt/presProps.xml" Id="R8981a64384104846" /><Relationship Type="http://schemas.openxmlformats.org/officeDocument/2006/relationships/tableStyles" Target="/ppt/tableStyles.xml" Id="R61feb13c98de412c" /><Relationship Type="http://schemas.openxmlformats.org/officeDocument/2006/relationships/slide" Target="/ppt/slides/slide1.xml" Id="R3c4dd67cc3144f08" /><Relationship Type="http://schemas.openxmlformats.org/officeDocument/2006/relationships/slide" Target="/ppt/slides/slide2.xml" Id="Rf72e695413f64c17" /><Relationship Type="http://schemas.openxmlformats.org/officeDocument/2006/relationships/slide" Target="/ppt/slides/slide3.xml" Id="R33ce889167ac4d27" /><Relationship Type="http://schemas.openxmlformats.org/officeDocument/2006/relationships/slide" Target="/ppt/slides/slide4.xml" Id="Rae6057da59784e73" /><Relationship Type="http://schemas.openxmlformats.org/officeDocument/2006/relationships/slide" Target="/ppt/slides/slide5.xml" Id="R812d82f62f3c4378" /><Relationship Type="http://schemas.openxmlformats.org/officeDocument/2006/relationships/slide" Target="/ppt/slides/slide6.xml" Id="Re0b0fb5c2da44ffd" /><Relationship Type="http://schemas.openxmlformats.org/officeDocument/2006/relationships/slide" Target="/ppt/slides/slide7.xml" Id="R475d9db62a194e3e" /><Relationship Type="http://schemas.openxmlformats.org/officeDocument/2006/relationships/slide" Target="/ppt/slides/slide8.xml" Id="Raa99d1ee020a4134" /><Relationship Type="http://schemas.openxmlformats.org/officeDocument/2006/relationships/slide" Target="/ppt/slides/slide9.xml" Id="Re2e7f955a1b54510" /><Relationship Type="http://schemas.openxmlformats.org/officeDocument/2006/relationships/slide" Target="/ppt/slides/slide10.xml" Id="R58e16c13a1944352" /><Relationship Type="http://schemas.openxmlformats.org/officeDocument/2006/relationships/slide" Target="/ppt/slides/slide11.xml" Id="Rea7f9b908b704408" /><Relationship Type="http://schemas.openxmlformats.org/officeDocument/2006/relationships/slide" Target="/ppt/slides/slide12.xml" Id="R38472f1be3a34d21" /><Relationship Type="http://schemas.openxmlformats.org/officeDocument/2006/relationships/slide" Target="/ppt/slides/slide13.xml" Id="Ra7917c7e9d0c4c03" /><Relationship Type="http://schemas.openxmlformats.org/officeDocument/2006/relationships/slide" Target="/ppt/slides/slide14.xml" Id="R6ba47d4ae9ac4599" /><Relationship Type="http://schemas.openxmlformats.org/officeDocument/2006/relationships/slide" Target="/ppt/slides/slide15.xml" Id="Re4443738b6e74c1d" /><Relationship Type="http://schemas.openxmlformats.org/officeDocument/2006/relationships/slide" Target="/ppt/slides/slide16.xml" Id="R333c6f1438724683" /><Relationship Type="http://schemas.openxmlformats.org/officeDocument/2006/relationships/slide" Target="/ppt/slides/slide17.xml" Id="Re67f16fb3c114d4e" /><Relationship Type="http://schemas.openxmlformats.org/officeDocument/2006/relationships/slide" Target="/ppt/slides/slide18.xml" Id="R6881759df121406b" /><Relationship Type="http://schemas.openxmlformats.org/officeDocument/2006/relationships/slide" Target="/ppt/slides/slide19.xml" Id="R9a1894fb54a94c4f" /><Relationship Type="http://schemas.openxmlformats.org/officeDocument/2006/relationships/slide" Target="/ppt/slides/slide20.xml" Id="Rf3e9f7ced8f54992" /><Relationship Type="http://schemas.openxmlformats.org/officeDocument/2006/relationships/slide" Target="/ppt/slides/slide21.xml" Id="R91bb0bd784e04357" /><Relationship Type="http://schemas.openxmlformats.org/officeDocument/2006/relationships/slide" Target="/ppt/slides/slide22.xml" Id="R4cd8682465354a8c" /><Relationship Type="http://schemas.openxmlformats.org/officeDocument/2006/relationships/slide" Target="/ppt/slides/slide23.xml" Id="R34c1bda793724678" /><Relationship Type="http://schemas.openxmlformats.org/officeDocument/2006/relationships/slide" Target="/ppt/slides/slide24.xml" Id="R7bc3b2b372704a5a" /><Relationship Type="http://schemas.openxmlformats.org/officeDocument/2006/relationships/slide" Target="/ppt/slides/slide25.xml" Id="R8d53869f41514ce4" /><Relationship Type="http://schemas.openxmlformats.org/officeDocument/2006/relationships/slide" Target="/ppt/slides/slide26.xml" Id="R10df4173d3da4a2b" /><Relationship Type="http://schemas.openxmlformats.org/officeDocument/2006/relationships/slide" Target="/ppt/slides/slide27.xml" Id="R68e5fc022820443f" /><Relationship Type="http://schemas.openxmlformats.org/officeDocument/2006/relationships/slide" Target="/ppt/slides/slide28.xml" Id="R6dba45973e16463b" /><Relationship Type="http://schemas.openxmlformats.org/officeDocument/2006/relationships/slide" Target="/ppt/slides/slide29.xml" Id="Rf106c38f701c4184" /><Relationship Type="http://schemas.openxmlformats.org/officeDocument/2006/relationships/slide" Target="/ppt/slides/slide30.xml" Id="R1b4759c7261e43a2" /><Relationship Type="http://schemas.openxmlformats.org/officeDocument/2006/relationships/slide" Target="/ppt/slides/slide31.xml" Id="R40fac92b1e444999" /><Relationship Type="http://schemas.openxmlformats.org/officeDocument/2006/relationships/slide" Target="/ppt/slides/slide32.xml" Id="Rf3595ac6bf9d4ebd" /><Relationship Type="http://schemas.openxmlformats.org/officeDocument/2006/relationships/slide" Target="/ppt/slides/slide33.xml" Id="R145832ff7dbb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aa8225c0af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62cdcc72a44b8" /><Relationship Type="http://schemas.openxmlformats.org/officeDocument/2006/relationships/notesMaster" Target="/ppt/notesMasters/notesMaster1.xml" Id="Re60aa4e3fe23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3cc3f9f5f440e" /><Relationship Type="http://schemas.openxmlformats.org/officeDocument/2006/relationships/notesMaster" Target="/ppt/notesMasters/notesMaster1.xml" Id="R848ccfb0c3e8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ebd2396794256" /><Relationship Type="http://schemas.openxmlformats.org/officeDocument/2006/relationships/notesMaster" Target="/ppt/notesMasters/notesMaster1.xml" Id="R5b714308e32f4d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4922a704f4152" /><Relationship Type="http://schemas.openxmlformats.org/officeDocument/2006/relationships/notesMaster" Target="/ppt/notesMasters/notesMaster1.xml" Id="R9cac8c0e8e23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3702cd73e2455f" /><Relationship Type="http://schemas.openxmlformats.org/officeDocument/2006/relationships/notesMaster" Target="/ppt/notesMasters/notesMaster1.xml" Id="Rf9d620c10a9f4e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bcf0e5c23e4f51" /><Relationship Type="http://schemas.openxmlformats.org/officeDocument/2006/relationships/notesMaster" Target="/ppt/notesMasters/notesMaster1.xml" Id="Rf3cdcfd35a3c43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818ab38db4f20" /><Relationship Type="http://schemas.openxmlformats.org/officeDocument/2006/relationships/notesMaster" Target="/ppt/notesMasters/notesMaster1.xml" Id="R6f04e6e37acf43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d968f571514bd5" /><Relationship Type="http://schemas.openxmlformats.org/officeDocument/2006/relationships/notesMaster" Target="/ppt/notesMasters/notesMaster1.xml" Id="Rb667520bd38344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be963e3d84dfc" /><Relationship Type="http://schemas.openxmlformats.org/officeDocument/2006/relationships/notesMaster" Target="/ppt/notesMasters/notesMaster1.xml" Id="Rabb523c351df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7d14b024914231" /><Relationship Type="http://schemas.openxmlformats.org/officeDocument/2006/relationships/notesMaster" Target="/ppt/notesMasters/notesMaster1.xml" Id="R800d0c15978f4b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15e8477864350" /><Relationship Type="http://schemas.openxmlformats.org/officeDocument/2006/relationships/notesMaster" Target="/ppt/notesMasters/notesMaster1.xml" Id="R758fbb618433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e1d036ea154127" /><Relationship Type="http://schemas.openxmlformats.org/officeDocument/2006/relationships/notesMaster" Target="/ppt/notesMasters/notesMaster1.xml" Id="Reeae238fd36f40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c2af5a03be43d7" /><Relationship Type="http://schemas.openxmlformats.org/officeDocument/2006/relationships/notesMaster" Target="/ppt/notesMasters/notesMaster1.xml" Id="R927335ba2c034a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9be2db9b24372" /><Relationship Type="http://schemas.openxmlformats.org/officeDocument/2006/relationships/notesMaster" Target="/ppt/notesMasters/notesMaster1.xml" Id="Rbe88b85918fb4b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aae718612f4e14" /><Relationship Type="http://schemas.openxmlformats.org/officeDocument/2006/relationships/notesMaster" Target="/ppt/notesMasters/notesMaster1.xml" Id="Ra2e5dd018a02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1221ffbc874458" /><Relationship Type="http://schemas.openxmlformats.org/officeDocument/2006/relationships/notesMaster" Target="/ppt/notesMasters/notesMaster1.xml" Id="R1cc9cdb6db5c48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4776046edf4ab9" /><Relationship Type="http://schemas.openxmlformats.org/officeDocument/2006/relationships/notesMaster" Target="/ppt/notesMasters/notesMaster1.xml" Id="R69504905ce9c4d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3832d9e14f4d53" /><Relationship Type="http://schemas.openxmlformats.org/officeDocument/2006/relationships/notesMaster" Target="/ppt/notesMasters/notesMaster1.xml" Id="R8d3c7aae01424c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39d2962a6d450a" /><Relationship Type="http://schemas.openxmlformats.org/officeDocument/2006/relationships/notesMaster" Target="/ppt/notesMasters/notesMaster1.xml" Id="R66675596cbf341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af925c048a49cc" /><Relationship Type="http://schemas.openxmlformats.org/officeDocument/2006/relationships/notesMaster" Target="/ppt/notesMasters/notesMaster1.xml" Id="R3fc55501090346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f98f753db847cb" /><Relationship Type="http://schemas.openxmlformats.org/officeDocument/2006/relationships/notesMaster" Target="/ppt/notesMasters/notesMaster1.xml" Id="R8c1bb116938a4d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9af3b8ee1f40d2" /><Relationship Type="http://schemas.openxmlformats.org/officeDocument/2006/relationships/notesMaster" Target="/ppt/notesMasters/notesMaster1.xml" Id="R527b7afeb57d46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878c757da14587" /><Relationship Type="http://schemas.openxmlformats.org/officeDocument/2006/relationships/notesMaster" Target="/ppt/notesMasters/notesMaster1.xml" Id="R43dc31dbbf064a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be91aecbb24b35" /><Relationship Type="http://schemas.openxmlformats.org/officeDocument/2006/relationships/notesMaster" Target="/ppt/notesMasters/notesMaster1.xml" Id="R21bd04d8468c4e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15609b94c74633" /><Relationship Type="http://schemas.openxmlformats.org/officeDocument/2006/relationships/notesMaster" Target="/ppt/notesMasters/notesMaster1.xml" Id="Re698439a3fa341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305ae17f954194" /><Relationship Type="http://schemas.openxmlformats.org/officeDocument/2006/relationships/notesMaster" Target="/ppt/notesMasters/notesMaster1.xml" Id="Ref86fe2606bb44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db9fb3a3b14e89" /><Relationship Type="http://schemas.openxmlformats.org/officeDocument/2006/relationships/notesMaster" Target="/ppt/notesMasters/notesMaster1.xml" Id="R3d29f5c738ce4c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ed35aafedb4ab9" /><Relationship Type="http://schemas.openxmlformats.org/officeDocument/2006/relationships/notesMaster" Target="/ppt/notesMasters/notesMaster1.xml" Id="R2bf2e311f2ba42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8d30bade44b4ab7" /><Relationship Type="http://schemas.openxmlformats.org/officeDocument/2006/relationships/notesMaster" Target="/ppt/notesMasters/notesMaster1.xml" Id="Rfe231ffe75674f7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cafb3340a8c459b" /><Relationship Type="http://schemas.openxmlformats.org/officeDocument/2006/relationships/notesMaster" Target="/ppt/notesMasters/notesMaster1.xml" Id="Rdf720e716cbb43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51cc0b7ca44088" /><Relationship Type="http://schemas.openxmlformats.org/officeDocument/2006/relationships/notesMaster" Target="/ppt/notesMasters/notesMaster1.xml" Id="R5488acb49aeb42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52d096bfb614577" /><Relationship Type="http://schemas.openxmlformats.org/officeDocument/2006/relationships/notesMaster" Target="/ppt/notesMasters/notesMaster1.xml" Id="Ra6265f46276547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c984ff1b5c34d6c" /><Relationship Type="http://schemas.openxmlformats.org/officeDocument/2006/relationships/notesMaster" Target="/ppt/notesMasters/notesMaster1.xml" Id="R8160a8d1fa81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承接Week 7的支付限制，以區塊空間、節點成本與治理選擇解釋2017年擴展之爭。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擴展的真正問題是：增加容量時，哪些人會被排除，哪些風險會上升？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低吞吐量不是單一技術缺陷，也反映去中心化優先的制度選擇。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更新舊教材：用區塊重量與交易結構理解容量，不把2,000筆／區塊當固定值。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https://github.com/bitcoin/bips/blob/master/bip-0141.mediawiki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今日Bitcoin通常以最高4,000,000 weight units描述區塊限制，而不只說1MB。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https://github.com/bitcoin/bips/blob/master/bip-0141.mediawiki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大區塊不是愚蠢方案，而是把日常支付能力放在較高優先順位。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兩派差異是架構與價值排序，不只是誰想要快。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分叉不是軟體更新的同義詞；是否分裂取決於規則相容與實際採用。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結果不是技術辯論由專家裁決，而是節點、服務商、交易所、礦工與使用者共同選擇。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先判斷是哪一種分叉，避免把所有fork都理解成發新幣。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帳本複製不等於經濟價值無成本增加。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不鼓勵學生實作領取；只需理解資產與作業風險。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降低IFO篇幅，保留作為2017至2018年市場史概念。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案例用來比較動機與治理，不建議背誦所有分叉幣。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只複製程式碼與帳本，無法自動複製信任、流動性和人才。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硬分叉後，技術規則與市場基礎設施共同塑造結果。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與BCH比較：前者焦點是交易歷史是否回改，後者焦點是擴展路線。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分叉不是治理失敗或成功的單一答案，而是去中心化系統的一種退出機制。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任何一方都難單獨強迫其他人接受不相容規則。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2025年部署的BIP 3更新提案流程；BIP發布仍不代表已獲採用。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https://github.com/bitcoin/bips/blob/master/bip-0003.md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沒有單一正式投票能定義Bitcoin；採用結果才使規則成為現實。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修正舊教材可能產生的印象：礦工訊號不是Bitcoin政策投票。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鏈上治理提高可見性，不等於權力自然分散。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案例只用來比較治理機制，不要求學生操作投票。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https://docs.tezos.com/architecture/governance</a:t>
            </a:r>
          </a:p>
          <a:p xmlns:a="http://schemas.openxmlformats.org/drawingml/2006/main">
            <a:r>
              <a:t>- https://wiki.polkadot.network/learn/learn-polkadot-opengov/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治理代幣是權力配置工具，不是民主品質的保證。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判斷治理時要找出真正能改程式、控制金鑰與動用資金的人。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再問責任：失敗、攻擊或利益衝突發生時，誰能補救並被追究？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5cfd5607b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5a16babe74939" /><Relationship Type="http://schemas.openxmlformats.org/officeDocument/2006/relationships/slideLayout" Target="/ppt/slideLayouts/slideLayout1.xml" Id="R2ddb32aa02554d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b32aa02554d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661d82ed49fd" /><Relationship Type="http://schemas.openxmlformats.org/officeDocument/2006/relationships/notesSlide" Target="/ppt/notesSlides/notesSlide1.xml" Id="Rb1f0fe93fd39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4c2487df0457d" /><Relationship Type="http://schemas.openxmlformats.org/officeDocument/2006/relationships/notesSlide" Target="/ppt/notesSlides/notesSlide2.xml" Id="R4bba3131fb89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aea0f859a4a5f" /><Relationship Type="http://schemas.openxmlformats.org/officeDocument/2006/relationships/notesSlide" Target="/ppt/notesSlides/notesSlide3.xml" Id="Rce9e182c4ed74d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94723c98345fe" /><Relationship Type="http://schemas.openxmlformats.org/officeDocument/2006/relationships/notesSlide" Target="/ppt/notesSlides/notesSlide4.xml" Id="Rf48f45388d0e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9602759e4258" /><Relationship Type="http://schemas.openxmlformats.org/officeDocument/2006/relationships/notesSlide" Target="/ppt/notesSlides/notesSlide5.xml" Id="R4fce519dce9b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eab19633848b2" /><Relationship Type="http://schemas.openxmlformats.org/officeDocument/2006/relationships/notesSlide" Target="/ppt/notesSlides/notesSlide6.xml" Id="R5fbcbe3a6e6244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2790f2b446d9" /><Relationship Type="http://schemas.openxmlformats.org/officeDocument/2006/relationships/notesSlide" Target="/ppt/notesSlides/notesSlide7.xml" Id="Rdfd82825c1d4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14af53c3b4ba5" /><Relationship Type="http://schemas.openxmlformats.org/officeDocument/2006/relationships/notesSlide" Target="/ppt/notesSlides/notesSlide8.xml" Id="R18bd6977c238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7309640f4a6d" /><Relationship Type="http://schemas.openxmlformats.org/officeDocument/2006/relationships/notesSlide" Target="/ppt/notesSlides/notesSlide9.xml" Id="R66bbc19bfd0c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2be3a72664bdd" /><Relationship Type="http://schemas.openxmlformats.org/officeDocument/2006/relationships/notesSlide" Target="/ppt/notesSlides/notesSlide10.xml" Id="R989f464861234b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389ad0044036" /><Relationship Type="http://schemas.openxmlformats.org/officeDocument/2006/relationships/notesSlide" Target="/ppt/notesSlides/notesSlide11.xml" Id="Re63ca8387dbf4d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705d61aa342a1" /><Relationship Type="http://schemas.openxmlformats.org/officeDocument/2006/relationships/notesSlide" Target="/ppt/notesSlides/notesSlide12.xml" Id="R9f8b776d4a964f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f54679b1d4507" /><Relationship Type="http://schemas.openxmlformats.org/officeDocument/2006/relationships/notesSlide" Target="/ppt/notesSlides/notesSlide13.xml" Id="Rd7f04818871749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f422eca47467a" /><Relationship Type="http://schemas.openxmlformats.org/officeDocument/2006/relationships/notesSlide" Target="/ppt/notesSlides/notesSlide14.xml" Id="R01b0fb6a1d1a49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0a062de4a45d4" /><Relationship Type="http://schemas.openxmlformats.org/officeDocument/2006/relationships/notesSlide" Target="/ppt/notesSlides/notesSlide15.xml" Id="Re30f62162f1048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ec353cced4ca1" /><Relationship Type="http://schemas.openxmlformats.org/officeDocument/2006/relationships/notesSlide" Target="/ppt/notesSlides/notesSlide16.xml" Id="R186989a403d142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9231f23c3487c" /><Relationship Type="http://schemas.openxmlformats.org/officeDocument/2006/relationships/notesSlide" Target="/ppt/notesSlides/notesSlide17.xml" Id="Rfba1dc67d8904b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6f48180a94990" /><Relationship Type="http://schemas.openxmlformats.org/officeDocument/2006/relationships/notesSlide" Target="/ppt/notesSlides/notesSlide18.xml" Id="Rc5b5585284324a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44ef178244493" /><Relationship Type="http://schemas.openxmlformats.org/officeDocument/2006/relationships/notesSlide" Target="/ppt/notesSlides/notesSlide19.xml" Id="Rfc66998190f644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fca1b5b354be2" /><Relationship Type="http://schemas.openxmlformats.org/officeDocument/2006/relationships/notesSlide" Target="/ppt/notesSlides/notesSlide20.xml" Id="Rca71311fc5ab45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095202f3472a" /><Relationship Type="http://schemas.openxmlformats.org/officeDocument/2006/relationships/notesSlide" Target="/ppt/notesSlides/notesSlide21.xml" Id="Rde9734a990654e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b8aaae1614a1d" /><Relationship Type="http://schemas.openxmlformats.org/officeDocument/2006/relationships/notesSlide" Target="/ppt/notesSlides/notesSlide22.xml" Id="R336eb49f4ec54c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b519467964a45" /><Relationship Type="http://schemas.openxmlformats.org/officeDocument/2006/relationships/notesSlide" Target="/ppt/notesSlides/notesSlide23.xml" Id="Re93475bcd63345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35430256a4f3c" /><Relationship Type="http://schemas.openxmlformats.org/officeDocument/2006/relationships/notesSlide" Target="/ppt/notesSlides/notesSlide24.xml" Id="Rdcdc9412c62745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5bc4e3f9d4520" /><Relationship Type="http://schemas.openxmlformats.org/officeDocument/2006/relationships/notesSlide" Target="/ppt/notesSlides/notesSlide25.xml" Id="R3132e77e0fdc40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d67359e444448" /><Relationship Type="http://schemas.openxmlformats.org/officeDocument/2006/relationships/notesSlide" Target="/ppt/notesSlides/notesSlide26.xml" Id="R4be4b4f61a9b44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9de45ea74546" /><Relationship Type="http://schemas.openxmlformats.org/officeDocument/2006/relationships/notesSlide" Target="/ppt/notesSlides/notesSlide27.xml" Id="R8e5ecd395ab84c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e72bdd14148d5" /><Relationship Type="http://schemas.openxmlformats.org/officeDocument/2006/relationships/notesSlide" Target="/ppt/notesSlides/notesSlide28.xml" Id="R6e66cea3c3514e0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98081312842bf" /><Relationship Type="http://schemas.openxmlformats.org/officeDocument/2006/relationships/notesSlide" Target="/ppt/notesSlides/notesSlide29.xml" Id="R448e2ba8adfb4c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0b8df2e4e4c5c" /><Relationship Type="http://schemas.openxmlformats.org/officeDocument/2006/relationships/notesSlide" Target="/ppt/notesSlides/notesSlide30.xml" Id="Rf3fe8b3fd85149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2f116d214470d" /><Relationship Type="http://schemas.openxmlformats.org/officeDocument/2006/relationships/notesSlide" Target="/ppt/notesSlides/notesSlide31.xml" Id="Ra83a57e1f48e469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43731a9ef40c4" /><Relationship Type="http://schemas.openxmlformats.org/officeDocument/2006/relationships/notesSlide" Target="/ppt/notesSlides/notesSlide32.xml" Id="R5c0b228fca8f4b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7832f259d42a2" /><Relationship Type="http://schemas.openxmlformats.org/officeDocument/2006/relationships/notesSlide" Target="/ppt/notesSlides/notesSlide33.xml" Id="R34e2cee77808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FDD30-7B7E-4E1D-9C16-1EAE0010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25E2-BBBA-48F9-BD1B-F0923F3C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8</a:t>
            </a:r>
          </a:p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比特幣擴展、分叉與治理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CE3CD-458D-4729-9957-F86D2467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當技術取捨變成社群與市場選擇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B88D-18BE-413A-9D92-19E72B4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第一節：Bitcoin該如何容納更多交易？</a:t>
            </a:r>
          </a:p>
        </p:txBody>
      </p:sp>
    </p:spTree>
    <p:extLst>
      <p:ext uri="{BB962C8B-B14F-4D97-AF65-F5344CB8AC3E}">
        <p14:creationId xmlns:p14="http://schemas.microsoft.com/office/powerpoint/2010/main" val="1561992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A25BD-5442-43E4-9B02-B4C112EE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3984A-D8C3-4E32-BB06-3BA00B92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擴展問題不是單純把TPS調高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8902B-39EE-423D-8404-5F6A667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94ADC-E394-4069-AC72-6F9433F1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D8715-4016-4B24-A0B2-F7A64146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A243D-E430-48DC-A5C6-5DB105B0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8E2A0-3E16-4460-AC2F-A4C1312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8120B-C489-4BF0-AB67-04CF9A5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更多人同時提交交易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97AD-2CC7-48BC-A221-6D2BC96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01EEE-0730-4CC1-85FB-F2B59885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D8DD-0F71-4F0C-9C18-A001F72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區塊空間是稀缺資源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42694-A3F5-4D5D-8E4A-7D2F667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1D7AD-09D7-488F-9795-1A111F39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9B12C-530B-4ECF-A8F7-DF6FD86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驗證、儲存與傳播會增加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9DA62-6063-4A40-A2E8-D1B21158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0D91-26DE-48DB-9E76-096E5A2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31963-25A4-4F02-AEE2-A82AB164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安全、去中心化與使用體驗需平衡</a:t>
            </a:r>
          </a:p>
        </p:txBody>
      </p:sp>
    </p:spTree>
    <p:extLst>
      <p:ext uri="{BB962C8B-B14F-4D97-AF65-F5344CB8AC3E}">
        <p14:creationId xmlns:p14="http://schemas.microsoft.com/office/powerpoint/2010/main" val="1483469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550F-955C-492C-8B65-FD0BC747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BFF6A-5778-472C-A2B5-A789F98E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Bitcoin基礎層刻意限制區塊資源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C3229-77C0-416B-AD08-2D450125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89A7A-BC00-4C5D-BEAE-AD1A4B97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122BD-45F3-4844-8BE9-C871288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0EB2B-98A3-4FD4-9168-ABEF2A2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8A8F3-B69B-4F8B-9D90-F97A3CA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5E734-AACD-4808-8D68-9F613E62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限制帶來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17734-322A-47E5-9D46-AD616F4E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節點較容易自行驗證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區塊較快傳遍全球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降低大型資料中心的相對優勢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維持保守的安全邊界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084F5-2DBE-4A71-AABD-B25C034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限制代價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63165-9040-4E5B-922D-FC52580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高需求時交易排隊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手續費市場競爭加劇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小額支付體驗變差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難直接承擔全球零售交易</a:t>
            </a:r>
          </a:p>
        </p:txBody>
      </p:sp>
    </p:spTree>
    <p:extLst>
      <p:ext uri="{BB962C8B-B14F-4D97-AF65-F5344CB8AC3E}">
        <p14:creationId xmlns:p14="http://schemas.microsoft.com/office/powerpoint/2010/main" val="179596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D9F57-15EA-46FF-BC9E-01FB9F0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8F16-5B4F-4ECA-AC60-3B5355C4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固定3.3 TPS只是舊式估算，不是永恆常數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EEF8A-57BA-4713-BA55-6243B662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5C03E-87AB-47F8-BD1C-74354BC6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67272-C246-431B-AF23-B355323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BFBC8-E253-4D96-91A1-01AC0510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53AC7-B24E-40B8-B299-D4F9F4B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2A19E-8B25-43D3-BA5C-8F4C67E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為何會變動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C4924-9246-4136-9272-EC7C0D8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交易資料大小不同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輸入與輸出數量不同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SegWit改變資料權重計算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區塊產生時間只是長期平均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88FD4-2C18-4D8C-8A70-1521AA3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正確用法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26C10-C271-422F-B927-B6DE2D32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TPS可作粗略比較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需說明觀察期間與交易型態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不要與中心化支付網路直接排名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更要看最終性與驗證成本</a:t>
            </a:r>
          </a:p>
        </p:txBody>
      </p:sp>
    </p:spTree>
    <p:extLst>
      <p:ext uri="{BB962C8B-B14F-4D97-AF65-F5344CB8AC3E}">
        <p14:creationId xmlns:p14="http://schemas.microsoft.com/office/powerpoint/2010/main" val="489298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C2B08-709F-4792-90A2-B6379D0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B9171-8538-4D59-B431-F35C75D9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SegWit以區塊重量重新計算交易資料成本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B4528-95A4-4870-8D8C-D0290E3B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E5B99-7246-4A4C-ACB6-8FF4196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8E4B3-A347-46CF-B4CD-4FEC8DA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14467-E85C-4442-935E-38EFB8B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E683-ABFD-4CC3-9B48-55A0A1C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資料分離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CCF40-D342-463C-B7F9-123D60DE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簽章見證資料採不同權重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BE33-D5FD-42CB-A552-6C849C96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AAB5A-E1FA-4974-AB40-D6549DE7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有效容量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29E10-1E76-48C8-B37A-26B4AF2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典型交易可容納更多筆數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E2601-D99B-4C2D-AACD-7A80F836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8E1A3-99FD-42CF-B858-0DE5B7F5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延展性修正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28A7C-7433-42C1-A2ED-666FD980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改善交易雜湊被修改的問題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E699A-F2BC-4BB5-B379-9AA6365D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A85FD-6FCE-4A27-873A-8ADF9E1D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後續基礎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22AD9-FD4E-4A86-B22B-734A071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為Lightning等方案提供重要條件</a:t>
            </a:r>
          </a:p>
        </p:txBody>
      </p:sp>
    </p:spTree>
    <p:extLst>
      <p:ext uri="{BB962C8B-B14F-4D97-AF65-F5344CB8AC3E}">
        <p14:creationId xmlns:p14="http://schemas.microsoft.com/office/powerpoint/2010/main" val="552558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0A963-0953-4DB3-8C2C-9461916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90B7-3CD9-41ED-924F-40C43A8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大區塊派主張把更多交易留在主鏈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A5D37-0D3C-41B8-8C66-AC60CD4C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AF573-A840-4733-9163-F9DC3EC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8894F-5B5C-4EB5-9C40-A4419A6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62093-08C4-46A5-813C-4CA4192F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622FB-330B-44CB-A397-7BF35275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4CC27-82BA-45D6-8954-DB2C938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期待效益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A5630-8D08-42A0-B463-EB2D1055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單一區塊容納更多交易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壅塞時維持較低費用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支付流程較直接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延續點對點電子現金敘事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44B0-0165-4F78-8157-0412177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主要疑慮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3B244-9C07-4058-8CEA-B5B0F67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儲存與頻寬負擔提高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小型節點較難跟上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區塊傳播慢可能影響挖礦公平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參與驗證者可能集中</a:t>
            </a:r>
          </a:p>
        </p:txBody>
      </p:sp>
    </p:spTree>
    <p:extLst>
      <p:ext uri="{BB962C8B-B14F-4D97-AF65-F5344CB8AC3E}">
        <p14:creationId xmlns:p14="http://schemas.microsoft.com/office/powerpoint/2010/main" val="329432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AD0FA-3E1F-451E-BF1B-94D1FB8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DEF44-A59D-42E0-9763-C135A78F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小區塊派把主鏈定位為高安全結算層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4BE3-A643-450C-8AEA-0179CB1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E51E3-03F2-4248-84A0-8AA082ED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F4F28-FD42-44E0-B42A-A17A2E3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C494E-F65A-4114-8D5C-9C0BC37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D0430-7B77-468B-BA0E-B6562E4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2EB1E-538B-4C85-8571-D318038F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核心主張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2AC02-D560-4014-8A7C-227315E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維持一般人可驗證的門檻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以SegWit提高效率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把高頻支付移至Lightning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避免一次性大幅修改共識規則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9FAA6-E65C-452C-B87B-620AFBF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主要代價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73240-3036-42B3-BDA4-7D594BAA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第二層增加流動性與操作複雜度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主鏈費用在壅塞時仍高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使用者可能依賴託管服務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分層架構更難理解</a:t>
            </a:r>
          </a:p>
        </p:txBody>
      </p:sp>
    </p:spTree>
    <p:extLst>
      <p:ext uri="{BB962C8B-B14F-4D97-AF65-F5344CB8AC3E}">
        <p14:creationId xmlns:p14="http://schemas.microsoft.com/office/powerpoint/2010/main" val="981717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B0CB0-D56E-41AC-8370-210D911F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AFFBF-11F0-4274-B42B-E339AD29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軟分叉與硬分叉的關鍵是相容性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14887-A621-4016-AC7D-B7985EF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BA28D-1AE9-46DA-B107-4F9F5379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D3AF1-F4D7-4A29-85CC-26719A3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D4598-6D44-4788-B982-0562DD9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DFBB7-01B5-47E2-A7EA-E8D2EEB5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88AA5-4AEE-42C7-B9C9-593A0DE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軟分叉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8DB7-5A48-4AD8-A4CD-08DDD345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收緊有效規則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未升級節點仍可接受新區塊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升級節點執行更嚴格檢查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仍需安全的啟用協調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6FD8E-71CC-4739-A784-E044AF5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硬分叉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56389-5B07-479D-BE0E-F4D1611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放寬或改變有效規則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舊節點可能拒絕新區塊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若雙方持續運作就形成兩條鏈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資產、品牌與社群可能分裂</a:t>
            </a:r>
          </a:p>
        </p:txBody>
      </p:sp>
    </p:spTree>
    <p:extLst>
      <p:ext uri="{BB962C8B-B14F-4D97-AF65-F5344CB8AC3E}">
        <p14:creationId xmlns:p14="http://schemas.microsoft.com/office/powerpoint/2010/main" val="992328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A7EEB-9773-49B7-AC6A-05F1F36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AC35-DD30-4943-B30F-45ED5BDB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2017年Bitcoin Cash把大區塊路線變成獨立市場選項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4A2C7-34BB-40D3-80AC-497FF9D0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87CE7-6AE8-4A48-8C3D-DA77DE9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6D2B6-F3B1-411F-BD80-451A324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D85AE-AD8A-4442-9E57-75265B7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38E30-11A4-4843-8230-2CEC50A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C4464-2291-42E2-9CB7-7C026795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BCH選擇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90644-64C2-41BC-8DCF-8D00D8B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從共同歷史帳本分出新鏈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提高區塊容量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主打低費用鏈上支付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形成獨立資產與社群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ABCB0-7FEF-424D-8040-71DAABC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BTC選擇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58D83-3123-4CD2-9C0C-3D5D80B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啟用SegWit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維持較保守基礎層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發展Lightning第二層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保留Bitcoin主要品牌與流動性</a:t>
            </a:r>
          </a:p>
        </p:txBody>
      </p:sp>
    </p:spTree>
    <p:extLst>
      <p:ext uri="{BB962C8B-B14F-4D97-AF65-F5344CB8AC3E}">
        <p14:creationId xmlns:p14="http://schemas.microsoft.com/office/powerpoint/2010/main" val="548025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5A5B9-D445-457C-B181-0E2336B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第一節｜擴展之爭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B2292-36AF-4940-9E9C-329727E2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擴展之爭揭示區塊鏈的三難取捨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C6582-271A-482A-A8E9-BDD2F755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3F3ED-B8E6-40EE-9648-DC3FCFB0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8｜第一節｜擴展之爭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290E2-AF6E-478E-A9EC-EF7D8AC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2C2D2-4F0D-4E6C-A51C-FA1D319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容量不是免費午餐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79783-1A08-4B06-A410-B6671352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提高主鏈容量可能增加節點成本；維持小區塊則把複雜度移到費用市場與第二層。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12105-A9B2-420A-85DD-23CE9037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7CF97-BE24-4933-B733-06F7ABA9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49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評估擴展方案時，要同時問：誰驗證、誰付費、何處結算，以及使用者是否重新依賴中心化服務。</a:t>
            </a:r>
          </a:p>
        </p:txBody>
      </p:sp>
    </p:spTree>
    <p:extLst>
      <p:ext uri="{BB962C8B-B14F-4D97-AF65-F5344CB8AC3E}">
        <p14:creationId xmlns:p14="http://schemas.microsoft.com/office/powerpoint/2010/main" val="1794437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B64EC-9816-4861-85D0-81A77B3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991AB-6676-43CD-85CA-E304BA6F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FA82F-C429-4EC0-AF91-12D18C4A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4893-692A-4DFC-B47F-BF1E511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E5D2D-2BFA-46E6-A80E-34F4389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FACA7-A35F-4BA6-BD09-FABCA1FE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31C0E-3541-4CA9-B840-590F0942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1AA20-BAA7-4D6F-B33B-53EDD16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7C661-781A-493C-A651-347FFDD7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0C529-AF28-4CFC-B95F-AD5F277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496C7-0713-4566-99B9-8CACBD50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擴大區塊的直接效果？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BDD5-1B08-4D6F-BC94-2F96209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增加單區塊容量　B 固定幣價　C 改成PoS　D 消除私鑰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34B96-CBD0-480F-B8AB-AD8D0947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DF447-3CA5-4BB6-BDFA-4DEC08D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答案：A。可容納更多交易資料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7DB2C-CFEA-4325-9AC0-C44AA65E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區塊太大可能造成？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90D02-1A24-4050-9AD2-737C42FD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節點門檻提高　B 供給無限　C 交易可撤銷　D 無需網路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CFEED-0D4A-4747-A36F-0CAFE946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5ADAA-99F1-459C-91BC-A18A984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答案：A。儲存與頻寬負擔增加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8FBC9-8200-4776-89A6-E93CA902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今日Bitcoin容量常用？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74E2D-3924-418D-9672-2026BF6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只有1MB　B 區塊重量　C 股本　D 利率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83C4E-6677-4341-A813-2AB8458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200AA-AEE6-47F3-9C5D-C832337C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99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答案：B。SegWit後以weight units衡量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2E818-347E-49E3-8E47-0AD3231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小區塊派主要擴展方向？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17019-7F00-4EBF-B0FC-FFA8AD6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Lightning　B 增發BTC　C 信用卡　D NFT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C5FDB-3239-4142-8F1E-02EE7D12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07579-7379-45BD-8F10-BC0C57E6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答案：A。第二層支付通道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8FFC17-1576-4E24-91CD-8EC69D0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BCH源自？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E5DAD-329A-4AD6-BEE2-06E7CD7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2017年擴展爭議硬分叉　B Ethereum升級　C 銀行合併　D ETF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CB2D1-4122-4C11-98C5-80FDBBEA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26EF86-F48E-4DB6-9810-DA11547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答案：A。大區塊路線分出新鏈</a:t>
            </a:r>
          </a:p>
        </p:txBody>
      </p:sp>
    </p:spTree>
    <p:extLst>
      <p:ext uri="{BB962C8B-B14F-4D97-AF65-F5344CB8AC3E}">
        <p14:creationId xmlns:p14="http://schemas.microsoft.com/office/powerpoint/2010/main" val="1532703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E8CA9-3FF8-46FF-A6AF-191C8E1B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44902-DD54-42EB-A9DD-E5ED86A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分叉可能是暫時分歧，也可能形成永久新鏈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82847-9A40-4139-82D6-D906AEE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CAFDF-F872-47FB-87A4-AC2BB85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97480-0839-470D-ADF0-A5FFC12A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5103A-1218-4148-B7EC-B043E4E3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F63E-9930-4F7A-97F6-EC59B425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軟體分叉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F1C37-266C-4E9F-871C-30645346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開發版本不同，不必改共識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CDB62-DDCE-4AE6-81CB-AEB329ED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F9228-F8E5-407E-9AE4-0727A55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暫時鏈分叉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DBCCC-FA07-40B7-B37F-763391E6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同時出塊後網路再收斂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7CF85-48E1-4264-AF49-27D8663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18CA4-A367-4C5F-BE22-32BAFD73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協議分叉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53FBE-888D-4405-A527-1C54E497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驗證規則發生改變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CBBDF-F361-48BE-8233-334144B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8115D-67F1-449D-AA5E-7C4D13C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社群分裂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A9854-2B3A-45FF-A351-19546DF9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不同群體長期支持不同規則</a:t>
            </a:r>
          </a:p>
        </p:txBody>
      </p:sp>
    </p:spTree>
    <p:extLst>
      <p:ext uri="{BB962C8B-B14F-4D97-AF65-F5344CB8AC3E}">
        <p14:creationId xmlns:p14="http://schemas.microsoft.com/office/powerpoint/2010/main" val="11702018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C857C-B0D0-40A4-A3FC-E2411EC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F6D7F-EA30-4D66-B29D-B5BFFAF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硬分叉後，兩條鏈共享歷史但未來各自記帳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3DE36-E471-45BC-A495-25431D34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87A62-27A6-44FE-A3C6-FBDF8D12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F7647-71D6-46E9-A63F-D272C2F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7976F-960B-43FD-BFA7-1668F77A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BF031-2886-4907-A0F3-C39DEB2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77430-FE0A-402B-A60A-0E84494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分叉瞬間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F0070-AD2E-4A65-B1D5-2900A67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分叉高度以前交易歷史相同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原地址可能在兩鏈都有對應餘額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之後區塊與規則分離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市場建立不同價格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06D15-B0AD-467B-B54C-90B86AE5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不是憑空複製財富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5E589-B38F-4079-82C6-2791183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新增資產價值由市場決定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原資產價格也可能調整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流動性、算力與開發者被重新分配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總財富不保證增加</a:t>
            </a:r>
          </a:p>
        </p:txBody>
      </p:sp>
    </p:spTree>
    <p:extLst>
      <p:ext uri="{BB962C8B-B14F-4D97-AF65-F5344CB8AC3E}">
        <p14:creationId xmlns:p14="http://schemas.microsoft.com/office/powerpoint/2010/main" val="2198577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F5B7E-C6D7-42EC-AFED-97C55DD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86CB6-911C-437E-8BB0-FF377A3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領取分叉幣會帶來私鑰與重放風險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CC63C-F042-49A1-A4ED-E4A6324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0CEED-526F-45BC-959D-0CFF76A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5E7D6-FB95-48CC-AC93-0489797F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7548F-3EC3-44B5-941E-B0C7BA6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4828B-833B-4130-B83A-81DD199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私鑰暴露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B0BF1-43C9-483D-9F13-8C5522D2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為領新幣輸入助記詞可能遭竊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93D07-9534-4FB7-9F4F-A9BB189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D86BA-C6F5-4EC9-A52A-D4B11CD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重放攻擊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99117-CF8D-45FF-8310-92277E9B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一條鏈的交易可能在另一鏈重播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4845-1C68-4425-BAAE-A1C6EA6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BD370-305B-4046-8E1A-B5AED9F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惡意軟體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274D7-A67F-4297-B5D0-62D919D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非官方錢包可能竊取資產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E51F2-6B73-45D1-887F-DCFCB10C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0240C-B28F-4217-8D81-86347B7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稅務認列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C8637-0515-4551-87EF-40CF4D6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取得與出售時點可能產生義務</a:t>
            </a:r>
          </a:p>
        </p:txBody>
      </p:sp>
    </p:spTree>
    <p:extLst>
      <p:ext uri="{BB962C8B-B14F-4D97-AF65-F5344CB8AC3E}">
        <p14:creationId xmlns:p14="http://schemas.microsoft.com/office/powerpoint/2010/main" val="11854561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89689-C88A-4E98-AD15-8F04ED64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D9EA6-5ED6-40A3-8208-E30BA141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IFO是歷史性市場術語，不是通行的正式募資類別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25CD6-5871-419A-9933-0E22A50F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B8C09-79A9-404C-8796-60A5007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1D99C-184D-40A6-A61B-1AC421E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DF043-7A43-487F-9D59-AA1DE81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51C0A-0724-41AD-B219-1BCC0391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6410E-33CC-4672-B718-B0000433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舊教材可保留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A9466-8DA4-4A86-8B5A-5A5AACE3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部分硬分叉按原鏈餘額配置新幣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具有類似空投的用戶擴散效果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可搭配新協議與價值主張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曾被稱為Initial Fork Offering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415E7-C301-4FD3-99D4-B4808A02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必須修正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5518D-9E87-4FDD-846C-780C525F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分叉本身不必然募得資金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IFO用語遠不如ICO或IEO普遍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不是協議標準或法律分類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今日宜稱分叉幣或硬分叉分配</a:t>
            </a:r>
          </a:p>
        </p:txBody>
      </p:sp>
    </p:spTree>
    <p:extLst>
      <p:ext uri="{BB962C8B-B14F-4D97-AF65-F5344CB8AC3E}">
        <p14:creationId xmlns:p14="http://schemas.microsoft.com/office/powerpoint/2010/main" val="14834048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45A88-CA71-4D20-96E8-94CE7C0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DBAAE-C86A-45FF-9ADD-A68BA40D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BCH、BSV與Bitcoin Gold代表不同分叉動機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F4C32-6F5A-40B0-9B39-4D2F898F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3E179-A63B-4874-8509-DDB0E8E0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A7B6E-21EC-4083-BDA7-D14FA984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20A17-37EF-4D25-AEBF-86A55C7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B0454-4784-49B4-8167-BAF7111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BCH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221F-4DB3-439C-86AC-1D9A0E4F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以大區塊推動鏈上支付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6615D-760F-4AED-8AB1-28E186F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C0242-281A-4FBA-9388-3D55D3C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ABF40-9B1E-443F-B693-A98D7EAC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由BCH再分叉並追求更大區塊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8489E-EEE1-485A-8C3E-8DCEE4E7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E16E2-515A-4EEB-9A34-32AE5BF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 Gold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51CC8-E373-4ADA-AB28-4D7049E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改變挖礦演算法與參與主張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B044A-C06C-4E9A-86C9-3A08A58D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38C4C-1FBF-45EC-ACD2-28F7553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共同特徵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4E08C-5E69-4442-B248-5515186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沿用Bitcoin歷史與品牌辨識度</a:t>
            </a:r>
          </a:p>
        </p:txBody>
      </p:sp>
    </p:spTree>
    <p:extLst>
      <p:ext uri="{BB962C8B-B14F-4D97-AF65-F5344CB8AC3E}">
        <p14:creationId xmlns:p14="http://schemas.microsoft.com/office/powerpoint/2010/main" val="1274039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160DF-B382-422D-86A6-A1A15349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AFFD-55BA-4185-9E51-21C08B6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分叉能否存活，取決於完整經濟生態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68271-6222-4BD3-BCE8-614C923D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012B7-E801-424B-82CD-AB10F132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D9CA4-6EE6-4979-AB05-C34906E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0B599-F3F8-49EC-B45A-882CB11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9BB7D-F061-4097-9BD7-60850BE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安全預算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EE82A-8EE1-42CE-8ED0-AFE2FD2C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算力與礦工收入是否足夠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D570F-9FAF-4CA1-B2CC-A00B417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0526F-A965-4661-8F66-D660CF9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基礎設施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52DF4-A45F-4F13-A7E9-2959202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錢包、節點、瀏覽器與交易所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6792C-B5BE-421C-879C-54F8783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D1D8D-6F35-431A-A076-02CE50A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市場流動性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09A8E-F0DB-4BC6-A0F0-32F54952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是否有持續交易與價格發現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121D2-3E57-47DB-B747-5D963E2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3223E-F38B-472E-BD84-FFB26E93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開發社群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F35D1-EF50-4D3D-B374-A7E4B3C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是否有人維護程式與修補漏洞</a:t>
            </a:r>
          </a:p>
        </p:txBody>
      </p:sp>
    </p:spTree>
    <p:extLst>
      <p:ext uri="{BB962C8B-B14F-4D97-AF65-F5344CB8AC3E}">
        <p14:creationId xmlns:p14="http://schemas.microsoft.com/office/powerpoint/2010/main" val="423634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13B5E-2CDC-4775-87AF-13059F1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A4647-1F95-4471-9A04-CFF9627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交易所命名與上架會影響哪條鏈被市場辨識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4C789-683E-45C0-81EE-D1C66A5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DF815-0672-4BED-A20F-2C8B6CC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2257D-6453-4542-8625-270091AD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09307-D2B0-4CA6-8A50-5BFB120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F8581-C0B1-43FC-8995-476579D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68CEC-E789-4487-8632-7A9A62D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市場協調力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FA361-40B6-4C9F-AF77-DF2EDA2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決定代號與交易對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處理快照與分配方式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提供流動性與價格發現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設定充值與提領確認規則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7E958-648D-46F8-99BA-58CB3BB0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不能取代協議共識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A460F-81B3-476F-85D1-59AFC27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交易所不能強迫節點接受規則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卻可影響一般使用者接觸哪條鏈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品牌、代號與流動性也是治理資源</a:t>
            </a:r>
          </a:p>
        </p:txBody>
      </p:sp>
    </p:spTree>
    <p:extLst>
      <p:ext uri="{BB962C8B-B14F-4D97-AF65-F5344CB8AC3E}">
        <p14:creationId xmlns:p14="http://schemas.microsoft.com/office/powerpoint/2010/main" val="9160575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30361-5282-4147-BC90-CD700F9D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27CBA-4F9A-4C25-B56E-F231F1F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 Classic顯示分叉也可能源自治理價值衝突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FE03D-6280-4AA6-9D40-1F297ED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8BA52-2DF0-4913-8275-F531F596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A927-67B4-4860-A04C-93EF9225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338A8-23B2-4342-9675-0544AE9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E93C4-D1B1-4F11-A4A2-DA0BD30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4B3D1-AB0C-4526-BB53-CCB206A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事件脈絡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5D090-71B2-4455-A776-5C698D4E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DAO事件造成重大資產損失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Ethereum社群選擇以硬分叉處理狀態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新鏈延續為今日Ethereum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15423-47B5-4716-A2E7-9B6FE6B6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ETC立場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0D9C3-432B-4B9A-9FB5-EA9E835A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部分參與者拒絕回改歷史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原規則鏈以Ethereum Classic延續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爭點是不可變性與社會救濟的排序</a:t>
            </a:r>
          </a:p>
        </p:txBody>
      </p:sp>
    </p:spTree>
    <p:extLst>
      <p:ext uri="{BB962C8B-B14F-4D97-AF65-F5344CB8AC3E}">
        <p14:creationId xmlns:p14="http://schemas.microsoft.com/office/powerpoint/2010/main" val="745342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6F1CF-6AAD-4C96-9FD3-A6C7B6E7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7FB50-1BB5-4E80-93CA-B75D9DF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分叉提供退出權，也產生協調成本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5834B-D91B-42DD-B68C-0D78E2FD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4FFD-96D5-47D0-9735-2C5790F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A9667-05B2-4699-8BA3-BADD61A6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CC48F-D98C-457A-8933-7DB50F4D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D0537-2DF4-4403-8854-17C256F2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正面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B6A54-16FD-4A8C-8005-0E28BBA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允許不同理念各自試驗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63289-95D5-448E-B0EA-8E89C90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78AF2-0516-4104-A813-3B2320C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負面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7C3EB-5197-4595-B419-C5A2F1F3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社群、算力與開發資源分散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C8A8B-17EB-4583-9216-736DA5B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A7761-DDD1-4783-B484-BB30257A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9094E-904F-4CB5-AC03-B029076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名稱、地址與資產辨識更困難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06020-D0B8-4BA5-B236-588FC19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410A0-ECF4-48E3-A834-8DA31E4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治理訊號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449DF-1994-48E7-AB0F-A287B58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無法妥協時以市場選擇路線</a:t>
            </a:r>
          </a:p>
        </p:txBody>
      </p:sp>
    </p:spTree>
    <p:extLst>
      <p:ext uri="{BB962C8B-B14F-4D97-AF65-F5344CB8AC3E}">
        <p14:creationId xmlns:p14="http://schemas.microsoft.com/office/powerpoint/2010/main" val="4163881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BBB54-CAA1-4E48-A5B0-5CAD135F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第二節｜分叉現象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92DCB-B421-47CB-A07F-D1DF49D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看到新分叉幣，先用五問篩選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14DD-CB60-4234-AFFA-7019C2E1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3F077-33DD-41F5-83E8-2C7CB86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8｜第二節｜分叉現象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8A47-693D-4764-BD5E-2CA06AC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B6CCF-AF12-4BE2-921E-87FC6028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不要先問會不會漲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F58B7-1FBC-4EB1-AADB-7022771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規則改了什麼？誰維護？安全預算在哪裡？交易與保管基礎設施是否可靠？分配是否安全合法？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A62C5-C825-4299-A274-C5E540E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6E9FF-0046-4A19-95C6-1E46FD1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只有名稱相似或自稱回歸初心，不能證明它擁有Bitcoin的安全、流動性與社群。</a:t>
            </a:r>
          </a:p>
        </p:txBody>
      </p:sp>
    </p:spTree>
    <p:extLst>
      <p:ext uri="{BB962C8B-B14F-4D97-AF65-F5344CB8AC3E}">
        <p14:creationId xmlns:p14="http://schemas.microsoft.com/office/powerpoint/2010/main" val="207069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0F678-F463-4E2F-B256-E276A20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63DEB-9924-4B2A-A87A-B819908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13C37-C92E-4B1B-B642-0CFAB758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4D0DC-59BA-4319-B534-AD8A6C40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23CBC-79DB-4F02-917A-2CD93E2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19E03-8DF2-49B3-8808-A48E745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EEAD6-9179-48A3-B830-1B858D7F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1226D-F7D4-4A48-9B5D-7521143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A8796-39B1-4245-8199-1C7961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C5BF9-3E99-43AE-B79D-5329A477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91E1B-6898-479E-8348-85880912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硬分叉後兩鏈？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7680F-36C3-40D4-A146-99CA0D63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歷史完全不同　B 分叉前共享歷史、之後分離　C 自動合併　D 都消失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A7366-4CED-472A-B300-F2CDDED5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E179A-0398-4386-9559-E358C5E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答案：B。從共同高度分開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5193D-1A1C-4165-AB74-DB4C4B71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帳本複製是否保證財富倍增？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01A34-5B85-4224-A722-D486178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只要上架就會　D 由礦工保證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3A1B9-2F38-4362-A5D5-9BA20D12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3CD0C-A1DD-4E05-83A4-35B51CD6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答案：B。價值仍由市場決定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04ED0-8D6E-4996-95BB-3FC97DF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領取分叉幣的風險？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EBFA2-1D92-4143-AA69-C4D924AA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私鑰暴露與重放　B 利率固定　C 無法分割　D 沒有地址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368DB-5061-4472-A5DD-3B7C0C0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DF437-A0E7-468E-8702-B0E9B8D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答案：A。操作安全很重要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77956-55A7-40BC-959F-287D39B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IFO較適合如何理解？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A8A52-E990-469C-9143-CE4BBD9C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正式法律分類　B 歷史性分叉幣行銷術語　C 共識演算法　D 央行政策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47C42-DF17-4FB8-9208-A48EE78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6AA35-621B-45FB-A261-2776022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答案：B。今日不是主流募資類別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F96F5-A291-4E27-979F-91EF5138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ETC分叉爭點主要是？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254EE-C291-414F-A34F-06ED5FD7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區塊大小　B 是否回改DAO事件狀態　C 改成信用卡　D ETF費用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1508E-C9A2-4BF8-9651-E72F7929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03F8C-4CFC-4EDE-90D2-6BC6FAD8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答案：B。不可變性與救濟衝突</a:t>
            </a:r>
          </a:p>
        </p:txBody>
      </p:sp>
    </p:spTree>
    <p:extLst>
      <p:ext uri="{BB962C8B-B14F-4D97-AF65-F5344CB8AC3E}">
        <p14:creationId xmlns:p14="http://schemas.microsoft.com/office/powerpoint/2010/main" val="10745440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B4B32-1BA7-4931-9B84-040F2F4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14C6E-82A8-4DF3-A25D-33B687F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Bitcoin沒有董事會，卻有多種權力中心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0F175-0401-4885-AE07-358D0098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1632A-22D7-4B12-8D59-5189FB6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95FDB-A2BC-4E54-9B8A-C6322565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04241-97B7-4E4E-8417-D1A26641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A26C5-73E9-4856-8475-E6020B62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開發者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7810F-3DD6-41A9-8A14-0B82E1F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提出、審查與維護軟體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5A6B9-7BCA-43AC-91E0-C401ED46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50FBA-0445-4BA7-82EA-04505BB2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節點使用者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6081B-467A-41BA-99AA-14FA26F8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選擇執行哪套驗證規則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58B5A-50DC-45B3-8158-EF57ECA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66FB3-2C5B-4E9C-8147-669A02C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礦工與礦池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6B944-E6BE-416E-A0D6-70DD684B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排序交易並產生區塊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05D8E-10B4-45DE-8EC3-B2A8FEA6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87F25-C63B-4C05-94BD-E374841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經濟參與者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DFE18-ACEF-411A-A88E-37E939A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交易所、商家與持有人決定採用</a:t>
            </a:r>
          </a:p>
        </p:txBody>
      </p:sp>
    </p:spTree>
    <p:extLst>
      <p:ext uri="{BB962C8B-B14F-4D97-AF65-F5344CB8AC3E}">
        <p14:creationId xmlns:p14="http://schemas.microsoft.com/office/powerpoint/2010/main" val="1185642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83A75-41EF-4B9F-B1AC-1793E93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CD1D4-DCB5-45CB-9BC0-4E2B9DE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BIP是提案與紀錄機制，不是Bitcoin國會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9A996-1FC5-4807-A9F0-CE4F36D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A868C-93D0-419E-99D8-902F620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5D91-DFA9-4ED9-8BC2-3C64D07F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67070-8A1A-4E1A-97AF-4B97CFE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2029D-C64F-4027-B23D-6FEB9BC1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C6B9B-79FD-4CAA-9142-9376956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BIP的功能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142F5-D80D-42EC-A0D1-B1CFC056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描述新功能或標準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提供技術規格與設計理由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保存討論與版本歷史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支援多個實作協調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9B981-590A-4E2D-8C8D-96FE36C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BIP不能自動做到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266DD-3DC1-4365-AC29-A9EB12A3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取得社群共識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強迫節點升級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保證提案是好主意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自動修改網路規則</a:t>
            </a:r>
          </a:p>
        </p:txBody>
      </p:sp>
    </p:spTree>
    <p:extLst>
      <p:ext uri="{BB962C8B-B14F-4D97-AF65-F5344CB8AC3E}">
        <p14:creationId xmlns:p14="http://schemas.microsoft.com/office/powerpoint/2010/main" val="433066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3F7BC-0133-4976-B455-63481DA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E90A7-7B40-4857-9CDC-C4B2C24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Bitcoin鏈下治理靠反覆協調與自願採用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51A4E-0571-4995-B270-E17542D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30D9-F278-40DC-B2AE-09AFE2A8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2F1B-86AD-4C41-9B1C-D58BBE7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2F3CC-4674-4380-89E7-85CF3AA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5BB09-A576-4F54-9B3F-00838F4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形成想法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71B45-DADC-441A-8CDA-D6C3F541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郵件論壇與技術社群提出問題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2F4BB-0B65-4E8A-93E2-F5FDD8A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E11FE-735F-4326-B354-FC5BBD99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撰寫BIP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9DDAA-0185-4667-A6A1-79C28462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形成可檢驗的規格與理由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C2690-CD9A-4DCB-AC73-C72848B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BCC3C-0431-43D7-9A14-2548A63C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實作測試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79800-E71B-4CBB-A7A9-506C6E8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不同團隊審查、開發與試用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5A270-EAA7-4877-BE5E-6ADC9018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3DC86-635D-4264-B6A0-DFFE8414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實際採用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3B4F6-FC7D-47F8-9BC5-73EECE2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節點、礦工與經濟體選擇版本</a:t>
            </a:r>
          </a:p>
        </p:txBody>
      </p:sp>
    </p:spTree>
    <p:extLst>
      <p:ext uri="{BB962C8B-B14F-4D97-AF65-F5344CB8AC3E}">
        <p14:creationId xmlns:p14="http://schemas.microsoft.com/office/powerpoint/2010/main" val="19463651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9965A-1393-461C-AE6A-83FB6EC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B566D-79B3-4009-8937-64A7CC76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鏈上訊號不一定等於最終治理權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82F71-E88E-471C-A9EF-4A920A7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F2F07-6A2F-4EAD-BC0A-FC04EF3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C2DCF-0062-4DAB-9663-9EA98B8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4215-85D4-4DFB-8BF5-7AF78D0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24E80-44B7-4EF6-8246-D75CE026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0CCD8-6C0B-404D-9986-D44E006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礦工訊號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6755B-FA33-4FFE-983D-478761D5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可表示對升級條件的準備或支持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有助協調軟分叉啟用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但礦工不能任意改變節點驗證規則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AFF60-A30D-4D76-B86B-D4FB12E1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經濟多數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6ADA2-2C92-4F64-B5F7-4293F20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使用者與企業選擇接受哪種資產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全節點可拒絕無效區塊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市場價格與流動性也反映採用</a:t>
            </a:r>
          </a:p>
        </p:txBody>
      </p:sp>
    </p:spTree>
    <p:extLst>
      <p:ext uri="{BB962C8B-B14F-4D97-AF65-F5344CB8AC3E}">
        <p14:creationId xmlns:p14="http://schemas.microsoft.com/office/powerpoint/2010/main" val="20478942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975F6-FA5F-4F89-A2E7-79DED7E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F363A-6103-4A78-9686-B471D9F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鏈上治理把提案、投票或執行寫進協議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6B8-29C3-408A-B567-E66117D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AA9E-3D77-4618-A3B2-B063822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EF72-B897-4A8D-AA81-B39671A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B43D-0CC1-40E6-B0C4-BE528FF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7A316-2BB1-4611-825E-6BBFE25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200D4-AA00-4900-A987-2F3FCE9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可能優點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3BAC-A968-41EF-BD40-481EDE1C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規則清楚且結果可驗證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投票與資金流透明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決策可自動執行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參與不受地理限制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67D53-741F-470A-B92C-6BACDC9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D3170-5295-4A9F-ADC1-0B4013B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持幣多者權力大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投票率低與委託集中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借貸代幣操縱投票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錯誤決策可能自動生效</a:t>
            </a:r>
          </a:p>
        </p:txBody>
      </p:sp>
    </p:spTree>
    <p:extLst>
      <p:ext uri="{BB962C8B-B14F-4D97-AF65-F5344CB8AC3E}">
        <p14:creationId xmlns:p14="http://schemas.microsoft.com/office/powerpoint/2010/main" val="1624441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6C0C-F41E-4553-AC25-B0555E5B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42592-BAD7-45C8-894B-0552CFE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Tezos與Polkadot展示不同鏈上治理設計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CA5A-3F2C-4782-AC01-45BB8E4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80AE7-A96A-4863-AF53-C1CD746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FB689-5DD0-4FB4-86A3-90710467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6E7EC-F2D1-4084-A983-6540A07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83B92-DA18-4E41-B676-D949E36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677C4-459B-41CF-89D4-838B0E44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Tezos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8731E-8593-4809-9CFF-2A36D473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協議內建提案與升級週期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持份者參與表決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通過後可自我修正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降低例行升級硬分叉需求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1A76E-6B65-4E31-BAD9-D2C3F00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Polkadot OpenGov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F7754-EAFF-433B-A186-CCC88C6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以公投與多軌道處理提案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不同權限採不同門檻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委託與治理角色制度化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強調持續治理</a:t>
            </a:r>
          </a:p>
        </p:txBody>
      </p:sp>
    </p:spTree>
    <p:extLst>
      <p:ext uri="{BB962C8B-B14F-4D97-AF65-F5344CB8AC3E}">
        <p14:creationId xmlns:p14="http://schemas.microsoft.com/office/powerpoint/2010/main" val="16733767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5237C-5AEA-40D5-BD8B-256BDA6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E9321-5D0D-4EDF-85AF-D27BB3AE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代幣投票可能把資本權力誤認為共同利益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67E50-968C-4A3E-B9C6-CB1FF11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3CEE-9F5F-477C-8F3C-C2948884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65347-6AAC-41EB-A915-DA9726F4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9C5B-F71E-4C2B-8D9A-F004BE55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252CC-7AD4-4905-A439-300402D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巨鯨控制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51D4C-9DCB-4E11-BB43-DE9C05D1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大額持幣者影響結果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452DD-BFE0-4C48-839C-E2732762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276A9-E94D-421A-8964-B93F21C5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投票冷漠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F2391-0837-4D1B-9706-5C631163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少數積極者代表沉默多數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AF56D-1A66-4F24-A3BD-742B6AC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D984E-A281-4FD3-928E-E3A64DB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利益衝突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37574-A8F1-452C-95E3-6BFEA784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代表可能同時是投資人或服務商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F2FA8-5C94-4BA9-96E5-AD4929A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7FC8D-BBB0-4642-ACAB-9B88A435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短期偏誤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4DC16-AA0F-4F0E-9C53-02FA66A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幣價誘因壓過長期安全</a:t>
            </a:r>
          </a:p>
        </p:txBody>
      </p:sp>
    </p:spTree>
    <p:extLst>
      <p:ext uri="{BB962C8B-B14F-4D97-AF65-F5344CB8AC3E}">
        <p14:creationId xmlns:p14="http://schemas.microsoft.com/office/powerpoint/2010/main" val="15255351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F8BE4-7A5C-4DFF-B25D-8E0D1DF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8B5C0-2EED-4173-8243-061B6C0B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實務治理多半是鏈上與鏈下混合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7ADA-7B61-44BD-B654-F9D806D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ECAA6-395C-4A7E-99F4-3AC413DD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EBDA9-1239-4343-88CB-239783BF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5E4D4-3C04-4576-B713-5B147549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16E07-5206-4FBB-B7F1-720798E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鏈下形成方案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820C3-9E78-4257-B815-28D5143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研究、辯論與談判難完全自動化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3CFD-E467-491F-9FE6-5D9FF1A7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55326-B91D-45CA-A683-167EDCD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鏈上記錄決策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3419E-35FE-479C-84EB-75B1FD8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投票與資金執行可被稽核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0DAB-FF30-4887-A115-75529C9F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232C0-784C-4204-B6EF-0716093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緊急權限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FDA6B-D382-4370-AF4D-6793F2AE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多簽或安全委員會可暫停系統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4DDF0-EDD1-43B1-8CD0-3DCAD6B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76031-90BF-470D-8FB6-771075E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法律外殼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7D282-78FE-4F63-9C35-B3049B29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基金會、公司或DAO法人承擔責任</a:t>
            </a:r>
          </a:p>
        </p:txBody>
      </p:sp>
    </p:spTree>
    <p:extLst>
      <p:ext uri="{BB962C8B-B14F-4D97-AF65-F5344CB8AC3E}">
        <p14:creationId xmlns:p14="http://schemas.microsoft.com/office/powerpoint/2010/main" val="2044245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2A1AA-08C3-403A-95DA-A780703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68F9-FB8F-47E3-A25B-1BB9527F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治理盡職調查要追蹤權力而非只看白皮書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7A966-EC21-431A-8DE9-A70ABC8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5179F-4A5A-424D-8467-64EF453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22967-C6B4-4169-8B39-60D6E67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7B3FF-7AC9-4F91-9346-B881E3E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26ED5-DEEB-4F12-8554-44B3BA8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議程權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CD5F5-0141-4C3D-ACAB-D80E5884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誰決定哪些提案能被表決？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3C2FF-4236-4C90-9291-2964B21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A80EB-1089-4BE1-B339-0DFF397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7743E-8980-49BA-8751-D1EF2C7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代幣、身分、節點或委託？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4E9AD-0D29-4074-9871-CAAFF55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85FAC-88D4-44C4-BEFA-4EC7FBA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執行權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F8F28-1AB0-40E8-AB04-628D885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誰握升級與緊急管理金鑰？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27D2-9740-4EDF-B655-AB261F8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F20F3-587B-4B92-A351-4660F6B8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退出權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2C2AF-EA3A-454E-833D-F1FBA831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反對者能否拒絕升級或分叉？</a:t>
            </a:r>
          </a:p>
        </p:txBody>
      </p:sp>
    </p:spTree>
    <p:extLst>
      <p:ext uri="{BB962C8B-B14F-4D97-AF65-F5344CB8AC3E}">
        <p14:creationId xmlns:p14="http://schemas.microsoft.com/office/powerpoint/2010/main" val="20643024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01C9F-983C-4ED6-9C7C-F7553DE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E193A-EB75-4A4F-864E-59355A1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本週結論：技術選擇最終都是權力與成本選擇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4D081-3E5E-4AEB-BE96-320EC44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46B0-EA31-420E-B570-170A204A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CA2DA-4FC6-44BE-99AE-240C4FDD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E10EB-F0F2-425F-BE83-35E9DF27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從擴展到治理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DAA5D-EFEC-476D-90B5-7208FAEB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區塊大小決定驗證成本；硬分叉重新分配品牌與流動性；治理機制決定誰能改規則。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F3731-8C65-4E55-ACCD-F277EA9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4911B-F134-4F9B-B19B-9334D495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5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金融管理學生不必寫協議程式，但必須看懂技術設計如何改變市場結構、控制權與風險承擔。</a:t>
            </a:r>
          </a:p>
        </p:txBody>
      </p:sp>
    </p:spTree>
    <p:extLst>
      <p:ext uri="{BB962C8B-B14F-4D97-AF65-F5344CB8AC3E}">
        <p14:creationId xmlns:p14="http://schemas.microsoft.com/office/powerpoint/2010/main" val="6799640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5A5D9-D243-4CA3-A6C5-54081D1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ED9B7-606A-45CC-8A3E-074DC56C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9456A-40A3-4F0E-B579-10913F0D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AC28-B872-452B-A56C-112896D8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21D51-F069-4C54-AF67-954FB196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BC978-67EA-40CE-AFBB-1B006A5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E994F-5338-4015-8ECC-AD894FD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A6CC6-A71B-4A82-AD9F-2D6C0408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80B08-CD4B-4946-AE75-A23A165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8｜第三節｜快問快答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35C1-A755-437A-BEFE-3780188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308FA-D26E-42CC-A0E3-A57C2AB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BIP發布代表？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E11A0-9354-41F6-A470-DEAD43D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已強制採用　B 提案符合收錄條件，不等於共識　C 幣價上漲　D 政府核准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1A5A7-8034-4A3F-8125-5F0498EE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48227-BD01-44E6-A262-7736F94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答案：B。實際採用仍由參與者決定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2B90C-7056-476F-9F50-2205B2D5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Bitcoin主要治理方式？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B5B6F-C942-421B-ABE9-78EBDFA5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單一CEO　B 鏈下協調與自願採用　C 一幣一票　D 央行命令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6B9F6-BF7B-42EA-9491-BC88696D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DA169-D9DF-44FF-BF55-FBDE6D84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答案：B。多方協調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564E9-F587-478B-9EF0-AAF025B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鏈上治理優點？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DCAEC-F40F-4A18-BD1C-EC7F004D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結果可驗證與自動執行　B 永遠公平　C 不需資訊　D 無大戶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18B86-606E-4C60-BCC2-145CE48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954D8-675C-415D-AA11-5CFC3BE2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答案：A。透明但仍有集中風險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FD04A-EADB-41C4-BF70-4BB97034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代幣投票主要風險？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1BBD4-4C06-4179-8E42-51EE349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大戶與低投票率　B 沒有帳本　C 不能提案　D 無法計票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43FFB-48D9-4F70-800D-8CC57D0A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CFD9D-D3D0-4EA7-ABAD-EBF8D1C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答案：A。資本權力可能集中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7E007-84E9-4276-86C2-D7AAC3AC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治理分析最重要看？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ED7E2-3C5F-4879-B3DA-EBB253CD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網站顏色　B 誰能提案、投票、執行與退出　C TPS　D 幣名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CC19A-4DFA-4AA8-8CB8-572690C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11738-39CB-47BA-AC1D-0F7589F5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答案：B。追蹤實際權力</a:t>
            </a:r>
          </a:p>
        </p:txBody>
      </p:sp>
    </p:spTree>
    <p:extLst>
      <p:ext uri="{BB962C8B-B14F-4D97-AF65-F5344CB8AC3E}">
        <p14:creationId xmlns:p14="http://schemas.microsoft.com/office/powerpoint/2010/main" val="1805979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2026-09-03T05:28:18.6040000Z</dcterms:created>
  <dcterms:modified xsi:type="dcterms:W3CDTF">2026-09-03T05:28:18.6040000Z</dcterms:modified>
</coreProperties>
</file>