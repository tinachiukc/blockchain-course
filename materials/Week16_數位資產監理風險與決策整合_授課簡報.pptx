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c5b636ea9c48c4" /><Relationship Type="http://schemas.openxmlformats.org/officeDocument/2006/relationships/extended-properties" Target="/docProps/app.xml" Id="Re46771de1e4448b6" /><Relationship Type="http://schemas.openxmlformats.org/officeDocument/2006/relationships/officeDocument" Target="/ppt/presentation.xml" Id="R1c71445bfc8a43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a68006b4ee4a14"/>
  </p:sldMasterIdLst>
  <p:notesMasterIdLst>
    <p:notesMasterId xmlns:r="http://schemas.openxmlformats.org/officeDocument/2006/relationships" r:id="R18943593dbda482a"/>
  </p:notesMasterIdLst>
  <p:sldIdLst>
    <p:sldId xmlns:r="http://schemas.openxmlformats.org/officeDocument/2006/relationships" id="256" r:id="R43f009d7f1d64349"/>
    <p:sldId xmlns:r="http://schemas.openxmlformats.org/officeDocument/2006/relationships" id="257" r:id="Rd4308155d68344d8"/>
    <p:sldId xmlns:r="http://schemas.openxmlformats.org/officeDocument/2006/relationships" id="258" r:id="Rbd2276fd8e3f464b"/>
    <p:sldId xmlns:r="http://schemas.openxmlformats.org/officeDocument/2006/relationships" id="259" r:id="R1e41706ef8764d9a"/>
    <p:sldId xmlns:r="http://schemas.openxmlformats.org/officeDocument/2006/relationships" id="260" r:id="R98e48056db5f402b"/>
    <p:sldId xmlns:r="http://schemas.openxmlformats.org/officeDocument/2006/relationships" id="261" r:id="R3a37433edcbe4548"/>
    <p:sldId xmlns:r="http://schemas.openxmlformats.org/officeDocument/2006/relationships" id="262" r:id="R84657b61dbdd4f3d"/>
    <p:sldId xmlns:r="http://schemas.openxmlformats.org/officeDocument/2006/relationships" id="263" r:id="Rfd64abfd7a1a4e3a"/>
    <p:sldId xmlns:r="http://schemas.openxmlformats.org/officeDocument/2006/relationships" id="264" r:id="R64067441c2604575"/>
    <p:sldId xmlns:r="http://schemas.openxmlformats.org/officeDocument/2006/relationships" id="265" r:id="R0c210bac74e04afa"/>
    <p:sldId xmlns:r="http://schemas.openxmlformats.org/officeDocument/2006/relationships" id="266" r:id="R3a341dc01e704639"/>
    <p:sldId xmlns:r="http://schemas.openxmlformats.org/officeDocument/2006/relationships" id="267" r:id="R739ffbef88a14dba"/>
    <p:sldId xmlns:r="http://schemas.openxmlformats.org/officeDocument/2006/relationships" id="268" r:id="R17c6bc2a3ccc4106"/>
    <p:sldId xmlns:r="http://schemas.openxmlformats.org/officeDocument/2006/relationships" id="269" r:id="Ra7a3d423bdda41cc"/>
    <p:sldId xmlns:r="http://schemas.openxmlformats.org/officeDocument/2006/relationships" id="270" r:id="Rcff4956ad4c14fb2"/>
    <p:sldId xmlns:r="http://schemas.openxmlformats.org/officeDocument/2006/relationships" id="271" r:id="Rc0551b8fdeb54f83"/>
    <p:sldId xmlns:r="http://schemas.openxmlformats.org/officeDocument/2006/relationships" id="272" r:id="R1e00541c36064135"/>
    <p:sldId xmlns:r="http://schemas.openxmlformats.org/officeDocument/2006/relationships" id="273" r:id="Re9e8b0ad39254a4e"/>
    <p:sldId xmlns:r="http://schemas.openxmlformats.org/officeDocument/2006/relationships" id="274" r:id="R67d84e65ed2941a9"/>
    <p:sldId xmlns:r="http://schemas.openxmlformats.org/officeDocument/2006/relationships" id="275" r:id="R3146dbab6066473b"/>
    <p:sldId xmlns:r="http://schemas.openxmlformats.org/officeDocument/2006/relationships" id="276" r:id="R68e7f0486d8d4f54"/>
    <p:sldId xmlns:r="http://schemas.openxmlformats.org/officeDocument/2006/relationships" id="277" r:id="Ree8f779a6ad943a5"/>
    <p:sldId xmlns:r="http://schemas.openxmlformats.org/officeDocument/2006/relationships" id="278" r:id="R56556d657f924352"/>
    <p:sldId xmlns:r="http://schemas.openxmlformats.org/officeDocument/2006/relationships" id="279" r:id="R347ab58ce5584223"/>
    <p:sldId xmlns:r="http://schemas.openxmlformats.org/officeDocument/2006/relationships" id="280" r:id="R90519ae76e864c9c"/>
    <p:sldId xmlns:r="http://schemas.openxmlformats.org/officeDocument/2006/relationships" id="281" r:id="Rd7c69ed1917d4358"/>
    <p:sldId xmlns:r="http://schemas.openxmlformats.org/officeDocument/2006/relationships" id="282" r:id="Rb354c828bf9940a6"/>
    <p:sldId xmlns:r="http://schemas.openxmlformats.org/officeDocument/2006/relationships" id="283" r:id="Re1899ba99894493a"/>
    <p:sldId xmlns:r="http://schemas.openxmlformats.org/officeDocument/2006/relationships" id="284" r:id="R703bca463a634a5f"/>
    <p:sldId xmlns:r="http://schemas.openxmlformats.org/officeDocument/2006/relationships" id="285" r:id="Ra9005499ae714841"/>
    <p:sldId xmlns:r="http://schemas.openxmlformats.org/officeDocument/2006/relationships" id="286" r:id="Rd0cc2531c71c468e"/>
    <p:sldId xmlns:r="http://schemas.openxmlformats.org/officeDocument/2006/relationships" id="287" r:id="R2648e96936c74ebf"/>
    <p:sldId xmlns:r="http://schemas.openxmlformats.org/officeDocument/2006/relationships" id="288" r:id="R5211903780654b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37a588c6464e3c" /><Relationship Type="http://schemas.openxmlformats.org/officeDocument/2006/relationships/slideMaster" Target="/ppt/slideMasters/slideMaster1.xml" Id="Rb7a68006b4ee4a14" /><Relationship Type="http://schemas.openxmlformats.org/officeDocument/2006/relationships/notesMaster" Target="/ppt/notesMasters/notesMaster1.xml" Id="R18943593dbda482a" /><Relationship Type="http://schemas.openxmlformats.org/officeDocument/2006/relationships/presProps" Target="/ppt/presProps.xml" Id="R25824d1a5d3c443a" /><Relationship Type="http://schemas.openxmlformats.org/officeDocument/2006/relationships/tableStyles" Target="/ppt/tableStyles.xml" Id="Rc7b1a41788df4a15" /><Relationship Type="http://schemas.openxmlformats.org/officeDocument/2006/relationships/slide" Target="/ppt/slides/slide1.xml" Id="R43f009d7f1d64349" /><Relationship Type="http://schemas.openxmlformats.org/officeDocument/2006/relationships/slide" Target="/ppt/slides/slide2.xml" Id="Rd4308155d68344d8" /><Relationship Type="http://schemas.openxmlformats.org/officeDocument/2006/relationships/slide" Target="/ppt/slides/slide3.xml" Id="Rbd2276fd8e3f464b" /><Relationship Type="http://schemas.openxmlformats.org/officeDocument/2006/relationships/slide" Target="/ppt/slides/slide4.xml" Id="R1e41706ef8764d9a" /><Relationship Type="http://schemas.openxmlformats.org/officeDocument/2006/relationships/slide" Target="/ppt/slides/slide5.xml" Id="R98e48056db5f402b" /><Relationship Type="http://schemas.openxmlformats.org/officeDocument/2006/relationships/slide" Target="/ppt/slides/slide6.xml" Id="R3a37433edcbe4548" /><Relationship Type="http://schemas.openxmlformats.org/officeDocument/2006/relationships/slide" Target="/ppt/slides/slide7.xml" Id="R84657b61dbdd4f3d" /><Relationship Type="http://schemas.openxmlformats.org/officeDocument/2006/relationships/slide" Target="/ppt/slides/slide8.xml" Id="Rfd64abfd7a1a4e3a" /><Relationship Type="http://schemas.openxmlformats.org/officeDocument/2006/relationships/slide" Target="/ppt/slides/slide9.xml" Id="R64067441c2604575" /><Relationship Type="http://schemas.openxmlformats.org/officeDocument/2006/relationships/slide" Target="/ppt/slides/slide10.xml" Id="R0c210bac74e04afa" /><Relationship Type="http://schemas.openxmlformats.org/officeDocument/2006/relationships/slide" Target="/ppt/slides/slide11.xml" Id="R3a341dc01e704639" /><Relationship Type="http://schemas.openxmlformats.org/officeDocument/2006/relationships/slide" Target="/ppt/slides/slide12.xml" Id="R739ffbef88a14dba" /><Relationship Type="http://schemas.openxmlformats.org/officeDocument/2006/relationships/slide" Target="/ppt/slides/slide13.xml" Id="R17c6bc2a3ccc4106" /><Relationship Type="http://schemas.openxmlformats.org/officeDocument/2006/relationships/slide" Target="/ppt/slides/slide14.xml" Id="Ra7a3d423bdda41cc" /><Relationship Type="http://schemas.openxmlformats.org/officeDocument/2006/relationships/slide" Target="/ppt/slides/slide15.xml" Id="Rcff4956ad4c14fb2" /><Relationship Type="http://schemas.openxmlformats.org/officeDocument/2006/relationships/slide" Target="/ppt/slides/slide16.xml" Id="Rc0551b8fdeb54f83" /><Relationship Type="http://schemas.openxmlformats.org/officeDocument/2006/relationships/slide" Target="/ppt/slides/slide17.xml" Id="R1e00541c36064135" /><Relationship Type="http://schemas.openxmlformats.org/officeDocument/2006/relationships/slide" Target="/ppt/slides/slide18.xml" Id="Re9e8b0ad39254a4e" /><Relationship Type="http://schemas.openxmlformats.org/officeDocument/2006/relationships/slide" Target="/ppt/slides/slide19.xml" Id="R67d84e65ed2941a9" /><Relationship Type="http://schemas.openxmlformats.org/officeDocument/2006/relationships/slide" Target="/ppt/slides/slide20.xml" Id="R3146dbab6066473b" /><Relationship Type="http://schemas.openxmlformats.org/officeDocument/2006/relationships/slide" Target="/ppt/slides/slide21.xml" Id="R68e7f0486d8d4f54" /><Relationship Type="http://schemas.openxmlformats.org/officeDocument/2006/relationships/slide" Target="/ppt/slides/slide22.xml" Id="Ree8f779a6ad943a5" /><Relationship Type="http://schemas.openxmlformats.org/officeDocument/2006/relationships/slide" Target="/ppt/slides/slide23.xml" Id="R56556d657f924352" /><Relationship Type="http://schemas.openxmlformats.org/officeDocument/2006/relationships/slide" Target="/ppt/slides/slide24.xml" Id="R347ab58ce5584223" /><Relationship Type="http://schemas.openxmlformats.org/officeDocument/2006/relationships/slide" Target="/ppt/slides/slide25.xml" Id="R90519ae76e864c9c" /><Relationship Type="http://schemas.openxmlformats.org/officeDocument/2006/relationships/slide" Target="/ppt/slides/slide26.xml" Id="Rd7c69ed1917d4358" /><Relationship Type="http://schemas.openxmlformats.org/officeDocument/2006/relationships/slide" Target="/ppt/slides/slide27.xml" Id="Rb354c828bf9940a6" /><Relationship Type="http://schemas.openxmlformats.org/officeDocument/2006/relationships/slide" Target="/ppt/slides/slide28.xml" Id="Re1899ba99894493a" /><Relationship Type="http://schemas.openxmlformats.org/officeDocument/2006/relationships/slide" Target="/ppt/slides/slide29.xml" Id="R703bca463a634a5f" /><Relationship Type="http://schemas.openxmlformats.org/officeDocument/2006/relationships/slide" Target="/ppt/slides/slide30.xml" Id="Ra9005499ae714841" /><Relationship Type="http://schemas.openxmlformats.org/officeDocument/2006/relationships/slide" Target="/ppt/slides/slide31.xml" Id="Rd0cc2531c71c468e" /><Relationship Type="http://schemas.openxmlformats.org/officeDocument/2006/relationships/slide" Target="/ppt/slides/slide32.xml" Id="R2648e96936c74ebf" /><Relationship Type="http://schemas.openxmlformats.org/officeDocument/2006/relationships/slide" Target="/ppt/slides/slide33.xml" Id="R5211903780654b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27f60e1cca4c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063fbc69104dd7" /><Relationship Type="http://schemas.openxmlformats.org/officeDocument/2006/relationships/notesMaster" Target="/ppt/notesMasters/notesMaster1.xml" Id="Re981364c2bb444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3db7a2fad940be" /><Relationship Type="http://schemas.openxmlformats.org/officeDocument/2006/relationships/notesMaster" Target="/ppt/notesMasters/notesMaster1.xml" Id="Re36669da7b0a4b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b2baa0ba404b84" /><Relationship Type="http://schemas.openxmlformats.org/officeDocument/2006/relationships/notesMaster" Target="/ppt/notesMasters/notesMaster1.xml" Id="R5dcc9922954e49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039c3d6aa0406f" /><Relationship Type="http://schemas.openxmlformats.org/officeDocument/2006/relationships/notesMaster" Target="/ppt/notesMasters/notesMaster1.xml" Id="R1e3daa3e670349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520200e17145cb" /><Relationship Type="http://schemas.openxmlformats.org/officeDocument/2006/relationships/notesMaster" Target="/ppt/notesMasters/notesMaster1.xml" Id="R590d0ca9f26c45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fb92001d76449b" /><Relationship Type="http://schemas.openxmlformats.org/officeDocument/2006/relationships/notesMaster" Target="/ppt/notesMasters/notesMaster1.xml" Id="R5d71494c395940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fcc4c082de4054" /><Relationship Type="http://schemas.openxmlformats.org/officeDocument/2006/relationships/notesMaster" Target="/ppt/notesMasters/notesMaster1.xml" Id="R87defae5d54243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2c4376bf63444f" /><Relationship Type="http://schemas.openxmlformats.org/officeDocument/2006/relationships/notesMaster" Target="/ppt/notesMasters/notesMaster1.xml" Id="R4d18492c995a48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ca770a22654fd5" /><Relationship Type="http://schemas.openxmlformats.org/officeDocument/2006/relationships/notesMaster" Target="/ppt/notesMasters/notesMaster1.xml" Id="R95821466f93148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e2a24f7eed447f" /><Relationship Type="http://schemas.openxmlformats.org/officeDocument/2006/relationships/notesMaster" Target="/ppt/notesMasters/notesMaster1.xml" Id="Rbc41eaff02d34a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f72cc36a594fb9" /><Relationship Type="http://schemas.openxmlformats.org/officeDocument/2006/relationships/notesMaster" Target="/ppt/notesMasters/notesMaster1.xml" Id="Radbaece2f8d743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c63cb8cebf44bc" /><Relationship Type="http://schemas.openxmlformats.org/officeDocument/2006/relationships/notesMaster" Target="/ppt/notesMasters/notesMaster1.xml" Id="R94007d566caf4b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93de0a6e3740b6" /><Relationship Type="http://schemas.openxmlformats.org/officeDocument/2006/relationships/notesMaster" Target="/ppt/notesMasters/notesMaster1.xml" Id="Rb01061fe612b4d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9a0d47528246ad" /><Relationship Type="http://schemas.openxmlformats.org/officeDocument/2006/relationships/notesMaster" Target="/ppt/notesMasters/notesMaster1.xml" Id="R13c20d5183ac44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7a39624fc44c87" /><Relationship Type="http://schemas.openxmlformats.org/officeDocument/2006/relationships/notesMaster" Target="/ppt/notesMasters/notesMaster1.xml" Id="R1f76bd131dc047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1ccdc214d94a04" /><Relationship Type="http://schemas.openxmlformats.org/officeDocument/2006/relationships/notesMaster" Target="/ppt/notesMasters/notesMaster1.xml" Id="R74aae9ed9dcf405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2d318fc6a940f0" /><Relationship Type="http://schemas.openxmlformats.org/officeDocument/2006/relationships/notesMaster" Target="/ppt/notesMasters/notesMaster1.xml" Id="R259b742b10514a6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49c6e5092a74a4d" /><Relationship Type="http://schemas.openxmlformats.org/officeDocument/2006/relationships/notesMaster" Target="/ppt/notesMasters/notesMaster1.xml" Id="R2c5dea2b8cfe48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e7737dd3ba84afd" /><Relationship Type="http://schemas.openxmlformats.org/officeDocument/2006/relationships/notesMaster" Target="/ppt/notesMasters/notesMaster1.xml" Id="R190b0a62130147c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1037c00230045a9" /><Relationship Type="http://schemas.openxmlformats.org/officeDocument/2006/relationships/notesMaster" Target="/ppt/notesMasters/notesMaster1.xml" Id="Rf4183ac2ea714e1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405b4c909254157" /><Relationship Type="http://schemas.openxmlformats.org/officeDocument/2006/relationships/notesMaster" Target="/ppt/notesMasters/notesMaster1.xml" Id="Re062037af07147f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25e3da23a064f00" /><Relationship Type="http://schemas.openxmlformats.org/officeDocument/2006/relationships/notesMaster" Target="/ppt/notesMasters/notesMaster1.xml" Id="R3beb4112f9d049c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e3ef58722474fb2" /><Relationship Type="http://schemas.openxmlformats.org/officeDocument/2006/relationships/notesMaster" Target="/ppt/notesMasters/notesMaster1.xml" Id="R3cd12b95a2e44e4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5e89dff880f4dfa" /><Relationship Type="http://schemas.openxmlformats.org/officeDocument/2006/relationships/notesMaster" Target="/ppt/notesMasters/notesMaster1.xml" Id="R01705f235a23408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435ceacffcf4897" /><Relationship Type="http://schemas.openxmlformats.org/officeDocument/2006/relationships/notesMaster" Target="/ppt/notesMasters/notesMaster1.xml" Id="Re7ad79c4a12e4e5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d1c34cfef654671" /><Relationship Type="http://schemas.openxmlformats.org/officeDocument/2006/relationships/notesMaster" Target="/ppt/notesMasters/notesMaster1.xml" Id="R2cc6273957ce478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4dc0a4a1cf447e5" /><Relationship Type="http://schemas.openxmlformats.org/officeDocument/2006/relationships/notesMaster" Target="/ppt/notesMasters/notesMaster1.xml" Id="R1e0691aa3aec48c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17ac9a7b25346d8" /><Relationship Type="http://schemas.openxmlformats.org/officeDocument/2006/relationships/notesMaster" Target="/ppt/notesMasters/notesMaster1.xml" Id="R92a7fced27c249c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f2d641fd80f4a0d" /><Relationship Type="http://schemas.openxmlformats.org/officeDocument/2006/relationships/notesMaster" Target="/ppt/notesMasters/notesMaster1.xml" Id="R876b003ef2e34d1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59a64fa7799478e" /><Relationship Type="http://schemas.openxmlformats.org/officeDocument/2006/relationships/notesMaster" Target="/ppt/notesMasters/notesMaster1.xml" Id="Rfcc3cf316f58480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93ebd97c1584f93" /><Relationship Type="http://schemas.openxmlformats.org/officeDocument/2006/relationships/notesMaster" Target="/ppt/notesMasters/notesMaster1.xml" Id="Rbbfd08e498f4468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e29397839674d40" /><Relationship Type="http://schemas.openxmlformats.org/officeDocument/2006/relationships/notesMaster" Target="/ppt/notesMasters/notesMaster1.xml" Id="R059a77a5f5fa423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6455502f1db476a" /><Relationship Type="http://schemas.openxmlformats.org/officeDocument/2006/relationships/notesMaster" Target="/ppt/notesMasters/notesMaster1.xml" Id="R8aa2c5d9aa7d49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本週作為評量前整合單元，將前面資產、平台、錢包、BaaS與金融應用連結到監理與管理決策。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同一個代幣可能同時涉及多種活動，也可能受不同法律規範。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法律通常採實質判斷：看經濟功能、承諾與風險，而非行銷名稱。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形式可以創新，但投資人保護、市場誠信與金融穩定目標仍存在。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另外還包含資安韌性、競爭、個資、稅務與貨幣主權。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責任判斷看實際控制與功能，不只看是否宣稱DAO。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監理落差會誘發業者選擇規則較弱的地區，形成監理套利。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FSB 2025同儕檢視認為已有進展，但重大缺口與不一致仍在。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https://www.fsb.org/2025/10/thematic-review-on-fsb-global-regulatory-framework-for-crypto-asset-activities/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試辦的價值在於把未知風險轉成可觀察、可調整的證據。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另須看資安、洗錢、行為、模型及金融穩定風險。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垂直整合提高便利性，也可能讓同一機構同時當裁判與選手。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只使用不同地址，不一定已完成法律上的信託或破產隔離。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價格接近一元是市場結果；可信的穩定機制需要法律權利與資產支持。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鏈上資料增加可觀察性，但地址不等於真實身分。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FATF 2025指出已有99個司法管轄區通過或正推動Travel Rule立法，但實作仍需加強。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https://www.fatf-gafi.org/en/publications/Fatfrecommendations/targeted-update-virtual-assets-vasps-2025.html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應結合客戶資料、人工調查與風險相稱處置。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洗錢防制法第6條建立VASP登記與服務限制。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https://law.fsc.gov.tw/LawContent.aspx?id=FL006664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合規不是填一次表格，而是持續維持服務能力與控制。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https://law.fsc.gov.tw/LawContentSearch.aspx?id=GL004000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買到好的資產仍可能因平台倒閉或操作失誤而損失。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還需查核團隊、程式碼、財務資料、合約與第三方證據。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高APY不是產品說明；若無法解釋誰付款，就無法評估風險。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PoC成功不等於值得規模化；管理者應避免沉沒成本偏誤。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即使機率難估，也要用情境與壓力測試理解尾端損失。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公開溝通要即時且準確，避免在事實未確認前做過度承諾。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中間還要辨識參與者與資料；技術選擇應出現在問題定義之後。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學生應提出有條件決策，並明確指出哪項證據會改變結論。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四項同時成立，區塊鏈創新才可能長期進入金融體系。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5af352a9f4a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2f1771752f4e38" /><Relationship Type="http://schemas.openxmlformats.org/officeDocument/2006/relationships/slideLayout" Target="/ppt/slideLayouts/slideLayout1.xml" Id="R98991e62579740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991e62579740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f477cb6a3429d" /><Relationship Type="http://schemas.openxmlformats.org/officeDocument/2006/relationships/notesSlide" Target="/ppt/notesSlides/notesSlide1.xml" Id="Rcb2feb045f7847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9c6ddf3bb4ca3" /><Relationship Type="http://schemas.openxmlformats.org/officeDocument/2006/relationships/notesSlide" Target="/ppt/notesSlides/notesSlide2.xml" Id="Recd6ff9714d747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193709d96460e" /><Relationship Type="http://schemas.openxmlformats.org/officeDocument/2006/relationships/notesSlide" Target="/ppt/notesSlides/notesSlide3.xml" Id="R3580501c802d43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87804f3844a8b" /><Relationship Type="http://schemas.openxmlformats.org/officeDocument/2006/relationships/notesSlide" Target="/ppt/notesSlides/notesSlide4.xml" Id="R4a086620abc748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d7e1a6c924f3a" /><Relationship Type="http://schemas.openxmlformats.org/officeDocument/2006/relationships/notesSlide" Target="/ppt/notesSlides/notesSlide5.xml" Id="Raed30bc0fccb46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061731c514d5e" /><Relationship Type="http://schemas.openxmlformats.org/officeDocument/2006/relationships/notesSlide" Target="/ppt/notesSlides/notesSlide6.xml" Id="Re4ac9f0306c54b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e329aaa4e40b7" /><Relationship Type="http://schemas.openxmlformats.org/officeDocument/2006/relationships/notesSlide" Target="/ppt/notesSlides/notesSlide7.xml" Id="Rbb0b1e3b13d141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d2b720e6f4d3d" /><Relationship Type="http://schemas.openxmlformats.org/officeDocument/2006/relationships/notesSlide" Target="/ppt/notesSlides/notesSlide8.xml" Id="R88e994e37ac341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a96a4e39d4dda" /><Relationship Type="http://schemas.openxmlformats.org/officeDocument/2006/relationships/notesSlide" Target="/ppt/notesSlides/notesSlide9.xml" Id="Rbee5b539a4004f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cd3c9dc9d4ac1" /><Relationship Type="http://schemas.openxmlformats.org/officeDocument/2006/relationships/notesSlide" Target="/ppt/notesSlides/notesSlide10.xml" Id="Rd789c165ca4e45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f645a3e2145f3" /><Relationship Type="http://schemas.openxmlformats.org/officeDocument/2006/relationships/notesSlide" Target="/ppt/notesSlides/notesSlide11.xml" Id="R35bb795cbe264f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2132ac6664321" /><Relationship Type="http://schemas.openxmlformats.org/officeDocument/2006/relationships/notesSlide" Target="/ppt/notesSlides/notesSlide12.xml" Id="Rd17d1a384f0f41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946e653694dcb" /><Relationship Type="http://schemas.openxmlformats.org/officeDocument/2006/relationships/notesSlide" Target="/ppt/notesSlides/notesSlide13.xml" Id="R110d91fbe02146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0da4beeb64722" /><Relationship Type="http://schemas.openxmlformats.org/officeDocument/2006/relationships/notesSlide" Target="/ppt/notesSlides/notesSlide14.xml" Id="R3f41aa2c0a5a43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aba2aec124e24" /><Relationship Type="http://schemas.openxmlformats.org/officeDocument/2006/relationships/notesSlide" Target="/ppt/notesSlides/notesSlide15.xml" Id="R717c1dbcf915418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ffd8261f7443a" /><Relationship Type="http://schemas.openxmlformats.org/officeDocument/2006/relationships/notesSlide" Target="/ppt/notesSlides/notesSlide16.xml" Id="R2f73b40cbdad4d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95ad8aac44918" /><Relationship Type="http://schemas.openxmlformats.org/officeDocument/2006/relationships/notesSlide" Target="/ppt/notesSlides/notesSlide17.xml" Id="R7d25fcec0d5c4a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def9f69e24525" /><Relationship Type="http://schemas.openxmlformats.org/officeDocument/2006/relationships/notesSlide" Target="/ppt/notesSlides/notesSlide18.xml" Id="R370347eaea1d440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ec13afcd94622" /><Relationship Type="http://schemas.openxmlformats.org/officeDocument/2006/relationships/notesSlide" Target="/ppt/notesSlides/notesSlide19.xml" Id="R34a62e747ca64a1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c5187478446c2" /><Relationship Type="http://schemas.openxmlformats.org/officeDocument/2006/relationships/notesSlide" Target="/ppt/notesSlides/notesSlide20.xml" Id="R0934fa03d80245b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558a43e8a42c0" /><Relationship Type="http://schemas.openxmlformats.org/officeDocument/2006/relationships/notesSlide" Target="/ppt/notesSlides/notesSlide21.xml" Id="R8c2ab785d566414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e0b2a36b140e9" /><Relationship Type="http://schemas.openxmlformats.org/officeDocument/2006/relationships/notesSlide" Target="/ppt/notesSlides/notesSlide22.xml" Id="R0fda143e5f2a4dc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08f1c34e340ae" /><Relationship Type="http://schemas.openxmlformats.org/officeDocument/2006/relationships/notesSlide" Target="/ppt/notesSlides/notesSlide23.xml" Id="R33f287613b27458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bf741395c4ec9" /><Relationship Type="http://schemas.openxmlformats.org/officeDocument/2006/relationships/notesSlide" Target="/ppt/notesSlides/notesSlide24.xml" Id="R7a9999db4cd34a2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22a2d072b47df" /><Relationship Type="http://schemas.openxmlformats.org/officeDocument/2006/relationships/notesSlide" Target="/ppt/notesSlides/notesSlide25.xml" Id="R2544ce15addb4d8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5c93321da4be2" /><Relationship Type="http://schemas.openxmlformats.org/officeDocument/2006/relationships/notesSlide" Target="/ppt/notesSlides/notesSlide26.xml" Id="Re3830c9e4b00477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2c66e5b34498b" /><Relationship Type="http://schemas.openxmlformats.org/officeDocument/2006/relationships/notesSlide" Target="/ppt/notesSlides/notesSlide27.xml" Id="Rb3e3b334033c476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8af579f834e54" /><Relationship Type="http://schemas.openxmlformats.org/officeDocument/2006/relationships/notesSlide" Target="/ppt/notesSlides/notesSlide28.xml" Id="Ra0a0a92f33664b6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66428cb8f4985" /><Relationship Type="http://schemas.openxmlformats.org/officeDocument/2006/relationships/notesSlide" Target="/ppt/notesSlides/notesSlide29.xml" Id="Rfdc87a18a52d4de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5402cb7d84615" /><Relationship Type="http://schemas.openxmlformats.org/officeDocument/2006/relationships/notesSlide" Target="/ppt/notesSlides/notesSlide30.xml" Id="R9c70a17e92e8450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b85de32dc4cdc" /><Relationship Type="http://schemas.openxmlformats.org/officeDocument/2006/relationships/notesSlide" Target="/ppt/notesSlides/notesSlide31.xml" Id="R4961919040734e9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ac7daa0654da1" /><Relationship Type="http://schemas.openxmlformats.org/officeDocument/2006/relationships/notesSlide" Target="/ppt/notesSlides/notesSlide32.xml" Id="Ra8c84987215544f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d0feb69214db5" /><Relationship Type="http://schemas.openxmlformats.org/officeDocument/2006/relationships/notesSlide" Target="/ppt/notesSlides/notesSlide33.xml" Id="R2b251254f57049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73573-E6E2-4389-B9BF-F644E978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區塊鏈概論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F9152-A001-4E1A-8123-C223508D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85875"/>
            <a:ext cx="11239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Week 16</a:t>
            </a:r>
          </a:p>
          <a:p xmlns:a="http://schemas.openxmlformats.org/drawingml/2006/main">
            <a:pPr algn="l">
              <a:defRPr sz="4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數位資產監理、風險與決策整合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B089D-1744-46EE-A403-836218B7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5295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把技術、金融、法規與消費者保護放進同一張決策圖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5E371-F00F-4B71-B458-1D64F22A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第一節：監理不是禁止創新，而是分配責任</a:t>
            </a:r>
          </a:p>
        </p:txBody>
      </p:sp>
    </p:spTree>
    <p:extLst>
      <p:ext uri="{BB962C8B-B14F-4D97-AF65-F5344CB8AC3E}">
        <p14:creationId xmlns:p14="http://schemas.microsoft.com/office/powerpoint/2010/main" val="11152713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FDFA6-8D0A-45FB-AA71-B587506C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第一節｜監理邏輯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3E192-20D9-4B3B-B99F-00244703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監理關注的是活動造成的風險，不只是技術名稱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342C1-093D-4AD6-8E29-35696C8A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46120-70D9-4281-A2B5-2EAC38E9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16｜第一節｜監理邏輯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24B45-9891-4276-87B1-3502EBBF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507D3-8AD9-4CE5-8855-9B7D6B0D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87563-017A-48C7-A34B-DE6AC72E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發行 Issuance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14F30-A560-48D3-AF9D-741BCEA4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誰創造資產、承諾什麼權利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F76B9-EC31-4D49-BBB2-FE40C531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4D271-1773-4064-B899-A8FCC65D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 Trading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31E1A-A32F-4027-A150-18F6E391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價格形成、市場操縱與利益衝突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7F41F-41EC-4C88-B5E1-41E07282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11286-7A7A-482C-8EA7-7D7BD5B8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保管 Custody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F5275-ADB8-4DB4-BD90-5E8E534F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誰控制金鑰、如何返還客戶資產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B6EDF-A58D-412B-947D-7E4A09BC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AC874-7E97-467B-9308-1F6173C1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移轉 Transfer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AFBA4-7EA8-42BE-B9F8-F6BF7D2F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身分、洗錢風險與跨境資訊</a:t>
            </a:r>
          </a:p>
        </p:txBody>
      </p:sp>
    </p:spTree>
    <p:extLst>
      <p:ext uri="{BB962C8B-B14F-4D97-AF65-F5344CB8AC3E}">
        <p14:creationId xmlns:p14="http://schemas.microsoft.com/office/powerpoint/2010/main" val="1628711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CB68A-ABCC-4FC5-85B2-22584A3E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第一節｜監理邏輯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4FB12-8B88-4C1D-8CED-1BCAA25F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先分類法律權利，再討論代幣使用的技術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F2355-8D78-450D-9D45-E6DE8246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356F9-18D0-47AA-82F2-F6D2C740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16｜第一節｜監理邏輯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24F46-DC26-4DC3-BF49-C6A2D67A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80A34-7124-4889-A9E5-E2DF3513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0F11D-B7D1-47DA-8DE2-DE73E202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B83EC-5A42-4EDE-8E44-8E0607E1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需要辨識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2BD91-DC20-4623-B399-74AEEBA3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是否代表證券或投資契約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是否承諾按面額贖回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是否屬支付工具或銀行負債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是否只有使用權或治理權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5FCB4-B2B0-4D2A-983E-2DC3979F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不能只依名稱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2BBB3-95D5-4E03-BA5E-3C9DC5B5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Utility token不一定只有使用功能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Stablecoin不一定價格永遠穩定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DAO不一定沒有控制人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NFT不一定完全不具金融性</a:t>
            </a:r>
          </a:p>
        </p:txBody>
      </p:sp>
    </p:spTree>
    <p:extLst>
      <p:ext uri="{BB962C8B-B14F-4D97-AF65-F5344CB8AC3E}">
        <p14:creationId xmlns:p14="http://schemas.microsoft.com/office/powerpoint/2010/main" val="1098441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B6E8B-E7E0-4213-A4F1-4CD061CB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第一節｜監理邏輯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71165-AADB-49EA-81C5-BEAED836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相同活動、相同風險、相同監理結果是重要原則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3D65C-E1B4-418C-8A37-815B1713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42B5A-8CB8-421B-B0E6-051F046E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16｜第一節｜監理邏輯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E42D9-5592-4597-AC77-B2271610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4EC01-9460-4FBE-8AA1-F2FB099B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13751-0BEA-4426-AF4C-767DA04F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功能中立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F08E1-262A-423E-8A1E-C7222C6C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不因使用區塊鏈就自動享有豁免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53BD2-90CF-48EA-848F-9331F283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571B6-E176-4D72-9A17-264BE8C2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風險相稱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59375-FD22-450F-9131-5BE0E5B3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規則強度配合規模、客群與危害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5E52F-913D-47E4-9CAC-F16E0DFC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E6D51-CD61-4898-B257-FE970E7B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技術中立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67286-7F48-4890-B121-75401CEA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監理目標不綁定單一技術方案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CBAD1-B0F2-4DB1-B580-D6873650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D2E70-6F8A-4CE1-ADCF-3BEEC6D1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結果一致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BD19C-CAF8-4577-A529-EA8F2660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避免傳統與加密市場監理套利</a:t>
            </a:r>
          </a:p>
        </p:txBody>
      </p:sp>
    </p:spTree>
    <p:extLst>
      <p:ext uri="{BB962C8B-B14F-4D97-AF65-F5344CB8AC3E}">
        <p14:creationId xmlns:p14="http://schemas.microsoft.com/office/powerpoint/2010/main" val="14528862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3D6347-BD70-4686-892D-D4134AEF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第一節｜監理邏輯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5C8DE-7AE0-4857-BDB1-1B54961E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監理通常同時追求六個公共目標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4C799-631A-4F9D-88F8-B60F7401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87940-D21D-44DB-847D-41073C17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16｜第一節｜監理邏輯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B83DA-3CC8-4DE9-BEA9-CDC03EB8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E3A4A-5DF5-4F99-A043-C11A12E0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996E2-FA0C-43D1-9144-AF9E53B3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金融誠信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A3817-40FB-472A-AE39-E998EFEE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防制洗錢、資恐與制裁規避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6DB10-E732-4598-B1F5-CEB7240B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97239-271B-4CAE-A4BF-716B770B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市場誠信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DFCE3-46FC-4ED0-963C-E59EB626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抑制操縱、內線與不公平交易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7715E-9EFF-4013-A2B1-620DFE49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3B8B0-1A4D-4753-A6DA-56C135A4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消費者保護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8CEF1-FBFC-4158-A033-122A72CF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資訊、資產、申訴與適合度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618F0-47F6-4E75-AD88-C981EC40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2EE12F-AA08-47EE-86FD-03B92FC4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金融穩定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BF9F0-1403-49F4-9109-858A60EA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降低擠兌、槓桿與傳染風險</a:t>
            </a:r>
          </a:p>
        </p:txBody>
      </p:sp>
    </p:spTree>
    <p:extLst>
      <p:ext uri="{BB962C8B-B14F-4D97-AF65-F5344CB8AC3E}">
        <p14:creationId xmlns:p14="http://schemas.microsoft.com/office/powerpoint/2010/main" val="5257876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2FEA7-5B5E-44AF-80D0-98FF00B4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第一節｜監理邏輯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6FBA0-49BF-4509-A064-4BAA8114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去中心化不代表沒有可辨識的責任主體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ED620-C492-495A-B111-F75A5854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101C8-0FE3-443F-9A41-79D1C9C6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16｜第一節｜監理邏輯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4AB50-B203-4277-82C7-599A6C60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E7A97-A05C-4EDF-872B-34414015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EDFCF-77F8-484C-B3B3-FA9063E2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6DD50-9426-4AC2-9692-BA4CB5F7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可能的控制者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E50BA-3B90-43AF-B227-C7A4603D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開發與升級金鑰持有人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前端網站與品牌營運者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治理代幣集中持有人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Oracle、橋接與流動性提供者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446AD-63A8-4D8C-A151-7151FD07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判斷問題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94C34-D9A1-4CA9-863F-91256A4F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誰能改規則或停止服務？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誰收費並取得經濟利益？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使用者依賴誰的介面與承諾？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發生損失時誰能補救？</a:t>
            </a:r>
          </a:p>
        </p:txBody>
      </p:sp>
    </p:spTree>
    <p:extLst>
      <p:ext uri="{BB962C8B-B14F-4D97-AF65-F5344CB8AC3E}">
        <p14:creationId xmlns:p14="http://schemas.microsoft.com/office/powerpoint/2010/main" val="20055752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33741-2DA9-4C2E-AE99-D88C2624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第一節｜監理邏輯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29056-5035-4A41-831C-AF9392DF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跨境數位資產造成監理管轄與執法落差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FF2A7-5CE0-4F11-95A3-6760172D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750E3-6666-4338-9BBD-6FC9536C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16｜第一節｜監理邏輯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08BEB-FCFF-4494-9500-4C58527E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8AB0C-927C-48E3-AB7F-8533EB54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552FA-EE44-48BD-9FB1-1AD6AB60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服務所在地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46E15-8E28-4B03-892A-88B55611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公司、伺服器與團隊可能分散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450D9-2CF5-4E33-950F-B846E5A5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7B700-384E-41CE-9596-7875459D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客戶所在地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E0A39-51CF-4E8E-BED2-15195FC7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網站可同時接觸多國投資人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D632D2-BC66-4F1C-8D15-5DB1DAE5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59600-DD6D-425A-A2C9-FC79F44E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資產所在地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698399-6BF3-4BD0-9E10-F8AFC43B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鏈上資產難用傳統地域界定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7009D-6CCC-4909-9262-80D963FD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D46B2-4B6A-492C-B172-ABFDAC9E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執法合作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5A8C2-668D-4B4B-B291-BC93D82B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資料、凍結、追償需跨國協調</a:t>
            </a:r>
          </a:p>
        </p:txBody>
      </p:sp>
    </p:spTree>
    <p:extLst>
      <p:ext uri="{BB962C8B-B14F-4D97-AF65-F5344CB8AC3E}">
        <p14:creationId xmlns:p14="http://schemas.microsoft.com/office/powerpoint/2010/main" val="4220213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E395A-11E4-43F4-97A3-EEE3FF72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第一節｜監理邏輯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C34C8-9769-47AA-82C6-C30CDB64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全球框架已有共同方向，但2026年落實仍不一致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57A2C-F73C-4898-A249-5A4BC254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F9FE4-2652-41CD-BAD8-A7A30F4B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16｜第一節｜監理邏輯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F2491-DA1D-4724-B3F5-9CA7D068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F22F4-3AA5-4902-AE2B-5EF2036E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3D10A-559B-465A-A5C1-4A1E966C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5C1C7-ABFF-4633-A64B-2628C3C9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已形成的共識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B9924-1ECE-4C93-A94D-4BC423FD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完整監理服務商與穩定幣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治理、風險管理與資訊揭露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跨境合作與監理資料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依功能與風險公平監理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7A159-0D67-41F0-AE52-4D97577E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仍存在的缺口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AD41A-9562-4D03-AFA2-59C15DA9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法規完成度與範圍不同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穩定幣規則相對落後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境外業者與DeFi邊界難處理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資料品質阻礙風險監測</a:t>
            </a:r>
          </a:p>
        </p:txBody>
      </p:sp>
    </p:spTree>
    <p:extLst>
      <p:ext uri="{BB962C8B-B14F-4D97-AF65-F5344CB8AC3E}">
        <p14:creationId xmlns:p14="http://schemas.microsoft.com/office/powerpoint/2010/main" val="10517738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2B87F-98F1-4A53-B9CD-4D469D75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第一節｜監理邏輯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6FAF8-4D82-41FE-B33C-A1495165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監理沙盒與業務試辦是受控學習，不是免責區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65A62-9DEC-4B65-9ECC-5C4DD5AA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82762-F786-4EE7-A537-BDBA3BBC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16｜第一節｜監理邏輯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406EC-4977-42AB-84BD-A5F23D56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889C4-459C-4BB0-A7BC-6206B0CD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ADE5A-6289-4A13-B8A6-3CCE9DF9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6737B-CB4E-4752-8E90-646734F4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可以提供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92142-F797-48F2-B2FE-B0C29389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限定期間、客群與規模測試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監理機關提早理解新模式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業者驗證需求與控制措施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累積修法與正式許可證據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8B4B1-6AB0-4553-9363-36F74D1E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不代表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25BEC-B35D-46D5-B6B5-1A698CCC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產品已獲政府背書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可以忽略消費者權益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試辦後必然取得正式許可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所有損失由參與者自行承擔</a:t>
            </a:r>
          </a:p>
        </p:txBody>
      </p:sp>
    </p:spTree>
    <p:extLst>
      <p:ext uri="{BB962C8B-B14F-4D97-AF65-F5344CB8AC3E}">
        <p14:creationId xmlns:p14="http://schemas.microsoft.com/office/powerpoint/2010/main" val="18508110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D9CDF-2E59-4EB3-BD65-BC0E45BB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第一節｜監理邏輯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6298B-887E-457E-8482-3CF0D72B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成熟監理應讓創新者知道最低責任與退出條件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08C35-CF09-4135-B736-537B766E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469BC-FD22-4C4B-AB4B-85E7F3E5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16｜第一節｜監理邏輯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45003-4275-4EC0-8760-5C6584D8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82352-42C7-4144-A70E-1DB0DEE1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好的規則不是保證所有產品安全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240A3-0BFC-4DE5-908D-FC28CB75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而是明確誰需取得資格、保存哪些資料、保護哪些客戶資產、揭露哪些風險，以及違規或失敗時如何處理。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5935C-BDDB-4933-9714-032E5733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2A644-76F2-4976-A733-84FA1155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8233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金融管理者要能把產品功能翻譯成受監理活動，而不是問『區塊鏈是否合法』這種過度簡化的問題。</a:t>
            </a:r>
          </a:p>
        </p:txBody>
      </p:sp>
    </p:spTree>
    <p:extLst>
      <p:ext uri="{BB962C8B-B14F-4D97-AF65-F5344CB8AC3E}">
        <p14:creationId xmlns:p14="http://schemas.microsoft.com/office/powerpoint/2010/main" val="18821742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EC03AB-D949-4F09-A830-25C840C7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36434-ABEF-4B1B-B01E-C613121A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26FDC-737D-4AEB-A02F-03A10159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CDF3E-BE19-4B8F-88C2-C7B45B59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16｜第一節｜快問快答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F9879-2608-4253-8F7E-A1CE02AD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0B37E-6C6D-4F14-8F81-11C8783B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0D044-519C-4E88-A6CF-ED10F952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0D2F0-C781-44D0-B62A-87AD4465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8350A-05F3-47E4-9D04-F7E15D06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16｜第一節｜快問快答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3190C-2068-494C-8BE8-AF1D703A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B8197-B2A8-4B92-B074-3FB062F3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監理首先看什麼？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789C6-34B7-4DB3-84DF-F19B9A7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技術名稱　B 經濟活動、權利與風險　C Logo　D 粉絲數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3DD23-8FF1-4BBA-B349-ADB7D207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C56A9-ACF5-4EF6-B0C2-68FA624A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答案：B。採實質而非名稱判斷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2F0B2-1808-4863-9893-B9BCB469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自稱Utility token就不受監理嗎？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9CA9C-EA8E-4CEF-A946-65C77445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一定　B 不一定　C 只要白皮書即可　D 只要上鏈即可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85998-BF01-4E32-9D7A-E569C311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6B16A6-4241-4A6C-94CE-5BE25AEB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227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答案：B。要看實際權利與銷售方式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FAA96-1FCB-4D89-BAFA-34FAEBE7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去中心化等於無責任人嗎？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768505-8C9A-42AA-A501-56E93596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只有DAO是　D 只有公有鏈是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A5568A-7135-4BA7-9173-65FFB54B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CB2F38-1557-4484-95E5-A4ACA69C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答案：B。仍可看控制與利益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817B2D-3322-4B51-B1FC-A5D11753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監理套利來自？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2F88B0-018F-4D5A-8B9B-5434A92E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各地規則落差　B 區塊高度　C 私鑰長度　D 礦工數量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46361-7C99-4161-BB84-A837CCCC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6EFD5C-A829-4BA5-BEDB-EB225F60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12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答案：A。跨境業者選擇較弱規則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75B194-BD1B-45FC-9BC1-442BF8E3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沙盒代表政府保證獲利嗎？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EEC732-97D8-4FF4-9AAB-9A86C203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只保證本金　D 只保證穩定幣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67B974-6711-43EB-8C6A-B10C5316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7EA50D-4DED-463F-B630-DA05886D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答案：B。只是受控試驗</a:t>
            </a:r>
          </a:p>
        </p:txBody>
      </p:sp>
    </p:spTree>
    <p:extLst>
      <p:ext uri="{BB962C8B-B14F-4D97-AF65-F5344CB8AC3E}">
        <p14:creationId xmlns:p14="http://schemas.microsoft.com/office/powerpoint/2010/main" val="21277134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164F6A-E58A-4216-812F-1882BAD7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第二節｜風險控制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1FAEF-C29F-4846-889B-66E964CD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數位資產風險要用完整分類，不能只說價格波動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CE814-F649-4750-996F-D891F2A4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7AFC5-4E30-48DC-94A8-DB2AB68F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16｜第二節｜風險控制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B5311-DD1B-48AA-95A4-CC47E89D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9EC6D-69BF-4E86-95DC-B8B949E8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31550-AFA1-4E99-81D7-24BC5D65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市場風險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929FD-9814-4DA1-8DEC-7B3B4313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價格、利率、匯率、流動性與集中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36516-B4DA-445B-82D9-C3AD1123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4C837-873F-48CA-9FD8-353F9634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信用風險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9B8A9-859E-464A-9185-51AA7723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發行人、借款人、對手方與儲備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F5076-08D2-4706-9D0D-E076A8F7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47C0F-6931-4E70-BE52-F87C7BAE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作業風險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76E8B-4655-4EAF-A59A-94B8E79F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人員、流程、系統、金鑰與第三方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A86E1-A735-451A-8CB8-07EFC4DB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763CB-7E79-4B96-B62C-93B4626E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法律風險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860F9-A513-45CF-9915-D2B2A0AA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權利不明、契約無效與跨境執行</a:t>
            </a:r>
          </a:p>
        </p:txBody>
      </p:sp>
    </p:spTree>
    <p:extLst>
      <p:ext uri="{BB962C8B-B14F-4D97-AF65-F5344CB8AC3E}">
        <p14:creationId xmlns:p14="http://schemas.microsoft.com/office/powerpoint/2010/main" val="3808404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50942-F4C3-4874-9440-D7AA32D0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第二節｜風險控制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39DB8-91F6-4516-AEEC-806BCA74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平台同時扮演多種角色時，利益衝突會累積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3567D-7776-4DD2-9BCC-06A38DBE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F2A00-7A45-4302-9404-4FA99879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16｜第二節｜風險控制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8DBEC-DE79-4092-9074-07F54B4A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22818-B6A5-4AFE-BFF4-713D5A93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A56A3-144E-4E9D-BEA4-9FAAEFC0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8827B-F870-4192-9C85-EE1F62E9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可能同時從事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C30F3-30C7-4A87-8333-EA8FD51C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發行與上架審查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交易撮合與自營交易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保管客戶資產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借貸、質押與做市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C1E0B-9A63-4E97-897A-6E5064B2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需要控制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74C67-FFD9-4B2B-9321-6FDB2FD8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角色與資產隔離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利益衝突揭露與限制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公平交易及市場監視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獨立稽核與管理責任</a:t>
            </a:r>
          </a:p>
        </p:txBody>
      </p:sp>
    </p:spTree>
    <p:extLst>
      <p:ext uri="{BB962C8B-B14F-4D97-AF65-F5344CB8AC3E}">
        <p14:creationId xmlns:p14="http://schemas.microsoft.com/office/powerpoint/2010/main" val="10771492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1CFBC-6EC8-4F02-8BB8-3934526F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第二節｜風險控制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CD94D-26C6-4265-8EF5-72953DE4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客戶資產隔離要同時處理法律、帳務與技術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372DF-B4C9-4E03-9D02-69955821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C04FF-AB03-403D-96C4-F3D89AC0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16｜第二節｜風險控制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0A507-7649-4B10-A5C3-4EC29FB6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AF901-9783-4AED-94B5-C17308FC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2087F-2474-45DB-890C-1D84B1E0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法律隔離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231C7-A664-4A01-99D9-B009F1FB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破產時客戶資產不被一般債權人取走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4FD7C-606F-4E00-A7AC-A84EA0F1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7769E-DD37-4B32-9307-325B59A0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帳務隔離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B48E8-0E56-498B-8A41-22366804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客戶分戶帳與公司自有帳清楚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BE025-0CB6-4506-8A1B-BCB11840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17045-A429-4D2C-A4B8-F3A1E886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技術隔離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9048E-04DE-442F-961E-DD4AC809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地址、錢包與簽署權限有明確界線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8527F-3051-45ED-ACC6-1B7670BD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024F8-86A5-42F9-A0EF-E694A12E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營運隔離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8391D-D5D4-4CEE-AF21-CFBF2951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提款、調撥及例外有多人核准</a:t>
            </a:r>
          </a:p>
        </p:txBody>
      </p:sp>
    </p:spTree>
    <p:extLst>
      <p:ext uri="{BB962C8B-B14F-4D97-AF65-F5344CB8AC3E}">
        <p14:creationId xmlns:p14="http://schemas.microsoft.com/office/powerpoint/2010/main" val="67140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4C11C-8536-40A3-977D-B561127D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第二節｜風險控制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80AA6-675C-4AC8-9BF5-D7CD0452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穩定幣風險集中在儲備、贖回與信心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D6F0B-6855-45D8-B610-1DC6ACBB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6E568-F193-4336-9E19-6BFECCA0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16｜第二節｜風險控制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8E125-E323-4B1C-BEA8-B43E0B10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890C8-6F69-46BA-AFA7-1D1F1C8B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A2213-270D-4D5F-A5AE-FC8C7E74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儲備品質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DE499-5BDD-49F3-9B84-C7F61D87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現金與安全資產比例、期限與保管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E2B44-0558-4A86-B06B-A19A1532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72D41-0FDB-4372-B0CD-8FAD2E57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流動性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4D9D9-DF96-4BF9-969A-D12A8AF4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大量贖回時能否迅速變現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BA037-EC62-4AD0-8B2A-322CC768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DDAD9-6EFA-4CCF-86B4-5A5D542A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贖回權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51C84-608A-4A12-B988-1DDD3FA9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誰能按面額贖回、費用與時間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62AEA-A93A-4499-B9E2-9067F2F6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8F615-39C8-4EE5-9034-A34422B5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資訊透明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51230-30C2-494E-ACDF-4EEA64E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資產、負債與獨立確信頻率</a:t>
            </a:r>
          </a:p>
        </p:txBody>
      </p:sp>
    </p:spTree>
    <p:extLst>
      <p:ext uri="{BB962C8B-B14F-4D97-AF65-F5344CB8AC3E}">
        <p14:creationId xmlns:p14="http://schemas.microsoft.com/office/powerpoint/2010/main" val="19019321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FC8B1-ADE6-4675-A0E9-007BE645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第二節｜風險控制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A143F-D53A-4532-8CB1-8A9CEC9F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洗錢防制是以客戶、產品、地區與交易進行風險管理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81D62-7919-45EF-AAB6-63F8CF7A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35CAD-E31F-4095-B8D0-AA9BD79D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16｜第二節｜風險控制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35F5D-1A6A-48A2-A1CA-6A6B785D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A6EFA-E228-4258-83DF-50F3C6E6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C6633-374F-468D-979C-CF276AD4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客戶風險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32CD1-728A-4F59-B54E-8A8B65F0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身分、職業、資金來源與實質受益人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343B5-692F-4342-BC2F-29E83D32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949C3-0BFC-4EDC-8CDE-A403D803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產品風險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A4FB3-DF03-4EDD-AE9F-3361635D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匿名性、跨鏈、混幣與快速移轉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81EE4-C08F-4205-9495-4C40982A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4A662-CB33-4BB7-A324-F41CFEEB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地區風險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98874-AEF7-45F9-B6B3-9F9D6BBF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制裁、高風險國家與境外服務商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51ADD-991E-4590-836D-399D1F94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2D8EB5-4C85-43B5-9470-8D8C2617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交易風險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1FDBB-5A5D-453F-AA9A-9A9A1B96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金額、頻率、對手方與異常模式</a:t>
            </a:r>
          </a:p>
        </p:txBody>
      </p:sp>
    </p:spTree>
    <p:extLst>
      <p:ext uri="{BB962C8B-B14F-4D97-AF65-F5344CB8AC3E}">
        <p14:creationId xmlns:p14="http://schemas.microsoft.com/office/powerpoint/2010/main" val="13454894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69583-4E1C-41A8-B864-1A81B9EC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第二節｜風險控制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94300-092E-4D30-B336-96017B0F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Travel Rule要求移轉時傳遞必要的匯款人與受款人資訊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8368C-7161-447E-A35D-F2EE9306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DE52E-C36D-4305-B809-C88B27CE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16｜第二節｜風險控制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B3635-E678-4D94-A69B-D52D680D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6086A-D401-4388-BAE8-0EE4CE8D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E9700-4FD3-4A47-B4BD-CEDB748B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BC22F-7B85-4F51-ABE6-716B27B8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核心目的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38AF6-504C-41AE-A3C5-937EBE5D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讓虛擬資產移轉具備必要身分資訊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支援制裁、可疑交易與調查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使VASP間能辨識交易雙方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接近傳統電匯的資訊責任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1071C-D378-4E29-B5C9-4C0C6BC8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實務挑戰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A7B34-CB2A-4B0F-8D85-88D72E5F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各地門檻與格式不一致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非託管錢包缺少對方VASP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個資跨境傳輸與保存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姓名資料與鏈上地址如何配對</a:t>
            </a:r>
          </a:p>
        </p:txBody>
      </p:sp>
    </p:spTree>
    <p:extLst>
      <p:ext uri="{BB962C8B-B14F-4D97-AF65-F5344CB8AC3E}">
        <p14:creationId xmlns:p14="http://schemas.microsoft.com/office/powerpoint/2010/main" val="19284995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B6199-D207-4AD6-B1B9-E5841BA9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第二節｜風險控制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751B5-2A2A-4AB8-9625-86B3B8F6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鏈上分析提供風險線索，不是犯罪定罪工具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31D5D-6FE3-4028-85F0-50B81DE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82216-1D2D-40F8-8A27-E71EE6F7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16｜第二節｜風險控制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5A627-F4F0-43C9-A35B-528B09F6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346AC-9F05-433F-B61F-316630BB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A3551-F485-4054-BF28-C032E081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96EE0-FA8E-4DBA-905A-47A32F0E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可以協助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BDCE8-64B0-4606-8844-9B581CDA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追蹤資金流向與地址群聚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辨識與已知高風險服務的接觸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建立交易警示及調查優先順序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保留可重複檢視的鏈上證據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9FDE8-2D7D-4AD9-8065-B6A29152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重要限制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F0866-B01D-4CDE-BE98-F1BFC022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地址歸屬可能誤判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跨鏈、隱私工具與鏈下交易形成盲點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風險標籤可能過時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工具供應商方法不完全透明</a:t>
            </a:r>
          </a:p>
        </p:txBody>
      </p:sp>
    </p:spTree>
    <p:extLst>
      <p:ext uri="{BB962C8B-B14F-4D97-AF65-F5344CB8AC3E}">
        <p14:creationId xmlns:p14="http://schemas.microsoft.com/office/powerpoint/2010/main" val="21111415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2E8A0-36EC-428F-BBCD-1D65F024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第二節｜風險控制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308B1-FA0D-4F38-977B-08D38628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臺灣VASP未完成登記不得提供服務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1B035-8444-4811-B0E2-5B40E2A4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B0E58-7657-49A4-9619-CDDDAB4E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16｜第二節｜風險控制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F5D31-2960-4B24-9C4F-3CCC5272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3AA74-BDBA-4734-A329-B9161DC3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AB14F-29E1-4446-BBD9-329A1954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6CCD5-F864-4735-85CD-EC4AC82F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現行制度重點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91A79-D2E4-4DAC-8C86-862E18E5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境內業者須完成洗錢防制登記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境外業者須設公司或分公司並完成登記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規範上架、不公正交易與資產分離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包含資訊安全及錢包管理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FF9E4-DCC5-4A00-BB7E-83C9D842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管理意義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BE8AA-0FB1-477B-A9F8-FBAF79AE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登記不是投資保證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消費者仍需查核業者資格與服務條款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不同活動的法律效果可能不同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法規更新需以主管機關公告為準</a:t>
            </a:r>
          </a:p>
        </p:txBody>
      </p:sp>
    </p:spTree>
    <p:extLst>
      <p:ext uri="{BB962C8B-B14F-4D97-AF65-F5344CB8AC3E}">
        <p14:creationId xmlns:p14="http://schemas.microsoft.com/office/powerpoint/2010/main" val="3419453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9394C-9E50-4920-9866-E08F7F17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第二節｜風險控制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25BB7-13B1-4575-8B4B-CAA33031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臺灣登記制度已把營運能力納入最低門檻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2A4DC-6352-4923-BB4B-197A7E4A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40860-0D04-4153-9762-4A3B84E1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16｜第二節｜風險控制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B4871-8BFF-4E03-876F-1930072D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CEAA9-5FEC-4CC5-8FE7-520E4E60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3FB2D-E1A5-4E46-9542-FDCA240E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上架審查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9CD69-641F-4634-BE75-37B64B84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檢查發行、技術、流動性與重大風險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CECD2-1570-44F6-9E02-5C4FB1A6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F5A01-D6B9-4966-9C17-5CB74453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公平交易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52C0F-8857-4EF0-BB12-DFA4EC89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防止操縱、異常交易與利益衝突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49EF9-EC6A-4589-8EC4-C65A71B8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21C00-A672-41CB-A288-261322DB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資產分離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C3D39-71BC-41D8-BF8A-67E18F50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自有資產與客戶資產分開管理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05E1B-1D54-4911-A7B9-41E39240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0248B-C4D8-4100-8586-1FF743E4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資訊與錢包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DE021-F025-42CE-9F65-2DA7EE33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資安制度、冷熱錢包與事件處理</a:t>
            </a:r>
          </a:p>
        </p:txBody>
      </p:sp>
    </p:spTree>
    <p:extLst>
      <p:ext uri="{BB962C8B-B14F-4D97-AF65-F5344CB8AC3E}">
        <p14:creationId xmlns:p14="http://schemas.microsoft.com/office/powerpoint/2010/main" val="16122643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F3FDD-1472-4FB1-A23E-C4DE8700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第二節｜風險控制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F4EEF-F640-4260-851B-B74AF9F4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控制設計要把預防、偵測、回應與復原連成閉環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DD72B-E1E9-4DC0-9766-BC1B0CBC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EF93C-E70A-4389-A441-135E9B3B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16｜第二節｜風險控制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123A6-5884-4A28-A150-7C80EBC3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EA90C-C029-4488-A425-606E869F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單一控制無法覆蓋完整生命週期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CA5FD-C5E3-4E78-929F-8EFB2F52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預防：限權與隔離；偵測：監控與對帳；回應：停機、凍結與通報；復原：備援、返還、補償與根因改善。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7DF94-B686-442B-AC03-D330C323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C21A0-28C5-4872-80AA-B4298148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當交易不可逆且服務全天候運作時，異常發現速度與明確授權鏈尤其重要。</a:t>
            </a:r>
          </a:p>
        </p:txBody>
      </p:sp>
    </p:spTree>
    <p:extLst>
      <p:ext uri="{BB962C8B-B14F-4D97-AF65-F5344CB8AC3E}">
        <p14:creationId xmlns:p14="http://schemas.microsoft.com/office/powerpoint/2010/main" val="14902398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63185C-D198-4F0A-8C45-DD1AD0DC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2E266-E7CE-48ED-8939-16E19C84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28AF6-2E4E-4BEA-9BAA-378ED2AB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75084-A04F-4C06-8C4C-B454CF73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16｜第二節｜快問快答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49409-38F0-4F43-A972-D5B4EE82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C81D8-D2BF-4992-B209-210A032E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73949-55C9-4DC1-83D4-E35978FF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201F1-50A8-420D-9C8A-93A1564C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2D25C-E6BC-4EB7-A0C2-9855ADC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16｜第二節｜快問快答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EA20B-1D6B-4E78-BEDF-EB85CDA7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2B6A5-944C-4BDB-A8B7-E5A6BD63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平台角色越多主要增加？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99DDF-7717-4BE0-AE2E-B8622C2E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利益衝突　B 區塊高度　C 公鑰長度　D 供給量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E1719-A71F-4165-9B2B-C931481F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C91EC-C1C9-450A-9BB2-B07C98EE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答案：A。需隔離與揭露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8DE59-30EC-4CD4-B2E9-D7A9CE50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不同錢包地址等於法律隔離嗎？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0190C-FB9E-4BEB-A96D-09FAC8F5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一定　B 不一定　C 只有冷錢包是　D 只有熱錢包是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D9A89-9ECA-4D4C-B15C-8600DDBF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CD74E-F1E9-4CFC-B4E8-89D3C264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答案：B。還需法律與帳務安排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C9A2B-0E7B-438A-8CB1-2B815C6B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Travel Rule傳遞什麼？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D9550C-BDFF-4031-8429-5FD6CA9F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幣價　B 匯款人與受款人必要資訊　C 助記詞　D 所有私鑰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C85337-1839-481B-9502-613FA953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698680-348F-42C2-8783-A5F04275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答案：B。支援AML/CFT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91FB84-9F61-4CD0-AFBE-EF98B0DF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鏈上分析能直接定罪嗎？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F84EE7-9587-42D0-8F17-B076E57C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能　B 不能，只提供風險線索　C 地址多就能　D 交易大就能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1549FB-4A67-40D3-83C9-7154AE87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6BAEF3-4A23-473B-BF7E-F49DEF15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答案：B。需結合其他證據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321E34-0846-494A-8081-49DC2E02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臺灣未完成VASP登記可提供服務嗎？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A0C9A4-F274-438C-A9AD-B38732F1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可以　B 不得提供　C 只要境外就可　D 只要免費就可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5702FB-F14C-4507-B329-73FF08AE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3A1227-54F3-4998-9C59-8CCC5D12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答案：B。依法須完成登記</a:t>
            </a:r>
          </a:p>
        </p:txBody>
      </p:sp>
    </p:spTree>
    <p:extLst>
      <p:ext uri="{BB962C8B-B14F-4D97-AF65-F5344CB8AC3E}">
        <p14:creationId xmlns:p14="http://schemas.microsoft.com/office/powerpoint/2010/main" val="13357169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49206-21E6-4A52-843F-A8174CBF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第三節｜決策整合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873FB-3948-43F9-9A85-B18946A4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個人投資決策先區分資產風險與服務商風險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168A1-9E90-4A99-97AC-EC925DCD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0E655-419B-4672-8905-8BC68388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16｜第三節｜決策整合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17B71-6049-4EB5-AD53-FFC87CE7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C543A-58F1-4C3B-89FB-F0DAC342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C27E4-5CBA-4A0D-95E9-0589733E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D9432-4C63-4B37-BCAC-73E7BF09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資產本身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2410D-5ABB-4E4F-8388-82F6CF1C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價值來源與持有人權利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供給、用途與治理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流動性、波動與集中度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程式碼及底層網路依賴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F16B0-8DD9-46DB-9F90-F0AF50C5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服務商與操作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46193-09D8-4B1D-BBC8-414CB3D3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交易平台、保管商與發行人信用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提領、費用與利益衝突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帳號、錢包與簽署安全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所在地、監理與救濟管道</a:t>
            </a:r>
          </a:p>
        </p:txBody>
      </p:sp>
    </p:spTree>
    <p:extLst>
      <p:ext uri="{BB962C8B-B14F-4D97-AF65-F5344CB8AC3E}">
        <p14:creationId xmlns:p14="http://schemas.microsoft.com/office/powerpoint/2010/main" val="39735628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20AA7-DE81-4C6F-BBE7-32D95C66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第三節｜決策整合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FE871-75B7-4EFC-AEE4-EEFCF22C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白皮書是發行人主張，不是獨立查核報告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4180E-9A17-49BC-8322-F68136F2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CB8CE-1DA2-4BD4-AEF2-9887D5A5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16｜第三節｜決策整合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5F255-7CF6-44E8-AB78-28B57821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8C633-3898-4A77-959F-49066780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AC824-26CD-46C9-98A7-11160284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權利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3CF1C-FD6C-4447-AA75-4130EE2D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持有人到底取得什麼法律請求權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DFC06-2AD7-4A6C-8BC0-C26CDC05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8161A-0CF1-4C83-9027-9DFD0364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7F1C3-0CBF-42CD-A630-2AE4FC91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募得資金如何使用、誰能控制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35715-FF08-44F5-8E6A-93F57C42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E4C8E-D44F-483C-9247-958ECA99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供給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4E472-6123-4CE7-BD00-092255DF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鑄造、解鎖、銷毀與集中持有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B31AB-D703-48C6-8194-FF63F322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39EC3-B800-431C-A58E-5DBA5F41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13E09-3F32-4D60-8C69-BA071C99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誰能升級、暫停或改變規則</a:t>
            </a:r>
          </a:p>
        </p:txBody>
      </p:sp>
    </p:spTree>
    <p:extLst>
      <p:ext uri="{BB962C8B-B14F-4D97-AF65-F5344CB8AC3E}">
        <p14:creationId xmlns:p14="http://schemas.microsoft.com/office/powerpoint/2010/main" val="183559383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7FDE5-4663-4503-8778-4EC2641E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第三節｜決策整合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60CEB-6468-4203-91C7-FED992A9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收益率必須拆成報酬來源與風險來源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18329-4F42-4A61-8A68-CBF5F51A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8EF31-D859-4B1E-9C7A-8D09005F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16｜第三節｜決策整合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B9498-4E4E-4335-921A-944DD644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3EE78-480F-4661-973F-9D8D8204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A9025-A9E6-42A4-83B7-0076DCBE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871F2-71A2-4210-9F6D-15D5A55B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可能來源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2289D-60DC-4099-A76C-41F4C1CC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借款人支付利息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交易費與做市收入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質押獎勵與網路發行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平台補貼或新代幣獎勵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B154B-9E04-43EE-B8E2-5CAAD20B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必問風險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87E7A-9638-4CED-9056-5540B710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是否使用槓桿或再抵押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本金以何種資產計價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能否隨時退出且有足夠流動性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報酬是否依賴持續新增資金</a:t>
            </a:r>
          </a:p>
        </p:txBody>
      </p:sp>
    </p:spTree>
    <p:extLst>
      <p:ext uri="{BB962C8B-B14F-4D97-AF65-F5344CB8AC3E}">
        <p14:creationId xmlns:p14="http://schemas.microsoft.com/office/powerpoint/2010/main" val="70896348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E797A-B06B-4592-9927-D04F683F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第三節｜決策整合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43CB4-71CC-4004-89CC-42FEE2CF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企業專案要建立可量化、可停止的商業案例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9A7D7-37D7-4268-BC54-F4BFF6EE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01735-495F-4877-B8E1-6AE3485E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16｜第三節｜決策整合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C30EC-33EF-4724-A7B1-2CD37C79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AE992-5896-445D-A8E3-CB249B1B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59BF4-F487-4D2F-8BD2-3D6AE721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基準線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41FD4-4AAC-4453-AAB1-7CCC625E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目前時間、成本、錯誤與風險是多少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D45AA-58B7-4098-8EC8-AD2BBF90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0C98C-9D7C-4A21-867C-EFBC6440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增量價值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1851F-ABCD-431D-B6D4-08A4715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區塊鏈相較替代方案改善多少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864AB-6B38-457B-AE81-E553BBD5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7C52A-C125-47F2-B988-041A3AC9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完整成本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13A05-546D-4583-BD6F-20AC40F0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整合、治理、法遵、營運與退出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96B67-1BE8-4D94-953D-C55CBDDC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02B86-D250-44F8-A193-0FD54D1F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停止條件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1E326-122A-4AD2-8EA5-F94D7F3A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需求、合作、法規或KPI未達時退出</a:t>
            </a:r>
          </a:p>
        </p:txBody>
      </p:sp>
    </p:spTree>
    <p:extLst>
      <p:ext uri="{BB962C8B-B14F-4D97-AF65-F5344CB8AC3E}">
        <p14:creationId xmlns:p14="http://schemas.microsoft.com/office/powerpoint/2010/main" val="18341822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B9AA1-6F22-4794-8453-E171F903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第三節｜決策整合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CB44D-E821-4A44-A31A-9DABAAC5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風險矩陣要同時評估可能性、衝擊與可控性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EA526-1564-4A2B-BE78-B4FB2545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77CB2-14FC-4538-BEA0-CADC29FA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16｜第三節｜決策整合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3C184-065D-4569-AD52-3F160451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B67F8-A408-409E-95B4-AA5A09C8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CE45A-7588-4495-83FD-CC6539F1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高可能／高衝擊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9D718-6887-4420-A950-F233388A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立即降低暴露或停止服務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5A3CF-DEB7-4D86-8C3A-1215B410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96A7F-FD78-436C-878C-66C2D209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低可能／高衝擊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8C544-3999-4908-9C98-8902398D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建立韌性、保險與危機演練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CA2A2-DB2D-4250-96BB-76CF3B9D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C8BC1-A090-477D-BED6-50841E1A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高可能／低衝擊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B42C2-74ED-4B60-A0FC-3832FECC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標準化流程並持續監測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E65C6-2543-47C7-AB5F-7A902FD3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5D266-3730-4F24-B469-F3CD90B2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低可能／低衝擊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4E71B-C874-4F8B-B376-FB441DFC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接受但保留定期檢視</a:t>
            </a:r>
          </a:p>
        </p:txBody>
      </p:sp>
    </p:spTree>
    <p:extLst>
      <p:ext uri="{BB962C8B-B14F-4D97-AF65-F5344CB8AC3E}">
        <p14:creationId xmlns:p14="http://schemas.microsoft.com/office/powerpoint/2010/main" val="9300894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B905C-9EB8-4F9D-AE06-CDC38456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第三節｜決策整合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241B4-D780-477E-988F-D7DC300F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事件發生時先保護資產與證據，再追求完整解釋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8DA52-1555-4DB1-A989-2E9CD418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4C300-534E-4501-AAED-76B61C58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16｜第三節｜決策整合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21FE2-4392-49BC-A49E-A04B3523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78317-D425-43BF-87A5-5678CB7E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D3D38-F1BE-4F3F-A760-EF4B18A9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控制損失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4BCED-979D-4F03-879A-54359433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停權、暫停提款或撤銷合約授權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EF0D5-EAE5-46BB-9899-90F6AA0C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6246C-B03B-4630-ACA3-4CC18995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保全證據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16D9F-DD78-485F-BD1E-CC79A0C3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交易ID、日誌、畫面與溝通紀錄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857F3-43BD-4FDA-A9DD-8B62D864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ABA6E-7FF7-4792-A079-FE2049FD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升級通報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0FB1E-7F49-4FE9-ABFC-604A42CB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依事件等級通知主管、客戶與監理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4F6C6-9800-4146-86E5-13348E23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947C4-99A6-41A3-AC9B-FEBAD6C8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恢復改善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4C425-6E33-4BD8-B930-AEABFF6B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安全復原、對帳、補償與根因修正</a:t>
            </a:r>
          </a:p>
        </p:txBody>
      </p:sp>
    </p:spTree>
    <p:extLst>
      <p:ext uri="{BB962C8B-B14F-4D97-AF65-F5344CB8AC3E}">
        <p14:creationId xmlns:p14="http://schemas.microsoft.com/office/powerpoint/2010/main" val="152057036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0DCD9-3093-474D-A4CD-2C24F91B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第三節｜決策整合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12DBD-AFBE-4AA1-A680-02A39D34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整門課的分析順序可以濃縮成六步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60055-F6DC-4677-826D-B4AF24AB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3CA94-C38F-427F-B7B6-5E85CA6D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16｜第三節｜決策整合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69DB9-5A2F-4AA5-A7AA-B257ADCD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99FEA-4ACD-4379-A370-4BA4D70F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3D629-3D7B-4AB6-BBBA-ACE65D15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1 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4E682-AC5D-426C-ACFE-FC7F2821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要改善哪個金融或商業摩擦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C5A1F-F93E-4353-89DD-549ED781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E7F7C-9E96-46AB-878E-66CCBF22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 架構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C277C-6D36-424B-AE7B-CB8448A2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鏈、共識、資產、平台與錢包如何運作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7146E-50A2-42C2-82CF-69B653AF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60455-3676-4466-9538-F8249A0F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 權利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7EEC2-3521-462A-8008-F62E1A8D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誰擁有什麼、誰對誰負責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32544-4682-41EF-886F-32D6621E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2D319-5C36-401B-8B5F-84022D3A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 風險與決策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34E3D-7C75-439D-87C0-7B9E9E58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控制、成本、法規、KPI與退出是否成立</a:t>
            </a:r>
          </a:p>
        </p:txBody>
      </p:sp>
    </p:spTree>
    <p:extLst>
      <p:ext uri="{BB962C8B-B14F-4D97-AF65-F5344CB8AC3E}">
        <p14:creationId xmlns:p14="http://schemas.microsoft.com/office/powerpoint/2010/main" val="98738807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22921-4462-4615-9A2B-0E49B479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第三節｜決策整合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99D43-D124-499E-AE15-C89F1C7D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案例整合：評估一項『穩定幣跨境支付』提案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86CE8-5A2E-402A-A4E5-19323FE6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5ECA2-DADC-498B-8AAE-309AA6B6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16｜第三節｜決策整合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52F10-C011-4B34-99B0-990BD0EA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C2D4B-4B59-40A0-B6C7-1194B331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ECBCB-4510-4BA5-A5DE-885D013C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3E505-AF44-43C1-90BD-C4EE560B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支持理由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F9F61-206D-4B1E-AF1B-45E7D80C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全天候轉移與較快到帳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減少部分代理銀行與對帳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可與數位資產服務整合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交易狀態易追蹤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67450-6E1B-41E6-9F0B-B35B80EB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反對與條件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ABB2D-1260-4501-AF7B-EDCB38CE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儲備及贖回是否可信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法幣進出、外匯與流動性成本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Travel Rule、制裁與境外法規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錢包安全、客訴與錯誤返還</a:t>
            </a:r>
          </a:p>
        </p:txBody>
      </p:sp>
    </p:spTree>
    <p:extLst>
      <p:ext uri="{BB962C8B-B14F-4D97-AF65-F5344CB8AC3E}">
        <p14:creationId xmlns:p14="http://schemas.microsoft.com/office/powerpoint/2010/main" val="46690763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1562F-010C-448A-8AA3-0441DF60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第三節｜決策整合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7E052-A1EF-4F2A-9DB1-57F459BA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期末評量準備：用理由判斷，不靠名詞背誦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0F22A-6CE7-46C7-8059-9DAE67AC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F207F-E9EC-44CF-ABC4-725DFF2F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16｜第三節｜決策整合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70474-1122-4FEC-B7EF-457354B8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F7D2E-E113-4809-97E0-958D7335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每題都可以回到同一組核心問題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8A0F1-99DB-4177-8D46-AFECA5C1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它解決什麼問題？誰控制與承擔責任？價值記錄在哪裡？風險由誰吸收？失敗如何復原？法規保護的是誰？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033EA-2301-4CD7-A683-96D11AB1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E6E22-FCA8-4B7F-99EA-EDDF288C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8233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能比較替代方案、指出限制並提出控制措施，比背誦『去中心化、不可竄改』更能展現區塊鏈素養。</a:t>
            </a:r>
          </a:p>
        </p:txBody>
      </p:sp>
    </p:spTree>
    <p:extLst>
      <p:ext uri="{BB962C8B-B14F-4D97-AF65-F5344CB8AC3E}">
        <p14:creationId xmlns:p14="http://schemas.microsoft.com/office/powerpoint/2010/main" val="7276377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8AD33-0E42-486E-8B67-01109772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第三節｜決策整合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A3A98-4A9F-4BA4-94CF-C925C91F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本週結論：合規與風險治理讓創新成為可持續服務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CF30F-28BB-46E9-A2BE-5027A8F3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686A5-310A-4BF4-9F2E-AB99E1FD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16｜第三節｜決策整合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00EF9-8532-4893-84E4-A1C4215F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FFE82-C886-4192-9A55-01EE6CDB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961BA-7831-4AE4-AC64-71E1D69C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技術可行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CD75A-921D-4D04-AF47-9D9261B8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系統能正確、安全且穩定運作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B7866-FEB1-4BD5-B78F-753451EE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CBA86-2333-47DC-948F-82D63C2E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商業可行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61564-ABBB-426E-AA91-6E2AB606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價值大於完整生命週期成本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076D9-C596-4D91-AE49-B090803F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188F3-5518-49A1-A779-07F91D3C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制度可行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25D81-BA9E-48BC-8790-F5E8C8B8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權利、治理與責任能被執行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E727A-BA81-4BAE-9093-B21105FE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6F908B-65E2-4062-B1E3-FF85E434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社會可接受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1DE46-A050-4C1E-B6FB-1E34A41B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消費者、誠信與穩定獲得保障</a:t>
            </a:r>
          </a:p>
        </p:txBody>
      </p:sp>
    </p:spTree>
    <p:extLst>
      <p:ext uri="{BB962C8B-B14F-4D97-AF65-F5344CB8AC3E}">
        <p14:creationId xmlns:p14="http://schemas.microsoft.com/office/powerpoint/2010/main" val="12455633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B6BF39-A7D1-449E-8DCF-4C134D4F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74BEF-C77A-4D23-A6BD-5E7753E0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FB429-4CDE-4A34-A331-B39F0A23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BF861-4B7D-421F-80AD-214D3613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16｜第三節｜快問快答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3712B-74EF-4099-BF6A-D3A79253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E155F-329E-4B7D-80E6-AD4AD45A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34D8D-1937-4FEB-9217-F04C28AC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001D5-E557-4504-ABAF-CC9243E0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8F9B7-D2D4-452D-8EBD-5DFC6D57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16｜第三節｜快問快答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FEF5D-19B9-4FEF-AE0C-D8545585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1BCEA-A027-47AE-AAED-74F09F7C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評估投資只看代幣本身足夠嗎？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8E9DC-82F3-4102-AC98-CCE5539D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足夠　B 不足，還要看平台與操作風險　C 只看價格　D 只看社群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2592B-DC58-48F5-AF80-45A877B5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1A4B4-C8E4-4AF3-8D91-24F805E5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8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答案：B。資產與服務商風險分開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C9537-BB91-4AF9-AF83-6278074B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白皮書等於獨立查核嗎？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A8A50-2A6E-4535-BEDC-6F254FF7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只有英文是　D 只要很長就是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D80E17-C3A2-4AC9-A7DF-792C4A91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F8600-41ED-4223-8D32-EF7A96AB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答案：B。需外部證據驗證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648A4E-676F-4115-B894-18DD97A6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高收益產品第一個問題？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16E13-AAF7-4DD6-91CD-A09F2C6E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Logo顏色　B 誰支付報酬、承擔何種風險　C 地址長度　D 上線日期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BF8481-BF6F-4ADD-817D-C07831EB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D5559C-7219-4595-A098-D1BA7E23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答案：B。拆解報酬來源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C302B7-5817-42C1-AE81-D571F887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PoC成功等於應全面上線？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144D85-EC2A-4CF6-8C09-A8533B0E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只有公有鏈是　D 只要免費就是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BC906C-48A6-40BB-B025-32EC56B6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78FB48-6B88-4647-8EB2-87543562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7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答案：B。仍需價值、治理與風險證據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91D1DF-EA78-4D5A-9D25-175437AF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成熟區塊鏈素養重點？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8982CF-C1D5-4FA4-AE4D-B2482A10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背名詞　B 比較方案、指出限制並設計控制　C 預測幣價　D 寫Solidity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FB8B08-452D-4F76-817F-A6E5494D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E31E38-E219-4971-AE0D-1CA5A22C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答案：B。做可解釋的管理判斷</a:t>
            </a:r>
          </a:p>
        </p:txBody>
      </p:sp>
    </p:spTree>
    <p:extLst>
      <p:ext uri="{BB962C8B-B14F-4D97-AF65-F5344CB8AC3E}">
        <p14:creationId xmlns:p14="http://schemas.microsoft.com/office/powerpoint/2010/main" val="13378494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2026-09-03T08:35:07.7470000Z</dcterms:created>
  <dcterms:modified xsi:type="dcterms:W3CDTF">2026-09-03T08:35:07.7470000Z</dcterms:modified>
</coreProperties>
</file>