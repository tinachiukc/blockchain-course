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325" r:id="rId5"/>
    <p:sldId id="326" r:id="rId6"/>
    <p:sldId id="327" r:id="rId7"/>
    <p:sldId id="395" r:id="rId8"/>
    <p:sldId id="424" r:id="rId9"/>
    <p:sldId id="412" r:id="rId10"/>
    <p:sldId id="425" r:id="rId11"/>
    <p:sldId id="426" r:id="rId12"/>
    <p:sldId id="423" r:id="rId13"/>
    <p:sldId id="413" r:id="rId14"/>
    <p:sldId id="414" r:id="rId15"/>
    <p:sldId id="416" r:id="rId16"/>
    <p:sldId id="417" r:id="rId17"/>
    <p:sldId id="454" r:id="rId18"/>
    <p:sldId id="455" r:id="rId19"/>
    <p:sldId id="456" r:id="rId20"/>
    <p:sldId id="457" r:id="rId21"/>
    <p:sldId id="458" r:id="rId22"/>
    <p:sldId id="459" r:id="rId23"/>
    <p:sldId id="461" r:id="rId24"/>
    <p:sldId id="460" r:id="rId25"/>
    <p:sldId id="462" r:id="rId26"/>
    <p:sldId id="430" r:id="rId27"/>
    <p:sldId id="431" r:id="rId28"/>
    <p:sldId id="432" r:id="rId29"/>
    <p:sldId id="433" r:id="rId30"/>
    <p:sldId id="333" r:id="rId31"/>
    <p:sldId id="335" r:id="rId32"/>
    <p:sldId id="439" r:id="rId33"/>
    <p:sldId id="443" r:id="rId34"/>
    <p:sldId id="444" r:id="rId35"/>
    <p:sldId id="445" r:id="rId36"/>
    <p:sldId id="446" r:id="rId37"/>
    <p:sldId id="447" r:id="rId38"/>
    <p:sldId id="448" r:id="rId39"/>
    <p:sldId id="449" r:id="rId40"/>
    <p:sldId id="450" r:id="rId41"/>
    <p:sldId id="451" r:id="rId42"/>
    <p:sldId id="452" r:id="rId43"/>
    <p:sldId id="442" r:id="rId44"/>
    <p:sldId id="440" r:id="rId45"/>
    <p:sldId id="44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9"/>
    <a:srgbClr val="3399FF"/>
    <a:srgbClr val="FEEBCA"/>
    <a:srgbClr val="D9FFFF"/>
    <a:srgbClr val="685135"/>
    <a:srgbClr val="BDA07D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292A2E-F333-43FB-9621-5CBBE7FDCDCB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5238" autoAdjust="0"/>
  </p:normalViewPr>
  <p:slideViewPr>
    <p:cSldViewPr snapToGrid="0">
      <p:cViewPr varScale="1">
        <p:scale>
          <a:sx n="108" d="100"/>
          <a:sy n="108" d="100"/>
        </p:scale>
        <p:origin x="82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27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7797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ED2A3BD-B73E-1BD7-6B8B-22C9FB1248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3FCFB4-857F-ED0B-D469-F2A392F06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2482" y="0"/>
            <a:ext cx="204951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604BC-34A9-95A0-8560-88E754717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1255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F2F08ED-0715-2E8A-476E-A005A7D75B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9013145" y="4934929"/>
            <a:ext cx="1841938" cy="96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3291840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9512" y="667512"/>
            <a:ext cx="4105656" cy="5568696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3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8277F-DB00-5149-6533-E8AEF0B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3518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67A69A-84EE-0E71-D053-F462EBCC8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520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48" y="658368"/>
            <a:ext cx="5486400" cy="3621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936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9048" y="4553712"/>
            <a:ext cx="5486400" cy="10058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4513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17B23C3-2F98-4465-21EA-A49296DA1F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4370832" cy="3776472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048" y="2112264"/>
            <a:ext cx="4370832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8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30673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3419856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64608" y="2093976"/>
            <a:ext cx="6382512" cy="374904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897DD0-4462-B31B-50A9-D399FD0F58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529"/>
          <a:stretch/>
        </p:blipFill>
        <p:spPr>
          <a:xfrm>
            <a:off x="3815" y="4389845"/>
            <a:ext cx="5024198" cy="24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2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5EA319-BD06-493B-D1CD-EC2AF73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7991" y="0"/>
            <a:ext cx="1703832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60446E-E817-5E2A-D76A-43A4168E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246669" y="4842646"/>
            <a:ext cx="1611949" cy="18532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DC846D-C40C-085A-6A57-EBD733E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6291072" cy="267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5F674E-A7FF-FC97-AC6B-9E98247F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46704"/>
            <a:ext cx="6016752" cy="2670048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3752326-0FB4-41C5-2D91-5CBFDC2DAD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8120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4BC85D4-4139-2AAA-166E-6FBA095A8B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1729776"/>
            <a:ext cx="5423337" cy="53565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931BC73-A262-809F-6027-25B33F16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41270" y="0"/>
            <a:ext cx="1250729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EA2C9-0142-1847-0FE5-307C101C6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83241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7DF4F-A4F8-98C7-5975-55CBED0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67512"/>
            <a:ext cx="3621024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9D4968-2C08-763C-19C6-59134968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161288"/>
            <a:ext cx="5276088" cy="4535424"/>
          </a:xfrm>
          <a:solidFill>
            <a:schemeClr val="bg1">
              <a:lumMod val="95000"/>
            </a:schemeClr>
          </a:solidFill>
        </p:spPr>
        <p:txBody>
          <a:bodyPr anchor="t" anchorCtr="0">
            <a:normAutofit/>
          </a:bodyPr>
          <a:lstStyle>
            <a:lvl1pPr marL="457200" indent="-457200">
              <a:lnSpc>
                <a:spcPct val="80000"/>
              </a:lnSpc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714500" indent="-342900">
              <a:buFont typeface="+mj-lt"/>
              <a:buAutoNum type="alphaLcParenR"/>
              <a:defRPr sz="1400"/>
            </a:lvl4pPr>
            <a:lvl5pPr marL="2228850" indent="-400050"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2880360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61104" y="2093976"/>
            <a:ext cx="6967728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6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F9824-10E6-81A0-0A31-9658CC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002FB0-0A62-2FA3-FB8D-3275F107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5BF220-87F8-C1D3-102B-15C9BF2EE4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672" y="2093976"/>
            <a:ext cx="10469880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7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4764D-8226-78DF-9303-299C95FA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98984" y="0"/>
            <a:ext cx="133643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C27D79-5B49-F06F-29C2-BF6429527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3477" y="5154421"/>
            <a:ext cx="3279227" cy="12297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545B34A-525D-FD4C-2384-D583B495C0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55" t="5126"/>
          <a:stretch/>
        </p:blipFill>
        <p:spPr>
          <a:xfrm flipH="1">
            <a:off x="6768663" y="1729776"/>
            <a:ext cx="5423337" cy="535652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59FA15-E93F-D07D-D82B-86E08C540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704" y="795528"/>
            <a:ext cx="6099048" cy="51206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ctr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F1B2B40-3852-2BC5-AA67-3AC0C94B5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18542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177962F-BF83-8BF0-521C-AC2FE18512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03ACC-3116-807F-81D2-E8057D4C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485B2-AA3A-87CC-3B1B-A193C6EB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F9689-52F4-4A6F-BEAC-E0B840C1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5833872" cy="3776472"/>
          </a:xfrm>
          <a:solidFill>
            <a:schemeClr val="bg1">
              <a:lumMod val="95000"/>
            </a:schemeClr>
          </a:solidFill>
        </p:spPr>
        <p:txBody>
          <a:bodyPr rIns="91440" anchor="t" anchorCtr="0">
            <a:normAutofit/>
          </a:bodyPr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828800" indent="-457200">
              <a:buFont typeface="+mj-lt"/>
              <a:buAutoNum type="alphaLcParenR"/>
              <a:defRPr sz="1400"/>
            </a:lvl4pPr>
            <a:lvl5pPr marL="2286000" indent="-4572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32826-83B5-DC67-7DDB-45FD78E830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06056" y="2093976"/>
            <a:ext cx="3172968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7051E-220B-9586-3E85-05AF9DC9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FA6629-B230-F528-AAE3-D182D963F0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390C-256A-CE3C-1348-C39DBAE01D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7644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36667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636008"/>
            <a:ext cx="5276088" cy="155448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600"/>
              </a:spcAft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23360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55356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5F976-A881-DB46-9D98-9D5572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C7589-D4CD-50AB-9AA4-198FD4932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5" r:id="rId4"/>
    <p:sldLayoutId id="2147483683" r:id="rId5"/>
    <p:sldLayoutId id="2147483684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680-7C22-BFF1-165D-52AB411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5916168" cy="4873752"/>
          </a:xfrm>
        </p:spPr>
        <p:txBody>
          <a:bodyPr/>
          <a:lstStyle/>
          <a:p>
            <a:r>
              <a:rPr lang="zh-TW" altLang="en-US" dirty="0"/>
              <a:t>區塊鏈與數位貨幣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F459B-002E-E89C-3A0E-589730DD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096" y="5568696"/>
            <a:ext cx="5276088" cy="859536"/>
          </a:xfrm>
        </p:spPr>
        <p:txBody>
          <a:bodyPr/>
          <a:lstStyle/>
          <a:p>
            <a:r>
              <a:rPr lang="en-US" dirty="0"/>
              <a:t>Week 05</a:t>
            </a:r>
          </a:p>
        </p:txBody>
      </p:sp>
    </p:spTree>
    <p:extLst>
      <p:ext uri="{BB962C8B-B14F-4D97-AF65-F5344CB8AC3E}">
        <p14:creationId xmlns:p14="http://schemas.microsoft.com/office/powerpoint/2010/main" val="326276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76D-A0D2-8179-168C-8025D377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667512"/>
            <a:ext cx="2551176" cy="5513832"/>
          </a:xfrm>
        </p:spPr>
        <p:txBody>
          <a:bodyPr/>
          <a:lstStyle/>
          <a:p>
            <a:r>
              <a:rPr lang="zh-TW" altLang="en-US" dirty="0"/>
              <a:t>課程主題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5ACA-5B20-DED2-F6EA-E50B5B17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288" y="667512"/>
            <a:ext cx="5897881" cy="556869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第一部分：貨幣的演進與類別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第二部分：數位貨幣的應用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第三部分：數位貨幣的法規與未來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0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7716687E-B9E6-EF79-42FA-195AF9DF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188" y="191001"/>
            <a:ext cx="6577717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第一部分：貨幣的演進與類別</a:t>
            </a:r>
            <a:endParaRPr lang="en-US" sz="3200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E7E1599-3872-6AF2-8860-E37CED93BC6F}"/>
              </a:ext>
            </a:extLst>
          </p:cNvPr>
          <p:cNvSpPr txBox="1">
            <a:spLocks/>
          </p:cNvSpPr>
          <p:nvPr/>
        </p:nvSpPr>
        <p:spPr>
          <a:xfrm>
            <a:off x="5474189" y="1049515"/>
            <a:ext cx="6577716" cy="56821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主題一：貨幣的演進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主題二：數位貨幣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主題三：各種貨幣的比較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4890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305661" y="313289"/>
            <a:ext cx="978081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貨幣演進歷史悠久，從早期以物易物的交易方式逐步發展到今天的紙幣、電子貨幣和數位貨幣。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以中國的貨幣為例介紹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endParaRPr lang="en-US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貝殼與物物交換（公元前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21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世紀之前）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最早的交易方式是以物易物，物品本身具有價值，最早使用的貨幣之一是貝殼，因其美觀、稀缺和便於攜帶，成為中國古代最早的貨幣形式。貝殼貨幣被認為是中國貨幣制度的開端。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2.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金屬貨幣（青銅器時代：約公元前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16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世紀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221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進入青銅器時代後，中國開始鑄造金屬貨幣。早期的金屬貨幣多為刀幣和布幣，形狀像刀或耕具。金屬貨幣的出現使交易更加便利，並逐漸代替了物物交換和貝殼貨幣。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刀幣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：類似刀形，主要流行於齊國等地。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布幣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：形狀像農具鏟，流行於戰國時期。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3.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圓形方孔銅錢（秦漢時期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清朝，公元前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221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- 1911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秦始皇統一中國後，實行統一貨幣政策，鑄造圓形方孔的銅錢，這種形式一直沿用到清朝。這一時期的銅錢被稱為「圓錢」，方孔便於串起來攜帶，且具有較高的鑄造質量和穩定的價值。</a:t>
            </a:r>
            <a:endParaRPr lang="en-US" altLang="zh-TW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49EC84-39B9-98EE-EBA2-B2A996839622}"/>
              </a:ext>
            </a:extLst>
          </p:cNvPr>
          <p:cNvSpPr txBox="1"/>
          <p:nvPr/>
        </p:nvSpPr>
        <p:spPr>
          <a:xfrm>
            <a:off x="10315075" y="1207008"/>
            <a:ext cx="1723549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貨幣的演進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283501" y="753954"/>
            <a:ext cx="101182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4.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紙幣的出現與發展（宋朝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清朝，公元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960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- 1911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在宋朝，隨著經濟的發展，紙幣首次出現。中國是世界上最早使用紙幣的國家，最早的紙幣稱為「交子」，由政府發行。隨後元朝在紙幣的基礎上進行改進，發行了「中統元寶交鈔」。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交子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：世界上最早的紙幣之一，出現在宋朝。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元寶交鈔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：元朝中央政府統一發行的紙幣，為世界早期紙幣體系之一。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5.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白銀作為主要貨幣（明清時期，公元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1368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- 1911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年）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明朝時期，白銀成為主要流通貨幣，尤其是國際貿易的普及，使得白銀在中國市場上發揮了重要作用。白銀作為一種貴金屬，具有高儲值和流通價值。</a:t>
            </a: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6.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現代貨幣制度（民國</a:t>
            </a:r>
            <a:r>
              <a:rPr lang="zh-TW" altLang="en-US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以後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民國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以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後，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進入</a:t>
            </a:r>
            <a:r>
              <a:rPr lang="zh-TW" altLang="zh-TW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現代貨幣制度，開始發行法定紙幣，且白銀、銅錢逐漸退出流通。</a:t>
            </a:r>
            <a:endParaRPr lang="en-US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7. </a:t>
            </a:r>
            <a:r>
              <a:rPr lang="zh-TW" altLang="en-US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塑膠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貨幣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: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信用卡、金融卡。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8. </a:t>
            </a:r>
            <a:r>
              <a:rPr lang="zh-TW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電子貨幣與數位貨幣</a:t>
            </a:r>
            <a:r>
              <a:rPr lang="en-US" altLang="zh-TW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:</a:t>
            </a:r>
            <a:r>
              <a:rPr lang="zh-TW" altLang="en-US" sz="2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電子貨幣、數位貨幣</a:t>
            </a:r>
            <a:endParaRPr lang="zh-TW" altLang="zh-TW" sz="2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824479B-4475-3DF6-6125-7EC8778AED2E}"/>
              </a:ext>
            </a:extLst>
          </p:cNvPr>
          <p:cNvSpPr txBox="1"/>
          <p:nvPr/>
        </p:nvSpPr>
        <p:spPr>
          <a:xfrm>
            <a:off x="10315075" y="1207008"/>
            <a:ext cx="1723549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主題一：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貨幣的演進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737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2976532" y="900310"/>
            <a:ext cx="6238936" cy="417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數位貨幣的概念</a:t>
            </a:r>
            <a:endParaRPr lang="en-US" altLang="zh-TW" sz="3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數位貨幣（</a:t>
            </a:r>
            <a:r>
              <a:rPr lang="en-US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Currency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是一種以電子形式存在的貨幣，不以實體形式（如紙幣或硬幣）存在。數位貨幣的概念涵蓋了多種形式的數位資產，並且在全球範圍內正在快速發展。它可以由政府（如中央銀行數位貨幣）或私人機構（如加密貨幣）發行。</a:t>
            </a:r>
            <a:endParaRPr lang="en-US" altLang="zh-TW" sz="24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232158-CC76-3411-BBC7-5F1BA2DB12BF}"/>
              </a:ext>
            </a:extLst>
          </p:cNvPr>
          <p:cNvSpPr txBox="1"/>
          <p:nvPr/>
        </p:nvSpPr>
        <p:spPr>
          <a:xfrm>
            <a:off x="10315075" y="1207008"/>
            <a:ext cx="1415772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592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549729" y="554431"/>
            <a:ext cx="8610599" cy="5749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數位貨幣的主要特徵</a:t>
            </a:r>
            <a:endParaRPr lang="en-US" altLang="zh-TW" sz="3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電子化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：數位貨幣完全以電子方式儲存和傳輸，不需要實體存在，交易可以在互聯網或電子支付系統上進行。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去中心化或中心化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：數位貨幣可以是去中心化的（如比特幣等加密貨幣），也可以是中心化的（如中央銀行數位貨幣）。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快速交易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：數位貨幣的交易速度通常比傳統銀行轉賬快，且可在全球範圍內低成本或免費進行。</a:t>
            </a:r>
            <a:endParaRPr lang="en-US" altLang="zh-TW" sz="24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可追蹤性和透明性</a:t>
            </a:r>
            <a:r>
              <a:rPr lang="zh-TW" altLang="zh-TW" sz="24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：數位貨幣的交易記錄可以是公開透明的，尤其是基於區塊鏈技術的加密貨幣。這種透明性可以增強金融系統的安全性和合規性。</a:t>
            </a:r>
            <a:endParaRPr lang="en-US" altLang="zh-TW" sz="24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345618F-078D-FA3B-BCB3-09831372BC45}"/>
              </a:ext>
            </a:extLst>
          </p:cNvPr>
          <p:cNvSpPr txBox="1"/>
          <p:nvPr/>
        </p:nvSpPr>
        <p:spPr>
          <a:xfrm>
            <a:off x="10315075" y="1207008"/>
            <a:ext cx="1415772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5194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455781" y="0"/>
            <a:ext cx="9687812" cy="677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數位貨幣的類型</a:t>
            </a:r>
            <a:endParaRPr lang="en-US" altLang="zh-TW" sz="3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中央銀行數位貨幣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Central Bank Digital Currency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）：由政府的中央銀行發行，是法定貨幣的數位形式。它是對傳統紙幣和硬幣的補充或替代，具有穩定的價值，並由政府背書。中國的數字人民幣（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Yuan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）就是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的一個例子。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加密貨幣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Cryptocurrency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）：加密貨幣是使用密碼學技術來保護和驗證交易的數位貨幣，不由任何中央機構控制。比特幣（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Bitcoin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）、以太幣（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Ethereum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）等是著名的加密貨幣。這類貨幣的價格通常由市場需求決定，波動性較大。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Stablecoin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）：穩定幣是一種與法定貨幣（如美元或人民幣）掛鉤的加密貨幣，目的是保持穩定的價值。它結合了加密貨幣的技術優勢和法定貨幣的價值穩定性，常見的例子是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Tether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電子貨幣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E-money</a:t>
            </a:r>
            <a:r>
              <a:rPr lang="zh-TW" altLang="zh-TW" sz="2000" dirty="0">
                <a:solidFill>
                  <a:schemeClr val="accent4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）：電子貨幣是一種預付形式的數位資產，通常與現實中的法定貨幣一對一掛鉤。例如，銀行卡、移動支付平台（如支付寶、微信支付）中儲存的資金都屬於電子貨幣範疇。</a:t>
            </a:r>
            <a:endParaRPr lang="en-US" altLang="zh-TW" sz="2000" dirty="0">
              <a:solidFill>
                <a:schemeClr val="accent4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B8582E-8D5E-569F-A05D-3A5C1CC8A95C}"/>
              </a:ext>
            </a:extLst>
          </p:cNvPr>
          <p:cNvSpPr txBox="1"/>
          <p:nvPr/>
        </p:nvSpPr>
        <p:spPr>
          <a:xfrm>
            <a:off x="10315075" y="1207008"/>
            <a:ext cx="1415772" cy="1132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主題二：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075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461225" y="513907"/>
            <a:ext cx="9392713" cy="583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電子貨幣、虛擬貨幣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和</a:t>
            </a: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數位貨幣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這三個術語常常互相混淆，但它們代表不同的概念，根據使用情境和技術背景各有特點。以下是它們的主要區別和比較：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pPr marL="457200" lvl="0" indent="-4572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電子貨幣主要是現有法定貨幣的數位化表現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，用於日常支付。</a:t>
            </a:r>
          </a:p>
          <a:p>
            <a:pPr marL="457200" lvl="0" indent="-4572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虛擬貨幣則通常僅限於特定環境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（如遊戲或社交平台）使用，並不具法定地位。</a:t>
            </a:r>
            <a:endParaRPr lang="en-US" altLang="zh-TW" sz="28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0" indent="-45720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數位貨幣是一個廣泛的概念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，既包括法定數位貨幣如</a:t>
            </a:r>
            <a:r>
              <a:rPr lang="en-US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zh-TW" sz="28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，也包括去中心化的加密貨幣，應用場景更廣。</a:t>
            </a:r>
            <a:endParaRPr lang="en-US" altLang="zh-TW" sz="28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EBC430C-6D8F-3A43-1886-FD0B1B87FB92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3938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782116" y="467084"/>
            <a:ext cx="8850085" cy="603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1. 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電子貨幣（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E-money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定義：電子貨幣是以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數位形式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存在的貨幣，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與法定貨幣掛鉤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，並且可以通過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電子設備進行儲存和使用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。常見形式包括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銀行卡、預付卡、和第三方支付平台中的資金（如支付寶、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PayPal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發行者：通常由銀行、支付機構或金融機構發行。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用途：電子貨幣主要用於線上和線下的支付交易，與實體貨幣等值，可以自由兌換成現金或用於購物。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例子：信用卡、借記卡、預付卡中的資金、第三方支付平台中的餘額。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法定性：受國家監管，通常與法定貨幣保持</a:t>
            </a:r>
            <a:r>
              <a:rPr lang="en-US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1:1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兌換。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特點：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可以通過銀行或第三方支付平台進行交易。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必須與法定貨幣掛鉤，通常受國家或金融監管機構的嚴格監控。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用戶需依賴銀行或第三方機構提供的支付服務。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F15166-E61E-0AE9-F823-02716C4C7FE1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4749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652196" y="311772"/>
            <a:ext cx="9318171" cy="6129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2. 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虛擬貨幣（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Virtual Currency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定義：虛擬貨幣是指一種不受政府或法定貨幣支持的數位貨幣，通常由私人機構發行並存在於特定網絡環境中。虛擬貨幣通常在線上平台、遊戲內部經濟或社區內流通。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發行者：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由私人機構、平台或社群創建和發行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，非政府或官方背書。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用途：通常在特定的網絡或遊戲中作為交易媒介，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並不一定能夠在現實世界中直接使用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例子：</a:t>
            </a:r>
            <a:r>
              <a:rPr lang="zh-TW" altLang="zh-TW" sz="20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線上遊戲中的金幣、虛擬社區的點數或代幣</a:t>
            </a: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法定性：不具備法定地位，沒有政府或中央機構背書。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特點：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通常在特定平台或網絡內流通，受限於該平臺的規則。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不一定與法定貨幣掛鉤，也不一定具備可兌換性。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sz="20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主要用於數位環境中的交易（如遊戲內購物、平台內交易）。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07ECD9-CB65-41F8-B8FE-F228079F6A84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98728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21D28FF-288A-EC07-1A75-6D444C881F23}"/>
              </a:ext>
            </a:extLst>
          </p:cNvPr>
          <p:cNvSpPr txBox="1"/>
          <p:nvPr/>
        </p:nvSpPr>
        <p:spPr>
          <a:xfrm>
            <a:off x="483572" y="30105"/>
            <a:ext cx="9702844" cy="6827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3. 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數位貨幣（</a:t>
            </a:r>
            <a:r>
              <a:rPr lang="en-US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Digital Currency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定義：數位貨幣泛指任何以數位形式存在的貨幣，它可以是法定貨幣的數位形式（如中央銀行數位貨幣，</a:t>
            </a:r>
            <a:r>
              <a:rPr lang="en-US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CBDC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），也可以包括加密貨幣。數位貨幣可以在互聯網和電子系統中進行交易，但它可以分為法定和非法定兩類。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發行者：可以由中央銀行（如</a:t>
            </a:r>
            <a:r>
              <a:rPr lang="en-US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CBDC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）或去中心化的社群（如比特幣）發行。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用途：可作為一種</a:t>
            </a:r>
            <a:r>
              <a:rPr lang="zh-TW" altLang="zh-TW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廣泛的支付工具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，既可以用於日常消費，也可以用於國際貿易，部分數位貨幣還可作為資產投資工具。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例子：數位人民幣、數位美元，比特幣、以太坊等加密貨幣。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法定性：中央銀行數位貨幣由政府發行並具有法定地位，加密貨幣則通常不受法定貨幣支持，根據國家政策不同，監管地位各異。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特點：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法定數位貨幣（如</a:t>
            </a:r>
            <a:r>
              <a:rPr lang="en-US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CBDC</a:t>
            </a: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）：由政府發行並具有法定地位，與實體貨幣具有同樣的功能和價值。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加密貨幣：去中心化，不由任何政府或單一機構控制，基於區塊鏈技術運行。</a:t>
            </a:r>
          </a:p>
          <a:p>
            <a:pPr marL="285750" lvl="0" indent="-285750" algn="just">
              <a:lnSpc>
                <a:spcPct val="150000"/>
              </a:lnSpc>
              <a:buSzPts val="1000"/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TW" altLang="zh-TW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可全球流通：在跨境支付和國際交易中，數位貨幣提供了高效的交易方式，降低了傳統支付系統的摩擦成本。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8706A38-949B-C010-5483-482850AB36A8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7864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1A6363F-83D9-1502-947E-AB7872176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866945"/>
              </p:ext>
            </p:extLst>
          </p:nvPr>
        </p:nvGraphicFramePr>
        <p:xfrm>
          <a:off x="447903" y="973802"/>
          <a:ext cx="9674505" cy="56163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5191">
                  <a:extLst>
                    <a:ext uri="{9D8B030D-6E8A-4147-A177-3AD203B41FA5}">
                      <a16:colId xmlns:a16="http://schemas.microsoft.com/office/drawing/2014/main" val="3717836798"/>
                    </a:ext>
                  </a:extLst>
                </a:gridCol>
                <a:gridCol w="2856438">
                  <a:extLst>
                    <a:ext uri="{9D8B030D-6E8A-4147-A177-3AD203B41FA5}">
                      <a16:colId xmlns:a16="http://schemas.microsoft.com/office/drawing/2014/main" val="4099589460"/>
                    </a:ext>
                  </a:extLst>
                </a:gridCol>
                <a:gridCol w="2856438">
                  <a:extLst>
                    <a:ext uri="{9D8B030D-6E8A-4147-A177-3AD203B41FA5}">
                      <a16:colId xmlns:a16="http://schemas.microsoft.com/office/drawing/2014/main" val="3496661757"/>
                    </a:ext>
                  </a:extLst>
                </a:gridCol>
                <a:gridCol w="2856438">
                  <a:extLst>
                    <a:ext uri="{9D8B030D-6E8A-4147-A177-3AD203B41FA5}">
                      <a16:colId xmlns:a16="http://schemas.microsoft.com/office/drawing/2014/main" val="2956952420"/>
                    </a:ext>
                  </a:extLst>
                </a:gridCol>
              </a:tblGrid>
              <a:tr h="347945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電子貨幣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虛擬貨幣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46550"/>
                  </a:ext>
                </a:extLst>
              </a:tr>
              <a:tr h="1106756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定義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以數位形式存在，與法定貨幣掛鉤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非法定貨幣，通常存在於特定平台內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以數位形式存在的貨幣，可包括</a:t>
                      </a:r>
                      <a:r>
                        <a:rPr lang="en-US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或加密貨幣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996400"/>
                  </a:ext>
                </a:extLst>
              </a:tr>
              <a:tr h="691062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發行者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銀行、金融機構、支付平台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私人機構、遊戲公司、社區平台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中央銀行或去中心化社群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90149"/>
                  </a:ext>
                </a:extLst>
              </a:tr>
              <a:tr h="1106756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法定性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與法定貨幣等值，受國家監管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沒有法定地位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取決於類型，</a:t>
                      </a:r>
                      <a:r>
                        <a:rPr lang="en-US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具法定性，加密貨幣則不具備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413817"/>
                  </a:ext>
                </a:extLst>
              </a:tr>
              <a:tr h="691062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用途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日常交易、購物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平台內交易或遊戲內購物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付款、投資、跨境支付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021527"/>
                  </a:ext>
                </a:extLst>
              </a:tr>
              <a:tr h="1058853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兌換性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可以與法定貨幣兌換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通常無法兌換成法定貨幣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可兌換，部分加密貨幣可與法定貨幣兌換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499094"/>
                  </a:ext>
                </a:extLst>
              </a:tr>
              <a:tr h="579824"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透明性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由發行機構控制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依賴於平台規則</a:t>
                      </a:r>
                      <a:endParaRPr lang="zh-TW" sz="2000" b="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2000" b="0" kern="1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依賴區塊鏈技術，部分透明</a:t>
                      </a:r>
                      <a:endParaRPr lang="zh-TW" sz="2000" b="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2144" marR="2144" marT="2144" marB="2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21191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5239D591-A77F-B6C2-6CB6-CEEC169AA16C}"/>
              </a:ext>
            </a:extLst>
          </p:cNvPr>
          <p:cNvSpPr txBox="1"/>
          <p:nvPr/>
        </p:nvSpPr>
        <p:spPr>
          <a:xfrm>
            <a:off x="694791" y="153219"/>
            <a:ext cx="6721930" cy="65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電子貨幣、虛擬貨幣</a:t>
            </a:r>
            <a:r>
              <a:rPr lang="zh-TW" altLang="en-US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、</a:t>
            </a:r>
            <a:r>
              <a:rPr lang="zh-TW" altLang="zh-TW" sz="2800" kern="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數位貨幣</a:t>
            </a:r>
            <a:r>
              <a:rPr lang="zh-TW" altLang="zh-TW" sz="2800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比較：</a:t>
            </a:r>
            <a:endParaRPr lang="en-US" altLang="zh-TW" sz="2800" kern="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98B50F-9D64-E9D9-8861-24B62C43C469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338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CED3-73F7-6F69-1BB7-C12582B5F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7C37E25-5D6D-CBBB-3187-25ECDFCAE817}"/>
              </a:ext>
            </a:extLst>
          </p:cNvPr>
          <p:cNvSpPr txBox="1"/>
          <p:nvPr/>
        </p:nvSpPr>
        <p:spPr>
          <a:xfrm>
            <a:off x="694944" y="239245"/>
            <a:ext cx="9217152" cy="1882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電子貨幣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0F36181-0325-7F60-AC2D-B2E72B3CD372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17085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D844-B469-5AE1-85B7-E73E594A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5FAC836-9C95-B3EE-2280-C1D4C466B819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電子貨幣</a:t>
            </a:r>
            <a:r>
              <a:rPr lang="en-US" altLang="zh-TW" sz="2000" dirty="0"/>
              <a:t>? 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A2B38AE-5013-7944-9D5D-F71419814651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F6A4DF-E836-6B93-705C-872DA912B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55049"/>
              </p:ext>
            </p:extLst>
          </p:nvPr>
        </p:nvGraphicFramePr>
        <p:xfrm>
          <a:off x="603504" y="3209544"/>
          <a:ext cx="9217152" cy="192283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定義摘要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8247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電子貨幣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Electronic Money）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以法定貨幣（例如新台幣）為基礎的數位支付工具，通常儲存在電子錢包或預付帳戶中，可用於消費、轉帳。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✅ 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屬於「電子支付」系統，實際仍以新台幣結算，帳戶餘額來自綁定銀行帳戶或信用卡。它代表的是現金的數位化，而非新的貨幣。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08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408F-D429-BAB2-7071-2443C20F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5FB9E97-4F85-F167-6CE9-82C3DE6B63D6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虛擬貨幣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AB2078-C634-7CD4-95A9-5E436779B6AE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48532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B338-0CC2-8231-2B80-B85B5D2F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E9AF1A8-4A1C-BD95-4917-F45BB5E65979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虛擬貨幣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否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2FEA6BE-E964-3ED2-D8AE-ABBFFDDC0F3F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435317-6CF8-01A5-DEB0-EEE01DC5E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68740"/>
              </p:ext>
            </p:extLst>
          </p:nvPr>
        </p:nvGraphicFramePr>
        <p:xfrm>
          <a:off x="603504" y="3209544"/>
          <a:ext cx="9217152" cy="164851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定義摘要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虛擬貨幣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Virtual Currency）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在特定平台中流通、不一定以法幣為基礎的數位代幣，例如遊戲點數、平台幣。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❌ 不是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沒有自家發行的獨立幣值（不像遊戲點數），只是支付管道。沒有脫離新台幣體系。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22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385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559A9-9B11-5730-4C20-47283022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CED2FBF-60EB-C884-1DBF-F0ABB1EC202B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數位貨幣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203B5A4-BF4F-2800-79E3-A1155D12928F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77881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F7DAC-4858-E93F-4CAC-41851ABB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8798D9C-5B97-DCA1-1FAD-16B72AF58906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數位貨幣</a:t>
            </a:r>
            <a:r>
              <a:rPr lang="en-US" altLang="zh-TW" sz="2000" dirty="0"/>
              <a:t>? 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BB74AD-FFC2-B518-16A7-E89988712212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7158735-2554-38D6-35F1-F1FE71EBF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96744"/>
              </p:ext>
            </p:extLst>
          </p:nvPr>
        </p:nvGraphicFramePr>
        <p:xfrm>
          <a:off x="603504" y="3209544"/>
          <a:ext cx="9217152" cy="192283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定義摘要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981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數位貨幣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Digital Currency）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廣義上指以數位形式存在的貨幣，包括電子貨幣、虛擬貨幣與加密貨幣。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✅ 是（廣義）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若從「所有非實體、以數位形式運作的貨幣」定義來看，</a:t>
                      </a: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屬於「數位貨幣」的一種應用。但它是「中心化」的數位貨幣，由 </a:t>
                      </a:r>
                      <a:r>
                        <a:rPr lang="en-US" altLang="zh-TW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公司與銀行合作管理。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79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072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1747-109B-0B7E-91CC-6A0BA52D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7598A25-9003-42AA-CBA1-C8B7D307831B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加密貨幣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F4158F6-6B27-8AA2-402F-49FC29F8B057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4143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9DD4C-1CB3-D5AA-C5FB-D32EB337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29B936D-A5DE-74E5-EF76-EF1470F5E210}"/>
              </a:ext>
            </a:extLst>
          </p:cNvPr>
          <p:cNvSpPr txBox="1"/>
          <p:nvPr/>
        </p:nvSpPr>
        <p:spPr>
          <a:xfrm>
            <a:off x="694944" y="239245"/>
            <a:ext cx="9217152" cy="142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加密貨幣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  <a:sym typeface="Wingdings 2" panose="05020102010507070707" pitchFamily="18" charset="2"/>
              </a:rPr>
              <a:t></a:t>
            </a:r>
            <a:r>
              <a:rPr lang="zh-TW" altLang="en-US" sz="2000" dirty="0">
                <a:solidFill>
                  <a:srgbClr val="FF0000"/>
                </a:solidFill>
              </a:rPr>
              <a:t>否 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BFA08DE-155E-AFC6-B336-8AA356BA3C3B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BCBCB06-B1AE-003A-3F3E-4B9781285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305311"/>
              </p:ext>
            </p:extLst>
          </p:nvPr>
        </p:nvGraphicFramePr>
        <p:xfrm>
          <a:off x="603504" y="3209544"/>
          <a:ext cx="9217152" cy="164851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984248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類別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定義摘要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LINE Pay </a:t>
                      </a:r>
                      <a:r>
                        <a:rPr lang="zh-TW" altLang="en-US" sz="1800" u="none" strike="noStrike">
                          <a:effectLst/>
                        </a:rPr>
                        <a:t>是否屬於此類？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加密貨幣</a:t>
                      </a:r>
                      <a:endParaRPr lang="en-US" altLang="zh-TW" sz="18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（</a:t>
                      </a:r>
                      <a:r>
                        <a:rPr lang="en-US" sz="1800" u="none" strike="noStrike" dirty="0">
                          <a:effectLst/>
                        </a:rPr>
                        <a:t>Cryptocurrency）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以區塊鏈與加密演算法為基礎、去中心化運作的數位貨幣，如比特幣、以太幣。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❌ 不是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沒有使用區塊鏈，也沒有去中心化特性；所有交易都由 </a:t>
                      </a:r>
                      <a:r>
                        <a:rPr lang="en-US" sz="18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800" u="none" strike="noStrike" dirty="0">
                          <a:effectLst/>
                        </a:rPr>
                        <a:t>平台集中管理與審核。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92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583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2343-B7AE-D2D6-E4DC-36B15F46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DC7D70A-785D-7A06-6D11-63BEFFDB2FA6}"/>
              </a:ext>
            </a:extLst>
          </p:cNvPr>
          <p:cNvSpPr txBox="1"/>
          <p:nvPr/>
        </p:nvSpPr>
        <p:spPr>
          <a:xfrm>
            <a:off x="694944" y="239245"/>
            <a:ext cx="9217152" cy="280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/>
              <a:t>LINE Pay</a:t>
            </a:r>
            <a:r>
              <a:rPr lang="zh-TW" altLang="en-US" sz="2000" dirty="0"/>
              <a:t>是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電子貨幣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虛擬貨幣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數位貨幣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加密貨幣</a:t>
            </a:r>
            <a:r>
              <a:rPr lang="en-US" altLang="zh-TW" sz="2000" dirty="0"/>
              <a:t>? 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是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 2" panose="05020102010507070707" pitchFamily="18" charset="2"/>
              </a:rPr>
              <a:t></a:t>
            </a:r>
            <a:r>
              <a:rPr lang="zh-TW" altLang="en-US" sz="2000" dirty="0"/>
              <a:t>否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8BFD16-04DF-2440-0BFF-3F19B22B5D6B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00D4B07-D391-6CD0-E361-B8139C64589D}"/>
              </a:ext>
            </a:extLst>
          </p:cNvPr>
          <p:cNvGraphicFramePr>
            <a:graphicFrameLocks noGrp="1"/>
          </p:cNvGraphicFramePr>
          <p:nvPr/>
        </p:nvGraphicFramePr>
        <p:xfrm>
          <a:off x="603504" y="3209544"/>
          <a:ext cx="9217152" cy="3116763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3788776684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178569638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3618665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93265999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類別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定義摘要</a:t>
                      </a:r>
                      <a:endParaRPr lang="zh-TW" altLang="en-US" sz="12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LINE Pay </a:t>
                      </a:r>
                      <a:r>
                        <a:rPr lang="zh-TW" altLang="en-US" sz="1200" u="none" strike="noStrike">
                          <a:effectLst/>
                        </a:rPr>
                        <a:t>是否屬於此類？</a:t>
                      </a:r>
                      <a:endParaRPr lang="zh-TW" altLang="en-US" sz="12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說明</a:t>
                      </a:r>
                      <a:endParaRPr lang="zh-TW" altLang="en-US" sz="12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650999"/>
                  </a:ext>
                </a:extLst>
              </a:tr>
              <a:tr h="8247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電子貨幣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Electronic Money）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以法定貨幣（例如新台幣）為基礎的數位支付工具，通常儲存在電子錢包或預付帳戶中，可用於消費、轉帳。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✅ 是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屬於「電子支付」系統，實際仍以新台幣結算，帳戶餘額來自綁定銀行帳戶或信用卡。它代表的是現金的數位化，而非新的貨幣。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5968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虛擬貨幣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Virtual Currency）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在特定平台中流通、不一定以法幣為基礎的數位代幣，例如遊戲點數、平台幣。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❌ 不是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沒有自家發行的獨立幣值（不像遊戲點數），只是支付管道。沒有脫離新台幣體系。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227559"/>
                  </a:ext>
                </a:extLst>
              </a:tr>
              <a:tr h="981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數位貨幣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Digital Currency）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>
                          <a:effectLst/>
                        </a:rPr>
                        <a:t>廣義上指以數位形式存在的貨幣，包括電子貨幣、虛擬貨幣與加密貨幣。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✅ 是（廣義）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若從「所有非實體、以數位形式運作的貨幣」定義來看，</a:t>
                      </a: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屬於「數位貨幣」的一種應用。但它是「中心化」的數位貨幣，由 </a:t>
                      </a:r>
                      <a:r>
                        <a:rPr lang="en-US" altLang="zh-TW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公司與銀行合作管理。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79578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加密貨幣</a:t>
                      </a:r>
                      <a:endParaRPr lang="en-US" altLang="zh-TW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（</a:t>
                      </a:r>
                      <a:r>
                        <a:rPr lang="en-US" sz="1200" u="none" strike="noStrike" dirty="0">
                          <a:effectLst/>
                        </a:rPr>
                        <a:t>Cryptocurrency）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以區塊鏈與加密演算法為基礎、去中心化運作的數位貨幣，如比特幣、以太幣。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200" u="none" strike="noStrike" dirty="0">
                          <a:effectLst/>
                        </a:rPr>
                        <a:t>❌ 不是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沒有使用區塊鏈，也沒有去中心化特性；所有交易都由 </a:t>
                      </a:r>
                      <a:r>
                        <a:rPr lang="en-US" sz="1200" u="none" strike="noStrike" dirty="0">
                          <a:effectLst/>
                        </a:rPr>
                        <a:t>LINE Pay </a:t>
                      </a:r>
                      <a:r>
                        <a:rPr lang="zh-TW" altLang="en-US" sz="1200" u="none" strike="noStrike" dirty="0">
                          <a:effectLst/>
                        </a:rPr>
                        <a:t>平台集中管理與審核。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97" marR="1297" marT="12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92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17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779975" y="190881"/>
            <a:ext cx="896753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發行機構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傳統貨幣：由政府或中央銀行發行，受到國家法律和政策的支持與管理。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虛擬貨幣：通常是去中心化的，由區塊鏈技術支持，如比特幣或以太幣，沒有單一機構控制。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實體性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傳統貨幣：具備實體形態，如紙幣和硬幣，同時也有電子形式（如銀行賬戶中的數位貨幣）。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虛擬貨幣：完全是數位形式，沒有實體的紙幣或硬幣，所有交易和儲存都在網路上進行。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價值穩定性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傳統貨幣：由於有政府和央行支持，通常較為穩定，但會受到通脹、經濟政策和國際局勢的影響。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虛擬貨幣：價格波動較大，受供需關係、技術發展、法律規範和市場情緒等影響，容易出現劇烈波動。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D39523-62DE-08A6-A563-8C6A4EBC0189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39531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44567" y="289679"/>
            <a:ext cx="872978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傳統貨幣：可以通過現金支付、銀行轉賬或信用卡交易，許多國家擁有發達的支付系統。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虛擬貨幣：交易主要通過區塊鏈網路進行，使用數字錢包和私鑰來進行交易，通常更快速，但對新手而言，操作可能較為複雜。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匿名性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傳統貨幣：現金交易具有一定的匿名性，但數字支付方式（如信用卡、銀行轉賬）大多需要身份驗證。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虛擬貨幣：雖然有一定程度的匿名性，特別是在去中心化的網路中，但許多政府正在加強監管，要求交易所實行“了解你的客戶”（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KYC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）規定。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法律地位與監管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傳統貨幣：完全合法，受到各國政府的監管，使用範圍廣泛。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虛擬貨幣：在某些國家是合法的，但許多國家對其持保留態度，監管框架還在發展中，某些國家甚至禁止虛擬貨幣的使用。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02428E5-6DC4-AE6A-59FB-7900D0AC42D6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71919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915779" y="289679"/>
            <a:ext cx="880429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安全性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傳統貨幣：受中央機構保護，如銀行和政府，雖然有盜竊和欺詐風險，但通常能透過監管機制進行補償。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虛擬貨幣：區塊鏈技術本身相對安全，但使用不當（如私鑰丟失、詐騙）可能導致無法挽回的損失。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跨境交易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傳統貨幣：跨境交易通常需要通過銀行系統或國際轉賬服務，手續費較高且時間較長。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虛擬貨幣：適合跨境交易，因為它不受國界限制，交易速度快且手續費較低。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供應量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傳統貨幣：央行可以根據經濟狀況調節貨幣供應量，可能會造成通脹或通縮。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虛擬貨幣：如比特幣，通常有固定的總量上限（如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2100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萬枚），不會像傳統貨幣那樣無限發行。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5DBFBD-20AC-A35D-2C3E-5379F3AD5E28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0439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CBA4B6-4393-3837-E2A1-FDE7E3DF206B}"/>
              </a:ext>
            </a:extLst>
          </p:cNvPr>
          <p:cNvSpPr txBox="1"/>
          <p:nvPr/>
        </p:nvSpPr>
        <p:spPr>
          <a:xfrm>
            <a:off x="1182311" y="474345"/>
            <a:ext cx="86566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800" dirty="0">
                <a:solidFill>
                  <a:srgbClr val="FF0000"/>
                </a:solidFill>
              </a:rPr>
              <a:t>傳統貨幣</a:t>
            </a:r>
            <a:r>
              <a:rPr lang="zh-TW" altLang="en-US" sz="2800" dirty="0"/>
              <a:t>與</a:t>
            </a:r>
            <a:r>
              <a:rPr lang="zh-TW" altLang="en-US" sz="2800" dirty="0">
                <a:solidFill>
                  <a:srgbClr val="FF0000"/>
                </a:solidFill>
              </a:rPr>
              <a:t>虛擬貨幣</a:t>
            </a:r>
            <a:r>
              <a:rPr lang="zh-TW" altLang="en-US" sz="2800" dirty="0"/>
              <a:t>的主要比較：</a:t>
            </a:r>
            <a:r>
              <a:rPr lang="zh-TW" altLang="zh-TW" sz="2800" kern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endParaRPr lang="en-US" altLang="zh-TW" sz="2800" kern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接受度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傳統貨幣：全球大多數國家和商家都接受，日常生活中普遍使用。</a:t>
            </a: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虛擬貨幣：接受度仍然有限，雖然一些商家接受虛擬貨幣，但普遍使用率不高，且不同國家的接受度差異很大。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綜上所述，傳統貨幣在穩定性和普及性上更具優勢，但虛擬貨幣在跨境交易、去中心化和創新性方面表現突出。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191FFE-57DD-DA41-5D65-0521F0AD20CB}"/>
              </a:ext>
            </a:extLst>
          </p:cNvPr>
          <p:cNvSpPr txBox="1"/>
          <p:nvPr/>
        </p:nvSpPr>
        <p:spPr>
          <a:xfrm>
            <a:off x="10315075" y="1207008"/>
            <a:ext cx="1700141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主題三：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各種貨幣的比較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1749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C4E6D-ED41-3B9C-A04D-0DD72A5B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</p:spPr>
        <p:txBody>
          <a:bodyPr/>
          <a:lstStyle/>
          <a:p>
            <a:r>
              <a:rPr lang="zh-TW" altLang="en-US" dirty="0"/>
              <a:t>加密貨幣與傳統貨幣的比較</a:t>
            </a:r>
            <a:endParaRPr lang="en-US" dirty="0"/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FF220D15-C864-12C9-055A-DB44DD16F45E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578348576"/>
              </p:ext>
            </p:extLst>
          </p:nvPr>
        </p:nvGraphicFramePr>
        <p:xfrm>
          <a:off x="777240" y="2093913"/>
          <a:ext cx="10848702" cy="321317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640874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3616234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3591594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</a:tblGrid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比較項目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加密貨幣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傳統貨幣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發行機構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無中央機構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政府</a:t>
                      </a:r>
                      <a:r>
                        <a:rPr lang="en-US" altLang="zh-TW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可追蹤性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半匿名</a:t>
                      </a:r>
                      <a:r>
                        <a:rPr lang="en-US" altLang="zh-TW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可追蹤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高度監控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儲存方式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數位錢包</a:t>
                      </a:r>
                      <a:endParaRPr lang="zh-TW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24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銀行帳戶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10C35-A628-0DFD-9B82-B9D92A99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73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619F67-F861-9306-E9A8-3442F8BA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957" y="171691"/>
            <a:ext cx="6577717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第二部分：數位貨幣的應用</a:t>
            </a:r>
            <a:endParaRPr lang="en-US" sz="32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57DFF05-1FA0-2591-995F-AFF5F3361A07}"/>
              </a:ext>
            </a:extLst>
          </p:cNvPr>
          <p:cNvSpPr txBox="1">
            <a:spLocks/>
          </p:cNvSpPr>
          <p:nvPr/>
        </p:nvSpPr>
        <p:spPr>
          <a:xfrm>
            <a:off x="5371958" y="1030205"/>
            <a:ext cx="6577716" cy="56821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主題一：國際轉帳（如 </a:t>
            </a:r>
            <a:r>
              <a:rPr lang="en-US" altLang="zh-TW" sz="2400" dirty="0"/>
              <a:t>Ripple</a:t>
            </a:r>
            <a:r>
              <a:rPr lang="zh-TW" altLang="en-US" sz="2400" dirty="0"/>
              <a:t>）</a:t>
            </a:r>
            <a:endParaRPr lang="en-US" altLang="zh-TW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主題二：穩定幣（如 </a:t>
            </a:r>
            <a:r>
              <a:rPr lang="en-US" altLang="zh-TW" sz="2400" dirty="0"/>
              <a:t>USDT</a:t>
            </a:r>
            <a:r>
              <a:rPr lang="zh-TW" altLang="en-US" sz="2400" dirty="0"/>
              <a:t>、</a:t>
            </a:r>
            <a:r>
              <a:rPr lang="en-US" altLang="zh-TW" sz="2400" dirty="0"/>
              <a:t>USDC</a:t>
            </a:r>
            <a:r>
              <a:rPr lang="zh-TW" altLang="en-US" sz="2400" dirty="0"/>
              <a:t>）</a:t>
            </a:r>
            <a:endParaRPr lang="en-US" altLang="zh-TW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主題三：去中心化金融（</a:t>
            </a:r>
            <a:r>
              <a:rPr lang="en-US" altLang="zh-TW" sz="2400" dirty="0"/>
              <a:t>DeFi</a:t>
            </a:r>
            <a:r>
              <a:rPr lang="zh-TW" altLang="en-US" sz="2400" dirty="0"/>
              <a:t>）</a:t>
            </a:r>
            <a:endParaRPr lang="en-US" altLang="zh-TW" sz="2400" dirty="0"/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TW" altLang="en-US" sz="2400" dirty="0"/>
              <a:t>主題四：非同質化代幣（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735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8DEA-2D82-DFC1-5199-C6F3628F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45C2C3-9F5A-5CB6-6BCB-FEDD1F01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67889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數位貨幣應用場景</a:t>
            </a:r>
            <a:endParaRPr lang="en-US" sz="3200" dirty="0"/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37BA9B9C-8D7D-33DA-1812-49AB6030B877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381653455"/>
              </p:ext>
            </p:extLst>
          </p:nvPr>
        </p:nvGraphicFramePr>
        <p:xfrm>
          <a:off x="777240" y="1166217"/>
          <a:ext cx="10848702" cy="521146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3602736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5545182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</a:tblGrid>
              <a:tr h="8032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應用場景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說明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實例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國際轉帳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利用區塊鏈進行跨境支付，取代傳統銀行系統（如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SWIFT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），速度更快、手續費更低。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 (XRP)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zh-TW" sz="1800" b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RippleNet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平台讓銀行與支付機構能即時完成國際匯款。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相較於傳統跨境轉帳需要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～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天，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Ripple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可以在數秒完成。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穩定幣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USDT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USDC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與美元或其他資產掛鉤的加密貨幣，目的是降低價格波動。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Tether (USDT)</a:t>
                      </a:r>
                      <a:endParaRPr lang="zh-TW" altLang="en-US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與美元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1:1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挂鉤。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常用於交易所中，讓投資者在不同加密貨幣之間快速切換，避免劇烈波動。</a:t>
                      </a: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去中心化金融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DeFi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在區塊鏈上提供傳統金融服務（借貸、交易、保險）而不需銀行等中介。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Aave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（去中心化借貸平台）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用戶可將加密貨幣存入平台獲得利息，或用加密資產作為抵押借款。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完全由智慧合約自動執行，無需銀行審核。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803294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非同質化代幣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一種「獨一無二」的數位資產憑證，通常代表藝術品、音樂、遊戲物品或虛擬地產。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案例：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NBA Top Shot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NBA 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精彩比賽片段製作成 </a:t>
                      </a:r>
                      <a:r>
                        <a:rPr lang="en-US" altLang="zh-TW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，球迷可收藏或交易，價格依稀缺性而定。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44809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F4703-BE6E-694E-C4DF-3DD93CFF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28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F45F-C6EE-7685-E718-5B693069A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82FB9E0-B6DD-8E45-C477-B15BD74B22DE}"/>
              </a:ext>
            </a:extLst>
          </p:cNvPr>
          <p:cNvSpPr txBox="1"/>
          <p:nvPr/>
        </p:nvSpPr>
        <p:spPr>
          <a:xfrm>
            <a:off x="481584" y="705589"/>
            <a:ext cx="9184988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國際轉帳：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國際轉帳（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Cross-Border Payment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）是指跨國之間的資金移轉。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傳統透過銀行系統（如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SWIFT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）完成，流程繁瑣、手續費高、耗時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應用數位貨幣（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Currency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）國際轉帳：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利用區塊鏈技術進行跨境支付。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能在不同國家之間快速、安全地完成資金轉移，降低中介成本與時間延遲。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應用優勢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62E0FFE-39B7-E9EF-2D81-3F5C1A5895C5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主題一：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國際轉帳</a:t>
            </a:r>
            <a:endParaRPr lang="en-US" altLang="zh-TW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A4E3654-DBA0-1C85-6F0E-E5669E7E5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306733"/>
              </p:ext>
            </p:extLst>
          </p:nvPr>
        </p:nvGraphicFramePr>
        <p:xfrm>
          <a:off x="481584" y="4067199"/>
          <a:ext cx="11484864" cy="1886743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5742432">
                  <a:extLst>
                    <a:ext uri="{9D8B030D-6E8A-4147-A177-3AD203B41FA5}">
                      <a16:colId xmlns:a16="http://schemas.microsoft.com/office/drawing/2014/main" val="3297918572"/>
                    </a:ext>
                  </a:extLst>
                </a:gridCol>
                <a:gridCol w="5742432">
                  <a:extLst>
                    <a:ext uri="{9D8B030D-6E8A-4147-A177-3AD203B41FA5}">
                      <a16:colId xmlns:a16="http://schemas.microsoft.com/office/drawing/2014/main" val="734168003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傳統匯款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數位貨幣轉帳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093642"/>
                  </a:ext>
                </a:extLst>
              </a:tr>
              <a:tr h="428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手續費高、需透過多家銀行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點對點直接轉帳，費用低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060653"/>
                  </a:ext>
                </a:extLst>
              </a:tr>
              <a:tr h="321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匯款需數天入帳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幾分鐘內即可完成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154348"/>
                  </a:ext>
                </a:extLst>
              </a:tr>
              <a:tr h="428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資料透明度低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區塊鏈可追蹤、具透明性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54790"/>
                  </a:ext>
                </a:extLst>
              </a:tr>
              <a:tr h="42866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dirty="0"/>
                        <a:t>付款人 → 本地銀行 → 中間銀行 → 收款銀行 → 收款人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zh-TW" altLang="en-US" sz="1800" dirty="0"/>
                        <a:t>付款人 → 區塊鏈網路（</a:t>
                      </a:r>
                      <a:r>
                        <a:rPr lang="en-US" altLang="zh-TW" sz="1800" dirty="0" err="1"/>
                        <a:t>RippleNet</a:t>
                      </a:r>
                      <a:r>
                        <a:rPr lang="zh-TW" altLang="en-US" sz="1800" dirty="0"/>
                        <a:t>）→ 收款銀行 → 收款人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815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478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7871-1D03-6BA8-D7B8-B3150682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63DDAA3-8A0C-CBF2-42A4-F5D1E107C297}"/>
              </a:ext>
            </a:extLst>
          </p:cNvPr>
          <p:cNvSpPr txBox="1"/>
          <p:nvPr/>
        </p:nvSpPr>
        <p:spPr>
          <a:xfrm>
            <a:off x="713232" y="705589"/>
            <a:ext cx="8953340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國際轉帳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SinoPac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（永豐銀行）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RippleNet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國際匯款系統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永豐銀行自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2018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年起導入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RippleNet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區塊鏈跨境支付平台。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可即時處理美元、日圓、菲律賓披索等跨境匯款。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匯款時間由傳統的「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天」縮短為「數分鐘」。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目前與日本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SBI Remit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、新加坡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InstaReM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等合作夥伴串接。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此為臺灣首批導入區塊鏈國際匯款的商業銀行案例。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99A645A-7A39-796A-8CFA-0B6329B539DB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主題一：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國際轉帳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430495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2B54-87FA-B39D-0878-1F358A75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4B51954-BB7A-2C64-E2C7-5F49703DB983}"/>
              </a:ext>
            </a:extLst>
          </p:cNvPr>
          <p:cNvSpPr txBox="1"/>
          <p:nvPr/>
        </p:nvSpPr>
        <p:spPr>
          <a:xfrm>
            <a:off x="481584" y="705589"/>
            <a:ext cx="9184988" cy="37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Stablecoin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是一種 與法定貨幣或資產掛鉤的數位貨幣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目的在於降低加密貨幣價格波動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常以「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枚穩定幣 ≈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美元（或等值資產）」的方式運作。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運作方式：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由發行機構保留等值資產作為儲備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確保穩定幣能隨時以固定比率兌換。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應用特點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680FCB-327D-FD91-1882-010C729174FF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主題二：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穩定幣</a:t>
            </a:r>
            <a:endParaRPr lang="en-US" altLang="zh-TW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219D98-81B9-1A81-6777-47AF0A471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065884"/>
              </p:ext>
            </p:extLst>
          </p:nvPr>
        </p:nvGraphicFramePr>
        <p:xfrm>
          <a:off x="950976" y="4434687"/>
          <a:ext cx="8567928" cy="1650227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283964">
                  <a:extLst>
                    <a:ext uri="{9D8B030D-6E8A-4147-A177-3AD203B41FA5}">
                      <a16:colId xmlns:a16="http://schemas.microsoft.com/office/drawing/2014/main" val="3457776481"/>
                    </a:ext>
                  </a:extLst>
                </a:gridCol>
                <a:gridCol w="4283964">
                  <a:extLst>
                    <a:ext uri="{9D8B030D-6E8A-4147-A177-3AD203B41FA5}">
                      <a16:colId xmlns:a16="http://schemas.microsoft.com/office/drawing/2014/main" val="3469655851"/>
                    </a:ext>
                  </a:extLst>
                </a:gridCol>
              </a:tblGrid>
              <a:tr h="210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傳統加密貨幣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穩定幣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116619"/>
                  </a:ext>
                </a:extLst>
              </a:tr>
              <a:tr h="42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價格波動劇烈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價格穩定、可作為交易媒介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044592"/>
                  </a:ext>
                </a:extLst>
              </a:tr>
              <a:tr h="421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不適合日常支付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適合跨境匯款與商業支付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021977"/>
                  </a:ext>
                </a:extLst>
              </a:tr>
              <a:tr h="5274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投機為主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實際應用為主（例如匯款、支付）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1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140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1374C-7CCE-5B0D-BB8F-8CF8C419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23F081-F79D-CB41-97AD-FEF272F6EC4F}"/>
              </a:ext>
            </a:extLst>
          </p:cNvPr>
          <p:cNvSpPr txBox="1"/>
          <p:nvPr/>
        </p:nvSpPr>
        <p:spPr>
          <a:xfrm>
            <a:off x="713232" y="705589"/>
            <a:ext cx="9217152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交易所穩定幣跨境支付服務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是臺灣金融科技新創公司，主打「區塊鏈跨境金融服務」。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提供企業與自由工作者以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／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（美元掛鉤穩定幣） 進行跨境收付款。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透過穩定幣轉帳，可即時完成美金結算、手續費低、匯率透明。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也與 台灣銀行 合作推動合規金流，確保反洗錢與稅務透明。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此為臺灣穩定幣實際應用於「跨境支付與中小企業收款」的範例。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F26C39-81FE-CA91-CF1F-AC8717B2DBC1}"/>
              </a:ext>
            </a:extLst>
          </p:cNvPr>
          <p:cNvSpPr txBox="1"/>
          <p:nvPr/>
        </p:nvSpPr>
        <p:spPr>
          <a:xfrm>
            <a:off x="10204705" y="1207008"/>
            <a:ext cx="1987296" cy="1132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主題一：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國際轉帳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992618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9ADD-28C5-13F5-703A-52D56D74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8480105-DBF2-323A-54C8-090E1072883E}"/>
              </a:ext>
            </a:extLst>
          </p:cNvPr>
          <p:cNvSpPr txBox="1"/>
          <p:nvPr/>
        </p:nvSpPr>
        <p:spPr>
          <a:xfrm>
            <a:off x="402336" y="378295"/>
            <a:ext cx="11183112" cy="587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是一家總部位於臺北的臺灣金融科技（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FinTech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新創公司，其核心業務確實主打區塊鏈跨境金融服務，目標是透過區塊鏈技術解決新興市場（如印度、東南亞、中南美洲、非洲等）在跨境交易中面臨的美元流動性不足、高成本和效率低等問題，實現金融普惠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Financial Inclusion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）。以下是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的主要特點和業務：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的核心業務與特色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區塊鏈跨境金融服務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成立初期便專注於跨境支付，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為國際貿易商和企業提供創新的金融解決方案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穩定幣與法幣轉換： 利用美元穩定幣（與美元 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1:1 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掛鉤的加密貨幣）作為中介，幫助在新興市場難以取得美元的企業進行國際貿易，解決外匯問題。</a:t>
            </a:r>
            <a:endParaRPr lang="en-US" altLang="zh-TW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國際匯款加速： 運用區塊鏈技術加速跨境支付與國際匯款，大幅降低成本與時間。</a:t>
            </a:r>
            <a:endParaRPr lang="en-US" altLang="zh-TW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加密貨幣交易平臺</a:t>
            </a:r>
            <a:endParaRPr lang="en-US" altLang="zh-TW" sz="1200" dirty="0">
              <a:solidFill>
                <a:srgbClr val="3399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除了跨境服務，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也發展成為一個功能完整的加密貨幣交易所，服務對象從企業擴展到一般個人用戶。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合規與安全：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積極遵循各地法規，例如已完成臺灣金管會的洗錢防制法令遵循聲明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登記，並持有美國、加拿大、新加坡等多國的相關牌照或許可，非常注重 **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KYC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（認識你的客戶）**和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（反洗錢）。創辦團隊具有深厚的資安背景，保障平臺安全。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法幣出入金便利： 提供**新臺幣（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TWD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）和美元（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）**的出入金服務，方便臺灣用戶進行法幣與加密貨幣的轉換。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創新金融工具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推出多項創新產品，以提升交易安全和便利性：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 err="1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BitCheck</a:t>
            </a:r>
            <a:r>
              <a:rPr lang="zh-TW" altLang="en-US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（履約保證數位支票）： 這是一個線上 </a:t>
            </a:r>
            <a:r>
              <a:rPr lang="en-US" altLang="zh-TW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P2P </a:t>
            </a:r>
            <a:r>
              <a:rPr lang="zh-TW" altLang="en-US" sz="1200" dirty="0">
                <a:solidFill>
                  <a:srgbClr val="3399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支付方式，具備履約保證功能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。交易資金會由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暫時託管，只有在買賣雙方確認履約完成後才會放行資金，能有效降低交易風險，防止詐騙。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XRAY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（監管科技工具）： 這是一項區塊鏈金流追蹤和反洗錢技術，可協助檢警調等單位精準辨識區塊鏈錢包地址與風險等級，打擊金融犯罪。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國際佈局與願景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雖然是臺灣新創，但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具有全球視野，積極與國際銀行、監管單位合作，致力於成為區塊鏈金融與傳統金融之間的橋樑，最終目標是透過區塊鏈技術，實現一個更平等、快速、低成本的全球金融體系。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總結來說，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不僅是一個加密貨幣交易所，更是一個以區塊鏈技術為基礎，提供安全、合規、高標準跨境與數位資產服務的新金融科技（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neo fintech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）集團。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7532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BE83-8B0D-BACB-565F-162A5217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6A5B649-917B-85BD-AE8E-9228EE4178C7}"/>
              </a:ext>
            </a:extLst>
          </p:cNvPr>
          <p:cNvSpPr txBox="1"/>
          <p:nvPr/>
        </p:nvSpPr>
        <p:spPr>
          <a:xfrm>
            <a:off x="481584" y="705589"/>
            <a:ext cx="9184988" cy="2805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去中心化金融（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Decentralized Finance, DeFi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是利用 區塊鏈與智慧合約（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Smart Contract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建立一套不依賴銀行或金融機構的開放式金融系統。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使用者可直接在區塊鏈上進行：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轉帳、借貸、投資、保險與交易等服務，無須透過中介機構。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主要特色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098B865-A114-17FD-8C68-026FA8D08261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主題三：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去中心化金融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DeFi</a:t>
            </a:r>
            <a:r>
              <a:rPr lang="zh-TW" altLang="en-US" sz="2400" dirty="0"/>
              <a:t>）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6466FF-852B-8101-34BD-FEEA64BCE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203039"/>
              </p:ext>
            </p:extLst>
          </p:nvPr>
        </p:nvGraphicFramePr>
        <p:xfrm>
          <a:off x="931164" y="3511357"/>
          <a:ext cx="8542020" cy="292602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271010">
                  <a:extLst>
                    <a:ext uri="{9D8B030D-6E8A-4147-A177-3AD203B41FA5}">
                      <a16:colId xmlns:a16="http://schemas.microsoft.com/office/drawing/2014/main" val="748352296"/>
                    </a:ext>
                  </a:extLst>
                </a:gridCol>
                <a:gridCol w="4271010">
                  <a:extLst>
                    <a:ext uri="{9D8B030D-6E8A-4147-A177-3AD203B41FA5}">
                      <a16:colId xmlns:a16="http://schemas.microsoft.com/office/drawing/2014/main" val="3908978150"/>
                    </a:ext>
                  </a:extLst>
                </a:gridCol>
              </a:tblGrid>
              <a:tr h="6882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傳統金融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去中心化金融（</a:t>
                      </a:r>
                      <a:r>
                        <a:rPr lang="en-US" sz="1800" u="none" strike="noStrike" dirty="0">
                          <a:effectLst/>
                        </a:rPr>
                        <a:t>DeFi）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36670"/>
                  </a:ext>
                </a:extLst>
              </a:tr>
              <a:tr h="516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需經銀行或政府核准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任何人皆可使用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152982"/>
                  </a:ext>
                </a:extLst>
              </a:tr>
              <a:tr h="516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交易需人工審核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智慧合約自動執行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117833"/>
                  </a:ext>
                </a:extLst>
              </a:tr>
              <a:tr h="516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時間長、成本高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TW" sz="1800" u="none" strike="noStrike">
                          <a:effectLst/>
                        </a:rPr>
                        <a:t>24 </a:t>
                      </a:r>
                      <a:r>
                        <a:rPr lang="zh-TW" altLang="en-US" sz="1800" u="none" strike="noStrike">
                          <a:effectLst/>
                        </a:rPr>
                        <a:t>小時即時、成本低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714424"/>
                  </a:ext>
                </a:extLst>
              </a:tr>
              <a:tr h="6882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</a:rPr>
                        <a:t>受地區限制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</a:rPr>
                        <a:t>全球化運作、跨境自由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653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27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2E9E-3DFF-3F5D-94F4-5274A6A7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C286AA9-CACB-99AB-E6C9-6BBABDB3F94C}"/>
              </a:ext>
            </a:extLst>
          </p:cNvPr>
          <p:cNvSpPr txBox="1"/>
          <p:nvPr/>
        </p:nvSpPr>
        <p:spPr>
          <a:xfrm>
            <a:off x="713232" y="705589"/>
            <a:ext cx="9217152" cy="5114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去中心化金融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XREX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BitCheck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」跨境信任支付服務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sz="2000" dirty="0"/>
              <a:t>XREX</a:t>
            </a:r>
            <a:r>
              <a:rPr lang="zh-TW" altLang="en-US" sz="2000" dirty="0"/>
              <a:t>（臺灣區塊鏈金融科技公司）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結合 </a:t>
            </a:r>
            <a:r>
              <a:rPr lang="en-US" altLang="zh-TW" sz="2000" dirty="0"/>
              <a:t>DeFi </a:t>
            </a:r>
            <a:r>
              <a:rPr lang="zh-TW" altLang="en-US" sz="2000" dirty="0"/>
              <a:t>概念 </a:t>
            </a:r>
            <a:r>
              <a:rPr lang="en-US" altLang="zh-TW" sz="2000" dirty="0"/>
              <a:t>+ </a:t>
            </a:r>
            <a:r>
              <a:rPr lang="zh-TW" altLang="en-US" sz="2000" dirty="0"/>
              <a:t>合規金融，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讓中小企業可用 穩定幣（</a:t>
            </a:r>
            <a:r>
              <a:rPr lang="en-US" altLang="zh-TW" sz="2000" dirty="0"/>
              <a:t>USDT</a:t>
            </a:r>
            <a:r>
              <a:rPr lang="zh-TW" altLang="en-US" sz="2000" dirty="0"/>
              <a:t>、</a:t>
            </a:r>
            <a:r>
              <a:rPr lang="en-US" altLang="zh-TW" sz="2000" dirty="0"/>
              <a:t>USDC</a:t>
            </a:r>
            <a:r>
              <a:rPr lang="zh-TW" altLang="en-US" sz="2000" dirty="0"/>
              <a:t>） 進行跨境交易。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「</a:t>
            </a:r>
            <a:r>
              <a:rPr lang="en-US" altLang="zh-TW" sz="2000" dirty="0" err="1"/>
              <a:t>BitCheck</a:t>
            </a:r>
            <a:r>
              <a:rPr lang="zh-TW" altLang="en-US" sz="2000" dirty="0"/>
              <a:t>」為智慧合約機制：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交易雙方資金托管於區塊鏈智能合約中；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雙方確認收貨與付款後，智能合約自動釋放資金。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實現「無需信任第三方、交易自動完成」的 </a:t>
            </a:r>
            <a:r>
              <a:rPr lang="en-US" altLang="zh-TW" sz="2000" dirty="0"/>
              <a:t>DeFi </a:t>
            </a:r>
            <a:r>
              <a:rPr lang="zh-TW" altLang="en-US" sz="2000" dirty="0"/>
              <a:t>精神。</a:t>
            </a:r>
            <a:endParaRPr lang="en-US" altLang="zh-TW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000" dirty="0"/>
              <a:t>XREX </a:t>
            </a:r>
            <a:r>
              <a:rPr lang="zh-TW" altLang="en-US" sz="2000" dirty="0"/>
              <a:t>是臺灣少數獲金管會登錄之合法虛擬資產業者，並實踐 </a:t>
            </a:r>
            <a:r>
              <a:rPr lang="en-US" altLang="zh-TW" sz="2000" dirty="0"/>
              <a:t>DeFi </a:t>
            </a:r>
            <a:r>
              <a:rPr lang="zh-TW" altLang="en-US" sz="2000" dirty="0"/>
              <a:t>應用於商業交易。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2C10723-D5F5-1B0A-87A6-24F2946F8262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主題三：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去中心化金融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DeFi</a:t>
            </a:r>
            <a:r>
              <a:rPr lang="zh-TW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82421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AC1E-F4B2-2371-109E-05C639C2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83207A2-95A8-EB37-CDA3-71793395E3BC}"/>
              </a:ext>
            </a:extLst>
          </p:cNvPr>
          <p:cNvSpPr txBox="1"/>
          <p:nvPr/>
        </p:nvSpPr>
        <p:spPr>
          <a:xfrm>
            <a:off x="481584" y="705589"/>
            <a:ext cx="9184988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非同質化代幣（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Non-Fungible Token, NFT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0000" algn="just">
              <a:lnSpc>
                <a:spcPct val="150000"/>
              </a:lnSpc>
            </a:pPr>
            <a:r>
              <a:rPr lang="zh-TW" altLang="en-US" sz="2000" dirty="0"/>
              <a:t>是一種建立在區塊鏈上的 「唯一且不可取代的數位資產憑證」，代表某項特定數位內容（如藝術品、音樂、影片、收藏品等）的所有權或真偽記錄。</a:t>
            </a:r>
            <a:endParaRPr lang="en-US" altLang="zh-TW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NFT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皆有獨立編號與交易紀錄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無法像加密貨幣（如比特幣）那樣一對一互換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常以數位貨幣（例如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ETH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USDT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）作為交易媒介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/>
              <a:t>NFT </a:t>
            </a:r>
            <a:r>
              <a:rPr lang="zh-TW" altLang="en-US" sz="2000" dirty="0"/>
              <a:t>的特性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8911063-9F5A-2251-07F9-682ACE8E4048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主題四：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非同質化代幣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5C6DBD3-49BE-394F-B0C6-3045C606D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292377"/>
              </p:ext>
            </p:extLst>
          </p:nvPr>
        </p:nvGraphicFramePr>
        <p:xfrm>
          <a:off x="949452" y="3973023"/>
          <a:ext cx="8432292" cy="2692954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4216146">
                  <a:extLst>
                    <a:ext uri="{9D8B030D-6E8A-4147-A177-3AD203B41FA5}">
                      <a16:colId xmlns:a16="http://schemas.microsoft.com/office/drawing/2014/main" val="869637728"/>
                    </a:ext>
                  </a:extLst>
                </a:gridCol>
                <a:gridCol w="4216146">
                  <a:extLst>
                    <a:ext uri="{9D8B030D-6E8A-4147-A177-3AD203B41FA5}">
                      <a16:colId xmlns:a16="http://schemas.microsoft.com/office/drawing/2014/main" val="3951168634"/>
                    </a:ext>
                  </a:extLst>
                </a:gridCol>
              </a:tblGrid>
              <a:tr h="4489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傳統數位內容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（非同質化代幣）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329355"/>
                  </a:ext>
                </a:extLst>
              </a:tr>
              <a:tr h="74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易被複製、無法驗證真偽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擁有唯一區塊鏈編號，可追蹤來源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732868"/>
                  </a:ext>
                </a:extLst>
              </a:tr>
              <a:tr h="74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難以確認所有權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透過智能合約明確記錄擁有者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060602"/>
                  </a:ext>
                </a:extLst>
              </a:tr>
              <a:tr h="74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無法直接交易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可於全球 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NFT 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平台上買賣、拍賣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 anchor="ctr"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48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871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F8E08-3063-462F-C900-4F7F92F6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FDD3FA4-85DB-BC1B-90C6-E01E4CB443FD}"/>
              </a:ext>
            </a:extLst>
          </p:cNvPr>
          <p:cNvSpPr txBox="1"/>
          <p:nvPr/>
        </p:nvSpPr>
        <p:spPr>
          <a:xfrm>
            <a:off x="713232" y="705589"/>
            <a:ext cx="9217152" cy="5114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非同質化代幣</a:t>
            </a:r>
            <a:r>
              <a:rPr lang="zh-TW" altLang="en-US" sz="2000" dirty="0"/>
              <a:t>臺灣實例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實例：中華職棒（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CPBL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NFT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球星收藏卡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中華職棒聯盟與 </a:t>
            </a:r>
            <a:r>
              <a:rPr lang="en-US" altLang="zh-TW" sz="2000" dirty="0" err="1"/>
              <a:t>Blocto</a:t>
            </a:r>
            <a:r>
              <a:rPr lang="zh-TW" altLang="en-US" sz="2000" dirty="0"/>
              <a:t>（台灣區塊鏈公司）合作推出 </a:t>
            </a:r>
            <a:r>
              <a:rPr lang="en-US" altLang="zh-TW" sz="2000" dirty="0"/>
              <a:t>NFT </a:t>
            </a:r>
            <a:r>
              <a:rPr lang="zh-TW" altLang="en-US" sz="2000" dirty="0"/>
              <a:t>球員卡。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球迷可透過 </a:t>
            </a:r>
            <a:r>
              <a:rPr lang="en-US" altLang="zh-TW" sz="2000" dirty="0" err="1"/>
              <a:t>Blocto</a:t>
            </a:r>
            <a:r>
              <a:rPr lang="en-US" altLang="zh-TW" sz="2000" dirty="0"/>
              <a:t> App</a:t>
            </a:r>
            <a:r>
              <a:rPr lang="zh-TW" altLang="en-US" sz="2000" dirty="0"/>
              <a:t>（</a:t>
            </a:r>
            <a:r>
              <a:rPr lang="en-US" altLang="zh-TW" sz="2000" dirty="0"/>
              <a:t>Flow </a:t>
            </a:r>
            <a:r>
              <a:rPr lang="zh-TW" altLang="en-US" sz="2000" dirty="0"/>
              <a:t>區塊鏈） 使用 </a:t>
            </a:r>
            <a:r>
              <a:rPr lang="en-US" altLang="zh-TW" sz="2000" dirty="0"/>
              <a:t>USDC </a:t>
            </a:r>
            <a:r>
              <a:rPr lang="zh-TW" altLang="en-US" sz="2000" dirty="0"/>
              <a:t>穩定幣 購買球星卡。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每張卡皆具備：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球員專屬序號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交易紀錄可追溯</a:t>
            </a:r>
            <a:endParaRPr lang="en-US" altLang="zh-TW" sz="2000" dirty="0"/>
          </a:p>
          <a:p>
            <a:pPr marL="106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2000" dirty="0"/>
              <a:t>稀有卡可於二級市場轉售</a:t>
            </a:r>
            <a:endParaRPr lang="en-US" altLang="zh-TW" sz="2000" dirty="0"/>
          </a:p>
          <a:p>
            <a:pPr marL="70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000" dirty="0"/>
              <a:t>推動了台灣體育數位收藏與粉絲經濟。</a:t>
            </a:r>
            <a:endParaRPr lang="en-US" altLang="zh-TW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Blocto</a:t>
            </a:r>
            <a:r>
              <a:rPr lang="en-US" altLang="zh-TW" sz="2000" dirty="0"/>
              <a:t> </a:t>
            </a:r>
            <a:r>
              <a:rPr lang="zh-TW" altLang="en-US" sz="2000" dirty="0"/>
              <a:t>為台灣新創 </a:t>
            </a:r>
            <a:r>
              <a:rPr lang="en-US" altLang="zh-TW" sz="2000" dirty="0" err="1"/>
              <a:t>portto</a:t>
            </a:r>
            <a:r>
              <a:rPr lang="en-US" altLang="zh-TW" sz="2000" dirty="0"/>
              <a:t> </a:t>
            </a:r>
            <a:r>
              <a:rPr lang="zh-TW" altLang="en-US" sz="2000" dirty="0"/>
              <a:t>所開發之區塊鏈錢包平台，為國際知名 </a:t>
            </a:r>
            <a:r>
              <a:rPr lang="en-US" altLang="zh-TW" sz="2000" dirty="0"/>
              <a:t>NFT </a:t>
            </a:r>
            <a:r>
              <a:rPr lang="zh-TW" altLang="en-US" sz="2000" dirty="0"/>
              <a:t>應用案例。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0B33540-E575-1D11-D074-3A2121F8630A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主題四：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非同質化代幣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09665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E8E7-6045-CFFB-17BF-62DE852F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3613F61-DB6A-87EF-8195-B15BB571B3FF}"/>
              </a:ext>
            </a:extLst>
          </p:cNvPr>
          <p:cNvSpPr txBox="1"/>
          <p:nvPr/>
        </p:nvSpPr>
        <p:spPr>
          <a:xfrm>
            <a:off x="713232" y="705589"/>
            <a:ext cx="9217152" cy="234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課堂活動：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/>
              <a:t>「你有以數位貨幣進行國際轉帳的經驗嗎</a:t>
            </a:r>
            <a:r>
              <a:rPr lang="en-US" altLang="zh-TW" sz="2000" dirty="0"/>
              <a:t>?</a:t>
            </a:r>
            <a:r>
              <a:rPr lang="zh-TW" altLang="en-US" sz="2000" dirty="0"/>
              <a:t>是什麼</a:t>
            </a:r>
            <a:r>
              <a:rPr lang="en-US" altLang="zh-TW" sz="2000" dirty="0"/>
              <a:t>?</a:t>
            </a:r>
            <a:r>
              <a:rPr lang="zh-TW" altLang="en-US" sz="2000" dirty="0"/>
              <a:t>若沒有，未來你可能採用數位貨幣進行國際轉帳的需求是什麼？」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zh-TW" altLang="en-US" sz="2000" dirty="0"/>
              <a:t>「有人把畢業證書、演唱會票、收藏卡都變成 </a:t>
            </a:r>
            <a:r>
              <a:rPr lang="en-US" altLang="zh-TW" sz="2000" dirty="0"/>
              <a:t>NFT</a:t>
            </a:r>
            <a:r>
              <a:rPr lang="zh-TW" altLang="en-US" sz="2000" dirty="0"/>
              <a:t>。如果你能創造一個 </a:t>
            </a:r>
            <a:r>
              <a:rPr lang="en-US" altLang="zh-TW" sz="2000" dirty="0"/>
              <a:t>NFT</a:t>
            </a:r>
            <a:r>
              <a:rPr lang="zh-TW" altLang="en-US" sz="2000" dirty="0"/>
              <a:t>，你會想做什麼？」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8FEEB1-3E2D-E04B-DD58-D3F1409E72FA}"/>
              </a:ext>
            </a:extLst>
          </p:cNvPr>
          <p:cNvSpPr txBox="1"/>
          <p:nvPr/>
        </p:nvSpPr>
        <p:spPr>
          <a:xfrm>
            <a:off x="9957816" y="1207008"/>
            <a:ext cx="2234185" cy="168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400" dirty="0"/>
              <a:t>主題四：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非同質化代幣</a:t>
            </a:r>
            <a:endParaRPr lang="en-US" altLang="zh-TW" sz="2400" dirty="0"/>
          </a:p>
          <a:p>
            <a:pPr algn="just">
              <a:lnSpc>
                <a:spcPct val="150000"/>
              </a:lnSpc>
            </a:pPr>
            <a:r>
              <a:rPr lang="zh-TW" altLang="en-US" sz="2400" dirty="0"/>
              <a:t>（</a:t>
            </a:r>
            <a:r>
              <a:rPr lang="en-US" altLang="zh-TW" sz="2400" dirty="0"/>
              <a:t>NFT</a:t>
            </a:r>
            <a:r>
              <a:rPr lang="zh-TW" altLang="en-US" sz="2400" dirty="0"/>
              <a:t>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4A7977-7877-D4AE-62F5-74AF983A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56" y="4023360"/>
            <a:ext cx="1800000" cy="180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497BFC7-D5BC-AA10-C5F1-DDAA3A7F4100}"/>
              </a:ext>
            </a:extLst>
          </p:cNvPr>
          <p:cNvSpPr txBox="1"/>
          <p:nvPr/>
        </p:nvSpPr>
        <p:spPr>
          <a:xfrm>
            <a:off x="2999232" y="3404938"/>
            <a:ext cx="5620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https://padlet.com/kcchiu2024/padlet-cdatk8fuxxhezpkv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323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5860-A691-F9A3-E88C-C8B6965D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E1B1C9-3305-0CA6-40D0-57B5345D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80835"/>
            <a:ext cx="6577717" cy="770141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第三部分：數位貨幣的法規與未來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3EDBC-9D07-3E2B-8EC9-0B74545D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39349"/>
            <a:ext cx="6577716" cy="568212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/>
              <a:t>主題一：數位貨幣的法規與風險</a:t>
            </a:r>
            <a:endParaRPr lang="en-US" altLang="zh-TW" sz="1800" dirty="0"/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法律定位</a:t>
            </a:r>
            <a:endParaRPr lang="en-US" altLang="zh-TW" sz="1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政府監管</a:t>
            </a:r>
            <a:endParaRPr lang="en-US" altLang="zh-TW" sz="1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洗錢與匿名性問題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2000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數位新台幣與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/>
              <a:t>主題二：數位貨幣的未來發展與挑戰</a:t>
            </a:r>
            <a:endParaRPr lang="en-US" altLang="zh-TW" sz="1800" dirty="0"/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央行數位貨幣（</a:t>
            </a:r>
            <a:r>
              <a:rPr lang="en-US" altLang="zh-TW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CBDC</a:t>
            </a: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）的興起</a:t>
            </a:r>
            <a:endParaRPr lang="en-US" altLang="zh-TW" sz="1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能源與環境議題</a:t>
            </a:r>
            <a:endParaRPr lang="en-US" altLang="zh-TW" sz="1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大眾接受度與教育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0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技術整合（</a:t>
            </a:r>
            <a:r>
              <a:rPr lang="en-US" altLang="zh-TW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+ </a:t>
            </a:r>
            <a:r>
              <a:rPr lang="zh-TW" altLang="en-US" sz="1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區塊鏈）</a:t>
            </a:r>
            <a:endParaRPr lang="en-US" altLang="zh-TW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1CCC2A-BCD1-CA75-3B4D-E5F947F3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253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3561-89E3-DAF8-D852-97F021BE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3CFEAC-589E-0C90-C9C4-513CD5AE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67889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主題一：數位貨幣的法規與風險</a:t>
            </a:r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5CAD1F00-C6F4-A332-D4D8-24465EDD278A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826611916"/>
              </p:ext>
            </p:extLst>
          </p:nvPr>
        </p:nvGraphicFramePr>
        <p:xfrm>
          <a:off x="777240" y="1166216"/>
          <a:ext cx="10890504" cy="5424691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477256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5413248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</a:tblGrid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法律定位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各國對加密貨幣定義不同：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資產（多數國家，如美國 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IRS 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當作財產課稅）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貨幣（少數國家承認，例如薩爾瓦多）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證券（美國 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SEC 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對部分代幣認定）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政府監管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美國：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SEC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CFTC 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監管交易所與代幣發行；對加密貨幣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ETF 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採取審慎態度。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台灣：金管會訂定「虛擬資產服務提供者（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VASP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）」規範，要求業者申報、實名制與防制洗錢。</a:t>
                      </a:r>
                    </a:p>
                  </a:txBody>
                  <a:tcPr marL="4763" marR="4763" marT="4763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洗錢與匿名性問題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加密貨幣的「半匿名」特性，容易被用於非法交易、洗錢。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區塊鏈可追蹤，但錢包地址與真實身份未必連結。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數位新台幣與 </a:t>
                      </a: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（央行數位貨幣）：由央行發行的數位貨幣，具法償地位。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台灣央行進度：正在研發「零售型數位新台幣」試驗，強調 支付便利性、可控匿名性。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與加密貨幣不同：由政府背書、價值穩定，不依賴挖礦或波動市場。</a:t>
                      </a:r>
                    </a:p>
                  </a:txBody>
                  <a:tcPr marL="4763" marR="4763" marT="4763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8628CE-F962-C4BE-1214-585F9C29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812B-A8FA-82BF-F256-B161A492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39592-1D99-10D7-BF03-732C688A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678892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主題二：數位貨幣的未來發展與挑戰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501EE7-68C4-CC68-1A40-641D2DFC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BE863A32-D7A0-69A4-4B31-E53D43E1DA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3258955"/>
              </p:ext>
            </p:extLst>
          </p:nvPr>
        </p:nvGraphicFramePr>
        <p:xfrm>
          <a:off x="777240" y="1166216"/>
          <a:ext cx="10890504" cy="50791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477256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5413248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</a:tblGrid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央行數位貨幣（</a:t>
                      </a: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CBDC</a:t>
                      </a: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）的興起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各國央行加速研發數位貨幣（中國數位人民幣、歐元區、台灣試驗中的數位新台幣）。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政府背書，提升支付效率與監管透明度。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能源與環境議題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（工作量證明）耗能龐大，以比特幣為例，耗電量可比一個小國家。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趨勢：轉向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（權益證明）、綠能挖礦。</a:t>
                      </a:r>
                    </a:p>
                  </a:txBody>
                  <a:tcPr marL="4763" marR="4763" marT="4763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253956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大眾接受度與教育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一般民眾對加密貨幣仍存疑（價格波動、詐騙新聞）。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40000" indent="-28575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教育與金融知識普及是推廣關鍵。</a:t>
                      </a:r>
                      <a:endParaRPr lang="en-US" altLang="zh-TW" sz="18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3" marR="4763" marT="4763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技術整合（</a:t>
                      </a: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+ 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區塊鏈）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64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+ 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區塊鏈：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zh-TW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提供智能決策，區塊鏈確保數據透明可信。</a:t>
                      </a:r>
                      <a:endParaRPr lang="en-US" altLang="zh-TW" sz="1800" b="0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25750" indent="-285750" algn="just" fontAlgn="ctr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應用：供應鏈溯源、去中心化身份驗證、智慧合約自動化。</a:t>
                      </a:r>
                    </a:p>
                  </a:txBody>
                  <a:tcPr marL="4763" marR="4763" marT="4763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6537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468121_win32_CP_V3" id="{DB41292E-DA07-4A60-84D2-21F0B686AF93}" vid="{CD2DD4A9-674C-44A3-BA93-D7C3019ED0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47603A-423C-4B8F-AA3D-8E6FA4710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AF5DA8-6387-4138-BF96-B65D39F2FC21}">
  <ds:schemaRefs>
    <ds:schemaRef ds:uri="http://purl.org/dc/terms/"/>
    <ds:schemaRef ds:uri="http://www.w3.org/XML/1998/namespace"/>
    <ds:schemaRef ds:uri="230e9df3-be65-4c73-a93b-d1236ebd677e"/>
    <ds:schemaRef ds:uri="http://purl.org/dc/elements/1.1/"/>
    <ds:schemaRef ds:uri="http://schemas.microsoft.com/sharepoint/v3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Words>5886</Words>
  <Application>Microsoft Office PowerPoint</Application>
  <PresentationFormat>寬螢幕</PresentationFormat>
  <Paragraphs>510</Paragraphs>
  <Slides>42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52" baseType="lpstr">
      <vt:lpstr>微軟正黑體</vt:lpstr>
      <vt:lpstr>新細明體</vt:lpstr>
      <vt:lpstr>Arial</vt:lpstr>
      <vt:lpstr>Calibri</vt:lpstr>
      <vt:lpstr>Segoe UI Light</vt:lpstr>
      <vt:lpstr>Symbol</vt:lpstr>
      <vt:lpstr>Times New Roman</vt:lpstr>
      <vt:lpstr>Wingdings</vt:lpstr>
      <vt:lpstr>Wingdings 2</vt:lpstr>
      <vt:lpstr>Custom</vt:lpstr>
      <vt:lpstr>區塊鏈與數位貨幣</vt:lpstr>
      <vt:lpstr>課程主題</vt:lpstr>
      <vt:lpstr>第一部分：貨幣的演進與類別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加密貨幣與傳統貨幣的比較</vt:lpstr>
      <vt:lpstr>第二部分：數位貨幣的應用</vt:lpstr>
      <vt:lpstr>數位貨幣應用場景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第三部分：數位貨幣的法規與未來</vt:lpstr>
      <vt:lpstr>主題一：數位貨幣的法規與風險</vt:lpstr>
      <vt:lpstr>主題二：數位貨幣的未來發展與挑戰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Acer</dc:creator>
  <cp:lastModifiedBy>usc</cp:lastModifiedBy>
  <cp:revision>15</cp:revision>
  <dcterms:created xsi:type="dcterms:W3CDTF">2021-05-30T14:58:49Z</dcterms:created>
  <dcterms:modified xsi:type="dcterms:W3CDTF">2026-10-08T08:40:46Z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