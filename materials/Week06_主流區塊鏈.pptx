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71"/>
  </p:notesMasterIdLst>
  <p:handoutMasterIdLst>
    <p:handoutMasterId r:id="rId72"/>
  </p:handoutMasterIdLst>
  <p:sldIdLst>
    <p:sldId id="325" r:id="rId5"/>
    <p:sldId id="326" r:id="rId6"/>
    <p:sldId id="327" r:id="rId7"/>
    <p:sldId id="395" r:id="rId8"/>
    <p:sldId id="424" r:id="rId9"/>
    <p:sldId id="463" r:id="rId10"/>
    <p:sldId id="464" r:id="rId11"/>
    <p:sldId id="465" r:id="rId12"/>
    <p:sldId id="466" r:id="rId13"/>
    <p:sldId id="467" r:id="rId14"/>
    <p:sldId id="468" r:id="rId15"/>
    <p:sldId id="469" r:id="rId16"/>
    <p:sldId id="470" r:id="rId17"/>
    <p:sldId id="471" r:id="rId18"/>
    <p:sldId id="472" r:id="rId19"/>
    <p:sldId id="473" r:id="rId20"/>
    <p:sldId id="474" r:id="rId21"/>
    <p:sldId id="513" r:id="rId22"/>
    <p:sldId id="512" r:id="rId23"/>
    <p:sldId id="515" r:id="rId24"/>
    <p:sldId id="521" r:id="rId25"/>
    <p:sldId id="516" r:id="rId26"/>
    <p:sldId id="522" r:id="rId27"/>
    <p:sldId id="517" r:id="rId28"/>
    <p:sldId id="523" r:id="rId29"/>
    <p:sldId id="518" r:id="rId30"/>
    <p:sldId id="335" r:id="rId31"/>
    <p:sldId id="486" r:id="rId32"/>
    <p:sldId id="487" r:id="rId33"/>
    <p:sldId id="488" r:id="rId34"/>
    <p:sldId id="489" r:id="rId35"/>
    <p:sldId id="490" r:id="rId36"/>
    <p:sldId id="491" r:id="rId37"/>
    <p:sldId id="492" r:id="rId38"/>
    <p:sldId id="493" r:id="rId39"/>
    <p:sldId id="494" r:id="rId40"/>
    <p:sldId id="475" r:id="rId41"/>
    <p:sldId id="524" r:id="rId42"/>
    <p:sldId id="525" r:id="rId43"/>
    <p:sldId id="526" r:id="rId44"/>
    <p:sldId id="527" r:id="rId45"/>
    <p:sldId id="528" r:id="rId46"/>
    <p:sldId id="529" r:id="rId47"/>
    <p:sldId id="530" r:id="rId48"/>
    <p:sldId id="531" r:id="rId49"/>
    <p:sldId id="533" r:id="rId50"/>
    <p:sldId id="495" r:id="rId51"/>
    <p:sldId id="496" r:id="rId52"/>
    <p:sldId id="497" r:id="rId53"/>
    <p:sldId id="510" r:id="rId54"/>
    <p:sldId id="498" r:id="rId55"/>
    <p:sldId id="499" r:id="rId56"/>
    <p:sldId id="500" r:id="rId57"/>
    <p:sldId id="501" r:id="rId58"/>
    <p:sldId id="511" r:id="rId59"/>
    <p:sldId id="502" r:id="rId60"/>
    <p:sldId id="503" r:id="rId61"/>
    <p:sldId id="534" r:id="rId62"/>
    <p:sldId id="535" r:id="rId63"/>
    <p:sldId id="537" r:id="rId64"/>
    <p:sldId id="538" r:id="rId65"/>
    <p:sldId id="539" r:id="rId66"/>
    <p:sldId id="540" r:id="rId67"/>
    <p:sldId id="541" r:id="rId68"/>
    <p:sldId id="542" r:id="rId69"/>
    <p:sldId id="536"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9F9"/>
    <a:srgbClr val="3399FF"/>
    <a:srgbClr val="FEEBCA"/>
    <a:srgbClr val="D9FFFF"/>
    <a:srgbClr val="685135"/>
    <a:srgbClr val="BDA07D"/>
    <a:srgbClr val="627272"/>
    <a:srgbClr val="93A5A8"/>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autoAdjust="0"/>
    <p:restoredTop sz="95238" autoAdjust="0"/>
  </p:normalViewPr>
  <p:slideViewPr>
    <p:cSldViewPr snapToGrid="0">
      <p:cViewPr varScale="1">
        <p:scale>
          <a:sx n="105" d="100"/>
          <a:sy n="105" d="100"/>
        </p:scale>
        <p:origin x="948"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10/18/2026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10/18/2026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8EC616-C518-4358-9496-6C33B2F5FA56}" type="slidenum">
              <a:rPr lang="en-US" smtClean="0"/>
              <a:t>1</a:t>
            </a:fld>
            <a:endParaRPr lang="en-US" dirty="0"/>
          </a:p>
        </p:txBody>
      </p:sp>
    </p:spTree>
    <p:extLst>
      <p:ext uri="{BB962C8B-B14F-4D97-AF65-F5344CB8AC3E}">
        <p14:creationId xmlns:p14="http://schemas.microsoft.com/office/powerpoint/2010/main" val="1712827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D143-18D4-B538-075B-5E4C0AD2D32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B32C442-BC2C-BE03-1C87-F37558F1C7F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227A317-A836-DF90-9328-56054B12E17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535F3C4-B603-BEC3-5B78-1DD23A85208E}"/>
              </a:ext>
            </a:extLst>
          </p:cNvPr>
          <p:cNvSpPr>
            <a:spLocks noGrp="1"/>
          </p:cNvSpPr>
          <p:nvPr>
            <p:ph type="sldNum" sz="quarter" idx="5"/>
          </p:nvPr>
        </p:nvSpPr>
        <p:spPr/>
        <p:txBody>
          <a:bodyPr/>
          <a:lstStyle/>
          <a:p>
            <a:fld id="{C58EC616-C518-4358-9496-6C33B2F5FA56}" type="slidenum">
              <a:rPr lang="en-US" smtClean="0"/>
              <a:t>18</a:t>
            </a:fld>
            <a:endParaRPr lang="en-US" dirty="0"/>
          </a:p>
        </p:txBody>
      </p:sp>
    </p:spTree>
    <p:extLst>
      <p:ext uri="{BB962C8B-B14F-4D97-AF65-F5344CB8AC3E}">
        <p14:creationId xmlns:p14="http://schemas.microsoft.com/office/powerpoint/2010/main" val="66395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8EC616-C518-4358-9496-6C33B2F5FA56}" type="slidenum">
              <a:rPr lang="en-US" smtClean="0"/>
              <a:t>19</a:t>
            </a:fld>
            <a:endParaRPr lang="en-US" dirty="0"/>
          </a:p>
        </p:txBody>
      </p:sp>
    </p:spTree>
    <p:extLst>
      <p:ext uri="{BB962C8B-B14F-4D97-AF65-F5344CB8AC3E}">
        <p14:creationId xmlns:p14="http://schemas.microsoft.com/office/powerpoint/2010/main" val="2358738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53931-3354-FDED-41DF-95DBEC47A86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8208CDC-292A-2824-850B-DA4EAAD352D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AF7E00E-8AE0-92D7-4E14-5D4836AC793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CE7A8A2-0B81-3E2C-4344-2A5931A46265}"/>
              </a:ext>
            </a:extLst>
          </p:cNvPr>
          <p:cNvSpPr>
            <a:spLocks noGrp="1"/>
          </p:cNvSpPr>
          <p:nvPr>
            <p:ph type="sldNum" sz="quarter" idx="5"/>
          </p:nvPr>
        </p:nvSpPr>
        <p:spPr/>
        <p:txBody>
          <a:bodyPr/>
          <a:lstStyle/>
          <a:p>
            <a:fld id="{C58EC616-C518-4358-9496-6C33B2F5FA56}" type="slidenum">
              <a:rPr lang="en-US" smtClean="0"/>
              <a:t>20</a:t>
            </a:fld>
            <a:endParaRPr lang="en-US" dirty="0"/>
          </a:p>
        </p:txBody>
      </p:sp>
    </p:spTree>
    <p:extLst>
      <p:ext uri="{BB962C8B-B14F-4D97-AF65-F5344CB8AC3E}">
        <p14:creationId xmlns:p14="http://schemas.microsoft.com/office/powerpoint/2010/main" val="4089237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972C3-6CFD-CD03-7054-F1CFA34E721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A57AA14-702D-F664-2C0E-6D4333F37FB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3773246-BE3A-BA5A-F1AE-D0DF1BFFB32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EA957643-C0C4-C316-82FE-AF3A5A8A9283}"/>
              </a:ext>
            </a:extLst>
          </p:cNvPr>
          <p:cNvSpPr>
            <a:spLocks noGrp="1"/>
          </p:cNvSpPr>
          <p:nvPr>
            <p:ph type="sldNum" sz="quarter" idx="5"/>
          </p:nvPr>
        </p:nvSpPr>
        <p:spPr/>
        <p:txBody>
          <a:bodyPr/>
          <a:lstStyle/>
          <a:p>
            <a:fld id="{C58EC616-C518-4358-9496-6C33B2F5FA56}" type="slidenum">
              <a:rPr lang="en-US" smtClean="0"/>
              <a:t>21</a:t>
            </a:fld>
            <a:endParaRPr lang="en-US" dirty="0"/>
          </a:p>
        </p:txBody>
      </p:sp>
    </p:spTree>
    <p:extLst>
      <p:ext uri="{BB962C8B-B14F-4D97-AF65-F5344CB8AC3E}">
        <p14:creationId xmlns:p14="http://schemas.microsoft.com/office/powerpoint/2010/main" val="1797585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BE6CF-3254-3132-E289-5B556855797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392554E-90AD-180A-C883-127EFEE3DC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B4C31F9-1E35-4DCC-91F5-B7329347E15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96F5867-70BB-C719-8840-64191D421BC5}"/>
              </a:ext>
            </a:extLst>
          </p:cNvPr>
          <p:cNvSpPr>
            <a:spLocks noGrp="1"/>
          </p:cNvSpPr>
          <p:nvPr>
            <p:ph type="sldNum" sz="quarter" idx="5"/>
          </p:nvPr>
        </p:nvSpPr>
        <p:spPr/>
        <p:txBody>
          <a:bodyPr/>
          <a:lstStyle/>
          <a:p>
            <a:fld id="{C58EC616-C518-4358-9496-6C33B2F5FA56}" type="slidenum">
              <a:rPr lang="en-US" smtClean="0"/>
              <a:t>22</a:t>
            </a:fld>
            <a:endParaRPr lang="en-US" dirty="0"/>
          </a:p>
        </p:txBody>
      </p:sp>
    </p:spTree>
    <p:extLst>
      <p:ext uri="{BB962C8B-B14F-4D97-AF65-F5344CB8AC3E}">
        <p14:creationId xmlns:p14="http://schemas.microsoft.com/office/powerpoint/2010/main" val="4186013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9E426-7235-1FD3-B810-B6A8E23090A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5CE280-0921-EFF6-DABC-395909296D8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C527BF5-BB24-EA40-8B14-628B857F939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609644A-C0BD-A0CB-52FA-00E0D4320547}"/>
              </a:ext>
            </a:extLst>
          </p:cNvPr>
          <p:cNvSpPr>
            <a:spLocks noGrp="1"/>
          </p:cNvSpPr>
          <p:nvPr>
            <p:ph type="sldNum" sz="quarter" idx="5"/>
          </p:nvPr>
        </p:nvSpPr>
        <p:spPr/>
        <p:txBody>
          <a:bodyPr/>
          <a:lstStyle/>
          <a:p>
            <a:fld id="{C58EC616-C518-4358-9496-6C33B2F5FA56}" type="slidenum">
              <a:rPr lang="en-US" smtClean="0"/>
              <a:t>23</a:t>
            </a:fld>
            <a:endParaRPr lang="en-US" dirty="0"/>
          </a:p>
        </p:txBody>
      </p:sp>
    </p:spTree>
    <p:extLst>
      <p:ext uri="{BB962C8B-B14F-4D97-AF65-F5344CB8AC3E}">
        <p14:creationId xmlns:p14="http://schemas.microsoft.com/office/powerpoint/2010/main" val="3393473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F9676-E6B6-76BB-8B64-05C2062444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CC9F1B9-D1C2-DC53-3535-3DAD5C2CD4C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2D65C60-8248-83E5-64EF-E6601AD1F9F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CF628B67-76E1-610B-C16D-DB0563793978}"/>
              </a:ext>
            </a:extLst>
          </p:cNvPr>
          <p:cNvSpPr>
            <a:spLocks noGrp="1"/>
          </p:cNvSpPr>
          <p:nvPr>
            <p:ph type="sldNum" sz="quarter" idx="5"/>
          </p:nvPr>
        </p:nvSpPr>
        <p:spPr/>
        <p:txBody>
          <a:bodyPr/>
          <a:lstStyle/>
          <a:p>
            <a:fld id="{C58EC616-C518-4358-9496-6C33B2F5FA56}" type="slidenum">
              <a:rPr lang="en-US" smtClean="0"/>
              <a:t>24</a:t>
            </a:fld>
            <a:endParaRPr lang="en-US" dirty="0"/>
          </a:p>
        </p:txBody>
      </p:sp>
    </p:spTree>
    <p:extLst>
      <p:ext uri="{BB962C8B-B14F-4D97-AF65-F5344CB8AC3E}">
        <p14:creationId xmlns:p14="http://schemas.microsoft.com/office/powerpoint/2010/main" val="3868679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C73EE-3A44-48E0-797C-531B3962148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79346AC-4B7F-EE26-1EB1-CA46886DCCB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3842FF7-CE94-F857-38C8-D700B6646A3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69F9387-1397-1101-F5FA-890A42D64540}"/>
              </a:ext>
            </a:extLst>
          </p:cNvPr>
          <p:cNvSpPr>
            <a:spLocks noGrp="1"/>
          </p:cNvSpPr>
          <p:nvPr>
            <p:ph type="sldNum" sz="quarter" idx="5"/>
          </p:nvPr>
        </p:nvSpPr>
        <p:spPr/>
        <p:txBody>
          <a:bodyPr/>
          <a:lstStyle/>
          <a:p>
            <a:fld id="{C58EC616-C518-4358-9496-6C33B2F5FA56}" type="slidenum">
              <a:rPr lang="en-US" smtClean="0"/>
              <a:t>25</a:t>
            </a:fld>
            <a:endParaRPr lang="en-US" dirty="0"/>
          </a:p>
        </p:txBody>
      </p:sp>
    </p:spTree>
    <p:extLst>
      <p:ext uri="{BB962C8B-B14F-4D97-AF65-F5344CB8AC3E}">
        <p14:creationId xmlns:p14="http://schemas.microsoft.com/office/powerpoint/2010/main" val="2999305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31D65-51B5-0F58-F2AF-2B309353EF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F67424F-533B-77A9-8DF1-180C62D2277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4A8B4F-1DC9-2B29-69EE-1EDD32BF052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4151180-2A50-741F-1E6F-0699E44528D1}"/>
              </a:ext>
            </a:extLst>
          </p:cNvPr>
          <p:cNvSpPr>
            <a:spLocks noGrp="1"/>
          </p:cNvSpPr>
          <p:nvPr>
            <p:ph type="sldNum" sz="quarter" idx="5"/>
          </p:nvPr>
        </p:nvSpPr>
        <p:spPr/>
        <p:txBody>
          <a:bodyPr/>
          <a:lstStyle/>
          <a:p>
            <a:fld id="{C58EC616-C518-4358-9496-6C33B2F5FA56}" type="slidenum">
              <a:rPr lang="en-US" smtClean="0"/>
              <a:t>26</a:t>
            </a:fld>
            <a:endParaRPr lang="en-US" dirty="0"/>
          </a:p>
        </p:txBody>
      </p:sp>
    </p:spTree>
    <p:extLst>
      <p:ext uri="{BB962C8B-B14F-4D97-AF65-F5344CB8AC3E}">
        <p14:creationId xmlns:p14="http://schemas.microsoft.com/office/powerpoint/2010/main" val="3850380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FE8E0-6971-F804-B595-644E207F081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1267D10-3DAC-732A-18D7-339049BBF43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6CE6670-F98F-EE7B-5A83-76AAC1D9E21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6F84B9A-E8E9-FD16-D27C-8239A9E9F087}"/>
              </a:ext>
            </a:extLst>
          </p:cNvPr>
          <p:cNvSpPr>
            <a:spLocks noGrp="1"/>
          </p:cNvSpPr>
          <p:nvPr>
            <p:ph type="sldNum" sz="quarter" idx="5"/>
          </p:nvPr>
        </p:nvSpPr>
        <p:spPr/>
        <p:txBody>
          <a:bodyPr/>
          <a:lstStyle/>
          <a:p>
            <a:fld id="{C58EC616-C518-4358-9496-6C33B2F5FA56}" type="slidenum">
              <a:rPr lang="en-US" smtClean="0"/>
              <a:t>38</a:t>
            </a:fld>
            <a:endParaRPr lang="en-US" dirty="0"/>
          </a:p>
        </p:txBody>
      </p:sp>
    </p:spTree>
    <p:extLst>
      <p:ext uri="{BB962C8B-B14F-4D97-AF65-F5344CB8AC3E}">
        <p14:creationId xmlns:p14="http://schemas.microsoft.com/office/powerpoint/2010/main" val="3284129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9C3AE-2B08-32B9-8208-FF7B6F70A67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163A0D3-7A71-331D-1E0E-F15481CD217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E5870EE-F25D-01E5-27B4-F285D75A399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E902EB46-E3F3-8CAA-F18A-E85E0B711E41}"/>
              </a:ext>
            </a:extLst>
          </p:cNvPr>
          <p:cNvSpPr>
            <a:spLocks noGrp="1"/>
          </p:cNvSpPr>
          <p:nvPr>
            <p:ph type="sldNum" sz="quarter" idx="5"/>
          </p:nvPr>
        </p:nvSpPr>
        <p:spPr/>
        <p:txBody>
          <a:bodyPr/>
          <a:lstStyle/>
          <a:p>
            <a:fld id="{C58EC616-C518-4358-9496-6C33B2F5FA56}" type="slidenum">
              <a:rPr lang="en-US" smtClean="0"/>
              <a:t>39</a:t>
            </a:fld>
            <a:endParaRPr lang="en-US" dirty="0"/>
          </a:p>
        </p:txBody>
      </p:sp>
    </p:spTree>
    <p:extLst>
      <p:ext uri="{BB962C8B-B14F-4D97-AF65-F5344CB8AC3E}">
        <p14:creationId xmlns:p14="http://schemas.microsoft.com/office/powerpoint/2010/main" val="1295079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75FF2-645A-B11E-67C6-A956FE11647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6A44254-4D18-B64C-AF7D-17E3967FCDD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7A17B73-C3AE-A228-CFCD-45733AB851C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74F64E3-8D9D-3193-3E67-EA73A71A385E}"/>
              </a:ext>
            </a:extLst>
          </p:cNvPr>
          <p:cNvSpPr>
            <a:spLocks noGrp="1"/>
          </p:cNvSpPr>
          <p:nvPr>
            <p:ph type="sldNum" sz="quarter" idx="5"/>
          </p:nvPr>
        </p:nvSpPr>
        <p:spPr/>
        <p:txBody>
          <a:bodyPr/>
          <a:lstStyle/>
          <a:p>
            <a:fld id="{C58EC616-C518-4358-9496-6C33B2F5FA56}" type="slidenum">
              <a:rPr lang="en-US" smtClean="0"/>
              <a:t>40</a:t>
            </a:fld>
            <a:endParaRPr lang="en-US" dirty="0"/>
          </a:p>
        </p:txBody>
      </p:sp>
    </p:spTree>
    <p:extLst>
      <p:ext uri="{BB962C8B-B14F-4D97-AF65-F5344CB8AC3E}">
        <p14:creationId xmlns:p14="http://schemas.microsoft.com/office/powerpoint/2010/main" val="3732843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8BF41-7FA5-563E-08C1-242996DDF55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E1419F2-9C2A-BFBA-C35C-C20193811C4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E0AA835-F64C-8D25-49EE-4101C479D62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7F65C99-4923-842E-9D3C-4700CE60A8DC}"/>
              </a:ext>
            </a:extLst>
          </p:cNvPr>
          <p:cNvSpPr>
            <a:spLocks noGrp="1"/>
          </p:cNvSpPr>
          <p:nvPr>
            <p:ph type="sldNum" sz="quarter" idx="5"/>
          </p:nvPr>
        </p:nvSpPr>
        <p:spPr/>
        <p:txBody>
          <a:bodyPr/>
          <a:lstStyle/>
          <a:p>
            <a:fld id="{C58EC616-C518-4358-9496-6C33B2F5FA56}" type="slidenum">
              <a:rPr lang="en-US" smtClean="0"/>
              <a:t>41</a:t>
            </a:fld>
            <a:endParaRPr lang="en-US" dirty="0"/>
          </a:p>
        </p:txBody>
      </p:sp>
    </p:spTree>
    <p:extLst>
      <p:ext uri="{BB962C8B-B14F-4D97-AF65-F5344CB8AC3E}">
        <p14:creationId xmlns:p14="http://schemas.microsoft.com/office/powerpoint/2010/main" val="31145281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F98F-45C2-DD77-41E2-76989CA837B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48F99F4-F13A-4A8F-CC76-751FF50D8C6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F3B9BF5-A4B7-1B75-D94B-A9107AA8C35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2EFB8C1-90BF-2BEC-F704-19731609E29B}"/>
              </a:ext>
            </a:extLst>
          </p:cNvPr>
          <p:cNvSpPr>
            <a:spLocks noGrp="1"/>
          </p:cNvSpPr>
          <p:nvPr>
            <p:ph type="sldNum" sz="quarter" idx="5"/>
          </p:nvPr>
        </p:nvSpPr>
        <p:spPr/>
        <p:txBody>
          <a:bodyPr/>
          <a:lstStyle/>
          <a:p>
            <a:fld id="{C58EC616-C518-4358-9496-6C33B2F5FA56}" type="slidenum">
              <a:rPr lang="en-US" smtClean="0"/>
              <a:t>42</a:t>
            </a:fld>
            <a:endParaRPr lang="en-US" dirty="0"/>
          </a:p>
        </p:txBody>
      </p:sp>
    </p:spTree>
    <p:extLst>
      <p:ext uri="{BB962C8B-B14F-4D97-AF65-F5344CB8AC3E}">
        <p14:creationId xmlns:p14="http://schemas.microsoft.com/office/powerpoint/2010/main" val="17651701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032E9-AEB3-3777-BE09-9522DA8261D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A626411-8934-9F1A-D19B-D86764EBD38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22F555E-1B17-3A25-2D13-7D5B2A5DB0D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E26756D-B655-D13A-AB7D-75438A8054DF}"/>
              </a:ext>
            </a:extLst>
          </p:cNvPr>
          <p:cNvSpPr>
            <a:spLocks noGrp="1"/>
          </p:cNvSpPr>
          <p:nvPr>
            <p:ph type="sldNum" sz="quarter" idx="5"/>
          </p:nvPr>
        </p:nvSpPr>
        <p:spPr/>
        <p:txBody>
          <a:bodyPr/>
          <a:lstStyle/>
          <a:p>
            <a:fld id="{C58EC616-C518-4358-9496-6C33B2F5FA56}" type="slidenum">
              <a:rPr lang="en-US" smtClean="0"/>
              <a:t>43</a:t>
            </a:fld>
            <a:endParaRPr lang="en-US" dirty="0"/>
          </a:p>
        </p:txBody>
      </p:sp>
    </p:spTree>
    <p:extLst>
      <p:ext uri="{BB962C8B-B14F-4D97-AF65-F5344CB8AC3E}">
        <p14:creationId xmlns:p14="http://schemas.microsoft.com/office/powerpoint/2010/main" val="33006240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E2BB9-C694-DAF0-1305-0B9EF5121E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1B629B8-45E9-83FD-92AC-67A55EC558B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D70963C-CD92-50DC-6AC4-54A62BAF3E6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9C86BB3-D20A-5E70-2072-F2EE6BCF3F15}"/>
              </a:ext>
            </a:extLst>
          </p:cNvPr>
          <p:cNvSpPr>
            <a:spLocks noGrp="1"/>
          </p:cNvSpPr>
          <p:nvPr>
            <p:ph type="sldNum" sz="quarter" idx="5"/>
          </p:nvPr>
        </p:nvSpPr>
        <p:spPr/>
        <p:txBody>
          <a:bodyPr/>
          <a:lstStyle/>
          <a:p>
            <a:fld id="{C58EC616-C518-4358-9496-6C33B2F5FA56}" type="slidenum">
              <a:rPr lang="en-US" smtClean="0"/>
              <a:t>44</a:t>
            </a:fld>
            <a:endParaRPr lang="en-US" dirty="0"/>
          </a:p>
        </p:txBody>
      </p:sp>
    </p:spTree>
    <p:extLst>
      <p:ext uri="{BB962C8B-B14F-4D97-AF65-F5344CB8AC3E}">
        <p14:creationId xmlns:p14="http://schemas.microsoft.com/office/powerpoint/2010/main" val="2077823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8E80C-858F-7FE1-41B9-3EAB792BE48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83A64DF-CC76-458C-EDF8-072A433C180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4C8C3AD-D011-5B7C-ACD9-1DF88081F4D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22A26BA-A9FE-D2DE-8E6C-9B38514F6E18}"/>
              </a:ext>
            </a:extLst>
          </p:cNvPr>
          <p:cNvSpPr>
            <a:spLocks noGrp="1"/>
          </p:cNvSpPr>
          <p:nvPr>
            <p:ph type="sldNum" sz="quarter" idx="5"/>
          </p:nvPr>
        </p:nvSpPr>
        <p:spPr/>
        <p:txBody>
          <a:bodyPr/>
          <a:lstStyle/>
          <a:p>
            <a:fld id="{C58EC616-C518-4358-9496-6C33B2F5FA56}" type="slidenum">
              <a:rPr lang="en-US" smtClean="0"/>
              <a:t>45</a:t>
            </a:fld>
            <a:endParaRPr lang="en-US" dirty="0"/>
          </a:p>
        </p:txBody>
      </p:sp>
    </p:spTree>
    <p:extLst>
      <p:ext uri="{BB962C8B-B14F-4D97-AF65-F5344CB8AC3E}">
        <p14:creationId xmlns:p14="http://schemas.microsoft.com/office/powerpoint/2010/main" val="8336832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25A73-265E-2317-C97A-8714B6797EB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33D12F-624D-4222-F624-7A6D173DEAC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A08CEAC-9D8A-B592-6941-BE51DCFEC49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81B3227-F08C-73E9-104F-B53F23773EB2}"/>
              </a:ext>
            </a:extLst>
          </p:cNvPr>
          <p:cNvSpPr>
            <a:spLocks noGrp="1"/>
          </p:cNvSpPr>
          <p:nvPr>
            <p:ph type="sldNum" sz="quarter" idx="5"/>
          </p:nvPr>
        </p:nvSpPr>
        <p:spPr/>
        <p:txBody>
          <a:bodyPr/>
          <a:lstStyle/>
          <a:p>
            <a:fld id="{C58EC616-C518-4358-9496-6C33B2F5FA56}" type="slidenum">
              <a:rPr lang="en-US" smtClean="0"/>
              <a:t>46</a:t>
            </a:fld>
            <a:endParaRPr lang="en-US" dirty="0"/>
          </a:p>
        </p:txBody>
      </p:sp>
    </p:spTree>
    <p:extLst>
      <p:ext uri="{BB962C8B-B14F-4D97-AF65-F5344CB8AC3E}">
        <p14:creationId xmlns:p14="http://schemas.microsoft.com/office/powerpoint/2010/main" val="3513950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9379C-2315-AFF9-F057-6DC26B60CBD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1FF2D69-C522-5A46-F7AC-80C14BDA986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9672709-668B-AF2E-CEF9-2D19BB25FDC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E1675C13-259E-5962-3203-E3099F5639A0}"/>
              </a:ext>
            </a:extLst>
          </p:cNvPr>
          <p:cNvSpPr>
            <a:spLocks noGrp="1"/>
          </p:cNvSpPr>
          <p:nvPr>
            <p:ph type="sldNum" sz="quarter" idx="5"/>
          </p:nvPr>
        </p:nvSpPr>
        <p:spPr/>
        <p:txBody>
          <a:bodyPr/>
          <a:lstStyle/>
          <a:p>
            <a:fld id="{C58EC616-C518-4358-9496-6C33B2F5FA56}" type="slidenum">
              <a:rPr lang="en-US" smtClean="0"/>
              <a:t>58</a:t>
            </a:fld>
            <a:endParaRPr lang="en-US" dirty="0"/>
          </a:p>
        </p:txBody>
      </p:sp>
    </p:spTree>
    <p:extLst>
      <p:ext uri="{BB962C8B-B14F-4D97-AF65-F5344CB8AC3E}">
        <p14:creationId xmlns:p14="http://schemas.microsoft.com/office/powerpoint/2010/main" val="5550683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DE1F0-76B6-5FF5-BB41-38341A59347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60DFE14-0953-297E-4B19-68F8AE30E42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0C8600E-CF71-AA27-8544-3F3CFD8DA73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78FA6A4-AAA7-AAB6-0950-3C9312065F11}"/>
              </a:ext>
            </a:extLst>
          </p:cNvPr>
          <p:cNvSpPr>
            <a:spLocks noGrp="1"/>
          </p:cNvSpPr>
          <p:nvPr>
            <p:ph type="sldNum" sz="quarter" idx="5"/>
          </p:nvPr>
        </p:nvSpPr>
        <p:spPr/>
        <p:txBody>
          <a:bodyPr/>
          <a:lstStyle/>
          <a:p>
            <a:fld id="{C58EC616-C518-4358-9496-6C33B2F5FA56}" type="slidenum">
              <a:rPr lang="en-US" smtClean="0"/>
              <a:t>59</a:t>
            </a:fld>
            <a:endParaRPr lang="en-US" dirty="0"/>
          </a:p>
        </p:txBody>
      </p:sp>
    </p:spTree>
    <p:extLst>
      <p:ext uri="{BB962C8B-B14F-4D97-AF65-F5344CB8AC3E}">
        <p14:creationId xmlns:p14="http://schemas.microsoft.com/office/powerpoint/2010/main" val="3813942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F3A2-3B73-2005-1308-48A412E24A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0A818EE-4836-2BCB-80B8-1C004E9466A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5CDE4B0-0EE7-5F35-1789-59AAD69D8BE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3EBF403-9A49-AFDE-36D2-095C51F6DDEE}"/>
              </a:ext>
            </a:extLst>
          </p:cNvPr>
          <p:cNvSpPr>
            <a:spLocks noGrp="1"/>
          </p:cNvSpPr>
          <p:nvPr>
            <p:ph type="sldNum" sz="quarter" idx="5"/>
          </p:nvPr>
        </p:nvSpPr>
        <p:spPr/>
        <p:txBody>
          <a:bodyPr/>
          <a:lstStyle/>
          <a:p>
            <a:fld id="{C58EC616-C518-4358-9496-6C33B2F5FA56}" type="slidenum">
              <a:rPr lang="en-US" smtClean="0"/>
              <a:t>60</a:t>
            </a:fld>
            <a:endParaRPr lang="en-US" dirty="0"/>
          </a:p>
        </p:txBody>
      </p:sp>
    </p:spTree>
    <p:extLst>
      <p:ext uri="{BB962C8B-B14F-4D97-AF65-F5344CB8AC3E}">
        <p14:creationId xmlns:p14="http://schemas.microsoft.com/office/powerpoint/2010/main" val="977542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DD3F9-56D2-5F23-A89C-64E14D9A7AF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1A24DE1-AB85-08CA-E7F4-E83D4E72EE0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00C936D-2BA6-38EB-3F49-56D7A125DED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2BB0638-AC06-460F-90C7-0E285BBFE023}"/>
              </a:ext>
            </a:extLst>
          </p:cNvPr>
          <p:cNvSpPr>
            <a:spLocks noGrp="1"/>
          </p:cNvSpPr>
          <p:nvPr>
            <p:ph type="sldNum" sz="quarter" idx="5"/>
          </p:nvPr>
        </p:nvSpPr>
        <p:spPr/>
        <p:txBody>
          <a:bodyPr/>
          <a:lstStyle/>
          <a:p>
            <a:fld id="{C58EC616-C518-4358-9496-6C33B2F5FA56}" type="slidenum">
              <a:rPr lang="en-US" smtClean="0"/>
              <a:t>61</a:t>
            </a:fld>
            <a:endParaRPr lang="en-US" dirty="0"/>
          </a:p>
        </p:txBody>
      </p:sp>
    </p:spTree>
    <p:extLst>
      <p:ext uri="{BB962C8B-B14F-4D97-AF65-F5344CB8AC3E}">
        <p14:creationId xmlns:p14="http://schemas.microsoft.com/office/powerpoint/2010/main" val="20362073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BE03-09A3-2158-4AB7-9D8F1AD49D4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1033857-79B7-6365-D03F-FCABB95C270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F35311B-A822-307E-E989-B3AF676E467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45A3A85-F928-6063-935E-81B6C474B32D}"/>
              </a:ext>
            </a:extLst>
          </p:cNvPr>
          <p:cNvSpPr>
            <a:spLocks noGrp="1"/>
          </p:cNvSpPr>
          <p:nvPr>
            <p:ph type="sldNum" sz="quarter" idx="5"/>
          </p:nvPr>
        </p:nvSpPr>
        <p:spPr/>
        <p:txBody>
          <a:bodyPr/>
          <a:lstStyle/>
          <a:p>
            <a:fld id="{C58EC616-C518-4358-9496-6C33B2F5FA56}" type="slidenum">
              <a:rPr lang="en-US" smtClean="0"/>
              <a:t>62</a:t>
            </a:fld>
            <a:endParaRPr lang="en-US" dirty="0"/>
          </a:p>
        </p:txBody>
      </p:sp>
    </p:spTree>
    <p:extLst>
      <p:ext uri="{BB962C8B-B14F-4D97-AF65-F5344CB8AC3E}">
        <p14:creationId xmlns:p14="http://schemas.microsoft.com/office/powerpoint/2010/main" val="33585692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7FCD-E628-D3E2-C1F9-6495307EA1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26166F0-84E1-1094-7F0F-B5F3DDBEFFB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B00E1DA-85CD-2361-8DF1-92F4338DB2E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C73C7A2D-4801-2D2B-904F-C23B4FD2F058}"/>
              </a:ext>
            </a:extLst>
          </p:cNvPr>
          <p:cNvSpPr>
            <a:spLocks noGrp="1"/>
          </p:cNvSpPr>
          <p:nvPr>
            <p:ph type="sldNum" sz="quarter" idx="5"/>
          </p:nvPr>
        </p:nvSpPr>
        <p:spPr/>
        <p:txBody>
          <a:bodyPr/>
          <a:lstStyle/>
          <a:p>
            <a:fld id="{C58EC616-C518-4358-9496-6C33B2F5FA56}" type="slidenum">
              <a:rPr lang="en-US" smtClean="0"/>
              <a:t>63</a:t>
            </a:fld>
            <a:endParaRPr lang="en-US" dirty="0"/>
          </a:p>
        </p:txBody>
      </p:sp>
    </p:spTree>
    <p:extLst>
      <p:ext uri="{BB962C8B-B14F-4D97-AF65-F5344CB8AC3E}">
        <p14:creationId xmlns:p14="http://schemas.microsoft.com/office/powerpoint/2010/main" val="31120766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3F75-C52F-F207-A626-E4FF621CCD6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BA7C773-BA5B-30C8-4FC0-D4E8F5F1C2F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87E3749-A049-DDC4-ECD4-51A1E4E2A07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B957D504-1957-53B4-7F3C-5857CEE764B3}"/>
              </a:ext>
            </a:extLst>
          </p:cNvPr>
          <p:cNvSpPr>
            <a:spLocks noGrp="1"/>
          </p:cNvSpPr>
          <p:nvPr>
            <p:ph type="sldNum" sz="quarter" idx="5"/>
          </p:nvPr>
        </p:nvSpPr>
        <p:spPr/>
        <p:txBody>
          <a:bodyPr/>
          <a:lstStyle/>
          <a:p>
            <a:fld id="{C58EC616-C518-4358-9496-6C33B2F5FA56}" type="slidenum">
              <a:rPr lang="en-US" smtClean="0"/>
              <a:t>64</a:t>
            </a:fld>
            <a:endParaRPr lang="en-US" dirty="0"/>
          </a:p>
        </p:txBody>
      </p:sp>
    </p:spTree>
    <p:extLst>
      <p:ext uri="{BB962C8B-B14F-4D97-AF65-F5344CB8AC3E}">
        <p14:creationId xmlns:p14="http://schemas.microsoft.com/office/powerpoint/2010/main" val="4054074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6D981-5AD8-00A4-9E3A-C9EAA74B591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2C8A7EF-F222-0BFE-6715-918ADC3AF6E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845697B-E109-8019-B011-C04969EAA96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273FCEF-4097-CE41-4D50-C6C580288B5B}"/>
              </a:ext>
            </a:extLst>
          </p:cNvPr>
          <p:cNvSpPr>
            <a:spLocks noGrp="1"/>
          </p:cNvSpPr>
          <p:nvPr>
            <p:ph type="sldNum" sz="quarter" idx="5"/>
          </p:nvPr>
        </p:nvSpPr>
        <p:spPr/>
        <p:txBody>
          <a:bodyPr/>
          <a:lstStyle/>
          <a:p>
            <a:fld id="{C58EC616-C518-4358-9496-6C33B2F5FA56}" type="slidenum">
              <a:rPr lang="en-US" smtClean="0"/>
              <a:t>65</a:t>
            </a:fld>
            <a:endParaRPr lang="en-US" dirty="0"/>
          </a:p>
        </p:txBody>
      </p:sp>
    </p:spTree>
    <p:extLst>
      <p:ext uri="{BB962C8B-B14F-4D97-AF65-F5344CB8AC3E}">
        <p14:creationId xmlns:p14="http://schemas.microsoft.com/office/powerpoint/2010/main" val="31503956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59067-947C-25ED-3060-0CEBA4611A6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C7A7279-EA74-FEE3-E9B4-1C2E04817F9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13DDA13-F9F8-EC88-5FD8-415AFF5BE50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F013981-418A-46B8-1AB2-FC9BFCEE85F2}"/>
              </a:ext>
            </a:extLst>
          </p:cNvPr>
          <p:cNvSpPr>
            <a:spLocks noGrp="1"/>
          </p:cNvSpPr>
          <p:nvPr>
            <p:ph type="sldNum" sz="quarter" idx="5"/>
          </p:nvPr>
        </p:nvSpPr>
        <p:spPr/>
        <p:txBody>
          <a:bodyPr/>
          <a:lstStyle/>
          <a:p>
            <a:fld id="{C58EC616-C518-4358-9496-6C33B2F5FA56}" type="slidenum">
              <a:rPr lang="en-US" smtClean="0"/>
              <a:t>66</a:t>
            </a:fld>
            <a:endParaRPr lang="en-US" dirty="0"/>
          </a:p>
        </p:txBody>
      </p:sp>
    </p:spTree>
    <p:extLst>
      <p:ext uri="{BB962C8B-B14F-4D97-AF65-F5344CB8AC3E}">
        <p14:creationId xmlns:p14="http://schemas.microsoft.com/office/powerpoint/2010/main" val="9137262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6193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0637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en-US" dirty="0"/>
              <a:t>Click to edit Master title style</a:t>
            </a:r>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7159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en-US"/>
              <a:t>Click to edit Master title style</a:t>
            </a:r>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4153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359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047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21904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Ls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9680-7C22-BFF1-165D-52AB411C0F66}"/>
              </a:ext>
            </a:extLst>
          </p:cNvPr>
          <p:cNvSpPr>
            <a:spLocks noGrp="1"/>
          </p:cNvSpPr>
          <p:nvPr>
            <p:ph type="title"/>
          </p:nvPr>
        </p:nvSpPr>
        <p:spPr>
          <a:xfrm>
            <a:off x="768096" y="667512"/>
            <a:ext cx="5916168" cy="4873752"/>
          </a:xfrm>
        </p:spPr>
        <p:txBody>
          <a:bodyPr>
            <a:normAutofit/>
          </a:bodyPr>
          <a:lstStyle/>
          <a:p>
            <a:r>
              <a:rPr lang="zh-TW" altLang="en-US" sz="4800" dirty="0"/>
              <a:t>主流區塊鏈專案介紹</a:t>
            </a:r>
          </a:p>
        </p:txBody>
      </p:sp>
      <p:sp>
        <p:nvSpPr>
          <p:cNvPr id="3" name="Text Placeholder 2">
            <a:extLst>
              <a:ext uri="{FF2B5EF4-FFF2-40B4-BE49-F238E27FC236}">
                <a16:creationId xmlns:a16="http://schemas.microsoft.com/office/drawing/2014/main" id="{302F459B-002E-E89C-3A0E-589730DD7197}"/>
              </a:ext>
            </a:extLst>
          </p:cNvPr>
          <p:cNvSpPr>
            <a:spLocks noGrp="1"/>
          </p:cNvSpPr>
          <p:nvPr>
            <p:ph type="body" sz="quarter" idx="10"/>
          </p:nvPr>
        </p:nvSpPr>
        <p:spPr>
          <a:xfrm>
            <a:off x="768096" y="5568696"/>
            <a:ext cx="5276088" cy="859536"/>
          </a:xfrm>
        </p:spPr>
        <p:txBody>
          <a:bodyPr/>
          <a:lstStyle/>
          <a:p>
            <a:r>
              <a:rPr lang="en-US" dirty="0"/>
              <a:t>Week 06</a:t>
            </a:r>
          </a:p>
        </p:txBody>
      </p:sp>
      <p:pic>
        <p:nvPicPr>
          <p:cNvPr id="5" name="Picture Placeholder 4" descr="People at the beach">
            <a:extLst>
              <a:ext uri="{FF2B5EF4-FFF2-40B4-BE49-F238E27FC236}">
                <a16:creationId xmlns:a16="http://schemas.microsoft.com/office/drawing/2014/main" id="{0672830B-5F52-9AD6-1CF1-D12BDF673ACE}"/>
              </a:ext>
            </a:extLst>
          </p:cNvPr>
          <p:cNvPicPr>
            <a:picLocks noGrp="1" noChangeAspect="1"/>
          </p:cNvPicPr>
          <p:nvPr>
            <p:ph type="pic" sz="quarter" idx="11"/>
          </p:nvPr>
        </p:nvPicPr>
        <p:blipFill>
          <a:blip r:embed="rId3"/>
          <a:srcRect t="62" b="62"/>
          <a:stretch/>
        </p:blipFill>
        <p:spPr>
          <a:xfrm>
            <a:off x="7754112" y="947737"/>
            <a:ext cx="4048124" cy="4962525"/>
          </a:xfrm>
        </p:spPr>
      </p:pic>
    </p:spTree>
    <p:extLst>
      <p:ext uri="{BB962C8B-B14F-4D97-AF65-F5344CB8AC3E}">
        <p14:creationId xmlns:p14="http://schemas.microsoft.com/office/powerpoint/2010/main" val="3262765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F76D-A0D2-8179-168C-8025D377329E}"/>
              </a:ext>
            </a:extLst>
          </p:cNvPr>
          <p:cNvSpPr>
            <a:spLocks noGrp="1"/>
          </p:cNvSpPr>
          <p:nvPr>
            <p:ph type="title"/>
          </p:nvPr>
        </p:nvSpPr>
        <p:spPr>
          <a:xfrm>
            <a:off x="768096" y="667512"/>
            <a:ext cx="2551176" cy="5513832"/>
          </a:xfrm>
        </p:spPr>
        <p:txBody>
          <a:bodyPr/>
          <a:lstStyle/>
          <a:p>
            <a:r>
              <a:rPr lang="zh-TW" altLang="en-US" dirty="0"/>
              <a:t>課程主題</a:t>
            </a:r>
            <a:endParaRPr lang="en-US" dirty="0"/>
          </a:p>
        </p:txBody>
      </p:sp>
      <p:sp>
        <p:nvSpPr>
          <p:cNvPr id="3" name="Content Placeholder 2">
            <a:extLst>
              <a:ext uri="{FF2B5EF4-FFF2-40B4-BE49-F238E27FC236}">
                <a16:creationId xmlns:a16="http://schemas.microsoft.com/office/drawing/2014/main" id="{B16F5ACA-5B20-DED2-F6EA-E50B5B17F3AE}"/>
              </a:ext>
            </a:extLst>
          </p:cNvPr>
          <p:cNvSpPr>
            <a:spLocks noGrp="1"/>
          </p:cNvSpPr>
          <p:nvPr>
            <p:ph idx="1"/>
          </p:nvPr>
        </p:nvSpPr>
        <p:spPr>
          <a:xfrm>
            <a:off x="3447288" y="667512"/>
            <a:ext cx="5897881" cy="5568696"/>
          </a:xfrm>
        </p:spPr>
        <p:txBody>
          <a:bodyPr/>
          <a:lstStyle/>
          <a:p>
            <a:pPr marL="0" indent="0">
              <a:buNone/>
            </a:pPr>
            <a:r>
              <a:rPr lang="zh-TW" altLang="en-US" dirty="0"/>
              <a:t>第一部分：比特幣、以太坊</a:t>
            </a:r>
            <a:endParaRPr lang="en-US" altLang="zh-TW" dirty="0"/>
          </a:p>
          <a:p>
            <a:pPr marL="0" indent="0">
              <a:buNone/>
            </a:pPr>
            <a:r>
              <a:rPr lang="zh-TW" altLang="en-US" dirty="0"/>
              <a:t>第二部分：幣安智能鏈</a:t>
            </a:r>
            <a:r>
              <a:rPr lang="en-US" altLang="zh-TW" dirty="0"/>
              <a:t>(BSC)</a:t>
            </a:r>
          </a:p>
          <a:p>
            <a:pPr marL="0" indent="0">
              <a:buNone/>
            </a:pPr>
            <a:r>
              <a:rPr lang="zh-TW" altLang="en-US" dirty="0"/>
              <a:t>第三部分：穩定幣（</a:t>
            </a:r>
            <a:r>
              <a:rPr lang="en-US" altLang="zh-TW" dirty="0"/>
              <a:t>Stablecoins</a:t>
            </a:r>
            <a:r>
              <a:rPr lang="zh-TW" altLang="en-US" dirty="0"/>
              <a:t>）</a:t>
            </a:r>
            <a:endParaRPr lang="en-US" dirty="0"/>
          </a:p>
        </p:txBody>
      </p:sp>
      <p:sp>
        <p:nvSpPr>
          <p:cNvPr id="5" name="Slide Number Placeholder 4">
            <a:extLst>
              <a:ext uri="{FF2B5EF4-FFF2-40B4-BE49-F238E27FC236}">
                <a16:creationId xmlns:a16="http://schemas.microsoft.com/office/drawing/2014/main" id="{269330A5-9701-4D21-4CCC-742D1F9B425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852209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Umbrellas at the beach">
            <a:extLst>
              <a:ext uri="{FF2B5EF4-FFF2-40B4-BE49-F238E27FC236}">
                <a16:creationId xmlns:a16="http://schemas.microsoft.com/office/drawing/2014/main" id="{C9711FA8-82E0-BC2D-81D0-FE7DE3A5C723}"/>
              </a:ext>
            </a:extLst>
          </p:cNvPr>
          <p:cNvPicPr>
            <a:picLocks noGrp="1" noChangeAspect="1"/>
          </p:cNvPicPr>
          <p:nvPr>
            <p:ph type="pic" sz="quarter" idx="11"/>
          </p:nvPr>
        </p:nvPicPr>
        <p:blipFill>
          <a:blip r:embed="rId2"/>
          <a:srcRect l="40" r="40"/>
          <a:stretch/>
        </p:blipFill>
        <p:spPr>
          <a:xfrm>
            <a:off x="630936" y="576072"/>
            <a:ext cx="4023360" cy="5495544"/>
          </a:xfrm>
        </p:spPr>
      </p:pic>
      <p:sp>
        <p:nvSpPr>
          <p:cNvPr id="9" name="Title 4">
            <a:extLst>
              <a:ext uri="{FF2B5EF4-FFF2-40B4-BE49-F238E27FC236}">
                <a16:creationId xmlns:a16="http://schemas.microsoft.com/office/drawing/2014/main" id="{7716687E-B9E6-EF79-42FA-195AF9DF4F1F}"/>
              </a:ext>
            </a:extLst>
          </p:cNvPr>
          <p:cNvSpPr>
            <a:spLocks noGrp="1"/>
          </p:cNvSpPr>
          <p:nvPr>
            <p:ph type="title"/>
          </p:nvPr>
        </p:nvSpPr>
        <p:spPr>
          <a:xfrm>
            <a:off x="5474188" y="191001"/>
            <a:ext cx="6577717" cy="770141"/>
          </a:xfrm>
        </p:spPr>
        <p:txBody>
          <a:bodyPr>
            <a:normAutofit/>
          </a:bodyPr>
          <a:lstStyle/>
          <a:p>
            <a:r>
              <a:rPr lang="zh-TW" altLang="en-US" sz="3200" dirty="0"/>
              <a:t>第一部分：比特幣、以太坊</a:t>
            </a:r>
            <a:endParaRPr lang="en-US" sz="3200" dirty="0"/>
          </a:p>
        </p:txBody>
      </p:sp>
      <p:sp>
        <p:nvSpPr>
          <p:cNvPr id="10" name="Content Placeholder 5">
            <a:extLst>
              <a:ext uri="{FF2B5EF4-FFF2-40B4-BE49-F238E27FC236}">
                <a16:creationId xmlns:a16="http://schemas.microsoft.com/office/drawing/2014/main" id="{9E7E1599-3872-6AF2-8860-E37CED93BC6F}"/>
              </a:ext>
            </a:extLst>
          </p:cNvPr>
          <p:cNvSpPr txBox="1">
            <a:spLocks/>
          </p:cNvSpPr>
          <p:nvPr/>
        </p:nvSpPr>
        <p:spPr>
          <a:xfrm>
            <a:off x="5474189" y="1049515"/>
            <a:ext cx="6577716" cy="568212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None/>
            </a:pPr>
            <a:r>
              <a:rPr lang="zh-TW" altLang="en-US" sz="3200" dirty="0">
                <a:latin typeface="微軟正黑體" panose="020B0604030504040204" pitchFamily="34" charset="-120"/>
                <a:ea typeface="微軟正黑體" panose="020B0604030504040204" pitchFamily="34" charset="-120"/>
              </a:rPr>
              <a:t>主題一：比特幣</a:t>
            </a:r>
            <a:endParaRPr lang="en-US" altLang="zh-TW" sz="3200" dirty="0">
              <a:latin typeface="微軟正黑體" panose="020B0604030504040204" pitchFamily="34" charset="-120"/>
              <a:ea typeface="微軟正黑體" panose="020B0604030504040204" pitchFamily="34" charset="-120"/>
            </a:endParaRPr>
          </a:p>
          <a:p>
            <a:pPr marL="0" indent="0" algn="just">
              <a:lnSpc>
                <a:spcPct val="150000"/>
              </a:lnSpc>
              <a:spcBef>
                <a:spcPts val="0"/>
              </a:spcBef>
              <a:buNone/>
            </a:pPr>
            <a:r>
              <a:rPr lang="zh-TW" altLang="en-US" sz="3200" dirty="0">
                <a:latin typeface="微軟正黑體" panose="020B0604030504040204" pitchFamily="34" charset="-120"/>
                <a:ea typeface="微軟正黑體" panose="020B0604030504040204" pitchFamily="34" charset="-120"/>
              </a:rPr>
              <a:t>主題二：以太坊</a:t>
            </a:r>
            <a:endParaRPr lang="en-US" altLang="zh-TW" sz="3200" dirty="0">
              <a:latin typeface="微軟正黑體" panose="020B0604030504040204" pitchFamily="34" charset="-120"/>
              <a:ea typeface="微軟正黑體" panose="020B0604030504040204" pitchFamily="34" charset="-120"/>
            </a:endParaRPr>
          </a:p>
          <a:p>
            <a:pPr marL="0" indent="0" algn="just">
              <a:lnSpc>
                <a:spcPct val="120000"/>
              </a:lnSpc>
              <a:spcBef>
                <a:spcPts val="0"/>
              </a:spcBef>
              <a:buNone/>
            </a:pPr>
            <a:endParaRPr lang="en-US" sz="1800" dirty="0"/>
          </a:p>
        </p:txBody>
      </p:sp>
    </p:spTree>
    <p:extLst>
      <p:ext uri="{BB962C8B-B14F-4D97-AF65-F5344CB8AC3E}">
        <p14:creationId xmlns:p14="http://schemas.microsoft.com/office/powerpoint/2010/main" val="234890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2DCBA4B6-4393-3837-E2A1-FDE7E3DF206B}"/>
              </a:ext>
            </a:extLst>
          </p:cNvPr>
          <p:cNvSpPr txBox="1"/>
          <p:nvPr/>
        </p:nvSpPr>
        <p:spPr>
          <a:xfrm>
            <a:off x="305661" y="313289"/>
            <a:ext cx="9780814" cy="6118470"/>
          </a:xfrm>
          <a:prstGeom prst="rect">
            <a:avLst/>
          </a:prstGeom>
          <a:noFill/>
        </p:spPr>
        <p:txBody>
          <a:bodyPr wrap="square" rtlCol="0">
            <a:spAutoFit/>
          </a:bodyPr>
          <a:lstStyle/>
          <a:p>
            <a:pPr algn="just">
              <a:lnSpc>
                <a:spcPct val="150000"/>
              </a:lnSpc>
            </a:pPr>
            <a:r>
              <a:rPr lang="zh-TW" altLang="en-US" sz="2400" dirty="0">
                <a:effectLst/>
                <a:latin typeface="微軟正黑體" panose="020B0604030504040204" pitchFamily="34" charset="-120"/>
                <a:ea typeface="微軟正黑體" panose="020B0604030504040204" pitchFamily="34" charset="-120"/>
                <a:cs typeface="Times New Roman" panose="02020603050405020304" pitchFamily="18" charset="0"/>
              </a:rPr>
              <a:t>主流區塊鏈指的是在區塊鏈技術領域中廣泛應用、具有高度影響力和廣泛社群支持的區塊鏈平台。這些區塊鏈通常具備穩定的技術基礎、活躍的開發社群，以及多樣的應用場景。以下是幾個當前主流的區塊鏈平台及其簡介</a:t>
            </a:r>
            <a:r>
              <a:rPr lang="zh-TW" altLang="zh-TW" sz="2400" dirty="0">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24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Bitcoin, BTC</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創始時間：</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2009</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創始人：中本聰（</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Satoshi Nakamoto</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主要特點：</a:t>
            </a:r>
          </a:p>
          <a:p>
            <a:pPr marL="1062900" indent="-342900" algn="just">
              <a:lnSpc>
                <a:spcPct val="150000"/>
              </a:lnSpc>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第一個去中心化的數字貨幣，旨在作為數字黃金和價值儲存。</a:t>
            </a:r>
          </a:p>
          <a:p>
            <a:pPr marL="1062900" indent="-342900" algn="just">
              <a:lnSpc>
                <a:spcPct val="150000"/>
              </a:lnSpc>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使用工作量證明（</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Proof of Work, PoW</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）共識機制。</a:t>
            </a:r>
          </a:p>
          <a:p>
            <a:pPr marL="1062900" indent="-342900" algn="just">
              <a:lnSpc>
                <a:spcPct val="150000"/>
              </a:lnSpc>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網絡安全性高，但交易速度相對較慢，且手續費較高。</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3" name="文字方塊 2">
            <a:extLst>
              <a:ext uri="{FF2B5EF4-FFF2-40B4-BE49-F238E27FC236}">
                <a16:creationId xmlns:a16="http://schemas.microsoft.com/office/drawing/2014/main" id="{9649EC84-39B9-98EE-EBA2-B2A996839622}"/>
              </a:ext>
            </a:extLst>
          </p:cNvPr>
          <p:cNvSpPr txBox="1"/>
          <p:nvPr/>
        </p:nvSpPr>
        <p:spPr>
          <a:xfrm>
            <a:off x="10315075" y="1207008"/>
            <a:ext cx="1571264"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主題一：比特幣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2DCBA4B6-4393-3837-E2A1-FDE7E3DF206B}"/>
              </a:ext>
            </a:extLst>
          </p:cNvPr>
          <p:cNvSpPr txBox="1"/>
          <p:nvPr/>
        </p:nvSpPr>
        <p:spPr>
          <a:xfrm>
            <a:off x="283501" y="753954"/>
            <a:ext cx="9570437" cy="501047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以太坊（</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Ethereum, ETH</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創始時間：</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2015</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創始人：</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Vitalik Buterin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等</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主要特點：</a:t>
            </a:r>
          </a:p>
          <a:p>
            <a:pPr marL="1062900" indent="-342900" algn="just">
              <a:lnSpc>
                <a:spcPct val="150000"/>
              </a:lnSpc>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支持智能合約，允許開發去中心化應用（</a:t>
            </a:r>
            <a:r>
              <a:rPr lang="en-US" altLang="zh-TW" sz="2400" dirty="0" err="1">
                <a:latin typeface="微軟正黑體" panose="020B0604030504040204" pitchFamily="34" charset="-120"/>
                <a:ea typeface="微軟正黑體" panose="020B0604030504040204" pitchFamily="34" charset="-120"/>
                <a:cs typeface="Times New Roman" panose="02020603050405020304" pitchFamily="18" charset="0"/>
              </a:rPr>
              <a:t>DApps</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1062900" indent="-342900" algn="just">
              <a:lnSpc>
                <a:spcPct val="150000"/>
              </a:lnSpc>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轉向權益證明（</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Proof of Stake, </a:t>
            </a:r>
            <a:r>
              <a:rPr lang="en-US" altLang="zh-TW" sz="2400" dirty="0" err="1">
                <a:latin typeface="微軟正黑體" panose="020B0604030504040204" pitchFamily="34" charset="-120"/>
                <a:ea typeface="微軟正黑體" panose="020B0604030504040204" pitchFamily="34" charset="-120"/>
                <a:cs typeface="Times New Roman" panose="02020603050405020304" pitchFamily="18" charset="0"/>
              </a:rPr>
              <a:t>PoS</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）的共識機制，提升能效和擴展性。</a:t>
            </a:r>
          </a:p>
          <a:p>
            <a:pPr marL="1062900" indent="-342900" algn="just">
              <a:lnSpc>
                <a:spcPct val="150000"/>
              </a:lnSpc>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以太坊生態系統豐富，支持去中心化金融（</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DeFi</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）、非同質化代幣（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NFT</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）等多種應用。</a:t>
            </a:r>
            <a:endParaRPr lang="zh-TW"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3" name="文字方塊 2">
            <a:extLst>
              <a:ext uri="{FF2B5EF4-FFF2-40B4-BE49-F238E27FC236}">
                <a16:creationId xmlns:a16="http://schemas.microsoft.com/office/drawing/2014/main" id="{0824479B-4475-3DF6-6125-7EC8778AED2E}"/>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Tree>
    <p:extLst>
      <p:ext uri="{BB962C8B-B14F-4D97-AF65-F5344CB8AC3E}">
        <p14:creationId xmlns:p14="http://schemas.microsoft.com/office/powerpoint/2010/main" val="1057375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7DF58-3832-92ED-6F1F-18FBEFD85B36}"/>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0178C165-CA01-2920-FB6C-5182B6248573}"/>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4" name="文字方塊 3">
            <a:extLst>
              <a:ext uri="{FF2B5EF4-FFF2-40B4-BE49-F238E27FC236}">
                <a16:creationId xmlns:a16="http://schemas.microsoft.com/office/drawing/2014/main" id="{E8E1EA30-0CC1-EB09-B8FC-2E38061DA505}"/>
              </a:ext>
            </a:extLst>
          </p:cNvPr>
          <p:cNvSpPr txBox="1"/>
          <p:nvPr/>
        </p:nvSpPr>
        <p:spPr>
          <a:xfrm>
            <a:off x="395672" y="783271"/>
            <a:ext cx="9334500" cy="5575757"/>
          </a:xfrm>
          <a:prstGeom prst="rect">
            <a:avLst/>
          </a:prstGeom>
          <a:noFill/>
        </p:spPr>
        <p:txBody>
          <a:bodyPr wrap="square" rtlCol="0">
            <a:spAutoFit/>
          </a:bodyPr>
          <a:lstStyle/>
          <a:p>
            <a:pPr>
              <a:lnSpc>
                <a:spcPct val="150000"/>
              </a:lnSpc>
            </a:pPr>
            <a:r>
              <a:rPr lang="zh-TW" altLang="en-US" sz="2000" dirty="0">
                <a:solidFill>
                  <a:srgbClr val="FF0000"/>
                </a:solidFill>
                <a:latin typeface="微軟正黑體" panose="020B0604030504040204" pitchFamily="34" charset="-120"/>
                <a:ea typeface="微軟正黑體" panose="020B0604030504040204" pitchFamily="34" charset="-120"/>
              </a:rPr>
              <a:t>以太坊（</a:t>
            </a:r>
            <a:r>
              <a:rPr lang="en-US" altLang="zh-TW" sz="2000" dirty="0">
                <a:solidFill>
                  <a:srgbClr val="FF0000"/>
                </a:solidFill>
                <a:latin typeface="微軟正黑體" panose="020B0604030504040204" pitchFamily="34" charset="-120"/>
                <a:ea typeface="微軟正黑體" panose="020B0604030504040204" pitchFamily="34" charset="-120"/>
              </a:rPr>
              <a:t>Ethereum, ETH</a:t>
            </a:r>
            <a:r>
              <a:rPr lang="zh-TW" altLang="en-US" sz="2000" dirty="0">
                <a:solidFill>
                  <a:srgbClr val="FF0000"/>
                </a:solidFill>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作為世界上第二大區塊鏈平台，除了支援加密貨幣交易外，還有許多應用範例，特別是基於其智能合約功能和去中心化應用（</a:t>
            </a:r>
            <a:r>
              <a:rPr lang="en-US" altLang="zh-TW" sz="2000" dirty="0" err="1">
                <a:latin typeface="微軟正黑體" panose="020B0604030504040204" pitchFamily="34" charset="-120"/>
                <a:ea typeface="微軟正黑體" panose="020B0604030504040204" pitchFamily="34" charset="-120"/>
              </a:rPr>
              <a:t>DApps</a:t>
            </a:r>
            <a:r>
              <a:rPr lang="zh-TW" altLang="en-US" sz="2000" dirty="0">
                <a:latin typeface="微軟正黑體" panose="020B0604030504040204" pitchFamily="34" charset="-120"/>
                <a:ea typeface="微軟正黑體" panose="020B0604030504040204" pitchFamily="34" charset="-120"/>
              </a:rPr>
              <a:t>）的廣泛應用場景。以下是一些重要的應用範例：</a:t>
            </a:r>
          </a:p>
          <a:p>
            <a:pPr>
              <a:lnSpc>
                <a:spcPct val="150000"/>
              </a:lnSpc>
            </a:pPr>
            <a:r>
              <a:rPr lang="en-US" altLang="zh-TW" sz="2000" dirty="0">
                <a:latin typeface="微軟正黑體" panose="020B0604030504040204" pitchFamily="34" charset="-120"/>
                <a:ea typeface="微軟正黑體" panose="020B0604030504040204" pitchFamily="34" charset="-120"/>
              </a:rPr>
              <a:t>1. </a:t>
            </a:r>
            <a:r>
              <a:rPr lang="zh-TW" altLang="en-US" sz="2000" dirty="0">
                <a:latin typeface="微軟正黑體" panose="020B0604030504040204" pitchFamily="34" charset="-120"/>
                <a:ea typeface="微軟正黑體" panose="020B0604030504040204" pitchFamily="34" charset="-120"/>
              </a:rPr>
              <a:t>去中心化金融（</a:t>
            </a:r>
            <a:r>
              <a:rPr lang="en-US" altLang="zh-TW" sz="2000" dirty="0">
                <a:latin typeface="微軟正黑體" panose="020B0604030504040204" pitchFamily="34" charset="-120"/>
                <a:ea typeface="微軟正黑體" panose="020B0604030504040204" pitchFamily="34" charset="-120"/>
              </a:rPr>
              <a:t>DeFi</a:t>
            </a:r>
            <a:r>
              <a:rPr lang="zh-TW" altLang="en-US" sz="2000" dirty="0">
                <a:latin typeface="微軟正黑體" panose="020B0604030504040204" pitchFamily="34" charset="-120"/>
                <a:ea typeface="微軟正黑體" panose="020B0604030504040204" pitchFamily="34" charset="-120"/>
              </a:rPr>
              <a:t>）</a:t>
            </a:r>
          </a:p>
          <a:p>
            <a:pPr>
              <a:lnSpc>
                <a:spcPct val="150000"/>
              </a:lnSpc>
            </a:pPr>
            <a:r>
              <a:rPr lang="zh-TW" altLang="en-US" sz="2000" dirty="0">
                <a:latin typeface="微軟正黑體" panose="020B0604030504040204" pitchFamily="34" charset="-120"/>
                <a:ea typeface="微軟正黑體" panose="020B0604030504040204" pitchFamily="34" charset="-120"/>
              </a:rPr>
              <a:t>去中心化金融（</a:t>
            </a:r>
            <a:r>
              <a:rPr lang="en-US" altLang="zh-TW" sz="2000" dirty="0">
                <a:latin typeface="微軟正黑體" panose="020B0604030504040204" pitchFamily="34" charset="-120"/>
                <a:ea typeface="微軟正黑體" panose="020B0604030504040204" pitchFamily="34" charset="-120"/>
              </a:rPr>
              <a:t>DeFi</a:t>
            </a:r>
            <a:r>
              <a:rPr lang="zh-TW" altLang="en-US" sz="2000" dirty="0">
                <a:latin typeface="微軟正黑體" panose="020B0604030504040204" pitchFamily="34" charset="-120"/>
                <a:ea typeface="微軟正黑體" panose="020B0604030504040204" pitchFamily="34" charset="-120"/>
              </a:rPr>
              <a:t>）是以太坊生態系統中的一大亮點，它提供了無需中介的金融服務，覆蓋借貸、交易、儲蓄等多種功能。</a:t>
            </a:r>
          </a:p>
          <a:p>
            <a:pPr marL="342900" indent="-342900">
              <a:lnSpc>
                <a:spcPct val="150000"/>
              </a:lnSpc>
              <a:buFont typeface="Wingdings" panose="05000000000000000000" pitchFamily="2" charset="2"/>
              <a:buChar char="u"/>
            </a:pPr>
            <a:r>
              <a:rPr lang="en-US" altLang="zh-TW" sz="2000" dirty="0">
                <a:latin typeface="微軟正黑體" panose="020B0604030504040204" pitchFamily="34" charset="-120"/>
                <a:ea typeface="微軟正黑體" panose="020B0604030504040204" pitchFamily="34" charset="-120"/>
              </a:rPr>
              <a:t>Uniswap</a:t>
            </a:r>
            <a:r>
              <a:rPr lang="zh-TW" altLang="en-US" sz="2000" dirty="0">
                <a:latin typeface="微軟正黑體" panose="020B0604030504040204" pitchFamily="34" charset="-120"/>
                <a:ea typeface="微軟正黑體" panose="020B0604030504040204" pitchFamily="34" charset="-120"/>
              </a:rPr>
              <a:t>：一個基於以太坊的去中心化交易所（</a:t>
            </a:r>
            <a:r>
              <a:rPr lang="en-US" altLang="zh-TW" sz="2000" dirty="0">
                <a:latin typeface="微軟正黑體" panose="020B0604030504040204" pitchFamily="34" charset="-120"/>
                <a:ea typeface="微軟正黑體" panose="020B0604030504040204" pitchFamily="34" charset="-120"/>
              </a:rPr>
              <a:t>DEX</a:t>
            </a:r>
            <a:r>
              <a:rPr lang="zh-TW" altLang="en-US" sz="2000" dirty="0">
                <a:latin typeface="微軟正黑體" panose="020B0604030504040204" pitchFamily="34" charset="-120"/>
                <a:ea typeface="微軟正黑體" panose="020B0604030504040204" pitchFamily="34" charset="-120"/>
              </a:rPr>
              <a:t>），允許用戶無需中心化的交易平台便能直接進行代幣交易。</a:t>
            </a:r>
          </a:p>
          <a:p>
            <a:pPr marL="342900" indent="-342900">
              <a:lnSpc>
                <a:spcPct val="150000"/>
              </a:lnSpc>
              <a:buFont typeface="Wingdings" panose="05000000000000000000" pitchFamily="2" charset="2"/>
              <a:buChar char="u"/>
            </a:pPr>
            <a:r>
              <a:rPr lang="en-US" altLang="zh-TW" sz="2000" dirty="0" err="1">
                <a:latin typeface="微軟正黑體" panose="020B0604030504040204" pitchFamily="34" charset="-120"/>
                <a:ea typeface="微軟正黑體" panose="020B0604030504040204" pitchFamily="34" charset="-120"/>
              </a:rPr>
              <a:t>Aave</a:t>
            </a:r>
            <a:r>
              <a:rPr lang="zh-TW" altLang="en-US" sz="2000" dirty="0">
                <a:latin typeface="微軟正黑體" panose="020B0604030504040204" pitchFamily="34" charset="-120"/>
                <a:ea typeface="微軟正黑體" panose="020B0604030504040204" pitchFamily="34" charset="-120"/>
              </a:rPr>
              <a:t>：一個去中心化的借貸平台，允許用戶將加密貨幣借出或借入，並通過智能合約來管理抵押品和利息。</a:t>
            </a:r>
          </a:p>
          <a:p>
            <a:pPr marL="342900" indent="-342900">
              <a:lnSpc>
                <a:spcPct val="150000"/>
              </a:lnSpc>
              <a:buFont typeface="Wingdings" panose="05000000000000000000" pitchFamily="2" charset="2"/>
              <a:buChar char="u"/>
            </a:pPr>
            <a:r>
              <a:rPr lang="en-US" altLang="zh-TW" sz="2000" dirty="0" err="1">
                <a:latin typeface="微軟正黑體" panose="020B0604030504040204" pitchFamily="34" charset="-120"/>
                <a:ea typeface="微軟正黑體" panose="020B0604030504040204" pitchFamily="34" charset="-120"/>
              </a:rPr>
              <a:t>MakerDAO</a:t>
            </a:r>
            <a:r>
              <a:rPr lang="zh-TW" altLang="en-US" sz="2000" dirty="0">
                <a:latin typeface="微軟正黑體" panose="020B0604030504040204" pitchFamily="34" charset="-120"/>
                <a:ea typeface="微軟正黑體" panose="020B0604030504040204" pitchFamily="34" charset="-120"/>
              </a:rPr>
              <a:t>：一個去中心化的穩定幣系統，通過抵押加密資產來生成與美元掛鉤的</a:t>
            </a:r>
            <a:r>
              <a:rPr lang="en-US" altLang="zh-TW" sz="2000" dirty="0">
                <a:latin typeface="微軟正黑體" panose="020B0604030504040204" pitchFamily="34" charset="-120"/>
                <a:ea typeface="微軟正黑體" panose="020B0604030504040204" pitchFamily="34" charset="-120"/>
              </a:rPr>
              <a:t>DAI</a:t>
            </a:r>
            <a:r>
              <a:rPr lang="zh-TW" altLang="en-US" sz="2000" dirty="0">
                <a:latin typeface="微軟正黑體" panose="020B0604030504040204" pitchFamily="34" charset="-120"/>
                <a:ea typeface="微軟正黑體" panose="020B0604030504040204" pitchFamily="34" charset="-120"/>
              </a:rPr>
              <a:t>穩定幣，實現價格穩定的同時保留去中心化的特性。</a:t>
            </a:r>
          </a:p>
        </p:txBody>
      </p:sp>
    </p:spTree>
    <p:extLst>
      <p:ext uri="{BB962C8B-B14F-4D97-AF65-F5344CB8AC3E}">
        <p14:creationId xmlns:p14="http://schemas.microsoft.com/office/powerpoint/2010/main" val="3389627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EF144-5C4A-B806-9F39-BB38BE1B73DF}"/>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82F2A19D-6236-D328-E982-FF48CAB9E7A6}"/>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4" name="文字方塊 3">
            <a:extLst>
              <a:ext uri="{FF2B5EF4-FFF2-40B4-BE49-F238E27FC236}">
                <a16:creationId xmlns:a16="http://schemas.microsoft.com/office/drawing/2014/main" id="{1A7ACAE5-2EEF-E7A2-5E68-FBBE980E504C}"/>
              </a:ext>
            </a:extLst>
          </p:cNvPr>
          <p:cNvSpPr txBox="1"/>
          <p:nvPr/>
        </p:nvSpPr>
        <p:spPr>
          <a:xfrm>
            <a:off x="599187" y="831446"/>
            <a:ext cx="9318171" cy="5564472"/>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2. </a:t>
            </a:r>
            <a:r>
              <a:rPr lang="zh-TW" altLang="en-US" sz="2400" dirty="0">
                <a:latin typeface="微軟正黑體" panose="020B0604030504040204" pitchFamily="34" charset="-120"/>
                <a:ea typeface="微軟正黑體" panose="020B0604030504040204" pitchFamily="34" charset="-120"/>
              </a:rPr>
              <a:t>非同質化代幣（</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a:t>
            </a:r>
          </a:p>
          <a:p>
            <a:pPr>
              <a:lnSpc>
                <a:spcPct val="150000"/>
              </a:lnSpc>
            </a:pPr>
            <a:r>
              <a:rPr lang="zh-TW" altLang="en-US" sz="2400" dirty="0">
                <a:latin typeface="微軟正黑體" panose="020B0604030504040204" pitchFamily="34" charset="-120"/>
                <a:ea typeface="微軟正黑體" panose="020B0604030504040204" pitchFamily="34" charset="-120"/>
              </a:rPr>
              <a:t>以太坊上的非同質化代幣（</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）使得獨特的數字資產（如藝術品、遊戲道具、收藏品等）得以在區塊鏈上存在並交易。</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CryptoPunks</a:t>
            </a:r>
            <a:r>
              <a:rPr lang="zh-TW" altLang="en-US" sz="2400" dirty="0">
                <a:latin typeface="微軟正黑體" panose="020B0604030504040204" pitchFamily="34" charset="-120"/>
                <a:ea typeface="微軟正黑體" panose="020B0604030504040204" pitchFamily="34" charset="-120"/>
              </a:rPr>
              <a:t>：早期的</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項目之一，創建了</a:t>
            </a:r>
            <a:r>
              <a:rPr lang="en-US" altLang="zh-TW" sz="2400" dirty="0">
                <a:latin typeface="微軟正黑體" panose="020B0604030504040204" pitchFamily="34" charset="-120"/>
                <a:ea typeface="微軟正黑體" panose="020B0604030504040204" pitchFamily="34" charset="-120"/>
              </a:rPr>
              <a:t>10,000</a:t>
            </a:r>
            <a:r>
              <a:rPr lang="zh-TW" altLang="en-US" sz="2400" dirty="0">
                <a:latin typeface="微軟正黑體" panose="020B0604030504040204" pitchFamily="34" charset="-120"/>
                <a:ea typeface="微軟正黑體" panose="020B0604030504040204" pitchFamily="34" charset="-120"/>
              </a:rPr>
              <a:t>個獨特的像素人物，成為數字藝術品收藏的經典代表。</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Axie</a:t>
            </a:r>
            <a:r>
              <a:rPr lang="en-US" altLang="zh-TW" sz="2400" dirty="0">
                <a:latin typeface="微軟正黑體" panose="020B0604030504040204" pitchFamily="34" charset="-120"/>
                <a:ea typeface="微軟正黑體" panose="020B0604030504040204" pitchFamily="34" charset="-120"/>
              </a:rPr>
              <a:t> Infinity</a:t>
            </a:r>
            <a:r>
              <a:rPr lang="zh-TW" altLang="en-US" sz="2400" dirty="0">
                <a:latin typeface="微軟正黑體" panose="020B0604030504040204" pitchFamily="34" charset="-120"/>
                <a:ea typeface="微軟正黑體" panose="020B0604030504040204" pitchFamily="34" charset="-120"/>
              </a:rPr>
              <a:t>：一款區塊鏈遊戲，玩家可以通過養成、戰鬥和交易</a:t>
            </a:r>
            <a:r>
              <a:rPr lang="en-US" altLang="zh-TW" sz="2400" dirty="0" err="1">
                <a:latin typeface="微軟正黑體" panose="020B0604030504040204" pitchFamily="34" charset="-120"/>
                <a:ea typeface="微軟正黑體" panose="020B0604030504040204" pitchFamily="34" charset="-120"/>
              </a:rPr>
              <a:t>Axies</a:t>
            </a:r>
            <a:r>
              <a:rPr lang="zh-TW" altLang="en-US" sz="2400" dirty="0">
                <a:latin typeface="微軟正黑體" panose="020B0604030504040204" pitchFamily="34" charset="-120"/>
                <a:ea typeface="微軟正黑體" panose="020B0604030504040204" pitchFamily="34" charset="-120"/>
              </a:rPr>
              <a:t>（遊戲中的虛擬寵物）來獲取</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和加密貨幣收益，形成“邊玩邊賺”（</a:t>
            </a:r>
            <a:r>
              <a:rPr lang="en-US" altLang="zh-TW" sz="2400" dirty="0">
                <a:latin typeface="微軟正黑體" panose="020B0604030504040204" pitchFamily="34" charset="-120"/>
                <a:ea typeface="微軟正黑體" panose="020B0604030504040204" pitchFamily="34" charset="-120"/>
              </a:rPr>
              <a:t>Play-to-Earn</a:t>
            </a:r>
            <a:r>
              <a:rPr lang="zh-TW" altLang="en-US" sz="2400" dirty="0">
                <a:latin typeface="微軟正黑體" panose="020B0604030504040204" pitchFamily="34" charset="-120"/>
                <a:ea typeface="微軟正黑體" panose="020B0604030504040204" pitchFamily="34" charset="-120"/>
              </a:rPr>
              <a:t>）的商業模式。</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OpenSea</a:t>
            </a:r>
            <a:r>
              <a:rPr lang="zh-TW" altLang="en-US" sz="2400" dirty="0">
                <a:latin typeface="微軟正黑體" panose="020B0604030504040204" pitchFamily="34" charset="-120"/>
                <a:ea typeface="微軟正黑體" panose="020B0604030504040204" pitchFamily="34" charset="-120"/>
              </a:rPr>
              <a:t>：全球最大的</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交易平台，允許用戶在平台上買賣各種類型的</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，如數字藝術、音樂、遊戲資產等。</a:t>
            </a:r>
            <a:endParaRPr lang="zh-TW" altLang="zh-TW" sz="2400" dirty="0">
              <a:effectLst/>
              <a:latin typeface="微軟正黑體" panose="020B0604030504040204" pitchFamily="34" charset="-120"/>
              <a:ea typeface="微軟正黑體" panose="020B0604030504040204" pitchFamily="34" charset="-120"/>
              <a:cs typeface="新細明體" panose="02020500000000000000" pitchFamily="18" charset="-120"/>
            </a:endParaRPr>
          </a:p>
        </p:txBody>
      </p:sp>
    </p:spTree>
    <p:extLst>
      <p:ext uri="{BB962C8B-B14F-4D97-AF65-F5344CB8AC3E}">
        <p14:creationId xmlns:p14="http://schemas.microsoft.com/office/powerpoint/2010/main" val="1626176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DF8FD-FD8B-7E7A-5765-44205EE274F7}"/>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6C18B229-A4AD-A0D1-BD37-53CAC72C6FF8}"/>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4" name="文字方塊 3">
            <a:extLst>
              <a:ext uri="{FF2B5EF4-FFF2-40B4-BE49-F238E27FC236}">
                <a16:creationId xmlns:a16="http://schemas.microsoft.com/office/drawing/2014/main" id="{665F49D4-0C3C-B764-2BC4-ABFE7D0EFC18}"/>
              </a:ext>
            </a:extLst>
          </p:cNvPr>
          <p:cNvSpPr txBox="1"/>
          <p:nvPr/>
        </p:nvSpPr>
        <p:spPr>
          <a:xfrm>
            <a:off x="531743" y="767340"/>
            <a:ext cx="9312729" cy="5564472"/>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3. </a:t>
            </a:r>
            <a:r>
              <a:rPr lang="zh-TW" altLang="en-US" sz="2400" dirty="0">
                <a:latin typeface="微軟正黑體" panose="020B0604030504040204" pitchFamily="34" charset="-120"/>
                <a:ea typeface="微軟正黑體" panose="020B0604030504040204" pitchFamily="34" charset="-120"/>
              </a:rPr>
              <a:t>去中心化自治組織（</a:t>
            </a:r>
            <a:r>
              <a:rPr lang="en-US" altLang="zh-TW" sz="2400" dirty="0">
                <a:latin typeface="微軟正黑體" panose="020B0604030504040204" pitchFamily="34" charset="-120"/>
                <a:ea typeface="微軟正黑體" panose="020B0604030504040204" pitchFamily="34" charset="-120"/>
              </a:rPr>
              <a:t>DAO</a:t>
            </a:r>
            <a:r>
              <a:rPr lang="zh-TW" altLang="en-US" sz="2400" dirty="0">
                <a:latin typeface="微軟正黑體" panose="020B0604030504040204" pitchFamily="34" charset="-120"/>
                <a:ea typeface="微軟正黑體" panose="020B0604030504040204" pitchFamily="34" charset="-120"/>
              </a:rPr>
              <a:t>）</a:t>
            </a:r>
          </a:p>
          <a:p>
            <a:pPr>
              <a:lnSpc>
                <a:spcPct val="150000"/>
              </a:lnSpc>
            </a:pPr>
            <a:r>
              <a:rPr lang="zh-TW" altLang="en-US" sz="2400" dirty="0">
                <a:latin typeface="微軟正黑體" panose="020B0604030504040204" pitchFamily="34" charset="-120"/>
                <a:ea typeface="微軟正黑體" panose="020B0604030504040204" pitchFamily="34" charset="-120"/>
              </a:rPr>
              <a:t>去中心化自治組織（</a:t>
            </a:r>
            <a:r>
              <a:rPr lang="en-US" altLang="zh-TW" sz="2400" dirty="0">
                <a:latin typeface="微軟正黑體" panose="020B0604030504040204" pitchFamily="34" charset="-120"/>
                <a:ea typeface="微軟正黑體" panose="020B0604030504040204" pitchFamily="34" charset="-120"/>
              </a:rPr>
              <a:t>DAO</a:t>
            </a:r>
            <a:r>
              <a:rPr lang="zh-TW" altLang="en-US" sz="2400" dirty="0">
                <a:latin typeface="微軟正黑體" panose="020B0604030504040204" pitchFamily="34" charset="-120"/>
                <a:ea typeface="微軟正黑體" panose="020B0604030504040204" pitchFamily="34" charset="-120"/>
              </a:rPr>
              <a:t>）是基於以太坊智能合約的組織形式，允許成員通過代幣投票和治理決策，共同管理組織。</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The DAO</a:t>
            </a:r>
            <a:r>
              <a:rPr lang="zh-TW" altLang="en-US" sz="2400" dirty="0">
                <a:latin typeface="微軟正黑體" panose="020B0604030504040204" pitchFamily="34" charset="-120"/>
                <a:ea typeface="微軟正黑體" panose="020B0604030504040204" pitchFamily="34" charset="-120"/>
              </a:rPr>
              <a:t>：最早的去中心化自治組織之一，雖然因安全漏洞導致失敗，但它開創了去中心化治理的先河。</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MolochDAO</a:t>
            </a:r>
            <a:r>
              <a:rPr lang="zh-TW" altLang="en-US" sz="2400" dirty="0">
                <a:latin typeface="微軟正黑體" panose="020B0604030504040204" pitchFamily="34" charset="-120"/>
                <a:ea typeface="微軟正黑體" panose="020B0604030504040204" pitchFamily="34" charset="-120"/>
              </a:rPr>
              <a:t>：一個旨在推動以太坊生態系統發展的資助機構，通過社群投票來決定如何分配資金。</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MakerDAO</a:t>
            </a:r>
            <a:r>
              <a:rPr lang="zh-TW" altLang="en-US" sz="2400" dirty="0">
                <a:latin typeface="微軟正黑體" panose="020B0604030504040204" pitchFamily="34" charset="-120"/>
                <a:ea typeface="微軟正黑體" panose="020B0604030504040204" pitchFamily="34" charset="-120"/>
              </a:rPr>
              <a:t>：不僅是一個</a:t>
            </a:r>
            <a:r>
              <a:rPr lang="en-US" altLang="zh-TW" sz="2400" dirty="0">
                <a:latin typeface="微軟正黑體" panose="020B0604030504040204" pitchFamily="34" charset="-120"/>
                <a:ea typeface="微軟正黑體" panose="020B0604030504040204" pitchFamily="34" charset="-120"/>
              </a:rPr>
              <a:t>DeFi</a:t>
            </a:r>
            <a:r>
              <a:rPr lang="zh-TW" altLang="en-US" sz="2400" dirty="0">
                <a:latin typeface="微軟正黑體" panose="020B0604030504040204" pitchFamily="34" charset="-120"/>
                <a:ea typeface="微軟正黑體" panose="020B0604030504040204" pitchFamily="34" charset="-120"/>
              </a:rPr>
              <a:t>應用，還是一個去中心化治理的典範，用戶可以通過治理代幣（</a:t>
            </a:r>
            <a:r>
              <a:rPr lang="en-US" altLang="zh-TW" sz="2400" dirty="0">
                <a:latin typeface="微軟正黑體" panose="020B0604030504040204" pitchFamily="34" charset="-120"/>
                <a:ea typeface="微軟正黑體" panose="020B0604030504040204" pitchFamily="34" charset="-120"/>
              </a:rPr>
              <a:t>MKR</a:t>
            </a:r>
            <a:r>
              <a:rPr lang="zh-TW" altLang="en-US" sz="2400" dirty="0">
                <a:latin typeface="微軟正黑體" panose="020B0604030504040204" pitchFamily="34" charset="-120"/>
                <a:ea typeface="微軟正黑體" panose="020B0604030504040204" pitchFamily="34" charset="-120"/>
              </a:rPr>
              <a:t>）投票決定穩定幣系統的運作規則。</a:t>
            </a:r>
          </a:p>
        </p:txBody>
      </p:sp>
    </p:spTree>
    <p:extLst>
      <p:ext uri="{BB962C8B-B14F-4D97-AF65-F5344CB8AC3E}">
        <p14:creationId xmlns:p14="http://schemas.microsoft.com/office/powerpoint/2010/main" val="2029187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90AE6-89CB-5DBE-8B23-2A1F55FCD94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DBC4CFF-45F4-4843-4DA2-1458B9EF985A}"/>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4" name="文字方塊 3">
            <a:extLst>
              <a:ext uri="{FF2B5EF4-FFF2-40B4-BE49-F238E27FC236}">
                <a16:creationId xmlns:a16="http://schemas.microsoft.com/office/drawing/2014/main" id="{A4149770-96D5-1DA1-B03F-1E825A646FB0}"/>
              </a:ext>
            </a:extLst>
          </p:cNvPr>
          <p:cNvSpPr txBox="1"/>
          <p:nvPr/>
        </p:nvSpPr>
        <p:spPr>
          <a:xfrm>
            <a:off x="504779" y="785061"/>
            <a:ext cx="8865205" cy="5564472"/>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4. </a:t>
            </a:r>
            <a:r>
              <a:rPr lang="zh-TW" altLang="en-US" sz="2400" dirty="0">
                <a:latin typeface="微軟正黑體" panose="020B0604030504040204" pitchFamily="34" charset="-120"/>
                <a:ea typeface="微軟正黑體" panose="020B0604030504040204" pitchFamily="34" charset="-120"/>
              </a:rPr>
              <a:t>供應鏈追蹤</a:t>
            </a:r>
          </a:p>
          <a:p>
            <a:pPr>
              <a:lnSpc>
                <a:spcPct val="150000"/>
              </a:lnSpc>
            </a:pPr>
            <a:r>
              <a:rPr lang="zh-TW" altLang="en-US" sz="2400" dirty="0">
                <a:latin typeface="微軟正黑體" panose="020B0604030504040204" pitchFamily="34" charset="-120"/>
                <a:ea typeface="微軟正黑體" panose="020B0604030504040204" pitchFamily="34" charset="-120"/>
              </a:rPr>
              <a:t>以太坊的透明性和不可篡改性使其在供應鏈管理中發揮重要作用，幫助企業和消費者追蹤產品的來源和生產過程。</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VeChain</a:t>
            </a:r>
            <a:r>
              <a:rPr lang="zh-TW" altLang="en-US" sz="2400" dirty="0">
                <a:latin typeface="微軟正黑體" panose="020B0604030504040204" pitchFamily="34" charset="-120"/>
                <a:ea typeface="微軟正黑體" panose="020B0604030504040204" pitchFamily="34" charset="-120"/>
              </a:rPr>
              <a:t>：雖然</a:t>
            </a:r>
            <a:r>
              <a:rPr lang="en-US" altLang="zh-TW" sz="2400" dirty="0" err="1">
                <a:latin typeface="微軟正黑體" panose="020B0604030504040204" pitchFamily="34" charset="-120"/>
                <a:ea typeface="微軟正黑體" panose="020B0604030504040204" pitchFamily="34" charset="-120"/>
              </a:rPr>
              <a:t>VeChain</a:t>
            </a:r>
            <a:r>
              <a:rPr lang="zh-TW" altLang="en-US" sz="2400" dirty="0">
                <a:latin typeface="微軟正黑體" panose="020B0604030504040204" pitchFamily="34" charset="-120"/>
                <a:ea typeface="微軟正黑體" panose="020B0604030504040204" pitchFamily="34" charset="-120"/>
              </a:rPr>
              <a:t>是一個獨立的區塊鏈，但其最早的版本基於以太坊，並且它依然與以太坊兼容，旨在追蹤供應鏈中的產品從生產到消費的全過程，特別在食品和奢侈品領域應用廣泛。</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Provenance</a:t>
            </a:r>
            <a:r>
              <a:rPr lang="zh-TW" altLang="en-US" sz="2400" dirty="0">
                <a:latin typeface="微軟正黑體" panose="020B0604030504040204" pitchFamily="34" charset="-120"/>
                <a:ea typeface="微軟正黑體" panose="020B0604030504040204" pitchFamily="34" charset="-120"/>
              </a:rPr>
              <a:t>：基於以太坊的供應鏈溯源平台，主要用於食品和時尚行業，幫助消費者了解產品的生產流程和供應鏈細節，提升透明度和可追溯性。</a:t>
            </a:r>
          </a:p>
        </p:txBody>
      </p:sp>
    </p:spTree>
    <p:extLst>
      <p:ext uri="{BB962C8B-B14F-4D97-AF65-F5344CB8AC3E}">
        <p14:creationId xmlns:p14="http://schemas.microsoft.com/office/powerpoint/2010/main" val="2765957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817EC-AA3E-32D7-E174-54BF41AA2BFB}"/>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A78EA6E-9B34-63FB-78D9-697EEB49F401}"/>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4" name="文字方塊 3">
            <a:extLst>
              <a:ext uri="{FF2B5EF4-FFF2-40B4-BE49-F238E27FC236}">
                <a16:creationId xmlns:a16="http://schemas.microsoft.com/office/drawing/2014/main" id="{08E5B077-5EE4-4863-087A-19ACBAA40EE9}"/>
              </a:ext>
            </a:extLst>
          </p:cNvPr>
          <p:cNvSpPr txBox="1"/>
          <p:nvPr/>
        </p:nvSpPr>
        <p:spPr>
          <a:xfrm>
            <a:off x="685118" y="986920"/>
            <a:ext cx="9033933" cy="5010474"/>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5. </a:t>
            </a:r>
            <a:r>
              <a:rPr lang="zh-TW" altLang="en-US" sz="2400" dirty="0">
                <a:latin typeface="微軟正黑體" panose="020B0604030504040204" pitchFamily="34" charset="-120"/>
                <a:ea typeface="微軟正黑體" panose="020B0604030504040204" pitchFamily="34" charset="-120"/>
              </a:rPr>
              <a:t>去中心化身份驗證</a:t>
            </a:r>
          </a:p>
          <a:p>
            <a:pPr>
              <a:lnSpc>
                <a:spcPct val="150000"/>
              </a:lnSpc>
            </a:pPr>
            <a:r>
              <a:rPr lang="zh-TW" altLang="en-US" sz="2400" dirty="0">
                <a:latin typeface="微軟正黑體" panose="020B0604030504040204" pitchFamily="34" charset="-120"/>
                <a:ea typeface="微軟正黑體" panose="020B0604030504040204" pitchFamily="34" charset="-120"/>
              </a:rPr>
              <a:t>以太坊的智能合約可以用來構建安全的身份驗證系統，讓個人能夠掌控自己的身份和數據，而不是依賴中心化的機構。</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uPort</a:t>
            </a:r>
            <a:r>
              <a:rPr lang="zh-TW" altLang="en-US" sz="2400" dirty="0">
                <a:latin typeface="微軟正黑體" panose="020B0604030504040204" pitchFamily="34" charset="-120"/>
                <a:ea typeface="微軟正黑體" panose="020B0604030504040204" pitchFamily="34" charset="-120"/>
              </a:rPr>
              <a:t>：一個基於以太坊的去中心化身份驗證系統，允許用戶創建、管理並安全存儲他們的個人身份信息，同時可以選擇與其他人共享特定信息。</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Civic</a:t>
            </a:r>
            <a:r>
              <a:rPr lang="zh-TW" altLang="en-US" sz="2400" dirty="0">
                <a:latin typeface="微軟正黑體" panose="020B0604030504040204" pitchFamily="34" charset="-120"/>
                <a:ea typeface="微軟正黑體" panose="020B0604030504040204" pitchFamily="34" charset="-120"/>
              </a:rPr>
              <a:t>：另一個基於以太坊的身份管理平台，專注於提供去中心化的身份驗證服務，允許個人在數字世界中安全管理其身份數據。</a:t>
            </a:r>
          </a:p>
        </p:txBody>
      </p:sp>
    </p:spTree>
    <p:extLst>
      <p:ext uri="{BB962C8B-B14F-4D97-AF65-F5344CB8AC3E}">
        <p14:creationId xmlns:p14="http://schemas.microsoft.com/office/powerpoint/2010/main" val="1023620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145FC-BE0A-7025-DDBD-8170079DA139}"/>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D34BBD00-DF8A-6C3A-38AE-88D73B06E045}"/>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4" name="文字方塊 3">
            <a:extLst>
              <a:ext uri="{FF2B5EF4-FFF2-40B4-BE49-F238E27FC236}">
                <a16:creationId xmlns:a16="http://schemas.microsoft.com/office/drawing/2014/main" id="{04A55E60-24EF-F6AF-2576-849DF317B097}"/>
              </a:ext>
            </a:extLst>
          </p:cNvPr>
          <p:cNvSpPr txBox="1"/>
          <p:nvPr/>
        </p:nvSpPr>
        <p:spPr>
          <a:xfrm>
            <a:off x="924182" y="1194516"/>
            <a:ext cx="8548913" cy="4456476"/>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6. </a:t>
            </a:r>
            <a:r>
              <a:rPr lang="zh-TW" altLang="en-US" sz="2400" dirty="0">
                <a:latin typeface="微軟正黑體" panose="020B0604030504040204" pitchFamily="34" charset="-120"/>
                <a:ea typeface="微軟正黑體" panose="020B0604030504040204" pitchFamily="34" charset="-120"/>
              </a:rPr>
              <a:t>慈善捐贈與社會影響</a:t>
            </a:r>
          </a:p>
          <a:p>
            <a:pPr>
              <a:lnSpc>
                <a:spcPct val="150000"/>
              </a:lnSpc>
            </a:pPr>
            <a:r>
              <a:rPr lang="zh-TW" altLang="en-US" sz="2400" dirty="0">
                <a:latin typeface="微軟正黑體" panose="020B0604030504040204" pitchFamily="34" charset="-120"/>
                <a:ea typeface="微軟正黑體" panose="020B0604030504040204" pitchFamily="34" charset="-120"/>
              </a:rPr>
              <a:t>以太坊上的智能合約可以用來創建透明的慈善捐贈平台，確保捐款能夠準確到達預定的受益人。</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Giveth</a:t>
            </a:r>
            <a:r>
              <a:rPr lang="zh-TW" altLang="en-US" sz="2400" dirty="0">
                <a:latin typeface="微軟正黑體" panose="020B0604030504040204" pitchFamily="34" charset="-120"/>
                <a:ea typeface="微軟正黑體" panose="020B0604030504040204" pitchFamily="34" charset="-120"/>
              </a:rPr>
              <a:t>：一個基於以太坊的慈善捐贈平台，旨在通過去中心化技術增強慈善事業的透明度。捐款者可以追蹤資金的使用情況，確保資金到達指定的社會項目。</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Alice.si</a:t>
            </a:r>
            <a:r>
              <a:rPr lang="zh-TW" altLang="en-US" sz="2400" dirty="0">
                <a:latin typeface="微軟正黑體" panose="020B0604030504040204" pitchFamily="34" charset="-120"/>
                <a:ea typeface="微軟正黑體" panose="020B0604030504040204" pitchFamily="34" charset="-120"/>
              </a:rPr>
              <a:t>：利用以太坊的智能合約來提升社會項目執行的透明性，確保資金在項目成功完成後才會被釋放給負責的組織。</a:t>
            </a:r>
          </a:p>
        </p:txBody>
      </p:sp>
    </p:spTree>
    <p:extLst>
      <p:ext uri="{BB962C8B-B14F-4D97-AF65-F5344CB8AC3E}">
        <p14:creationId xmlns:p14="http://schemas.microsoft.com/office/powerpoint/2010/main" val="3268250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09209-E903-FC83-62EB-7A8EE97DF812}"/>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1DD89A30-2623-5997-B2C7-15C07B9C3428}"/>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4" name="文字方塊 3">
            <a:extLst>
              <a:ext uri="{FF2B5EF4-FFF2-40B4-BE49-F238E27FC236}">
                <a16:creationId xmlns:a16="http://schemas.microsoft.com/office/drawing/2014/main" id="{1F57C7D2-BAD7-EDD8-7511-A1D6CBBABD85}"/>
              </a:ext>
            </a:extLst>
          </p:cNvPr>
          <p:cNvSpPr txBox="1"/>
          <p:nvPr/>
        </p:nvSpPr>
        <p:spPr>
          <a:xfrm>
            <a:off x="654353" y="448077"/>
            <a:ext cx="9023048" cy="6120393"/>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7. </a:t>
            </a:r>
            <a:r>
              <a:rPr lang="zh-TW" altLang="en-US" sz="2400" dirty="0">
                <a:latin typeface="微軟正黑體" panose="020B0604030504040204" pitchFamily="34" charset="-120"/>
                <a:ea typeface="微軟正黑體" panose="020B0604030504040204" pitchFamily="34" charset="-120"/>
              </a:rPr>
              <a:t>去中心化預言機（</a:t>
            </a:r>
            <a:r>
              <a:rPr lang="en-US" altLang="zh-TW" sz="2400" dirty="0">
                <a:latin typeface="微軟正黑體" panose="020B0604030504040204" pitchFamily="34" charset="-120"/>
                <a:ea typeface="微軟正黑體" panose="020B0604030504040204" pitchFamily="34" charset="-120"/>
              </a:rPr>
              <a:t>Oracle</a:t>
            </a:r>
            <a:r>
              <a:rPr lang="zh-TW" altLang="en-US" sz="2400" dirty="0">
                <a:latin typeface="微軟正黑體" panose="020B0604030504040204" pitchFamily="34" charset="-120"/>
                <a:ea typeface="微軟正黑體" panose="020B0604030504040204" pitchFamily="34" charset="-120"/>
              </a:rPr>
              <a:t>）</a:t>
            </a:r>
          </a:p>
          <a:p>
            <a:pPr>
              <a:lnSpc>
                <a:spcPct val="150000"/>
              </a:lnSpc>
            </a:pPr>
            <a:r>
              <a:rPr lang="zh-TW" altLang="en-US" sz="2400" dirty="0">
                <a:latin typeface="微軟正黑體" panose="020B0604030504040204" pitchFamily="34" charset="-120"/>
                <a:ea typeface="微軟正黑體" panose="020B0604030504040204" pitchFamily="34" charset="-120"/>
              </a:rPr>
              <a:t>預言機提供區塊鏈外部數據的來源，許多以太坊應用依賴這些數據來運行智能合約，從而擴展了區塊鏈的應用範圍。</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Chainlink</a:t>
            </a:r>
            <a:r>
              <a:rPr lang="zh-TW" altLang="en-US" sz="2400" dirty="0">
                <a:latin typeface="微軟正黑體" panose="020B0604030504040204" pitchFamily="34" charset="-120"/>
                <a:ea typeface="微軟正黑體" panose="020B0604030504040204" pitchFamily="34" charset="-120"/>
              </a:rPr>
              <a:t>：最知名的預言機平台之一，它能夠將外部數據（如天氣、比賽結果、金融市場數據）安全地引入以太坊智能合約中，從而實現更複雜的應用場景。</a:t>
            </a:r>
          </a:p>
          <a:p>
            <a:pPr>
              <a:lnSpc>
                <a:spcPct val="150000"/>
              </a:lnSpc>
            </a:pPr>
            <a:r>
              <a:rPr lang="zh-TW" altLang="en-US" sz="2400" dirty="0">
                <a:solidFill>
                  <a:srgbClr val="FF0000"/>
                </a:solidFill>
                <a:latin typeface="微軟正黑體" panose="020B0604030504040204" pitchFamily="34" charset="-120"/>
                <a:ea typeface="微軟正黑體" panose="020B0604030504040204" pitchFamily="34" charset="-120"/>
              </a:rPr>
              <a:t>總結</a:t>
            </a:r>
          </a:p>
          <a:p>
            <a:pPr>
              <a:lnSpc>
                <a:spcPct val="150000"/>
              </a:lnSpc>
            </a:pPr>
            <a:r>
              <a:rPr lang="zh-TW" altLang="en-US" sz="2400" dirty="0">
                <a:latin typeface="微軟正黑體" panose="020B0604030504040204" pitchFamily="34" charset="-120"/>
                <a:ea typeface="微軟正黑體" panose="020B0604030504040204" pitchFamily="34" charset="-120"/>
              </a:rPr>
              <a:t>以太坊的應用範圍極為廣泛，從去中心化金融到</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、供應鏈管理、身份驗證等各個領域，已經深刻改變了傳統行業的運作方式。隨著技術的發展，未來還會出現更多基於以太坊的創新應用，進一步擴展這一平台的潛力。</a:t>
            </a:r>
          </a:p>
        </p:txBody>
      </p:sp>
    </p:spTree>
    <p:extLst>
      <p:ext uri="{BB962C8B-B14F-4D97-AF65-F5344CB8AC3E}">
        <p14:creationId xmlns:p14="http://schemas.microsoft.com/office/powerpoint/2010/main" val="2210671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07FF3-6811-380A-1966-7D1D74A7A044}"/>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D4F8DBB5-F221-18CF-3A9B-09C0AC3A871C}"/>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5" name="文字方塊 4">
            <a:extLst>
              <a:ext uri="{FF2B5EF4-FFF2-40B4-BE49-F238E27FC236}">
                <a16:creationId xmlns:a16="http://schemas.microsoft.com/office/drawing/2014/main" id="{3C799E2F-24A4-E49E-F3BA-DBDB0EA812A9}"/>
              </a:ext>
            </a:extLst>
          </p:cNvPr>
          <p:cNvSpPr txBox="1"/>
          <p:nvPr/>
        </p:nvSpPr>
        <p:spPr>
          <a:xfrm>
            <a:off x="1546102" y="774363"/>
            <a:ext cx="7512109" cy="5564472"/>
          </a:xfrm>
          <a:prstGeom prst="rect">
            <a:avLst/>
          </a:prstGeom>
          <a:noFill/>
        </p:spPr>
        <p:txBody>
          <a:bodyPr wrap="square" rtlCol="0">
            <a:spAutoFit/>
          </a:bodyPr>
          <a:lstStyle/>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台灣有許多公司和機構使用以太坊或基於以太坊技術開發的解決方案，這些公司主要運作於金融科技、區塊鏈開發、供應鏈管理等領域。以下是幾個具體的例子：</a:t>
            </a:r>
          </a:p>
          <a:p>
            <a:pPr>
              <a:lnSpc>
                <a:spcPct val="150000"/>
              </a:lnSpc>
            </a:pP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1. </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Maicoin</a:t>
            </a:r>
            <a:endParaRPr lang="en-US" altLang="zh-TW" sz="2400" dirty="0">
              <a:solidFill>
                <a:schemeClr val="accent4">
                  <a:lumMod val="50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簡介：</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Maicoin</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 </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是台灣最大的加密貨幣交易所之一，提供比特幣、以太幣等多種加密貨幣的交易服務。</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以太坊應用：</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Maicoin</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 </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支持用戶進行以太幣（</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ETH</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）的交易，同時也在探索以太坊智能合約技術，提供針對區塊鏈應用的開發服務，特別是在去中心化金融（</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DeFi</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）方面。</a:t>
            </a:r>
          </a:p>
        </p:txBody>
      </p:sp>
    </p:spTree>
    <p:extLst>
      <p:ext uri="{BB962C8B-B14F-4D97-AF65-F5344CB8AC3E}">
        <p14:creationId xmlns:p14="http://schemas.microsoft.com/office/powerpoint/2010/main" val="3191011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7A0E2-47E9-7122-EFB7-29CE1438CF2C}"/>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AEB93DB0-E9D7-E3C0-125D-A982C71D985D}"/>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2" name="文字方塊 1">
            <a:extLst>
              <a:ext uri="{FF2B5EF4-FFF2-40B4-BE49-F238E27FC236}">
                <a16:creationId xmlns:a16="http://schemas.microsoft.com/office/drawing/2014/main" id="{A91A5941-805D-63CB-0330-E777174675C2}"/>
              </a:ext>
            </a:extLst>
          </p:cNvPr>
          <p:cNvSpPr txBox="1"/>
          <p:nvPr/>
        </p:nvSpPr>
        <p:spPr>
          <a:xfrm>
            <a:off x="1703452" y="1150584"/>
            <a:ext cx="7625321" cy="3902479"/>
          </a:xfrm>
          <a:prstGeom prst="rect">
            <a:avLst/>
          </a:prstGeom>
          <a:noFill/>
        </p:spPr>
        <p:txBody>
          <a:bodyPr wrap="square" rtlCol="0">
            <a:spAutoFit/>
          </a:bodyPr>
          <a:lstStyle/>
          <a:p>
            <a:pPr>
              <a:lnSpc>
                <a:spcPct val="150000"/>
              </a:lnSpc>
            </a:pP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2. </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XDite</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 Technologies</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簡介：這是一家專注於區塊鏈技術開發的公司，由台灣知名技術創業者 </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XDite</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（陳瓊方）創立。</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以太坊應用：公司開發基於以太坊的應用和去中心化解決方案，協助企業和開發者使用以太坊的智能合約來實現不同的商業應用，包括去中心化金融（</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DeFi</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）和不可替代代幣（</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NFT</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119035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E8083-E966-BA7A-1FAC-8F06025C9081}"/>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C1D55E28-9895-5B64-B6E6-3BA87EEACF12}"/>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2" name="文字方塊 1">
            <a:extLst>
              <a:ext uri="{FF2B5EF4-FFF2-40B4-BE49-F238E27FC236}">
                <a16:creationId xmlns:a16="http://schemas.microsoft.com/office/drawing/2014/main" id="{5228CF00-A28B-4710-F9FD-639DEF0A738E}"/>
              </a:ext>
            </a:extLst>
          </p:cNvPr>
          <p:cNvSpPr txBox="1"/>
          <p:nvPr/>
        </p:nvSpPr>
        <p:spPr>
          <a:xfrm>
            <a:off x="2102155" y="1110070"/>
            <a:ext cx="7690605" cy="3902479"/>
          </a:xfrm>
          <a:prstGeom prst="rect">
            <a:avLst/>
          </a:prstGeom>
          <a:noFill/>
        </p:spPr>
        <p:txBody>
          <a:bodyPr wrap="square" rtlCol="0">
            <a:spAutoFit/>
          </a:bodyPr>
          <a:lstStyle/>
          <a:p>
            <a:pPr>
              <a:lnSpc>
                <a:spcPct val="150000"/>
              </a:lnSpc>
            </a:pP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3. AMIS Technologies</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簡介：</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AMIS </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是一家專注於區塊鏈技術的台灣公司，致力於推動區塊鏈在金融和企業應用中的落地。</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以太坊應用：</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AMIS </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與台灣金融業密切合作，推出了以太坊企業聯盟（</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EEA</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）相關的區塊鏈技術解決方案。他們專注於使用以太坊的智能合約技術來解決企業級問題，特別是在金融服務和供應鏈管理方面的應用。</a:t>
            </a:r>
          </a:p>
        </p:txBody>
      </p:sp>
    </p:spTree>
    <p:extLst>
      <p:ext uri="{BB962C8B-B14F-4D97-AF65-F5344CB8AC3E}">
        <p14:creationId xmlns:p14="http://schemas.microsoft.com/office/powerpoint/2010/main" val="474683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76330-7535-67EF-EF15-0C5DEE51158D}"/>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6E55DCCA-3FC5-CC72-7EAD-A0348E29B27E}"/>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2" name="文字方塊 1">
            <a:extLst>
              <a:ext uri="{FF2B5EF4-FFF2-40B4-BE49-F238E27FC236}">
                <a16:creationId xmlns:a16="http://schemas.microsoft.com/office/drawing/2014/main" id="{4C155B2B-F970-3CFB-E41F-EBA6DFFE3E01}"/>
              </a:ext>
            </a:extLst>
          </p:cNvPr>
          <p:cNvSpPr txBox="1"/>
          <p:nvPr/>
        </p:nvSpPr>
        <p:spPr>
          <a:xfrm>
            <a:off x="2001438" y="1687088"/>
            <a:ext cx="7690605" cy="3348481"/>
          </a:xfrm>
          <a:prstGeom prst="rect">
            <a:avLst/>
          </a:prstGeom>
          <a:noFill/>
        </p:spPr>
        <p:txBody>
          <a:bodyPr wrap="square" rtlCol="0">
            <a:spAutoFit/>
          </a:bodyPr>
          <a:lstStyle/>
          <a:p>
            <a:pPr>
              <a:lnSpc>
                <a:spcPct val="150000"/>
              </a:lnSpc>
            </a:pP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4. </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BitoEX</a:t>
            </a:r>
            <a:endParaRPr lang="en-US" altLang="zh-TW" sz="2400" dirty="0">
              <a:solidFill>
                <a:schemeClr val="accent4">
                  <a:lumMod val="50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簡介：</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BitoEX</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 </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是台灣知名的加密貨幣交易平台，並且在台灣積極推廣加密貨幣支付和商業應用。</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以太坊應用：</a:t>
            </a:r>
            <a:r>
              <a:rPr lang="en-US" altLang="zh-TW" sz="2400" dirty="0" err="1">
                <a:solidFill>
                  <a:schemeClr val="accent4">
                    <a:lumMod val="50000"/>
                  </a:schemeClr>
                </a:solidFill>
                <a:latin typeface="微軟正黑體" panose="020B0604030504040204" pitchFamily="34" charset="-120"/>
                <a:ea typeface="微軟正黑體" panose="020B0604030504040204" pitchFamily="34" charset="-120"/>
              </a:rPr>
              <a:t>BitoEX</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 </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平台支援以太幣的交易，並且透過以太坊的智能合約，推出針對不同產業的區塊鏈應用，包括支付系統和票券管理等。</a:t>
            </a:r>
          </a:p>
        </p:txBody>
      </p:sp>
    </p:spTree>
    <p:extLst>
      <p:ext uri="{BB962C8B-B14F-4D97-AF65-F5344CB8AC3E}">
        <p14:creationId xmlns:p14="http://schemas.microsoft.com/office/powerpoint/2010/main" val="1786593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C3AF-9865-D6B6-5A59-61C61CED0C87}"/>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A3B92B3A-0E6A-1CA2-D9C5-4175D28EB75B}"/>
              </a:ext>
            </a:extLst>
          </p:cNvPr>
          <p:cNvSpPr txBox="1"/>
          <p:nvPr/>
        </p:nvSpPr>
        <p:spPr>
          <a:xfrm>
            <a:off x="10315075" y="1207008"/>
            <a:ext cx="1481253"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主題二：以太坊</a:t>
            </a:r>
          </a:p>
        </p:txBody>
      </p:sp>
      <p:sp>
        <p:nvSpPr>
          <p:cNvPr id="2" name="文字方塊 1">
            <a:extLst>
              <a:ext uri="{FF2B5EF4-FFF2-40B4-BE49-F238E27FC236}">
                <a16:creationId xmlns:a16="http://schemas.microsoft.com/office/drawing/2014/main" id="{8EDF4E03-6C90-33DF-FD44-FCFFDB57DBB7}"/>
              </a:ext>
            </a:extLst>
          </p:cNvPr>
          <p:cNvSpPr txBox="1"/>
          <p:nvPr/>
        </p:nvSpPr>
        <p:spPr>
          <a:xfrm>
            <a:off x="818288" y="1311881"/>
            <a:ext cx="9088360" cy="4456476"/>
          </a:xfrm>
          <a:prstGeom prst="rect">
            <a:avLst/>
          </a:prstGeom>
          <a:noFill/>
        </p:spPr>
        <p:txBody>
          <a:bodyPr wrap="square" rtlCol="0">
            <a:spAutoFit/>
          </a:bodyPr>
          <a:lstStyle/>
          <a:p>
            <a:pPr>
              <a:lnSpc>
                <a:spcPct val="150000"/>
              </a:lnSpc>
            </a:pP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5. </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台灣銀行（</a:t>
            </a:r>
            <a:r>
              <a:rPr lang="en-US" altLang="zh-TW" sz="2400" dirty="0">
                <a:solidFill>
                  <a:schemeClr val="accent4">
                    <a:lumMod val="50000"/>
                  </a:schemeClr>
                </a:solidFill>
                <a:latin typeface="微軟正黑體" panose="020B0604030504040204" pitchFamily="34" charset="-120"/>
                <a:ea typeface="微軟正黑體" panose="020B0604030504040204" pitchFamily="34" charset="-120"/>
              </a:rPr>
              <a:t>Bank of Taiwan</a:t>
            </a: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簡介：作為台灣最大且歷史最悠久的銀行之一，台灣銀行也在區塊鏈技術上進行探索。</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以太坊應用：台灣銀行參與了多項以太坊相關的區塊鏈技術試驗，主要應用於跨境支付、數位資產管理和去中心化的金融服務。</a:t>
            </a:r>
          </a:p>
          <a:p>
            <a:pPr>
              <a:lnSpc>
                <a:spcPct val="150000"/>
              </a:lnSpc>
            </a:pPr>
            <a:r>
              <a:rPr lang="zh-TW" altLang="en-US" sz="2400" dirty="0">
                <a:solidFill>
                  <a:schemeClr val="accent4">
                    <a:lumMod val="50000"/>
                  </a:schemeClr>
                </a:solidFill>
                <a:latin typeface="微軟正黑體" panose="020B0604030504040204" pitchFamily="34" charset="-120"/>
                <a:ea typeface="微軟正黑體" panose="020B0604030504040204" pitchFamily="34" charset="-120"/>
              </a:rPr>
              <a:t>這些公司和機構不僅使用以太坊的基本功能（如交易和智能合約），還開發了各種基於以太坊技術的創新應用，推動區塊鏈在台灣的金融科技和其他領域中的發展。</a:t>
            </a:r>
          </a:p>
        </p:txBody>
      </p:sp>
    </p:spTree>
    <p:extLst>
      <p:ext uri="{BB962C8B-B14F-4D97-AF65-F5344CB8AC3E}">
        <p14:creationId xmlns:p14="http://schemas.microsoft.com/office/powerpoint/2010/main" val="1279759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6D615-97D1-D398-25A4-A1801C44FFF1}"/>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8EC7E90F-42A8-90AE-4AD2-2870F263D49B}"/>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支援「智慧合約（</a:t>
            </a:r>
            <a:r>
              <a:rPr lang="en-US" altLang="zh-TW" sz="2400" dirty="0"/>
              <a:t>Smart Contract</a:t>
            </a:r>
            <a:r>
              <a:rPr lang="zh-TW" altLang="en-US" sz="2400" dirty="0"/>
              <a:t>）」是</a:t>
            </a:r>
            <a:endParaRPr lang="en-US" altLang="zh-TW" sz="2400" dirty="0"/>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1.</a:t>
            </a:r>
            <a:r>
              <a:rPr lang="zh-TW" altLang="en-US" sz="2400" dirty="0">
                <a:latin typeface="微軟正黑體" panose="020B0604030504040204" pitchFamily="34" charset="-120"/>
                <a:ea typeface="微軟正黑體" panose="020B0604030504040204" pitchFamily="34" charset="-120"/>
              </a:rPr>
              <a:t>以太坊</a:t>
            </a:r>
            <a:endParaRPr lang="en-US" altLang="zh-TW" sz="2400" dirty="0">
              <a:latin typeface="微軟正黑體" panose="020B0604030504040204" pitchFamily="34" charset="-120"/>
              <a:ea typeface="微軟正黑體" panose="020B0604030504040204" pitchFamily="34" charset="-120"/>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2.</a:t>
            </a:r>
            <a:r>
              <a:rPr lang="zh-TW" altLang="en-US" sz="2400" dirty="0">
                <a:latin typeface="微軟正黑體" panose="020B0604030504040204" pitchFamily="34" charset="-120"/>
                <a:ea typeface="微軟正黑體" panose="020B0604030504040204" pitchFamily="34" charset="-120"/>
              </a:rPr>
              <a:t>比特幣</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6D302679-12A1-0A4F-D1D9-3C0E461826C6}"/>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spTree>
    <p:extLst>
      <p:ext uri="{BB962C8B-B14F-4D97-AF65-F5344CB8AC3E}">
        <p14:creationId xmlns:p14="http://schemas.microsoft.com/office/powerpoint/2010/main" val="2496026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67286-414E-C65C-9370-273D6F28B79F}"/>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3A9B0335-7F37-CC4D-4E3A-24B80151F7FE}"/>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支援「智慧合約（</a:t>
            </a:r>
            <a:r>
              <a:rPr lang="en-US" altLang="zh-TW" sz="2400" dirty="0"/>
              <a:t>Smart Contract</a:t>
            </a:r>
            <a:r>
              <a:rPr lang="zh-TW" altLang="en-US" sz="2400" dirty="0"/>
              <a:t>）」是</a:t>
            </a:r>
            <a:endParaRPr lang="en-US" altLang="zh-TW" sz="2400" dirty="0"/>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1.</a:t>
            </a:r>
            <a:r>
              <a:rPr lang="zh-TW" altLang="en-US" sz="2400" dirty="0">
                <a:solidFill>
                  <a:srgbClr val="FF0000"/>
                </a:solidFill>
                <a:latin typeface="微軟正黑體" panose="020B0604030504040204" pitchFamily="34" charset="-120"/>
                <a:ea typeface="微軟正黑體" panose="020B0604030504040204" pitchFamily="34" charset="-120"/>
              </a:rPr>
              <a:t>以太坊</a:t>
            </a:r>
            <a:endParaRPr lang="en-US" altLang="zh-TW" sz="2400" dirty="0">
              <a:solidFill>
                <a:srgbClr val="FF0000"/>
              </a:solidFill>
              <a:latin typeface="微軟正黑體" panose="020B0604030504040204" pitchFamily="34" charset="-120"/>
              <a:ea typeface="微軟正黑體" panose="020B0604030504040204" pitchFamily="34" charset="-120"/>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2.</a:t>
            </a:r>
            <a:r>
              <a:rPr lang="zh-TW" altLang="en-US" sz="2400" dirty="0">
                <a:latin typeface="微軟正黑體" panose="020B0604030504040204" pitchFamily="34" charset="-120"/>
                <a:ea typeface="微軟正黑體" panose="020B0604030504040204" pitchFamily="34" charset="-120"/>
              </a:rPr>
              <a:t>比特幣</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781B330B-C3DA-435B-87C0-476C4D7A4A99}"/>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graphicFrame>
        <p:nvGraphicFramePr>
          <p:cNvPr id="14" name="表格 13">
            <a:extLst>
              <a:ext uri="{FF2B5EF4-FFF2-40B4-BE49-F238E27FC236}">
                <a16:creationId xmlns:a16="http://schemas.microsoft.com/office/drawing/2014/main" id="{70B7CD21-77FC-120E-F324-7225EF7D0BE9}"/>
              </a:ext>
            </a:extLst>
          </p:cNvPr>
          <p:cNvGraphicFramePr>
            <a:graphicFrameLocks noGrp="1"/>
          </p:cNvGraphicFramePr>
          <p:nvPr>
            <p:extLst>
              <p:ext uri="{D42A27DB-BD31-4B8C-83A1-F6EECF244321}">
                <p14:modId xmlns:p14="http://schemas.microsoft.com/office/powerpoint/2010/main" val="2203511314"/>
              </p:ext>
            </p:extLst>
          </p:nvPr>
        </p:nvGraphicFramePr>
        <p:xfrm>
          <a:off x="607705" y="3054237"/>
          <a:ext cx="9348463" cy="1005840"/>
        </p:xfrm>
        <a:graphic>
          <a:graphicData uri="http://schemas.openxmlformats.org/drawingml/2006/table">
            <a:tbl>
              <a:tblPr/>
              <a:tblGrid>
                <a:gridCol w="4310745">
                  <a:extLst>
                    <a:ext uri="{9D8B030D-6E8A-4147-A177-3AD203B41FA5}">
                      <a16:colId xmlns:a16="http://schemas.microsoft.com/office/drawing/2014/main" val="4056035346"/>
                    </a:ext>
                  </a:extLst>
                </a:gridCol>
                <a:gridCol w="1620458">
                  <a:extLst>
                    <a:ext uri="{9D8B030D-6E8A-4147-A177-3AD203B41FA5}">
                      <a16:colId xmlns:a16="http://schemas.microsoft.com/office/drawing/2014/main" val="4120339011"/>
                    </a:ext>
                  </a:extLst>
                </a:gridCol>
                <a:gridCol w="3417260">
                  <a:extLst>
                    <a:ext uri="{9D8B030D-6E8A-4147-A177-3AD203B41FA5}">
                      <a16:colId xmlns:a16="http://schemas.microsoft.com/office/drawing/2014/main" val="452862018"/>
                    </a:ext>
                  </a:extLst>
                </a:gridCol>
              </a:tblGrid>
              <a:tr h="0">
                <a:tc>
                  <a:txBody>
                    <a:bodyPr/>
                    <a:lstStyle/>
                    <a:p>
                      <a:pPr algn="l">
                        <a:buNone/>
                      </a:pPr>
                      <a:r>
                        <a:rPr lang="zh-TW" altLang="en-US" dirty="0"/>
                        <a:t>功能或特色</a:t>
                      </a:r>
                    </a:p>
                  </a:txBody>
                  <a:tcPr anchor="ctr">
                    <a:lnL>
                      <a:noFill/>
                    </a:lnL>
                    <a:lnR>
                      <a:noFill/>
                    </a:lnR>
                    <a:lnT>
                      <a:noFill/>
                    </a:lnT>
                    <a:lnB>
                      <a:noFill/>
                    </a:lnB>
                    <a:noFill/>
                  </a:tcPr>
                </a:tc>
                <a:tc>
                  <a:txBody>
                    <a:bodyPr/>
                    <a:lstStyle/>
                    <a:p>
                      <a:pPr algn="l">
                        <a:buNone/>
                      </a:pPr>
                      <a:r>
                        <a:rPr lang="zh-TW" altLang="en-US" dirty="0"/>
                        <a:t>答案</a:t>
                      </a:r>
                    </a:p>
                  </a:txBody>
                  <a:tcPr anchor="ctr">
                    <a:lnL>
                      <a:noFill/>
                    </a:lnL>
                    <a:lnR>
                      <a:noFill/>
                    </a:lnR>
                    <a:lnT>
                      <a:noFill/>
                    </a:lnT>
                    <a:lnB>
                      <a:noFill/>
                    </a:lnB>
                    <a:noFill/>
                  </a:tcPr>
                </a:tc>
                <a:tc>
                  <a:txBody>
                    <a:bodyPr/>
                    <a:lstStyle/>
                    <a:p>
                      <a:pPr algn="l">
                        <a:buNone/>
                      </a:pPr>
                      <a:r>
                        <a:rPr lang="zh-TW" altLang="en-US"/>
                        <a:t>簡要說明</a:t>
                      </a:r>
                    </a:p>
                  </a:txBody>
                  <a:tcPr anchor="ctr">
                    <a:lnL>
                      <a:noFill/>
                    </a:lnL>
                    <a:lnR>
                      <a:noFill/>
                    </a:lnR>
                    <a:lnT>
                      <a:noFill/>
                    </a:lnT>
                    <a:lnB>
                      <a:noFill/>
                    </a:lnB>
                    <a:noFill/>
                  </a:tcPr>
                </a:tc>
                <a:extLst>
                  <a:ext uri="{0D108BD9-81ED-4DB2-BD59-A6C34878D82A}">
                    <a16:rowId xmlns:a16="http://schemas.microsoft.com/office/drawing/2014/main" val="1716486298"/>
                  </a:ext>
                </a:extLst>
              </a:tr>
              <a:tr h="0">
                <a:tc>
                  <a:txBody>
                    <a:bodyPr/>
                    <a:lstStyle/>
                    <a:p>
                      <a:pPr algn="l">
                        <a:buNone/>
                      </a:pPr>
                      <a:r>
                        <a:rPr lang="zh-TW" altLang="en-US" dirty="0"/>
                        <a:t>支援「智慧合約（</a:t>
                      </a:r>
                      <a:r>
                        <a:rPr lang="en-US" dirty="0"/>
                        <a:t>Smart Contract）」</a:t>
                      </a:r>
                    </a:p>
                  </a:txBody>
                  <a:tcPr anchor="ctr">
                    <a:lnL>
                      <a:noFill/>
                    </a:lnL>
                    <a:lnR>
                      <a:noFill/>
                    </a:lnR>
                    <a:lnT>
                      <a:noFill/>
                    </a:lnT>
                    <a:lnB>
                      <a:noFill/>
                    </a:lnB>
                    <a:noFill/>
                  </a:tcPr>
                </a:tc>
                <a:tc>
                  <a:txBody>
                    <a:bodyPr/>
                    <a:lstStyle/>
                    <a:p>
                      <a:pPr algn="l">
                        <a:buNone/>
                      </a:pPr>
                      <a:r>
                        <a:rPr lang="zh-TW" altLang="en-US" dirty="0"/>
                        <a:t>✅ </a:t>
                      </a:r>
                      <a:r>
                        <a:rPr lang="zh-TW" altLang="en-US" b="1" dirty="0"/>
                        <a:t>以太坊</a:t>
                      </a:r>
                      <a:endParaRPr lang="zh-TW" altLang="en-US" dirty="0"/>
                    </a:p>
                  </a:txBody>
                  <a:tcPr anchor="ctr">
                    <a:lnL>
                      <a:noFill/>
                    </a:lnL>
                    <a:lnR>
                      <a:noFill/>
                    </a:lnR>
                    <a:lnT>
                      <a:noFill/>
                    </a:lnT>
                    <a:lnB>
                      <a:noFill/>
                    </a:lnB>
                    <a:noFill/>
                  </a:tcPr>
                </a:tc>
                <a:tc>
                  <a:txBody>
                    <a:bodyPr/>
                    <a:lstStyle/>
                    <a:p>
                      <a:pPr algn="l">
                        <a:buNone/>
                      </a:pPr>
                      <a:r>
                        <a:rPr lang="zh-TW" altLang="en-US" dirty="0"/>
                        <a:t>比特幣只用於交易，無法建立智慧合約。</a:t>
                      </a:r>
                    </a:p>
                  </a:txBody>
                  <a:tcPr anchor="ctr">
                    <a:lnL>
                      <a:noFill/>
                    </a:lnL>
                    <a:lnR>
                      <a:noFill/>
                    </a:lnR>
                    <a:lnT>
                      <a:noFill/>
                    </a:lnT>
                    <a:lnB>
                      <a:noFill/>
                    </a:lnB>
                    <a:noFill/>
                  </a:tcPr>
                </a:tc>
                <a:extLst>
                  <a:ext uri="{0D108BD9-81ED-4DB2-BD59-A6C34878D82A}">
                    <a16:rowId xmlns:a16="http://schemas.microsoft.com/office/drawing/2014/main" val="2388757411"/>
                  </a:ext>
                </a:extLst>
              </a:tr>
            </a:tbl>
          </a:graphicData>
        </a:graphic>
      </p:graphicFrame>
    </p:spTree>
    <p:extLst>
      <p:ext uri="{BB962C8B-B14F-4D97-AF65-F5344CB8AC3E}">
        <p14:creationId xmlns:p14="http://schemas.microsoft.com/office/powerpoint/2010/main" val="1648746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D6336-37A5-0509-AD21-AEBD04B1E949}"/>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2ED1633B-7CC7-B041-4024-6C25595C4B0F}"/>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總量上限 </a:t>
            </a:r>
            <a:r>
              <a:rPr lang="en-US" altLang="zh-TW" sz="2400" dirty="0"/>
              <a:t>2100 </a:t>
            </a:r>
            <a:r>
              <a:rPr lang="zh-TW" altLang="en-US" sz="2400" dirty="0"/>
              <a:t>萬枚是</a:t>
            </a:r>
            <a:endParaRPr lang="en-US" altLang="zh-TW" sz="2400" dirty="0"/>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1.</a:t>
            </a:r>
            <a:r>
              <a:rPr lang="zh-TW" altLang="en-US" sz="2400" dirty="0">
                <a:latin typeface="微軟正黑體" panose="020B0604030504040204" pitchFamily="34" charset="-120"/>
                <a:ea typeface="微軟正黑體" panose="020B0604030504040204" pitchFamily="34" charset="-120"/>
              </a:rPr>
              <a:t>以太坊</a:t>
            </a:r>
            <a:endParaRPr lang="en-US" altLang="zh-TW" sz="2400" dirty="0">
              <a:latin typeface="微軟正黑體" panose="020B0604030504040204" pitchFamily="34" charset="-120"/>
              <a:ea typeface="微軟正黑體" panose="020B0604030504040204" pitchFamily="34" charset="-120"/>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2.</a:t>
            </a:r>
            <a:r>
              <a:rPr lang="zh-TW" altLang="en-US" sz="2400" dirty="0">
                <a:latin typeface="微軟正黑體" panose="020B0604030504040204" pitchFamily="34" charset="-120"/>
                <a:ea typeface="微軟正黑體" panose="020B0604030504040204" pitchFamily="34" charset="-120"/>
              </a:rPr>
              <a:t>比特幣</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D4C574F6-14D5-04EC-D47F-35BCED17B26C}"/>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spTree>
    <p:extLst>
      <p:ext uri="{BB962C8B-B14F-4D97-AF65-F5344CB8AC3E}">
        <p14:creationId xmlns:p14="http://schemas.microsoft.com/office/powerpoint/2010/main" val="915907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0A4C4-372D-262B-8628-FDA0EEEEB092}"/>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F537577F-CBD1-A6D1-ECAC-C85851AE9B8A}"/>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總量上限 </a:t>
            </a:r>
            <a:r>
              <a:rPr lang="en-US" altLang="zh-TW" sz="2400" dirty="0"/>
              <a:t>2100 </a:t>
            </a:r>
            <a:r>
              <a:rPr lang="zh-TW" altLang="en-US" sz="2400" dirty="0"/>
              <a:t>萬枚是</a:t>
            </a:r>
            <a:endParaRPr lang="en-US" altLang="zh-TW" sz="2400" dirty="0"/>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1.</a:t>
            </a:r>
            <a:r>
              <a:rPr lang="zh-TW" altLang="en-US" sz="2400" dirty="0">
                <a:latin typeface="微軟正黑體" panose="020B0604030504040204" pitchFamily="34" charset="-120"/>
                <a:ea typeface="微軟正黑體" panose="020B0604030504040204" pitchFamily="34" charset="-120"/>
              </a:rPr>
              <a:t>以太坊</a:t>
            </a:r>
            <a:endParaRPr lang="en-US" altLang="zh-TW" sz="2400" dirty="0">
              <a:latin typeface="微軟正黑體" panose="020B0604030504040204" pitchFamily="34" charset="-120"/>
              <a:ea typeface="微軟正黑體" panose="020B0604030504040204" pitchFamily="34" charset="-120"/>
            </a:endParaRP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2.</a:t>
            </a:r>
            <a:r>
              <a:rPr lang="zh-TW" altLang="en-US" sz="2400" dirty="0">
                <a:solidFill>
                  <a:srgbClr val="FF0000"/>
                </a:solidFill>
                <a:latin typeface="微軟正黑體" panose="020B0604030504040204" pitchFamily="34" charset="-120"/>
                <a:ea typeface="微軟正黑體" panose="020B0604030504040204" pitchFamily="34" charset="-120"/>
              </a:rPr>
              <a:t>比特幣</a:t>
            </a:r>
            <a:endParaRPr lang="en-US" altLang="zh-TW" sz="2000" dirty="0">
              <a:solidFill>
                <a:srgbClr val="FF0000"/>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0CA1D98C-FCB2-D3BD-EDA2-E8B89B2E0BCD}"/>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graphicFrame>
        <p:nvGraphicFramePr>
          <p:cNvPr id="14" name="表格 13">
            <a:extLst>
              <a:ext uri="{FF2B5EF4-FFF2-40B4-BE49-F238E27FC236}">
                <a16:creationId xmlns:a16="http://schemas.microsoft.com/office/drawing/2014/main" id="{247081F9-CC1D-A228-F0A6-1FDA6A944BEA}"/>
              </a:ext>
            </a:extLst>
          </p:cNvPr>
          <p:cNvGraphicFramePr>
            <a:graphicFrameLocks noGrp="1"/>
          </p:cNvGraphicFramePr>
          <p:nvPr>
            <p:extLst>
              <p:ext uri="{D42A27DB-BD31-4B8C-83A1-F6EECF244321}">
                <p14:modId xmlns:p14="http://schemas.microsoft.com/office/powerpoint/2010/main" val="881723949"/>
              </p:ext>
            </p:extLst>
          </p:nvPr>
        </p:nvGraphicFramePr>
        <p:xfrm>
          <a:off x="607705" y="3054237"/>
          <a:ext cx="9348463" cy="1005840"/>
        </p:xfrm>
        <a:graphic>
          <a:graphicData uri="http://schemas.openxmlformats.org/drawingml/2006/table">
            <a:tbl>
              <a:tblPr/>
              <a:tblGrid>
                <a:gridCol w="4310745">
                  <a:extLst>
                    <a:ext uri="{9D8B030D-6E8A-4147-A177-3AD203B41FA5}">
                      <a16:colId xmlns:a16="http://schemas.microsoft.com/office/drawing/2014/main" val="4056035346"/>
                    </a:ext>
                  </a:extLst>
                </a:gridCol>
                <a:gridCol w="1620458">
                  <a:extLst>
                    <a:ext uri="{9D8B030D-6E8A-4147-A177-3AD203B41FA5}">
                      <a16:colId xmlns:a16="http://schemas.microsoft.com/office/drawing/2014/main" val="4120339011"/>
                    </a:ext>
                  </a:extLst>
                </a:gridCol>
                <a:gridCol w="3417260">
                  <a:extLst>
                    <a:ext uri="{9D8B030D-6E8A-4147-A177-3AD203B41FA5}">
                      <a16:colId xmlns:a16="http://schemas.microsoft.com/office/drawing/2014/main" val="452862018"/>
                    </a:ext>
                  </a:extLst>
                </a:gridCol>
              </a:tblGrid>
              <a:tr h="0">
                <a:tc>
                  <a:txBody>
                    <a:bodyPr/>
                    <a:lstStyle/>
                    <a:p>
                      <a:pPr algn="l">
                        <a:buNone/>
                      </a:pPr>
                      <a:r>
                        <a:rPr lang="zh-TW" altLang="en-US" dirty="0"/>
                        <a:t>功能或特色</a:t>
                      </a:r>
                    </a:p>
                  </a:txBody>
                  <a:tcPr anchor="ctr">
                    <a:lnL>
                      <a:noFill/>
                    </a:lnL>
                    <a:lnR>
                      <a:noFill/>
                    </a:lnR>
                    <a:lnT>
                      <a:noFill/>
                    </a:lnT>
                    <a:lnB>
                      <a:noFill/>
                    </a:lnB>
                    <a:noFill/>
                  </a:tcPr>
                </a:tc>
                <a:tc>
                  <a:txBody>
                    <a:bodyPr/>
                    <a:lstStyle/>
                    <a:p>
                      <a:pPr algn="l">
                        <a:buNone/>
                      </a:pPr>
                      <a:r>
                        <a:rPr lang="zh-TW" altLang="en-US" dirty="0"/>
                        <a:t>答案</a:t>
                      </a:r>
                    </a:p>
                  </a:txBody>
                  <a:tcPr anchor="ctr">
                    <a:lnL>
                      <a:noFill/>
                    </a:lnL>
                    <a:lnR>
                      <a:noFill/>
                    </a:lnR>
                    <a:lnT>
                      <a:noFill/>
                    </a:lnT>
                    <a:lnB>
                      <a:noFill/>
                    </a:lnB>
                    <a:noFill/>
                  </a:tcPr>
                </a:tc>
                <a:tc>
                  <a:txBody>
                    <a:bodyPr/>
                    <a:lstStyle/>
                    <a:p>
                      <a:pPr algn="l">
                        <a:buNone/>
                      </a:pPr>
                      <a:r>
                        <a:rPr lang="zh-TW" altLang="en-US"/>
                        <a:t>簡要說明</a:t>
                      </a:r>
                    </a:p>
                  </a:txBody>
                  <a:tcPr anchor="ctr">
                    <a:lnL>
                      <a:noFill/>
                    </a:lnL>
                    <a:lnR>
                      <a:noFill/>
                    </a:lnR>
                    <a:lnT>
                      <a:noFill/>
                    </a:lnT>
                    <a:lnB>
                      <a:noFill/>
                    </a:lnB>
                    <a:noFill/>
                  </a:tcPr>
                </a:tc>
                <a:extLst>
                  <a:ext uri="{0D108BD9-81ED-4DB2-BD59-A6C34878D82A}">
                    <a16:rowId xmlns:a16="http://schemas.microsoft.com/office/drawing/2014/main" val="1716486298"/>
                  </a:ext>
                </a:extLst>
              </a:tr>
              <a:tr h="0">
                <a:tc>
                  <a:txBody>
                    <a:bodyPr/>
                    <a:lstStyle/>
                    <a:p>
                      <a:pPr algn="l">
                        <a:buNone/>
                      </a:pPr>
                      <a:r>
                        <a:rPr lang="zh-TW" altLang="en-US" dirty="0"/>
                        <a:t>總量上限 </a:t>
                      </a:r>
                      <a:r>
                        <a:rPr lang="en-US" altLang="zh-TW" dirty="0"/>
                        <a:t>2100 </a:t>
                      </a:r>
                      <a:r>
                        <a:rPr lang="zh-TW" altLang="en-US" dirty="0"/>
                        <a:t>萬枚</a:t>
                      </a:r>
                    </a:p>
                  </a:txBody>
                  <a:tcPr anchor="ctr">
                    <a:lnL>
                      <a:noFill/>
                    </a:lnL>
                    <a:lnR>
                      <a:noFill/>
                    </a:lnR>
                    <a:lnT>
                      <a:noFill/>
                    </a:lnT>
                    <a:lnB>
                      <a:noFill/>
                    </a:lnB>
                    <a:noFill/>
                  </a:tcPr>
                </a:tc>
                <a:tc>
                  <a:txBody>
                    <a:bodyPr/>
                    <a:lstStyle/>
                    <a:p>
                      <a:pPr algn="l">
                        <a:buNone/>
                      </a:pPr>
                      <a:r>
                        <a:rPr lang="zh-TW" altLang="en-US" dirty="0"/>
                        <a:t>✅ </a:t>
                      </a:r>
                      <a:r>
                        <a:rPr lang="zh-TW" altLang="en-US" b="1" dirty="0"/>
                        <a:t>比特幣</a:t>
                      </a:r>
                      <a:endParaRPr lang="zh-TW" altLang="en-US" dirty="0"/>
                    </a:p>
                  </a:txBody>
                  <a:tcPr anchor="ctr">
                    <a:lnL>
                      <a:noFill/>
                    </a:lnL>
                    <a:lnR>
                      <a:noFill/>
                    </a:lnR>
                    <a:lnT>
                      <a:noFill/>
                    </a:lnT>
                    <a:lnB>
                      <a:noFill/>
                    </a:lnB>
                    <a:noFill/>
                  </a:tcPr>
                </a:tc>
                <a:tc>
                  <a:txBody>
                    <a:bodyPr/>
                    <a:lstStyle/>
                    <a:p>
                      <a:pPr algn="l">
                        <a:buNone/>
                      </a:pPr>
                      <a:r>
                        <a:rPr lang="zh-TW" altLang="en-US" dirty="0"/>
                        <a:t>以太坊無總量上限，屬通膨型設計。</a:t>
                      </a:r>
                    </a:p>
                  </a:txBody>
                  <a:tcPr anchor="ctr">
                    <a:lnL>
                      <a:noFill/>
                    </a:lnL>
                    <a:lnR>
                      <a:noFill/>
                    </a:lnR>
                    <a:lnT>
                      <a:noFill/>
                    </a:lnT>
                    <a:lnB>
                      <a:noFill/>
                    </a:lnB>
                    <a:noFill/>
                  </a:tcPr>
                </a:tc>
                <a:extLst>
                  <a:ext uri="{0D108BD9-81ED-4DB2-BD59-A6C34878D82A}">
                    <a16:rowId xmlns:a16="http://schemas.microsoft.com/office/drawing/2014/main" val="1596183340"/>
                  </a:ext>
                </a:extLst>
              </a:tr>
            </a:tbl>
          </a:graphicData>
        </a:graphic>
      </p:graphicFrame>
    </p:spTree>
    <p:extLst>
      <p:ext uri="{BB962C8B-B14F-4D97-AF65-F5344CB8AC3E}">
        <p14:creationId xmlns:p14="http://schemas.microsoft.com/office/powerpoint/2010/main" val="433525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CD827-FB2A-92E3-2AA9-7095000C4C24}"/>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E74D8D84-1E32-394B-A740-821D7D7D695B}"/>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可用來發行 </a:t>
            </a:r>
            <a:r>
              <a:rPr lang="en-US" altLang="zh-TW" sz="2400" dirty="0"/>
              <a:t>NFT</a:t>
            </a:r>
            <a:r>
              <a:rPr lang="zh-TW" altLang="en-US" sz="2400" dirty="0"/>
              <a:t>、</a:t>
            </a:r>
            <a:r>
              <a:rPr lang="en-US" altLang="zh-TW" sz="2400" dirty="0"/>
              <a:t>DeFi </a:t>
            </a:r>
            <a:r>
              <a:rPr lang="zh-TW" altLang="en-US" sz="2400" dirty="0"/>
              <a:t>應用是</a:t>
            </a:r>
            <a:endParaRPr lang="en-US" altLang="zh-TW" sz="2400" dirty="0"/>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1.</a:t>
            </a:r>
            <a:r>
              <a:rPr lang="zh-TW" altLang="en-US" sz="2400" dirty="0">
                <a:latin typeface="微軟正黑體" panose="020B0604030504040204" pitchFamily="34" charset="-120"/>
                <a:ea typeface="微軟正黑體" panose="020B0604030504040204" pitchFamily="34" charset="-120"/>
              </a:rPr>
              <a:t>以太坊</a:t>
            </a:r>
            <a:endParaRPr lang="en-US" altLang="zh-TW" sz="2400" dirty="0">
              <a:latin typeface="微軟正黑體" panose="020B0604030504040204" pitchFamily="34" charset="-120"/>
              <a:ea typeface="微軟正黑體" panose="020B0604030504040204" pitchFamily="34" charset="-120"/>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2.</a:t>
            </a:r>
            <a:r>
              <a:rPr lang="zh-TW" altLang="en-US" sz="2400" dirty="0">
                <a:latin typeface="微軟正黑體" panose="020B0604030504040204" pitchFamily="34" charset="-120"/>
                <a:ea typeface="微軟正黑體" panose="020B0604030504040204" pitchFamily="34" charset="-120"/>
              </a:rPr>
              <a:t>比特幣</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C13C52DB-8CEB-4516-4F1C-8862E9BA4A0C}"/>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spTree>
    <p:extLst>
      <p:ext uri="{BB962C8B-B14F-4D97-AF65-F5344CB8AC3E}">
        <p14:creationId xmlns:p14="http://schemas.microsoft.com/office/powerpoint/2010/main" val="1165690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62ED9-A3AC-9F27-3C63-44EB6E0A2A14}"/>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7042D304-0E29-16D0-D4DA-261AC9431378}"/>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可用來發行 </a:t>
            </a:r>
            <a:r>
              <a:rPr lang="en-US" altLang="zh-TW" sz="2400" dirty="0"/>
              <a:t>NFT</a:t>
            </a:r>
            <a:r>
              <a:rPr lang="zh-TW" altLang="en-US" sz="2400" dirty="0"/>
              <a:t>、</a:t>
            </a:r>
            <a:r>
              <a:rPr lang="en-US" altLang="zh-TW" sz="2400" dirty="0"/>
              <a:t>DeFi </a:t>
            </a:r>
            <a:r>
              <a:rPr lang="zh-TW" altLang="en-US" sz="2400" dirty="0"/>
              <a:t>應用是</a:t>
            </a:r>
            <a:endParaRPr lang="en-US" altLang="zh-TW" sz="2400" dirty="0"/>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 1.</a:t>
            </a:r>
            <a:r>
              <a:rPr lang="zh-TW" altLang="en-US" sz="2400" dirty="0">
                <a:solidFill>
                  <a:srgbClr val="FF0000"/>
                </a:solidFill>
                <a:latin typeface="微軟正黑體" panose="020B0604030504040204" pitchFamily="34" charset="-120"/>
                <a:ea typeface="微軟正黑體" panose="020B0604030504040204" pitchFamily="34" charset="-120"/>
              </a:rPr>
              <a:t>以太坊</a:t>
            </a:r>
            <a:endParaRPr lang="en-US" altLang="zh-TW" sz="2400" dirty="0">
              <a:solidFill>
                <a:srgbClr val="FF0000"/>
              </a:solidFill>
              <a:latin typeface="微軟正黑體" panose="020B0604030504040204" pitchFamily="34" charset="-120"/>
              <a:ea typeface="微軟正黑體" panose="020B0604030504040204" pitchFamily="34" charset="-120"/>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2.</a:t>
            </a:r>
            <a:r>
              <a:rPr lang="zh-TW" altLang="en-US" sz="2400" dirty="0">
                <a:latin typeface="微軟正黑體" panose="020B0604030504040204" pitchFamily="34" charset="-120"/>
                <a:ea typeface="微軟正黑體" panose="020B0604030504040204" pitchFamily="34" charset="-120"/>
              </a:rPr>
              <a:t>比特幣</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8BD24B8D-584C-60C8-36AF-8673AF565432}"/>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graphicFrame>
        <p:nvGraphicFramePr>
          <p:cNvPr id="14" name="表格 13">
            <a:extLst>
              <a:ext uri="{FF2B5EF4-FFF2-40B4-BE49-F238E27FC236}">
                <a16:creationId xmlns:a16="http://schemas.microsoft.com/office/drawing/2014/main" id="{39DF73DD-2368-2360-8A4F-DEBE499D3833}"/>
              </a:ext>
            </a:extLst>
          </p:cNvPr>
          <p:cNvGraphicFramePr>
            <a:graphicFrameLocks noGrp="1"/>
          </p:cNvGraphicFramePr>
          <p:nvPr>
            <p:extLst>
              <p:ext uri="{D42A27DB-BD31-4B8C-83A1-F6EECF244321}">
                <p14:modId xmlns:p14="http://schemas.microsoft.com/office/powerpoint/2010/main" val="538192306"/>
              </p:ext>
            </p:extLst>
          </p:nvPr>
        </p:nvGraphicFramePr>
        <p:xfrm>
          <a:off x="607705" y="3054237"/>
          <a:ext cx="9348463" cy="1005840"/>
        </p:xfrm>
        <a:graphic>
          <a:graphicData uri="http://schemas.openxmlformats.org/drawingml/2006/table">
            <a:tbl>
              <a:tblPr/>
              <a:tblGrid>
                <a:gridCol w="4310745">
                  <a:extLst>
                    <a:ext uri="{9D8B030D-6E8A-4147-A177-3AD203B41FA5}">
                      <a16:colId xmlns:a16="http://schemas.microsoft.com/office/drawing/2014/main" val="4056035346"/>
                    </a:ext>
                  </a:extLst>
                </a:gridCol>
                <a:gridCol w="1620458">
                  <a:extLst>
                    <a:ext uri="{9D8B030D-6E8A-4147-A177-3AD203B41FA5}">
                      <a16:colId xmlns:a16="http://schemas.microsoft.com/office/drawing/2014/main" val="4120339011"/>
                    </a:ext>
                  </a:extLst>
                </a:gridCol>
                <a:gridCol w="3417260">
                  <a:extLst>
                    <a:ext uri="{9D8B030D-6E8A-4147-A177-3AD203B41FA5}">
                      <a16:colId xmlns:a16="http://schemas.microsoft.com/office/drawing/2014/main" val="452862018"/>
                    </a:ext>
                  </a:extLst>
                </a:gridCol>
              </a:tblGrid>
              <a:tr h="0">
                <a:tc>
                  <a:txBody>
                    <a:bodyPr/>
                    <a:lstStyle/>
                    <a:p>
                      <a:pPr algn="l">
                        <a:buNone/>
                      </a:pPr>
                      <a:r>
                        <a:rPr lang="zh-TW" altLang="en-US" dirty="0"/>
                        <a:t>功能或特色</a:t>
                      </a:r>
                    </a:p>
                  </a:txBody>
                  <a:tcPr anchor="ctr">
                    <a:lnL>
                      <a:noFill/>
                    </a:lnL>
                    <a:lnR>
                      <a:noFill/>
                    </a:lnR>
                    <a:lnT>
                      <a:noFill/>
                    </a:lnT>
                    <a:lnB>
                      <a:noFill/>
                    </a:lnB>
                    <a:noFill/>
                  </a:tcPr>
                </a:tc>
                <a:tc>
                  <a:txBody>
                    <a:bodyPr/>
                    <a:lstStyle/>
                    <a:p>
                      <a:pPr algn="l">
                        <a:buNone/>
                      </a:pPr>
                      <a:r>
                        <a:rPr lang="zh-TW" altLang="en-US" dirty="0"/>
                        <a:t>答案</a:t>
                      </a:r>
                    </a:p>
                  </a:txBody>
                  <a:tcPr anchor="ctr">
                    <a:lnL>
                      <a:noFill/>
                    </a:lnL>
                    <a:lnR>
                      <a:noFill/>
                    </a:lnR>
                    <a:lnT>
                      <a:noFill/>
                    </a:lnT>
                    <a:lnB>
                      <a:noFill/>
                    </a:lnB>
                    <a:noFill/>
                  </a:tcPr>
                </a:tc>
                <a:tc>
                  <a:txBody>
                    <a:bodyPr/>
                    <a:lstStyle/>
                    <a:p>
                      <a:pPr algn="l">
                        <a:buNone/>
                      </a:pPr>
                      <a:r>
                        <a:rPr lang="zh-TW" altLang="en-US"/>
                        <a:t>簡要說明</a:t>
                      </a:r>
                    </a:p>
                  </a:txBody>
                  <a:tcPr anchor="ctr">
                    <a:lnL>
                      <a:noFill/>
                    </a:lnL>
                    <a:lnR>
                      <a:noFill/>
                    </a:lnR>
                    <a:lnT>
                      <a:noFill/>
                    </a:lnT>
                    <a:lnB>
                      <a:noFill/>
                    </a:lnB>
                    <a:noFill/>
                  </a:tcPr>
                </a:tc>
                <a:extLst>
                  <a:ext uri="{0D108BD9-81ED-4DB2-BD59-A6C34878D82A}">
                    <a16:rowId xmlns:a16="http://schemas.microsoft.com/office/drawing/2014/main" val="1716486298"/>
                  </a:ext>
                </a:extLst>
              </a:tr>
              <a:tr h="0">
                <a:tc>
                  <a:txBody>
                    <a:bodyPr/>
                    <a:lstStyle/>
                    <a:p>
                      <a:pPr algn="l">
                        <a:buNone/>
                      </a:pPr>
                      <a:r>
                        <a:rPr lang="zh-TW" altLang="en-US" dirty="0"/>
                        <a:t>可用來發行 </a:t>
                      </a:r>
                      <a:r>
                        <a:rPr lang="en-US" altLang="zh-TW" dirty="0"/>
                        <a:t>NFT</a:t>
                      </a:r>
                      <a:r>
                        <a:rPr lang="zh-TW" altLang="en-US" dirty="0"/>
                        <a:t>、</a:t>
                      </a:r>
                      <a:r>
                        <a:rPr lang="en-US" altLang="zh-TW" dirty="0"/>
                        <a:t>DeFi </a:t>
                      </a:r>
                      <a:r>
                        <a:rPr lang="zh-TW" altLang="en-US" dirty="0"/>
                        <a:t>應用</a:t>
                      </a:r>
                    </a:p>
                  </a:txBody>
                  <a:tcPr anchor="ctr">
                    <a:lnL>
                      <a:noFill/>
                    </a:lnL>
                    <a:lnR>
                      <a:noFill/>
                    </a:lnR>
                    <a:lnT>
                      <a:noFill/>
                    </a:lnT>
                    <a:lnB>
                      <a:noFill/>
                    </a:lnB>
                    <a:noFill/>
                  </a:tcPr>
                </a:tc>
                <a:tc>
                  <a:txBody>
                    <a:bodyPr/>
                    <a:lstStyle/>
                    <a:p>
                      <a:pPr algn="l">
                        <a:buNone/>
                      </a:pPr>
                      <a:r>
                        <a:rPr lang="zh-TW" altLang="en-US" dirty="0"/>
                        <a:t>✅ </a:t>
                      </a:r>
                      <a:r>
                        <a:rPr lang="zh-TW" altLang="en-US" b="1" dirty="0"/>
                        <a:t>以太坊</a:t>
                      </a:r>
                      <a:endParaRPr lang="zh-TW" altLang="en-US" dirty="0"/>
                    </a:p>
                  </a:txBody>
                  <a:tcPr anchor="ctr">
                    <a:lnL>
                      <a:noFill/>
                    </a:lnL>
                    <a:lnR>
                      <a:noFill/>
                    </a:lnR>
                    <a:lnT>
                      <a:noFill/>
                    </a:lnT>
                    <a:lnB>
                      <a:noFill/>
                    </a:lnB>
                    <a:noFill/>
                  </a:tcPr>
                </a:tc>
                <a:tc>
                  <a:txBody>
                    <a:bodyPr/>
                    <a:lstStyle/>
                    <a:p>
                      <a:pPr algn="l">
                        <a:buNone/>
                      </a:pPr>
                      <a:r>
                        <a:rPr lang="zh-TW" altLang="en-US" dirty="0"/>
                        <a:t>以太坊提供開放開發平台與代幣標準（</a:t>
                      </a:r>
                      <a:r>
                        <a:rPr lang="en-US" altLang="zh-TW" dirty="0"/>
                        <a:t>ERC-20/721</a:t>
                      </a:r>
                      <a:r>
                        <a:rPr lang="zh-TW" altLang="en-US" dirty="0"/>
                        <a:t>）。</a:t>
                      </a:r>
                    </a:p>
                  </a:txBody>
                  <a:tcPr anchor="ctr">
                    <a:lnL>
                      <a:noFill/>
                    </a:lnL>
                    <a:lnR>
                      <a:noFill/>
                    </a:lnR>
                    <a:lnT>
                      <a:noFill/>
                    </a:lnT>
                    <a:lnB>
                      <a:noFill/>
                    </a:lnB>
                    <a:noFill/>
                  </a:tcPr>
                </a:tc>
                <a:extLst>
                  <a:ext uri="{0D108BD9-81ED-4DB2-BD59-A6C34878D82A}">
                    <a16:rowId xmlns:a16="http://schemas.microsoft.com/office/drawing/2014/main" val="1977041021"/>
                  </a:ext>
                </a:extLst>
              </a:tr>
            </a:tbl>
          </a:graphicData>
        </a:graphic>
      </p:graphicFrame>
    </p:spTree>
    <p:extLst>
      <p:ext uri="{BB962C8B-B14F-4D97-AF65-F5344CB8AC3E}">
        <p14:creationId xmlns:p14="http://schemas.microsoft.com/office/powerpoint/2010/main" val="955144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929D-A7AA-3AC5-1647-40C4AC31A0CD}"/>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3E8DEC15-D114-A053-6288-BAEEABBB8A22}"/>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主要用途是「價值儲存」與「支付轉帳」是</a:t>
            </a:r>
            <a:endParaRPr lang="en-US" altLang="zh-TW" sz="2400" dirty="0"/>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1.</a:t>
            </a:r>
            <a:r>
              <a:rPr lang="zh-TW" altLang="en-US" sz="2400" dirty="0">
                <a:latin typeface="微軟正黑體" panose="020B0604030504040204" pitchFamily="34" charset="-120"/>
                <a:ea typeface="微軟正黑體" panose="020B0604030504040204" pitchFamily="34" charset="-120"/>
              </a:rPr>
              <a:t>以太坊</a:t>
            </a:r>
            <a:endParaRPr lang="en-US" altLang="zh-TW" sz="2400" dirty="0">
              <a:latin typeface="微軟正黑體" panose="020B0604030504040204" pitchFamily="34" charset="-120"/>
              <a:ea typeface="微軟正黑體" panose="020B0604030504040204" pitchFamily="34" charset="-120"/>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2.</a:t>
            </a:r>
            <a:r>
              <a:rPr lang="zh-TW" altLang="en-US" sz="2400" dirty="0">
                <a:latin typeface="微軟正黑體" panose="020B0604030504040204" pitchFamily="34" charset="-120"/>
                <a:ea typeface="微軟正黑體" panose="020B0604030504040204" pitchFamily="34" charset="-120"/>
              </a:rPr>
              <a:t>比特幣</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39D8DBE7-8564-C434-0FC4-648345B4473D}"/>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spTree>
    <p:extLst>
      <p:ext uri="{BB962C8B-B14F-4D97-AF65-F5344CB8AC3E}">
        <p14:creationId xmlns:p14="http://schemas.microsoft.com/office/powerpoint/2010/main" val="4272067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FA22C-C3A2-6B1F-47AE-05E8289C5001}"/>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12243251-C060-51EC-A89D-54A1D2B8219A}"/>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主要用途是「價值儲存」與「支付轉帳」是</a:t>
            </a:r>
            <a:endParaRPr lang="en-US" altLang="zh-TW" sz="2400" dirty="0"/>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1.</a:t>
            </a:r>
            <a:r>
              <a:rPr lang="zh-TW" altLang="en-US" sz="2400" dirty="0">
                <a:latin typeface="微軟正黑體" panose="020B0604030504040204" pitchFamily="34" charset="-120"/>
                <a:ea typeface="微軟正黑體" panose="020B0604030504040204" pitchFamily="34" charset="-120"/>
              </a:rPr>
              <a:t>以太坊</a:t>
            </a:r>
            <a:endParaRPr lang="en-US" altLang="zh-TW" sz="2400" dirty="0">
              <a:latin typeface="微軟正黑體" panose="020B0604030504040204" pitchFamily="34" charset="-120"/>
              <a:ea typeface="微軟正黑體" panose="020B0604030504040204" pitchFamily="34" charset="-120"/>
            </a:endParaRP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 2.</a:t>
            </a:r>
            <a:r>
              <a:rPr lang="zh-TW" altLang="en-US" sz="2400" dirty="0">
                <a:solidFill>
                  <a:srgbClr val="FF0000"/>
                </a:solidFill>
                <a:latin typeface="微軟正黑體" panose="020B0604030504040204" pitchFamily="34" charset="-120"/>
                <a:ea typeface="微軟正黑體" panose="020B0604030504040204" pitchFamily="34" charset="-120"/>
              </a:rPr>
              <a:t>比特幣</a:t>
            </a:r>
            <a:endParaRPr lang="en-US" altLang="zh-TW" sz="2000" dirty="0">
              <a:solidFill>
                <a:srgbClr val="FF0000"/>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5293FB1B-4494-2562-E22E-2AA3528FB8FB}"/>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graphicFrame>
        <p:nvGraphicFramePr>
          <p:cNvPr id="14" name="表格 13">
            <a:extLst>
              <a:ext uri="{FF2B5EF4-FFF2-40B4-BE49-F238E27FC236}">
                <a16:creationId xmlns:a16="http://schemas.microsoft.com/office/drawing/2014/main" id="{A894E348-2355-85D3-77EE-13AF7DBEC0A1}"/>
              </a:ext>
            </a:extLst>
          </p:cNvPr>
          <p:cNvGraphicFramePr>
            <a:graphicFrameLocks noGrp="1"/>
          </p:cNvGraphicFramePr>
          <p:nvPr>
            <p:extLst>
              <p:ext uri="{D42A27DB-BD31-4B8C-83A1-F6EECF244321}">
                <p14:modId xmlns:p14="http://schemas.microsoft.com/office/powerpoint/2010/main" val="1301404359"/>
              </p:ext>
            </p:extLst>
          </p:nvPr>
        </p:nvGraphicFramePr>
        <p:xfrm>
          <a:off x="607705" y="3054237"/>
          <a:ext cx="9348463" cy="1005840"/>
        </p:xfrm>
        <a:graphic>
          <a:graphicData uri="http://schemas.openxmlformats.org/drawingml/2006/table">
            <a:tbl>
              <a:tblPr/>
              <a:tblGrid>
                <a:gridCol w="4310745">
                  <a:extLst>
                    <a:ext uri="{9D8B030D-6E8A-4147-A177-3AD203B41FA5}">
                      <a16:colId xmlns:a16="http://schemas.microsoft.com/office/drawing/2014/main" val="4056035346"/>
                    </a:ext>
                  </a:extLst>
                </a:gridCol>
                <a:gridCol w="1620458">
                  <a:extLst>
                    <a:ext uri="{9D8B030D-6E8A-4147-A177-3AD203B41FA5}">
                      <a16:colId xmlns:a16="http://schemas.microsoft.com/office/drawing/2014/main" val="4120339011"/>
                    </a:ext>
                  </a:extLst>
                </a:gridCol>
                <a:gridCol w="3417260">
                  <a:extLst>
                    <a:ext uri="{9D8B030D-6E8A-4147-A177-3AD203B41FA5}">
                      <a16:colId xmlns:a16="http://schemas.microsoft.com/office/drawing/2014/main" val="452862018"/>
                    </a:ext>
                  </a:extLst>
                </a:gridCol>
              </a:tblGrid>
              <a:tr h="0">
                <a:tc>
                  <a:txBody>
                    <a:bodyPr/>
                    <a:lstStyle/>
                    <a:p>
                      <a:pPr algn="l">
                        <a:buNone/>
                      </a:pPr>
                      <a:r>
                        <a:rPr lang="zh-TW" altLang="en-US" dirty="0"/>
                        <a:t>功能或特色</a:t>
                      </a:r>
                    </a:p>
                  </a:txBody>
                  <a:tcPr anchor="ctr">
                    <a:lnL>
                      <a:noFill/>
                    </a:lnL>
                    <a:lnR>
                      <a:noFill/>
                    </a:lnR>
                    <a:lnT>
                      <a:noFill/>
                    </a:lnT>
                    <a:lnB>
                      <a:noFill/>
                    </a:lnB>
                    <a:noFill/>
                  </a:tcPr>
                </a:tc>
                <a:tc>
                  <a:txBody>
                    <a:bodyPr/>
                    <a:lstStyle/>
                    <a:p>
                      <a:pPr algn="l">
                        <a:buNone/>
                      </a:pPr>
                      <a:r>
                        <a:rPr lang="zh-TW" altLang="en-US" dirty="0"/>
                        <a:t>答案</a:t>
                      </a:r>
                    </a:p>
                  </a:txBody>
                  <a:tcPr anchor="ctr">
                    <a:lnL>
                      <a:noFill/>
                    </a:lnL>
                    <a:lnR>
                      <a:noFill/>
                    </a:lnR>
                    <a:lnT>
                      <a:noFill/>
                    </a:lnT>
                    <a:lnB>
                      <a:noFill/>
                    </a:lnB>
                    <a:noFill/>
                  </a:tcPr>
                </a:tc>
                <a:tc>
                  <a:txBody>
                    <a:bodyPr/>
                    <a:lstStyle/>
                    <a:p>
                      <a:pPr algn="l">
                        <a:buNone/>
                      </a:pPr>
                      <a:r>
                        <a:rPr lang="zh-TW" altLang="en-US"/>
                        <a:t>簡要說明</a:t>
                      </a:r>
                    </a:p>
                  </a:txBody>
                  <a:tcPr anchor="ctr">
                    <a:lnL>
                      <a:noFill/>
                    </a:lnL>
                    <a:lnR>
                      <a:noFill/>
                    </a:lnR>
                    <a:lnT>
                      <a:noFill/>
                    </a:lnT>
                    <a:lnB>
                      <a:noFill/>
                    </a:lnB>
                    <a:noFill/>
                  </a:tcPr>
                </a:tc>
                <a:extLst>
                  <a:ext uri="{0D108BD9-81ED-4DB2-BD59-A6C34878D82A}">
                    <a16:rowId xmlns:a16="http://schemas.microsoft.com/office/drawing/2014/main" val="1716486298"/>
                  </a:ext>
                </a:extLst>
              </a:tr>
              <a:tr h="0">
                <a:tc>
                  <a:txBody>
                    <a:bodyPr/>
                    <a:lstStyle/>
                    <a:p>
                      <a:pPr algn="l">
                        <a:buNone/>
                      </a:pPr>
                      <a:r>
                        <a:rPr lang="zh-TW" altLang="en-US" dirty="0"/>
                        <a:t>主要用途是「價值儲存」與「支付轉帳」</a:t>
                      </a:r>
                    </a:p>
                  </a:txBody>
                  <a:tcPr anchor="ctr">
                    <a:lnL>
                      <a:noFill/>
                    </a:lnL>
                    <a:lnR>
                      <a:noFill/>
                    </a:lnR>
                    <a:lnT>
                      <a:noFill/>
                    </a:lnT>
                    <a:lnB>
                      <a:noFill/>
                    </a:lnB>
                    <a:noFill/>
                  </a:tcPr>
                </a:tc>
                <a:tc>
                  <a:txBody>
                    <a:bodyPr/>
                    <a:lstStyle/>
                    <a:p>
                      <a:pPr algn="l">
                        <a:buNone/>
                      </a:pPr>
                      <a:r>
                        <a:rPr lang="zh-TW" altLang="en-US" dirty="0"/>
                        <a:t>✅ </a:t>
                      </a:r>
                      <a:r>
                        <a:rPr lang="zh-TW" altLang="en-US" b="1" dirty="0"/>
                        <a:t>比特幣</a:t>
                      </a:r>
                      <a:endParaRPr lang="zh-TW" altLang="en-US" dirty="0"/>
                    </a:p>
                  </a:txBody>
                  <a:tcPr anchor="ctr">
                    <a:lnL>
                      <a:noFill/>
                    </a:lnL>
                    <a:lnR>
                      <a:noFill/>
                    </a:lnR>
                    <a:lnT>
                      <a:noFill/>
                    </a:lnT>
                    <a:lnB>
                      <a:noFill/>
                    </a:lnB>
                    <a:noFill/>
                  </a:tcPr>
                </a:tc>
                <a:tc>
                  <a:txBody>
                    <a:bodyPr/>
                    <a:lstStyle/>
                    <a:p>
                      <a:pPr algn="l">
                        <a:buNone/>
                      </a:pPr>
                      <a:r>
                        <a:rPr lang="zh-TW" altLang="en-US" dirty="0"/>
                        <a:t>以太坊的主要用途是應用開發，不以支付為主。</a:t>
                      </a:r>
                    </a:p>
                  </a:txBody>
                  <a:tcPr anchor="ctr">
                    <a:lnL>
                      <a:noFill/>
                    </a:lnL>
                    <a:lnR>
                      <a:noFill/>
                    </a:lnR>
                    <a:lnT>
                      <a:noFill/>
                    </a:lnT>
                    <a:lnB>
                      <a:noFill/>
                    </a:lnB>
                    <a:noFill/>
                  </a:tcPr>
                </a:tc>
                <a:extLst>
                  <a:ext uri="{0D108BD9-81ED-4DB2-BD59-A6C34878D82A}">
                    <a16:rowId xmlns:a16="http://schemas.microsoft.com/office/drawing/2014/main" val="542469773"/>
                  </a:ext>
                </a:extLst>
              </a:tr>
            </a:tbl>
          </a:graphicData>
        </a:graphic>
      </p:graphicFrame>
    </p:spTree>
    <p:extLst>
      <p:ext uri="{BB962C8B-B14F-4D97-AF65-F5344CB8AC3E}">
        <p14:creationId xmlns:p14="http://schemas.microsoft.com/office/powerpoint/2010/main" val="3931920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5884A-4F17-43FC-54E5-FAC4BC4E8A26}"/>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id="{20D7C10E-CDDE-2339-E10A-32CF5C61CC89}"/>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比特幣、以太坊</a:t>
            </a:r>
          </a:p>
          <a:p>
            <a:pPr>
              <a:lnSpc>
                <a:spcPct val="150000"/>
              </a:lnSpc>
            </a:pPr>
            <a:r>
              <a:rPr lang="zh-TW" altLang="en-US" sz="2400" dirty="0">
                <a:latin typeface="微軟正黑體" panose="020B0604030504040204" pitchFamily="34" charset="-120"/>
                <a:ea typeface="微軟正黑體" panose="020B0604030504040204" pitchFamily="34" charset="-120"/>
              </a:rPr>
              <a:t>的比較</a:t>
            </a:r>
            <a:endParaRPr lang="zh-TW" altLang="en-US" sz="2400" dirty="0"/>
          </a:p>
        </p:txBody>
      </p:sp>
      <p:graphicFrame>
        <p:nvGraphicFramePr>
          <p:cNvPr id="14" name="表格 13">
            <a:extLst>
              <a:ext uri="{FF2B5EF4-FFF2-40B4-BE49-F238E27FC236}">
                <a16:creationId xmlns:a16="http://schemas.microsoft.com/office/drawing/2014/main" id="{267EF392-1608-6E27-2838-16E4F7F1C331}"/>
              </a:ext>
            </a:extLst>
          </p:cNvPr>
          <p:cNvGraphicFramePr>
            <a:graphicFrameLocks noGrp="1"/>
          </p:cNvGraphicFramePr>
          <p:nvPr>
            <p:extLst>
              <p:ext uri="{D42A27DB-BD31-4B8C-83A1-F6EECF244321}">
                <p14:modId xmlns:p14="http://schemas.microsoft.com/office/powerpoint/2010/main" val="2360363606"/>
              </p:ext>
            </p:extLst>
          </p:nvPr>
        </p:nvGraphicFramePr>
        <p:xfrm>
          <a:off x="550909" y="1554480"/>
          <a:ext cx="9348463" cy="3749040"/>
        </p:xfrm>
        <a:graphic>
          <a:graphicData uri="http://schemas.openxmlformats.org/drawingml/2006/table">
            <a:tbl>
              <a:tblPr/>
              <a:tblGrid>
                <a:gridCol w="3220281">
                  <a:extLst>
                    <a:ext uri="{9D8B030D-6E8A-4147-A177-3AD203B41FA5}">
                      <a16:colId xmlns:a16="http://schemas.microsoft.com/office/drawing/2014/main" val="4056035346"/>
                    </a:ext>
                  </a:extLst>
                </a:gridCol>
                <a:gridCol w="1726569">
                  <a:extLst>
                    <a:ext uri="{9D8B030D-6E8A-4147-A177-3AD203B41FA5}">
                      <a16:colId xmlns:a16="http://schemas.microsoft.com/office/drawing/2014/main" val="4120339011"/>
                    </a:ext>
                  </a:extLst>
                </a:gridCol>
                <a:gridCol w="4401613">
                  <a:extLst>
                    <a:ext uri="{9D8B030D-6E8A-4147-A177-3AD203B41FA5}">
                      <a16:colId xmlns:a16="http://schemas.microsoft.com/office/drawing/2014/main" val="452862018"/>
                    </a:ext>
                  </a:extLst>
                </a:gridCol>
              </a:tblGrid>
              <a:tr h="0">
                <a:tc>
                  <a:txBody>
                    <a:bodyPr/>
                    <a:lstStyle/>
                    <a:p>
                      <a:pPr algn="l">
                        <a:buNone/>
                      </a:pPr>
                      <a:r>
                        <a:rPr lang="zh-TW" altLang="en-US" sz="2400" dirty="0"/>
                        <a:t>功能或特色</a:t>
                      </a:r>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dirty="0"/>
                        <a:t>答案</a:t>
                      </a:r>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a:t>簡要說明</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716486298"/>
                  </a:ext>
                </a:extLst>
              </a:tr>
              <a:tr h="0">
                <a:tc>
                  <a:txBody>
                    <a:bodyPr/>
                    <a:lstStyle/>
                    <a:p>
                      <a:pPr algn="l">
                        <a:buNone/>
                      </a:pPr>
                      <a:r>
                        <a:rPr lang="zh-TW" altLang="en-US" sz="2400" dirty="0"/>
                        <a:t>支援「智慧合約（</a:t>
                      </a:r>
                      <a:r>
                        <a:rPr lang="en-US" sz="2400" dirty="0"/>
                        <a:t>Smart Contract）」</a:t>
                      </a:r>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dirty="0"/>
                        <a:t>✅ </a:t>
                      </a:r>
                      <a:r>
                        <a:rPr lang="zh-TW" altLang="en-US" sz="2400" b="1" dirty="0"/>
                        <a:t>以太坊</a:t>
                      </a:r>
                      <a:endParaRPr lang="zh-TW" altLang="en-US" sz="2400" dirty="0"/>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dirty="0"/>
                        <a:t>比特幣只用於交易，無法建立智慧合約。</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388757411"/>
                  </a:ext>
                </a:extLst>
              </a:tr>
              <a:tr h="0">
                <a:tc>
                  <a:txBody>
                    <a:bodyPr/>
                    <a:lstStyle/>
                    <a:p>
                      <a:pPr algn="l">
                        <a:buNone/>
                      </a:pPr>
                      <a:r>
                        <a:rPr lang="zh-TW" altLang="en-US" sz="2400" dirty="0"/>
                        <a:t>總量上限 </a:t>
                      </a:r>
                      <a:r>
                        <a:rPr lang="en-US" altLang="zh-TW" sz="2400" dirty="0"/>
                        <a:t>2100 </a:t>
                      </a:r>
                      <a:r>
                        <a:rPr lang="zh-TW" altLang="en-US" sz="2400" dirty="0"/>
                        <a:t>萬枚</a:t>
                      </a:r>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dirty="0"/>
                        <a:t>✅ </a:t>
                      </a:r>
                      <a:r>
                        <a:rPr lang="zh-TW" altLang="en-US" sz="2400" b="1" dirty="0"/>
                        <a:t>比特幣</a:t>
                      </a:r>
                      <a:endParaRPr lang="zh-TW" altLang="en-US" sz="2400" dirty="0"/>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dirty="0"/>
                        <a:t>以太坊無總量上限，屬通膨型設計。</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596183340"/>
                  </a:ext>
                </a:extLst>
              </a:tr>
              <a:tr h="0">
                <a:tc>
                  <a:txBody>
                    <a:bodyPr/>
                    <a:lstStyle/>
                    <a:p>
                      <a:pPr algn="l">
                        <a:buNone/>
                      </a:pPr>
                      <a:r>
                        <a:rPr lang="zh-TW" altLang="en-US" sz="2400" dirty="0"/>
                        <a:t>可用來發行 </a:t>
                      </a:r>
                      <a:r>
                        <a:rPr lang="en-US" altLang="zh-TW" sz="2400" dirty="0"/>
                        <a:t>NFT</a:t>
                      </a:r>
                      <a:r>
                        <a:rPr lang="zh-TW" altLang="en-US" sz="2400" dirty="0"/>
                        <a:t>、</a:t>
                      </a:r>
                      <a:r>
                        <a:rPr lang="en-US" altLang="zh-TW" sz="2400" dirty="0"/>
                        <a:t>DeFi </a:t>
                      </a:r>
                      <a:r>
                        <a:rPr lang="zh-TW" altLang="en-US" sz="2400" dirty="0"/>
                        <a:t>應用</a:t>
                      </a:r>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dirty="0"/>
                        <a:t>✅ </a:t>
                      </a:r>
                      <a:r>
                        <a:rPr lang="zh-TW" altLang="en-US" sz="2400" b="1" dirty="0"/>
                        <a:t>以太坊</a:t>
                      </a:r>
                      <a:endParaRPr lang="zh-TW" altLang="en-US" sz="2400" dirty="0"/>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a:t>以太坊提供開放開發平台與代幣標準（</a:t>
                      </a:r>
                      <a:r>
                        <a:rPr lang="en-US" altLang="zh-TW" sz="2400"/>
                        <a:t>ERC-20/721</a:t>
                      </a:r>
                      <a:r>
                        <a:rPr lang="zh-TW" altLang="en-US" sz="2400"/>
                        <a:t>）。</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977041021"/>
                  </a:ext>
                </a:extLst>
              </a:tr>
              <a:tr h="0">
                <a:tc>
                  <a:txBody>
                    <a:bodyPr/>
                    <a:lstStyle/>
                    <a:p>
                      <a:pPr algn="l">
                        <a:buNone/>
                      </a:pPr>
                      <a:r>
                        <a:rPr lang="zh-TW" altLang="en-US" sz="2400" dirty="0"/>
                        <a:t>主要用途是「價值儲存」與「支付轉帳」</a:t>
                      </a:r>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dirty="0"/>
                        <a:t>✅ </a:t>
                      </a:r>
                      <a:r>
                        <a:rPr lang="zh-TW" altLang="en-US" sz="2400" b="1" dirty="0"/>
                        <a:t>比特幣</a:t>
                      </a:r>
                      <a:endParaRPr lang="zh-TW" altLang="en-US" sz="2400" dirty="0"/>
                    </a:p>
                  </a:txBody>
                  <a:tcPr anchor="ctr">
                    <a:lnL>
                      <a:noFill/>
                    </a:lnL>
                    <a:lnR>
                      <a:noFill/>
                    </a:lnR>
                    <a:lnT>
                      <a:noFill/>
                    </a:lnT>
                    <a:lnB>
                      <a:noFill/>
                    </a:lnB>
                    <a:solidFill>
                      <a:schemeClr val="accent6">
                        <a:lumMod val="20000"/>
                        <a:lumOff val="80000"/>
                      </a:schemeClr>
                    </a:solidFill>
                  </a:tcPr>
                </a:tc>
                <a:tc>
                  <a:txBody>
                    <a:bodyPr/>
                    <a:lstStyle/>
                    <a:p>
                      <a:pPr algn="l">
                        <a:buNone/>
                      </a:pPr>
                      <a:r>
                        <a:rPr lang="zh-TW" altLang="en-US" sz="2400" dirty="0"/>
                        <a:t>以太坊的主要用途是應用開發，不以支付為主。</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542469773"/>
                  </a:ext>
                </a:extLst>
              </a:tr>
            </a:tbl>
          </a:graphicData>
        </a:graphic>
      </p:graphicFrame>
    </p:spTree>
    <p:extLst>
      <p:ext uri="{BB962C8B-B14F-4D97-AF65-F5344CB8AC3E}">
        <p14:creationId xmlns:p14="http://schemas.microsoft.com/office/powerpoint/2010/main" val="2828945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hammock hanging from a palm tree on the beach">
            <a:extLst>
              <a:ext uri="{FF2B5EF4-FFF2-40B4-BE49-F238E27FC236}">
                <a16:creationId xmlns:a16="http://schemas.microsoft.com/office/drawing/2014/main" id="{152E4EE8-CCF1-2631-F29C-C4555FF13096}"/>
              </a:ext>
            </a:extLst>
          </p:cNvPr>
          <p:cNvPicPr>
            <a:picLocks noGrp="1" noChangeAspect="1"/>
          </p:cNvPicPr>
          <p:nvPr>
            <p:ph type="pic" sz="quarter" idx="13"/>
          </p:nvPr>
        </p:nvPicPr>
        <p:blipFill>
          <a:blip r:embed="rId2"/>
          <a:srcRect t="69" b="69"/>
          <a:stretch/>
        </p:blipFill>
        <p:spPr>
          <a:xfrm>
            <a:off x="576072" y="950976"/>
            <a:ext cx="4050792" cy="4965192"/>
          </a:xfrm>
        </p:spPr>
      </p:pic>
      <p:sp>
        <p:nvSpPr>
          <p:cNvPr id="5" name="Title 4">
            <a:extLst>
              <a:ext uri="{FF2B5EF4-FFF2-40B4-BE49-F238E27FC236}">
                <a16:creationId xmlns:a16="http://schemas.microsoft.com/office/drawing/2014/main" id="{35619F67-F861-9306-E9A8-3442F8BADB5D}"/>
              </a:ext>
            </a:extLst>
          </p:cNvPr>
          <p:cNvSpPr>
            <a:spLocks noGrp="1"/>
          </p:cNvSpPr>
          <p:nvPr>
            <p:ph type="title"/>
          </p:nvPr>
        </p:nvSpPr>
        <p:spPr>
          <a:xfrm>
            <a:off x="5082302" y="1529092"/>
            <a:ext cx="6577717" cy="770141"/>
          </a:xfrm>
        </p:spPr>
        <p:txBody>
          <a:bodyPr>
            <a:normAutofit/>
          </a:bodyPr>
          <a:lstStyle/>
          <a:p>
            <a:r>
              <a:rPr lang="zh-TW" altLang="en-US" sz="3200" dirty="0"/>
              <a:t>第二部分：幣安智能鏈</a:t>
            </a:r>
            <a:r>
              <a:rPr lang="en-US" altLang="zh-TW" sz="3200" dirty="0"/>
              <a:t>(BSC)</a:t>
            </a:r>
            <a:endParaRPr lang="en-US" sz="3200" dirty="0"/>
          </a:p>
        </p:txBody>
      </p:sp>
    </p:spTree>
    <p:extLst>
      <p:ext uri="{BB962C8B-B14F-4D97-AF65-F5344CB8AC3E}">
        <p14:creationId xmlns:p14="http://schemas.microsoft.com/office/powerpoint/2010/main" val="3087350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F7DB6-DF24-3A1B-8245-D4EE8ED3FB30}"/>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D4E15A49-2F1E-27B1-08AC-E42150CE6170}"/>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4" name="Title 3">
            <a:extLst>
              <a:ext uri="{FF2B5EF4-FFF2-40B4-BE49-F238E27FC236}">
                <a16:creationId xmlns:a16="http://schemas.microsoft.com/office/drawing/2014/main" id="{A90D0A53-5858-78BA-BF7C-6AB602156DF8}"/>
              </a:ext>
            </a:extLst>
          </p:cNvPr>
          <p:cNvSpPr>
            <a:spLocks noGrp="1"/>
          </p:cNvSpPr>
          <p:nvPr>
            <p:ph type="title"/>
          </p:nvPr>
        </p:nvSpPr>
        <p:spPr>
          <a:xfrm>
            <a:off x="777240" y="365760"/>
            <a:ext cx="9088057" cy="678892"/>
          </a:xfrm>
        </p:spPr>
        <p:txBody>
          <a:bodyPr>
            <a:normAutofit/>
          </a:bodyPr>
          <a:lstStyle/>
          <a:p>
            <a:r>
              <a:rPr lang="zh-TW" altLang="en-US" sz="3200" dirty="0"/>
              <a:t>幣安智能鏈（</a:t>
            </a:r>
            <a:r>
              <a:rPr lang="en-US" altLang="zh-TW" sz="3200" dirty="0"/>
              <a:t>Binance Smart Chain, BSC</a:t>
            </a:r>
            <a:r>
              <a:rPr lang="zh-TW" altLang="en-US" sz="3200" dirty="0"/>
              <a:t>）</a:t>
            </a:r>
          </a:p>
        </p:txBody>
      </p:sp>
      <p:sp>
        <p:nvSpPr>
          <p:cNvPr id="5" name="文字方塊 4">
            <a:extLst>
              <a:ext uri="{FF2B5EF4-FFF2-40B4-BE49-F238E27FC236}">
                <a16:creationId xmlns:a16="http://schemas.microsoft.com/office/drawing/2014/main" id="{6019A246-8F04-44C1-2274-EAC17137CF7B}"/>
              </a:ext>
            </a:extLst>
          </p:cNvPr>
          <p:cNvSpPr txBox="1"/>
          <p:nvPr/>
        </p:nvSpPr>
        <p:spPr>
          <a:xfrm>
            <a:off x="685848" y="1291438"/>
            <a:ext cx="9179450" cy="3902479"/>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Binance Smart Chain, BSC</a:t>
            </a:r>
            <a:r>
              <a:rPr lang="zh-TW" altLang="en-US" sz="2400" dirty="0">
                <a:latin typeface="微軟正黑體" panose="020B0604030504040204" pitchFamily="34" charset="-120"/>
                <a:ea typeface="微軟正黑體" panose="020B0604030504040204" pitchFamily="34" charset="-120"/>
              </a:rPr>
              <a:t>）</a:t>
            </a:r>
          </a:p>
          <a:p>
            <a:pPr marL="342900">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創始時間：</a:t>
            </a:r>
            <a:r>
              <a:rPr lang="en-US" altLang="zh-TW" sz="2400" dirty="0">
                <a:latin typeface="微軟正黑體" panose="020B0604030504040204" pitchFamily="34" charset="-120"/>
                <a:ea typeface="微軟正黑體" panose="020B0604030504040204" pitchFamily="34" charset="-120"/>
              </a:rPr>
              <a:t>2020</a:t>
            </a:r>
            <a:r>
              <a:rPr lang="zh-TW" altLang="en-US" sz="2400" dirty="0">
                <a:latin typeface="微軟正黑體" panose="020B0604030504040204" pitchFamily="34" charset="-120"/>
                <a:ea typeface="微軟正黑體" panose="020B0604030504040204" pitchFamily="34" charset="-120"/>
              </a:rPr>
              <a:t>年</a:t>
            </a:r>
          </a:p>
          <a:p>
            <a:pPr marL="342900">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創始人：趙長鵬（</a:t>
            </a:r>
            <a:r>
              <a:rPr lang="en-US" altLang="zh-TW" sz="2400" dirty="0">
                <a:latin typeface="微軟正黑體" panose="020B0604030504040204" pitchFamily="34" charset="-120"/>
                <a:ea typeface="微軟正黑體" panose="020B0604030504040204" pitchFamily="34" charset="-120"/>
              </a:rPr>
              <a:t>CZ</a:t>
            </a:r>
            <a:r>
              <a:rPr lang="zh-TW" altLang="en-US" sz="2400" dirty="0">
                <a:latin typeface="微軟正黑體" panose="020B0604030504040204" pitchFamily="34" charset="-120"/>
                <a:ea typeface="微軟正黑體" panose="020B0604030504040204" pitchFamily="34" charset="-120"/>
              </a:rPr>
              <a:t>），幣安交易所創辦人</a:t>
            </a:r>
          </a:p>
          <a:p>
            <a:pPr marL="342900">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主要特點：</a:t>
            </a:r>
          </a:p>
          <a:p>
            <a:pPr marL="1085850" lvl="1"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與幣安交易所緊密整合，具備高交易吞吐量和低手續費。</a:t>
            </a:r>
          </a:p>
          <a:p>
            <a:pPr marL="1085850" lvl="1"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支持以太坊虛擬機（</a:t>
            </a:r>
            <a:r>
              <a:rPr lang="en-US" altLang="zh-TW" sz="2400" dirty="0">
                <a:latin typeface="微軟正黑體" panose="020B0604030504040204" pitchFamily="34" charset="-120"/>
                <a:ea typeface="微軟正黑體" panose="020B0604030504040204" pitchFamily="34" charset="-120"/>
              </a:rPr>
              <a:t>EVM</a:t>
            </a:r>
            <a:r>
              <a:rPr lang="zh-TW" altLang="en-US" sz="2400" dirty="0">
                <a:latin typeface="微軟正黑體" panose="020B0604030504040204" pitchFamily="34" charset="-120"/>
                <a:ea typeface="微軟正黑體" panose="020B0604030504040204" pitchFamily="34" charset="-120"/>
              </a:rPr>
              <a:t>），方便以太坊開發者遷移應用。</a:t>
            </a:r>
          </a:p>
          <a:p>
            <a:pPr marL="1085850" lvl="1"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生態系統中有大量</a:t>
            </a:r>
            <a:r>
              <a:rPr lang="en-US" altLang="zh-TW" sz="2400" dirty="0">
                <a:latin typeface="微軟正黑體" panose="020B0604030504040204" pitchFamily="34" charset="-120"/>
                <a:ea typeface="微軟正黑體" panose="020B0604030504040204" pitchFamily="34" charset="-120"/>
              </a:rPr>
              <a:t>DeFi</a:t>
            </a:r>
            <a:r>
              <a:rPr lang="zh-TW" altLang="en-US" sz="2400" dirty="0">
                <a:latin typeface="微軟正黑體" panose="020B0604030504040204" pitchFamily="34" charset="-120"/>
                <a:ea typeface="微軟正黑體" panose="020B0604030504040204" pitchFamily="34" charset="-120"/>
              </a:rPr>
              <a:t>項目和</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平台</a:t>
            </a:r>
            <a:r>
              <a:rPr lang="zh-TW" altLang="en-US" dirty="0"/>
              <a:t>。</a:t>
            </a:r>
          </a:p>
        </p:txBody>
      </p:sp>
    </p:spTree>
    <p:extLst>
      <p:ext uri="{BB962C8B-B14F-4D97-AF65-F5344CB8AC3E}">
        <p14:creationId xmlns:p14="http://schemas.microsoft.com/office/powerpoint/2010/main" val="1266230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5EB32-C9EC-3D85-387E-1C210D6F8BC9}"/>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4406D175-B2DE-9C31-693D-9E4182CF6BEB}"/>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27380AB4-5F8E-3AF5-9793-D4F3C484B23E}"/>
              </a:ext>
            </a:extLst>
          </p:cNvPr>
          <p:cNvSpPr txBox="1"/>
          <p:nvPr/>
        </p:nvSpPr>
        <p:spPr>
          <a:xfrm>
            <a:off x="795687" y="1089223"/>
            <a:ext cx="9063855" cy="4456476"/>
          </a:xfrm>
          <a:prstGeom prst="rect">
            <a:avLst/>
          </a:prstGeom>
          <a:noFill/>
        </p:spPr>
        <p:txBody>
          <a:bodyPr wrap="square" rtlCol="0">
            <a:spAutoFit/>
          </a:bodyPr>
          <a:lstStyle/>
          <a:p>
            <a:pPr>
              <a:lnSpc>
                <a:spcPct val="150000"/>
              </a:lnSpc>
            </a:pPr>
            <a:r>
              <a:rPr lang="zh-TW" altLang="en-US" sz="2400" dirty="0">
                <a:solidFill>
                  <a:srgbClr val="FF0000"/>
                </a:solidFill>
                <a:latin typeface="微軟正黑體" panose="020B0604030504040204" pitchFamily="34" charset="-120"/>
                <a:ea typeface="微軟正黑體" panose="020B0604030504040204" pitchFamily="34" charset="-120"/>
              </a:rPr>
              <a:t>幣安智能鏈（</a:t>
            </a:r>
            <a:r>
              <a:rPr lang="en-US" altLang="zh-TW" sz="2400" dirty="0">
                <a:solidFill>
                  <a:srgbClr val="FF0000"/>
                </a:solidFill>
                <a:latin typeface="微軟正黑體" panose="020B0604030504040204" pitchFamily="34" charset="-120"/>
                <a:ea typeface="微軟正黑體" panose="020B0604030504040204" pitchFamily="34" charset="-120"/>
              </a:rPr>
              <a:t>Binance Smart Chain, BSC</a:t>
            </a:r>
            <a:r>
              <a:rPr lang="zh-TW" altLang="en-US" sz="2400" dirty="0">
                <a:solidFill>
                  <a:srgbClr val="FF0000"/>
                </a:solidFill>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是一個由幣安交易所開發的高性能區塊鏈平台，於</a:t>
            </a:r>
            <a:r>
              <a:rPr lang="en-US" altLang="zh-TW" sz="2400" dirty="0">
                <a:latin typeface="微軟正黑體" panose="020B0604030504040204" pitchFamily="34" charset="-120"/>
                <a:ea typeface="微軟正黑體" panose="020B0604030504040204" pitchFamily="34" charset="-120"/>
              </a:rPr>
              <a:t>2020</a:t>
            </a:r>
            <a:r>
              <a:rPr lang="zh-TW" altLang="en-US" sz="2400" dirty="0">
                <a:latin typeface="微軟正黑體" panose="020B0604030504040204" pitchFamily="34" charset="-120"/>
                <a:ea typeface="微軟正黑體" panose="020B0604030504040204" pitchFamily="34" charset="-120"/>
              </a:rPr>
              <a:t>年推出。</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以其快速交易處理、低手續費和對智能合約的支援吸引了大量開發者和用戶。它與以太坊虛擬機（</a:t>
            </a:r>
            <a:r>
              <a:rPr lang="en-US" altLang="zh-TW" sz="2400" dirty="0">
                <a:latin typeface="微軟正黑體" panose="020B0604030504040204" pitchFamily="34" charset="-120"/>
                <a:ea typeface="微軟正黑體" panose="020B0604030504040204" pitchFamily="34" charset="-120"/>
              </a:rPr>
              <a:t>Ethereum Virtual Machine, EVM</a:t>
            </a:r>
            <a:r>
              <a:rPr lang="zh-TW" altLang="en-US" sz="2400" dirty="0">
                <a:latin typeface="微軟正黑體" panose="020B0604030504040204" pitchFamily="34" charset="-120"/>
                <a:ea typeface="微軟正黑體" panose="020B0604030504040204" pitchFamily="34" charset="-120"/>
              </a:rPr>
              <a:t>）兼容，使得以太坊上的應用可以方便地遷移到</a:t>
            </a:r>
            <a:r>
              <a:rPr lang="en-US" altLang="zh-TW" sz="2400" dirty="0">
                <a:latin typeface="微軟正黑體" panose="020B0604030504040204" pitchFamily="34" charset="-120"/>
                <a:ea typeface="微軟正黑體" panose="020B0604030504040204" pitchFamily="34" charset="-120"/>
              </a:rPr>
              <a:t>BSC</a:t>
            </a:r>
            <a:r>
              <a:rPr lang="zh-TW" altLang="en-US" sz="2400" dirty="0">
                <a:latin typeface="微軟正黑體" panose="020B0604030504040204" pitchFamily="34" charset="-120"/>
                <a:ea typeface="微軟正黑體" panose="020B0604030504040204" pitchFamily="34" charset="-120"/>
              </a:rPr>
              <a:t>。以下是</a:t>
            </a:r>
            <a:r>
              <a:rPr lang="en-US" altLang="zh-TW" sz="2400" dirty="0">
                <a:latin typeface="微軟正黑體" panose="020B0604030504040204" pitchFamily="34" charset="-120"/>
                <a:ea typeface="微軟正黑體" panose="020B0604030504040204" pitchFamily="34" charset="-120"/>
              </a:rPr>
              <a:t>BSC</a:t>
            </a:r>
            <a:r>
              <a:rPr lang="zh-TW" altLang="en-US" sz="2400" dirty="0">
                <a:latin typeface="微軟正黑體" panose="020B0604030504040204" pitchFamily="34" charset="-120"/>
                <a:ea typeface="微軟正黑體" panose="020B0604030504040204" pitchFamily="34" charset="-120"/>
              </a:rPr>
              <a:t>的主要應用範圍：</a:t>
            </a:r>
          </a:p>
          <a:p>
            <a:pPr>
              <a:lnSpc>
                <a:spcPct val="150000"/>
              </a:lnSpc>
            </a:pPr>
            <a:r>
              <a:rPr lang="en-US" altLang="zh-TW" sz="2400" dirty="0">
                <a:latin typeface="微軟正黑體" panose="020B0604030504040204" pitchFamily="34" charset="-120"/>
                <a:ea typeface="微軟正黑體" panose="020B0604030504040204" pitchFamily="34" charset="-120"/>
              </a:rPr>
              <a:t>1. </a:t>
            </a:r>
            <a:r>
              <a:rPr lang="zh-TW" altLang="en-US" sz="2400" dirty="0">
                <a:latin typeface="微軟正黑體" panose="020B0604030504040204" pitchFamily="34" charset="-120"/>
                <a:ea typeface="微軟正黑體" panose="020B0604030504040204" pitchFamily="34" charset="-120"/>
              </a:rPr>
              <a:t>去中心化金融（</a:t>
            </a:r>
            <a:r>
              <a:rPr lang="en-US" altLang="zh-TW" sz="2400" dirty="0">
                <a:latin typeface="微軟正黑體" panose="020B0604030504040204" pitchFamily="34" charset="-120"/>
                <a:ea typeface="微軟正黑體" panose="020B0604030504040204" pitchFamily="34" charset="-120"/>
              </a:rPr>
              <a:t>DeFi</a:t>
            </a:r>
            <a:r>
              <a:rPr lang="zh-TW" altLang="en-US" sz="2400" dirty="0">
                <a:latin typeface="微軟正黑體" panose="020B0604030504040204" pitchFamily="34" charset="-120"/>
                <a:ea typeface="微軟正黑體" panose="020B0604030504040204" pitchFamily="34" charset="-120"/>
              </a:rPr>
              <a:t>）</a:t>
            </a:r>
          </a:p>
          <a:p>
            <a:pPr>
              <a:lnSpc>
                <a:spcPct val="150000"/>
              </a:lnSpc>
            </a:pP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已經成為 </a:t>
            </a:r>
            <a:r>
              <a:rPr lang="en-US" altLang="zh-TW" sz="2400" dirty="0">
                <a:latin typeface="微軟正黑體" panose="020B0604030504040204" pitchFamily="34" charset="-120"/>
                <a:ea typeface="微軟正黑體" panose="020B0604030504040204" pitchFamily="34" charset="-120"/>
              </a:rPr>
              <a:t>DeFi </a:t>
            </a:r>
            <a:r>
              <a:rPr lang="zh-TW" altLang="en-US" sz="2400" dirty="0">
                <a:latin typeface="微軟正黑體" panose="020B0604030504040204" pitchFamily="34" charset="-120"/>
                <a:ea typeface="微軟正黑體" panose="020B0604030504040204" pitchFamily="34" charset="-120"/>
              </a:rPr>
              <a:t>應用的重要平台之一，特別是在低手續費和高吞吐量的優勢下，吸引了許多用戶和開發者。</a:t>
            </a:r>
          </a:p>
        </p:txBody>
      </p:sp>
    </p:spTree>
    <p:extLst>
      <p:ext uri="{BB962C8B-B14F-4D97-AF65-F5344CB8AC3E}">
        <p14:creationId xmlns:p14="http://schemas.microsoft.com/office/powerpoint/2010/main" val="4092338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9060-EF31-3CB3-F984-AACEB2F065EE}"/>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60DEF7DB-938D-F461-93D2-84FBB2A42DBB}"/>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F6FB344B-F4D3-F666-BEBA-A4D9DC16C49D}"/>
              </a:ext>
            </a:extLst>
          </p:cNvPr>
          <p:cNvSpPr txBox="1"/>
          <p:nvPr/>
        </p:nvSpPr>
        <p:spPr>
          <a:xfrm>
            <a:off x="784783" y="724129"/>
            <a:ext cx="8968144" cy="5564472"/>
          </a:xfrm>
          <a:prstGeom prst="rect">
            <a:avLst/>
          </a:prstGeom>
          <a:noFill/>
        </p:spPr>
        <p:txBody>
          <a:bodyPr wrap="square" rtlCol="0">
            <a:spAutoFit/>
          </a:bodyPr>
          <a:lstStyle/>
          <a:p>
            <a:pPr marL="6858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PancakeSwap</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上最知名的去中心化交易所（</a:t>
            </a:r>
            <a:r>
              <a:rPr lang="en-US" altLang="zh-TW" sz="2400" dirty="0">
                <a:latin typeface="微軟正黑體" panose="020B0604030504040204" pitchFamily="34" charset="-120"/>
                <a:ea typeface="微軟正黑體" panose="020B0604030504040204" pitchFamily="34" charset="-120"/>
              </a:rPr>
              <a:t>DEX</a:t>
            </a:r>
            <a:r>
              <a:rPr lang="zh-TW" altLang="en-US" sz="2400" dirty="0">
                <a:latin typeface="微軟正黑體" panose="020B0604030504040204" pitchFamily="34" charset="-120"/>
                <a:ea typeface="微軟正黑體" panose="020B0604030504040204" pitchFamily="34" charset="-120"/>
              </a:rPr>
              <a:t>），類似以太坊上的 </a:t>
            </a:r>
            <a:r>
              <a:rPr lang="en-US" altLang="zh-TW" sz="2400" dirty="0">
                <a:latin typeface="微軟正黑體" panose="020B0604030504040204" pitchFamily="34" charset="-120"/>
                <a:ea typeface="微軟正黑體" panose="020B0604030504040204" pitchFamily="34" charset="-120"/>
              </a:rPr>
              <a:t>Uniswap</a:t>
            </a:r>
            <a:r>
              <a:rPr lang="zh-TW" altLang="en-US" sz="2400" dirty="0">
                <a:latin typeface="微軟正黑體" panose="020B0604030504040204" pitchFamily="34" charset="-120"/>
                <a:ea typeface="微軟正黑體" panose="020B0604030504040204" pitchFamily="34" charset="-120"/>
              </a:rPr>
              <a:t>，允許用戶通過自動做市商（</a:t>
            </a:r>
            <a:r>
              <a:rPr lang="en-US" altLang="zh-TW" sz="2400" dirty="0">
                <a:latin typeface="微軟正黑體" panose="020B0604030504040204" pitchFamily="34" charset="-120"/>
                <a:ea typeface="微軟正黑體" panose="020B0604030504040204" pitchFamily="34" charset="-120"/>
              </a:rPr>
              <a:t>AMM</a:t>
            </a:r>
            <a:r>
              <a:rPr lang="zh-TW" altLang="en-US" sz="2400" dirty="0">
                <a:latin typeface="微軟正黑體" panose="020B0604030504040204" pitchFamily="34" charset="-120"/>
                <a:ea typeface="微軟正黑體" panose="020B0604030504040204" pitchFamily="34" charset="-120"/>
              </a:rPr>
              <a:t>）模型進行代幣交換。</a:t>
            </a:r>
            <a:r>
              <a:rPr lang="en-US" altLang="zh-TW" sz="2400" dirty="0" err="1">
                <a:latin typeface="微軟正黑體" panose="020B0604030504040204" pitchFamily="34" charset="-120"/>
                <a:ea typeface="微軟正黑體" panose="020B0604030504040204" pitchFamily="34" charset="-120"/>
              </a:rPr>
              <a:t>PancakeSwap</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也是 </a:t>
            </a:r>
            <a:r>
              <a:rPr lang="en-US" altLang="zh-TW" sz="2400" dirty="0">
                <a:latin typeface="微軟正黑體" panose="020B0604030504040204" pitchFamily="34" charset="-120"/>
                <a:ea typeface="微軟正黑體" panose="020B0604030504040204" pitchFamily="34" charset="-120"/>
              </a:rPr>
              <a:t>DeFi </a:t>
            </a:r>
            <a:r>
              <a:rPr lang="zh-TW" altLang="en-US" sz="2400" dirty="0">
                <a:latin typeface="微軟正黑體" panose="020B0604030504040204" pitchFamily="34" charset="-120"/>
                <a:ea typeface="微軟正黑體" panose="020B0604030504040204" pitchFamily="34" charset="-120"/>
              </a:rPr>
              <a:t>應用的領頭羊，支援流動性挖礦、收益農業（</a:t>
            </a:r>
            <a:r>
              <a:rPr lang="en-US" altLang="zh-TW" sz="2400" dirty="0">
                <a:latin typeface="微軟正黑體" panose="020B0604030504040204" pitchFamily="34" charset="-120"/>
                <a:ea typeface="微軟正黑體" panose="020B0604030504040204" pitchFamily="34" charset="-120"/>
              </a:rPr>
              <a:t>Yield Farming</a:t>
            </a:r>
            <a:r>
              <a:rPr lang="zh-TW" altLang="en-US" sz="2400" dirty="0">
                <a:latin typeface="微軟正黑體" panose="020B0604030504040204" pitchFamily="34" charset="-120"/>
                <a:ea typeface="微軟正黑體" panose="020B0604030504040204" pitchFamily="34" charset="-120"/>
              </a:rPr>
              <a:t>）和抽獎功能。</a:t>
            </a:r>
          </a:p>
          <a:p>
            <a:pPr marL="6858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Venus</a:t>
            </a:r>
            <a:r>
              <a:rPr lang="zh-TW" altLang="en-US" sz="2400" dirty="0">
                <a:latin typeface="微軟正黑體" panose="020B0604030504040204" pitchFamily="34" charset="-120"/>
                <a:ea typeface="微軟正黑體" panose="020B0604030504040204" pitchFamily="34" charset="-120"/>
              </a:rPr>
              <a:t>：一個去中心化的借貸和穩定幣平台，允許用戶將加密貨幣作為抵押進行借貸，並通過權益證明（</a:t>
            </a:r>
            <a:r>
              <a:rPr lang="en-US" altLang="zh-TW" sz="2400" dirty="0" err="1">
                <a:latin typeface="微軟正黑體" panose="020B0604030504040204" pitchFamily="34" charset="-120"/>
                <a:ea typeface="微軟正黑體" panose="020B0604030504040204" pitchFamily="34" charset="-120"/>
              </a:rPr>
              <a:t>PoS</a:t>
            </a:r>
            <a:r>
              <a:rPr lang="zh-TW" altLang="en-US" sz="2400" dirty="0">
                <a:latin typeface="微軟正黑體" panose="020B0604030504040204" pitchFamily="34" charset="-120"/>
                <a:ea typeface="微軟正黑體" panose="020B0604030504040204" pitchFamily="34" charset="-120"/>
              </a:rPr>
              <a:t>）參與生態系統治理。</a:t>
            </a:r>
          </a:p>
          <a:p>
            <a:pPr marL="6858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Autofarm</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上的自動化收益聚合器，幫助用戶自動優化其 </a:t>
            </a:r>
            <a:r>
              <a:rPr lang="en-US" altLang="zh-TW" sz="2400" dirty="0">
                <a:latin typeface="微軟正黑體" panose="020B0604030504040204" pitchFamily="34" charset="-120"/>
                <a:ea typeface="微軟正黑體" panose="020B0604030504040204" pitchFamily="34" charset="-120"/>
              </a:rPr>
              <a:t>DeFi </a:t>
            </a:r>
            <a:r>
              <a:rPr lang="zh-TW" altLang="en-US" sz="2400" dirty="0">
                <a:latin typeface="微軟正黑體" panose="020B0604030504040204" pitchFamily="34" charset="-120"/>
                <a:ea typeface="微軟正黑體" panose="020B0604030504040204" pitchFamily="34" charset="-120"/>
              </a:rPr>
              <a:t>投資策略，從流動性挖礦和收益農業中最大化收益。</a:t>
            </a:r>
          </a:p>
        </p:txBody>
      </p:sp>
    </p:spTree>
    <p:extLst>
      <p:ext uri="{BB962C8B-B14F-4D97-AF65-F5344CB8AC3E}">
        <p14:creationId xmlns:p14="http://schemas.microsoft.com/office/powerpoint/2010/main" val="207860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7743-FEB7-B8E1-567F-248E378B11D0}"/>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8297C804-4A2D-C147-7DBA-6E0119D0756B}"/>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FFF57C87-E483-CF1A-D8E4-C83912E299C8}"/>
              </a:ext>
            </a:extLst>
          </p:cNvPr>
          <p:cNvSpPr txBox="1"/>
          <p:nvPr/>
        </p:nvSpPr>
        <p:spPr>
          <a:xfrm>
            <a:off x="659333" y="744636"/>
            <a:ext cx="9078609" cy="5564472"/>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2. </a:t>
            </a:r>
            <a:r>
              <a:rPr lang="zh-TW" altLang="en-US" sz="2400" dirty="0">
                <a:latin typeface="微軟正黑體" panose="020B0604030504040204" pitchFamily="34" charset="-120"/>
                <a:ea typeface="微軟正黑體" panose="020B0604030504040204" pitchFamily="34" charset="-120"/>
              </a:rPr>
              <a:t>非同質化代幣（</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a:t>
            </a:r>
          </a:p>
          <a:p>
            <a:pPr>
              <a:lnSpc>
                <a:spcPct val="150000"/>
              </a:lnSpc>
            </a:pP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上的 </a:t>
            </a:r>
            <a:r>
              <a:rPr lang="en-US" altLang="zh-TW" sz="2400" dirty="0">
                <a:latin typeface="微軟正黑體" panose="020B0604030504040204" pitchFamily="34" charset="-120"/>
                <a:ea typeface="微軟正黑體" panose="020B0604030504040204" pitchFamily="34" charset="-120"/>
              </a:rPr>
              <a:t>NFT </a:t>
            </a:r>
            <a:r>
              <a:rPr lang="zh-TW" altLang="en-US" sz="2400" dirty="0">
                <a:latin typeface="微軟正黑體" panose="020B0604030504040204" pitchFamily="34" charset="-120"/>
                <a:ea typeface="微軟正黑體" panose="020B0604030504040204" pitchFamily="34" charset="-120"/>
              </a:rPr>
              <a:t>應用迅速增長，並提供低成本、快速的交易體驗，與以太坊上的高手續費問題形成對比。</a:t>
            </a:r>
          </a:p>
          <a:p>
            <a:pPr marL="6858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BakerySwap</a:t>
            </a:r>
            <a:r>
              <a:rPr lang="zh-TW" altLang="en-US" sz="2400" dirty="0">
                <a:latin typeface="微軟正黑體" panose="020B0604030504040204" pitchFamily="34" charset="-120"/>
                <a:ea typeface="微軟正黑體" panose="020B0604030504040204" pitchFamily="34" charset="-120"/>
              </a:rPr>
              <a:t>：一個去中心化的 </a:t>
            </a:r>
            <a:r>
              <a:rPr lang="en-US" altLang="zh-TW" sz="2400" dirty="0">
                <a:latin typeface="微軟正黑體" panose="020B0604030504040204" pitchFamily="34" charset="-120"/>
                <a:ea typeface="微軟正黑體" panose="020B0604030504040204" pitchFamily="34" charset="-120"/>
              </a:rPr>
              <a:t>NFT </a:t>
            </a:r>
            <a:r>
              <a:rPr lang="zh-TW" altLang="en-US" sz="2400" dirty="0">
                <a:latin typeface="微軟正黑體" panose="020B0604030504040204" pitchFamily="34" charset="-120"/>
                <a:ea typeface="微軟正黑體" panose="020B0604030504040204" pitchFamily="34" charset="-120"/>
              </a:rPr>
              <a:t>市場和交易平台，用戶可以創建、交易和拍賣 </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，並且可以參與流動性挖礦。</a:t>
            </a:r>
          </a:p>
          <a:p>
            <a:pPr marL="6858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TreasureLand</a:t>
            </a:r>
            <a:r>
              <a:rPr lang="zh-TW" altLang="en-US" sz="2400" dirty="0">
                <a:latin typeface="微軟正黑體" panose="020B0604030504040204" pitchFamily="34" charset="-120"/>
                <a:ea typeface="微軟正黑體" panose="020B0604030504040204" pitchFamily="34" charset="-120"/>
              </a:rPr>
              <a:t>：一個基於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的 </a:t>
            </a:r>
            <a:r>
              <a:rPr lang="en-US" altLang="zh-TW" sz="2400" dirty="0">
                <a:latin typeface="微軟正黑體" panose="020B0604030504040204" pitchFamily="34" charset="-120"/>
                <a:ea typeface="微軟正黑體" panose="020B0604030504040204" pitchFamily="34" charset="-120"/>
              </a:rPr>
              <a:t>NFT </a:t>
            </a:r>
            <a:r>
              <a:rPr lang="zh-TW" altLang="en-US" sz="2400" dirty="0">
                <a:latin typeface="微軟正黑體" panose="020B0604030504040204" pitchFamily="34" charset="-120"/>
                <a:ea typeface="微軟正黑體" panose="020B0604030504040204" pitchFamily="34" charset="-120"/>
              </a:rPr>
              <a:t>交易平台，允許用戶鑄造和交易 </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，並且支持多種加密貨幣支付選項。</a:t>
            </a:r>
          </a:p>
          <a:p>
            <a:pPr marL="6858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Binance NFT Marketplace</a:t>
            </a:r>
            <a:r>
              <a:rPr lang="zh-TW" altLang="en-US" sz="2400" dirty="0">
                <a:latin typeface="微軟正黑體" panose="020B0604030504040204" pitchFamily="34" charset="-120"/>
                <a:ea typeface="微軟正黑體" panose="020B0604030504040204" pitchFamily="34" charset="-120"/>
              </a:rPr>
              <a:t>：由幣安推出的官方 </a:t>
            </a:r>
            <a:r>
              <a:rPr lang="en-US" altLang="zh-TW" sz="2400" dirty="0">
                <a:latin typeface="微軟正黑體" panose="020B0604030504040204" pitchFamily="34" charset="-120"/>
                <a:ea typeface="微軟正黑體" panose="020B0604030504040204" pitchFamily="34" charset="-120"/>
              </a:rPr>
              <a:t>NFT </a:t>
            </a:r>
            <a:r>
              <a:rPr lang="zh-TW" altLang="en-US" sz="2400" dirty="0">
                <a:latin typeface="微軟正黑體" panose="020B0604030504040204" pitchFamily="34" charset="-120"/>
                <a:ea typeface="微軟正黑體" panose="020B0604030504040204" pitchFamily="34" charset="-120"/>
              </a:rPr>
              <a:t>市場，支持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和其他區塊鏈上的 </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，提供豐富的數字資產交易功能。</a:t>
            </a:r>
          </a:p>
        </p:txBody>
      </p:sp>
    </p:spTree>
    <p:extLst>
      <p:ext uri="{BB962C8B-B14F-4D97-AF65-F5344CB8AC3E}">
        <p14:creationId xmlns:p14="http://schemas.microsoft.com/office/powerpoint/2010/main" val="2793490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AB701-D1F2-43B2-02FC-5ADC693381EC}"/>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3627D8AA-1498-85FD-A667-BE0F19DE6F85}"/>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FE82F662-DEB6-F82B-92FC-C959BD564858}"/>
              </a:ext>
            </a:extLst>
          </p:cNvPr>
          <p:cNvSpPr txBox="1"/>
          <p:nvPr/>
        </p:nvSpPr>
        <p:spPr>
          <a:xfrm>
            <a:off x="314580" y="369765"/>
            <a:ext cx="9875782" cy="6118470"/>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3. </a:t>
            </a:r>
            <a:r>
              <a:rPr lang="zh-TW" altLang="en-US" sz="2400" dirty="0">
                <a:latin typeface="微軟正黑體" panose="020B0604030504040204" pitchFamily="34" charset="-120"/>
                <a:ea typeface="微軟正黑體" panose="020B0604030504040204" pitchFamily="34" charset="-120"/>
              </a:rPr>
              <a:t>去中心化應用（</a:t>
            </a:r>
            <a:r>
              <a:rPr lang="en-US" altLang="zh-TW" sz="2400" dirty="0" err="1">
                <a:latin typeface="微軟正黑體" panose="020B0604030504040204" pitchFamily="34" charset="-120"/>
                <a:ea typeface="微軟正黑體" panose="020B0604030504040204" pitchFamily="34" charset="-120"/>
              </a:rPr>
              <a:t>DApps</a:t>
            </a:r>
            <a:r>
              <a:rPr lang="zh-TW" altLang="en-US" sz="2400" dirty="0">
                <a:latin typeface="微軟正黑體" panose="020B0604030504040204" pitchFamily="34" charset="-120"/>
                <a:ea typeface="微軟正黑體" panose="020B0604030504040204" pitchFamily="34" charset="-120"/>
              </a:rPr>
              <a:t>）</a:t>
            </a:r>
          </a:p>
          <a:p>
            <a:pPr>
              <a:lnSpc>
                <a:spcPct val="150000"/>
              </a:lnSpc>
            </a:pP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上有大量去中心化應用，涵蓋金融、遊戲、預言機等多個領域。其與 </a:t>
            </a:r>
            <a:r>
              <a:rPr lang="en-US" altLang="zh-TW" sz="2400" dirty="0">
                <a:latin typeface="微軟正黑體" panose="020B0604030504040204" pitchFamily="34" charset="-120"/>
                <a:ea typeface="微軟正黑體" panose="020B0604030504040204" pitchFamily="34" charset="-120"/>
              </a:rPr>
              <a:t>EVM </a:t>
            </a:r>
            <a:r>
              <a:rPr lang="zh-TW" altLang="en-US" sz="2400" dirty="0">
                <a:latin typeface="微軟正黑體" panose="020B0604030504040204" pitchFamily="34" charset="-120"/>
                <a:ea typeface="微軟正黑體" panose="020B0604030504040204" pitchFamily="34" charset="-120"/>
              </a:rPr>
              <a:t>的兼容性使得以太坊上的許多 </a:t>
            </a:r>
            <a:r>
              <a:rPr lang="en-US" altLang="zh-TW" sz="2400" dirty="0" err="1">
                <a:latin typeface="微軟正黑體" panose="020B0604030504040204" pitchFamily="34" charset="-120"/>
                <a:ea typeface="微軟正黑體" panose="020B0604030504040204" pitchFamily="34" charset="-120"/>
              </a:rPr>
              <a:t>DApp</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容易遷移到 </a:t>
            </a:r>
            <a:r>
              <a:rPr lang="en-US" altLang="zh-TW" sz="2400" dirty="0">
                <a:latin typeface="微軟正黑體" panose="020B0604030504040204" pitchFamily="34" charset="-120"/>
                <a:ea typeface="微軟正黑體" panose="020B0604030504040204" pitchFamily="34" charset="-120"/>
              </a:rPr>
              <a:t>BSC</a:t>
            </a:r>
            <a:r>
              <a:rPr lang="zh-TW" altLang="en-US" sz="2400" dirty="0">
                <a:latin typeface="微軟正黑體" panose="020B0604030504040204" pitchFamily="34" charset="-120"/>
                <a:ea typeface="微軟正黑體" panose="020B0604030504040204" pitchFamily="34" charset="-120"/>
              </a:rPr>
              <a:t>，擁有更快的交易速度和更低的成本。</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MyDeFiPet</a:t>
            </a:r>
            <a:r>
              <a:rPr lang="zh-TW" altLang="en-US" sz="2400" dirty="0">
                <a:latin typeface="微軟正黑體" panose="020B0604030504040204" pitchFamily="34" charset="-120"/>
                <a:ea typeface="微軟正黑體" panose="020B0604030504040204" pitchFamily="34" charset="-120"/>
              </a:rPr>
              <a:t>：一款基於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的區塊鏈遊戲，玩家可以養成、繁殖和交易虛擬寵物，並參與遊戲內的競賽和挑戰，遊戲中的資產由 </a:t>
            </a:r>
            <a:r>
              <a:rPr lang="en-US" altLang="zh-TW" sz="2400" dirty="0">
                <a:latin typeface="微軟正黑體" panose="020B0604030504040204" pitchFamily="34" charset="-120"/>
                <a:ea typeface="微軟正黑體" panose="020B0604030504040204" pitchFamily="34" charset="-120"/>
              </a:rPr>
              <a:t>NFT </a:t>
            </a:r>
            <a:r>
              <a:rPr lang="zh-TW" altLang="en-US" sz="2400" dirty="0">
                <a:latin typeface="微軟正黑體" panose="020B0604030504040204" pitchFamily="34" charset="-120"/>
                <a:ea typeface="微軟正黑體" panose="020B0604030504040204" pitchFamily="34" charset="-120"/>
              </a:rPr>
              <a:t>表示。</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Trust Wallet</a:t>
            </a:r>
            <a:r>
              <a:rPr lang="zh-TW" altLang="en-US" sz="2400" dirty="0">
                <a:latin typeface="微軟正黑體" panose="020B0604030504040204" pitchFamily="34" charset="-120"/>
                <a:ea typeface="微軟正黑體" panose="020B0604030504040204" pitchFamily="34" charset="-120"/>
              </a:rPr>
              <a:t>：幣安官方的去中心化錢包，支持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和其他區塊鏈，讓用戶能夠存儲、交易代幣和管理其加密資產，並且可以直接訪問 </a:t>
            </a:r>
            <a:r>
              <a:rPr lang="en-US" altLang="zh-TW" sz="2400" dirty="0" err="1">
                <a:latin typeface="微軟正黑體" panose="020B0604030504040204" pitchFamily="34" charset="-120"/>
                <a:ea typeface="微軟正黑體" panose="020B0604030504040204" pitchFamily="34" charset="-120"/>
              </a:rPr>
              <a:t>DApp</a:t>
            </a:r>
            <a:r>
              <a:rPr lang="zh-TW" altLang="en-US" sz="2400" dirty="0">
                <a:latin typeface="微軟正黑體" panose="020B0604030504040204" pitchFamily="34" charset="-120"/>
                <a:ea typeface="微軟正黑體" panose="020B0604030504040204" pitchFamily="34" charset="-120"/>
              </a:rPr>
              <a:t>。</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Fortube</a:t>
            </a:r>
            <a:r>
              <a:rPr lang="zh-TW" altLang="en-US" sz="2400" dirty="0">
                <a:latin typeface="微軟正黑體" panose="020B0604030504040204" pitchFamily="34" charset="-120"/>
                <a:ea typeface="微軟正黑體" panose="020B0604030504040204" pitchFamily="34" charset="-120"/>
              </a:rPr>
              <a:t>：一個去中心化的金融平台，提供資產管理、流動性挖礦等功能，專注於高效的資產增值和管理。</a:t>
            </a:r>
          </a:p>
        </p:txBody>
      </p:sp>
    </p:spTree>
    <p:extLst>
      <p:ext uri="{BB962C8B-B14F-4D97-AF65-F5344CB8AC3E}">
        <p14:creationId xmlns:p14="http://schemas.microsoft.com/office/powerpoint/2010/main" val="3424361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EA3E8-29E6-6458-DBEF-E7577046C049}"/>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E3E95E78-6029-82E6-5CC1-F639872245F9}"/>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49CA7254-6474-81CC-AB6B-7BE6B18ED16E}"/>
              </a:ext>
            </a:extLst>
          </p:cNvPr>
          <p:cNvSpPr txBox="1"/>
          <p:nvPr/>
        </p:nvSpPr>
        <p:spPr>
          <a:xfrm>
            <a:off x="966222" y="870212"/>
            <a:ext cx="8876090" cy="5010474"/>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4. </a:t>
            </a:r>
            <a:r>
              <a:rPr lang="zh-TW" altLang="en-US" sz="2400" dirty="0">
                <a:latin typeface="微軟正黑體" panose="020B0604030504040204" pitchFamily="34" charset="-120"/>
                <a:ea typeface="微軟正黑體" panose="020B0604030504040204" pitchFamily="34" charset="-120"/>
              </a:rPr>
              <a:t>跨鏈應用</a:t>
            </a:r>
          </a:p>
          <a:p>
            <a:pPr>
              <a:lnSpc>
                <a:spcPct val="150000"/>
              </a:lnSpc>
            </a:pP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的一大優勢在於其與多個區塊鏈的跨鏈互操作性，允許用戶和開發者在不同區塊鏈之間自由轉移資產和信息。</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Binance Bridge</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與其他區塊鏈之間的跨鏈橋樑，允許用戶將比特幣、以太坊等其他區塊鏈的資產轉移到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上進行交易或參與 </a:t>
            </a:r>
            <a:r>
              <a:rPr lang="en-US" altLang="zh-TW" sz="2400" dirty="0">
                <a:latin typeface="微軟正黑體" panose="020B0604030504040204" pitchFamily="34" charset="-120"/>
                <a:ea typeface="微軟正黑體" panose="020B0604030504040204" pitchFamily="34" charset="-120"/>
              </a:rPr>
              <a:t>DeFi </a:t>
            </a:r>
            <a:r>
              <a:rPr lang="zh-TW" altLang="en-US" sz="2400" dirty="0">
                <a:latin typeface="微軟正黑體" panose="020B0604030504040204" pitchFamily="34" charset="-120"/>
                <a:ea typeface="微軟正黑體" panose="020B0604030504040204" pitchFamily="34" charset="-120"/>
              </a:rPr>
              <a:t>應用。</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Anyswap</a:t>
            </a:r>
            <a:r>
              <a:rPr lang="zh-TW" altLang="en-US" sz="2400" dirty="0">
                <a:latin typeface="微軟正黑體" panose="020B0604030504040204" pitchFamily="34" charset="-120"/>
                <a:ea typeface="微軟正黑體" panose="020B0604030504040204" pitchFamily="34" charset="-120"/>
              </a:rPr>
              <a:t>：一個支持多鏈的去中心化跨鏈交易平台，允許用戶在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和其他區塊鏈之間進行跨鏈代幣交換，實現更靈活的資產流動。</a:t>
            </a:r>
          </a:p>
        </p:txBody>
      </p:sp>
    </p:spTree>
    <p:extLst>
      <p:ext uri="{BB962C8B-B14F-4D97-AF65-F5344CB8AC3E}">
        <p14:creationId xmlns:p14="http://schemas.microsoft.com/office/powerpoint/2010/main" val="3197529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FF356-2530-3226-41F3-E05DB1902032}"/>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07B5ACDD-23D2-639A-9AC1-C6C1F3A0A720}"/>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55EE6610-62E4-22A4-C35D-C12978000876}"/>
              </a:ext>
            </a:extLst>
          </p:cNvPr>
          <p:cNvSpPr txBox="1"/>
          <p:nvPr/>
        </p:nvSpPr>
        <p:spPr>
          <a:xfrm>
            <a:off x="1017338" y="1122546"/>
            <a:ext cx="8876090" cy="4456476"/>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5. </a:t>
            </a:r>
            <a:r>
              <a:rPr lang="zh-TW" altLang="en-US" sz="2400" dirty="0">
                <a:latin typeface="微軟正黑體" panose="020B0604030504040204" pitchFamily="34" charset="-120"/>
                <a:ea typeface="微軟正黑體" panose="020B0604030504040204" pitchFamily="34" charset="-120"/>
              </a:rPr>
              <a:t>穩定幣與支付</a:t>
            </a:r>
          </a:p>
          <a:p>
            <a:pPr>
              <a:lnSpc>
                <a:spcPct val="150000"/>
              </a:lnSpc>
            </a:pP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上的低手續費和高交易速度使得它成為穩定幣支付和轉移的重要平台，特別適合全球範圍內的快速、低成本交易。</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BUSD</a:t>
            </a:r>
            <a:r>
              <a:rPr lang="zh-TW" altLang="en-US" sz="2400" dirty="0">
                <a:latin typeface="微軟正黑體" panose="020B0604030504040204" pitchFamily="34" charset="-120"/>
                <a:ea typeface="微軟正黑體" panose="020B0604030504040204" pitchFamily="34" charset="-120"/>
              </a:rPr>
              <a:t>：由幣安發行的穩定幣，與美元 </a:t>
            </a:r>
            <a:r>
              <a:rPr lang="en-US" altLang="zh-TW" sz="2400" dirty="0">
                <a:latin typeface="微軟正黑體" panose="020B0604030504040204" pitchFamily="34" charset="-120"/>
                <a:ea typeface="微軟正黑體" panose="020B0604030504040204" pitchFamily="34" charset="-120"/>
              </a:rPr>
              <a:t>1:1 </a:t>
            </a:r>
            <a:r>
              <a:rPr lang="zh-TW" altLang="en-US" sz="2400" dirty="0">
                <a:latin typeface="微軟正黑體" panose="020B0604030504040204" pitchFamily="34" charset="-120"/>
                <a:ea typeface="微軟正黑體" panose="020B0604030504040204" pitchFamily="34" charset="-120"/>
              </a:rPr>
              <a:t>鍵定，在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上廣泛用於支付、交易和借貸等各種應用場景。</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Swipe</a:t>
            </a:r>
            <a:r>
              <a:rPr lang="zh-TW" altLang="en-US" sz="2400" dirty="0">
                <a:latin typeface="微軟正黑體" panose="020B0604030504040204" pitchFamily="34" charset="-120"/>
                <a:ea typeface="微軟正黑體" panose="020B0604030504040204" pitchFamily="34" charset="-120"/>
              </a:rPr>
              <a:t>：一個基於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的加密貨幣支付平台，提供 </a:t>
            </a:r>
            <a:r>
              <a:rPr lang="en-US" altLang="zh-TW" sz="2400" dirty="0">
                <a:latin typeface="微軟正黑體" panose="020B0604030504040204" pitchFamily="34" charset="-120"/>
                <a:ea typeface="微軟正黑體" panose="020B0604030504040204" pitchFamily="34" charset="-120"/>
              </a:rPr>
              <a:t>Visa </a:t>
            </a:r>
            <a:r>
              <a:rPr lang="zh-TW" altLang="en-US" sz="2400" dirty="0">
                <a:latin typeface="微軟正黑體" panose="020B0604030504040204" pitchFamily="34" charset="-120"/>
                <a:ea typeface="微軟正黑體" panose="020B0604030504040204" pitchFamily="34" charset="-120"/>
              </a:rPr>
              <a:t>和 </a:t>
            </a:r>
            <a:r>
              <a:rPr lang="en-US" altLang="zh-TW" sz="2400" dirty="0">
                <a:latin typeface="微軟正黑體" panose="020B0604030504040204" pitchFamily="34" charset="-120"/>
                <a:ea typeface="微軟正黑體" panose="020B0604030504040204" pitchFamily="34" charset="-120"/>
              </a:rPr>
              <a:t>Mastercard </a:t>
            </a:r>
            <a:r>
              <a:rPr lang="zh-TW" altLang="en-US" sz="2400" dirty="0">
                <a:latin typeface="微軟正黑體" panose="020B0604030504040204" pitchFamily="34" charset="-120"/>
                <a:ea typeface="微軟正黑體" panose="020B0604030504040204" pitchFamily="34" charset="-120"/>
              </a:rPr>
              <a:t>加密貨幣借記卡，允許用戶通過法定貨幣或加密貨幣進行支付。</a:t>
            </a:r>
          </a:p>
        </p:txBody>
      </p:sp>
    </p:spTree>
    <p:extLst>
      <p:ext uri="{BB962C8B-B14F-4D97-AF65-F5344CB8AC3E}">
        <p14:creationId xmlns:p14="http://schemas.microsoft.com/office/powerpoint/2010/main" val="2891876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08C3C-29F8-60E2-B8BA-817C3DB8561D}"/>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6C3CCD06-67C3-E7D2-2B2D-32B4FE14FA93}"/>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1BC83C99-F14F-C614-24FB-A30D29C43E1A}"/>
              </a:ext>
            </a:extLst>
          </p:cNvPr>
          <p:cNvSpPr txBox="1"/>
          <p:nvPr/>
        </p:nvSpPr>
        <p:spPr>
          <a:xfrm>
            <a:off x="954863" y="1099827"/>
            <a:ext cx="8876090" cy="4456476"/>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6. </a:t>
            </a:r>
            <a:r>
              <a:rPr lang="zh-TW" altLang="en-US" sz="2400" dirty="0">
                <a:latin typeface="微軟正黑體" panose="020B0604030504040204" pitchFamily="34" charset="-120"/>
                <a:ea typeface="微軟正黑體" panose="020B0604030504040204" pitchFamily="34" charset="-120"/>
              </a:rPr>
              <a:t>治理與</a:t>
            </a:r>
            <a:r>
              <a:rPr lang="en-US" altLang="zh-TW" sz="2400" dirty="0">
                <a:latin typeface="微軟正黑體" panose="020B0604030504040204" pitchFamily="34" charset="-120"/>
                <a:ea typeface="微軟正黑體" panose="020B0604030504040204" pitchFamily="34" charset="-120"/>
              </a:rPr>
              <a:t>DAO</a:t>
            </a:r>
            <a:r>
              <a:rPr lang="zh-TW" altLang="en-US" sz="2400" dirty="0">
                <a:latin typeface="微軟正黑體" panose="020B0604030504040204" pitchFamily="34" charset="-120"/>
                <a:ea typeface="微軟正黑體" panose="020B0604030504040204" pitchFamily="34" charset="-120"/>
              </a:rPr>
              <a:t>（去中心化自治組織）</a:t>
            </a:r>
          </a:p>
          <a:p>
            <a:pPr>
              <a:lnSpc>
                <a:spcPct val="150000"/>
              </a:lnSpc>
            </a:pP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支持建立去中心化自治組織（</a:t>
            </a:r>
            <a:r>
              <a:rPr lang="en-US" altLang="zh-TW" sz="2400" dirty="0">
                <a:latin typeface="微軟正黑體" panose="020B0604030504040204" pitchFamily="34" charset="-120"/>
                <a:ea typeface="微軟正黑體" panose="020B0604030504040204" pitchFamily="34" charset="-120"/>
              </a:rPr>
              <a:t>DAO</a:t>
            </a:r>
            <a:r>
              <a:rPr lang="zh-TW" altLang="en-US" sz="2400" dirty="0">
                <a:latin typeface="微軟正黑體" panose="020B0604030504040204" pitchFamily="34" charset="-120"/>
                <a:ea typeface="微軟正黑體" panose="020B0604030504040204" pitchFamily="34" charset="-120"/>
              </a:rPr>
              <a:t>），允許代幣持有人通過投票參與項目治理。</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PancakeSwap</a:t>
            </a:r>
            <a:r>
              <a:rPr lang="en-US" altLang="zh-TW" sz="2400" dirty="0">
                <a:latin typeface="微軟正黑體" panose="020B0604030504040204" pitchFamily="34" charset="-120"/>
                <a:ea typeface="微軟正黑體" panose="020B0604030504040204" pitchFamily="34" charset="-120"/>
              </a:rPr>
              <a:t> Governance</a:t>
            </a:r>
            <a:r>
              <a:rPr lang="zh-TW" altLang="en-US" sz="2400" dirty="0">
                <a:latin typeface="微軟正黑體" panose="020B0604030504040204" pitchFamily="34" charset="-120"/>
                <a:ea typeface="微軟正黑體" panose="020B0604030504040204" pitchFamily="34" charset="-120"/>
              </a:rPr>
              <a:t>：</a:t>
            </a:r>
            <a:r>
              <a:rPr lang="en-US" altLang="zh-TW" sz="2400" dirty="0" err="1">
                <a:latin typeface="微軟正黑體" panose="020B0604030504040204" pitchFamily="34" charset="-120"/>
                <a:ea typeface="微軟正黑體" panose="020B0604030504040204" pitchFamily="34" charset="-120"/>
              </a:rPr>
              <a:t>PancakeSwap</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平台上用戶可以使用平台代幣（</a:t>
            </a:r>
            <a:r>
              <a:rPr lang="en-US" altLang="zh-TW" sz="2400" dirty="0">
                <a:latin typeface="微軟正黑體" panose="020B0604030504040204" pitchFamily="34" charset="-120"/>
                <a:ea typeface="微軟正黑體" panose="020B0604030504040204" pitchFamily="34" charset="-120"/>
              </a:rPr>
              <a:t>CAKE</a:t>
            </a:r>
            <a:r>
              <a:rPr lang="zh-TW" altLang="en-US" sz="2400" dirty="0">
                <a:latin typeface="微軟正黑體" panose="020B0604030504040204" pitchFamily="34" charset="-120"/>
                <a:ea typeface="微軟正黑體" panose="020B0604030504040204" pitchFamily="34" charset="-120"/>
              </a:rPr>
              <a:t>）參與治理，投票決定流動性池的添加或移除、手續費變更等。</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Venus Protocol</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Venus </a:t>
            </a:r>
            <a:r>
              <a:rPr lang="zh-TW" altLang="en-US" sz="2400" dirty="0">
                <a:latin typeface="微軟正黑體" panose="020B0604030504040204" pitchFamily="34" charset="-120"/>
                <a:ea typeface="微軟正黑體" panose="020B0604030504040204" pitchFamily="34" charset="-120"/>
              </a:rPr>
              <a:t>平台的治理通過治理代幣（</a:t>
            </a:r>
            <a:r>
              <a:rPr lang="en-US" altLang="zh-TW" sz="2400" dirty="0">
                <a:latin typeface="微軟正黑體" panose="020B0604030504040204" pitchFamily="34" charset="-120"/>
                <a:ea typeface="微軟正黑體" panose="020B0604030504040204" pitchFamily="34" charset="-120"/>
              </a:rPr>
              <a:t>XVS</a:t>
            </a:r>
            <a:r>
              <a:rPr lang="zh-TW" altLang="en-US" sz="2400" dirty="0">
                <a:latin typeface="微軟正黑體" panose="020B0604030504040204" pitchFamily="34" charset="-120"/>
                <a:ea typeface="微軟正黑體" panose="020B0604030504040204" pitchFamily="34" charset="-120"/>
              </a:rPr>
              <a:t>）進行，允許社群成員提案和表決決定平台的未來發展方向。</a:t>
            </a:r>
          </a:p>
        </p:txBody>
      </p:sp>
    </p:spTree>
    <p:extLst>
      <p:ext uri="{BB962C8B-B14F-4D97-AF65-F5344CB8AC3E}">
        <p14:creationId xmlns:p14="http://schemas.microsoft.com/office/powerpoint/2010/main" val="2074070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015C8-E313-A03E-1958-79861476FC88}"/>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F59BA9FE-B5B2-AF2E-405A-9A86FFE07651}"/>
              </a:ext>
            </a:extLst>
          </p:cNvPr>
          <p:cNvSpPr txBox="1"/>
          <p:nvPr/>
        </p:nvSpPr>
        <p:spPr>
          <a:xfrm>
            <a:off x="10263960" y="303967"/>
            <a:ext cx="1748190" cy="113249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C4C99171-E98C-B7B2-494F-DA1B51E96F11}"/>
              </a:ext>
            </a:extLst>
          </p:cNvPr>
          <p:cNvSpPr txBox="1"/>
          <p:nvPr/>
        </p:nvSpPr>
        <p:spPr>
          <a:xfrm>
            <a:off x="829914" y="1332687"/>
            <a:ext cx="8876090" cy="3902479"/>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7. </a:t>
            </a:r>
            <a:r>
              <a:rPr lang="zh-TW" altLang="en-US" sz="2400" dirty="0">
                <a:latin typeface="微軟正黑體" panose="020B0604030504040204" pitchFamily="34" charset="-120"/>
                <a:ea typeface="微軟正黑體" panose="020B0604030504040204" pitchFamily="34" charset="-120"/>
              </a:rPr>
              <a:t>預言機與數據聚合</a:t>
            </a:r>
          </a:p>
          <a:p>
            <a:pPr>
              <a:lnSpc>
                <a:spcPct val="150000"/>
              </a:lnSpc>
            </a:pPr>
            <a:r>
              <a:rPr lang="zh-TW" altLang="en-US" sz="2400" dirty="0">
                <a:latin typeface="微軟正黑體" panose="020B0604030504040204" pitchFamily="34" charset="-120"/>
                <a:ea typeface="微軟正黑體" panose="020B0604030504040204" pitchFamily="34" charset="-120"/>
              </a:rPr>
              <a:t>預言機作為連接區塊鏈和外部世界的橋樑，在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上也有廣泛應用，特別是對於 </a:t>
            </a:r>
            <a:r>
              <a:rPr lang="en-US" altLang="zh-TW" sz="2400" dirty="0">
                <a:latin typeface="微軟正黑體" panose="020B0604030504040204" pitchFamily="34" charset="-120"/>
                <a:ea typeface="微軟正黑體" panose="020B0604030504040204" pitchFamily="34" charset="-120"/>
              </a:rPr>
              <a:t>DeFi </a:t>
            </a:r>
            <a:r>
              <a:rPr lang="zh-TW" altLang="en-US" sz="2400" dirty="0">
                <a:latin typeface="微軟正黑體" panose="020B0604030504040204" pitchFamily="34" charset="-120"/>
                <a:ea typeface="微軟正黑體" panose="020B0604030504040204" pitchFamily="34" charset="-120"/>
              </a:rPr>
              <a:t>和其他智能合約應用。</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Band Protocol</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上的預言機系統，提供去中心化的數據來源，支持金融市場數據、預測賽事結果等應用。</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Chainlink</a:t>
            </a:r>
            <a:r>
              <a:rPr lang="zh-TW" altLang="en-US" sz="2400" dirty="0">
                <a:latin typeface="微軟正黑體" panose="020B0604030504040204" pitchFamily="34" charset="-120"/>
                <a:ea typeface="微軟正黑體" panose="020B0604030504040204" pitchFamily="34" charset="-120"/>
              </a:rPr>
              <a:t>：全球領先的預言機項目，也支持 </a:t>
            </a:r>
            <a:r>
              <a:rPr lang="en-US" altLang="zh-TW" sz="2400" dirty="0">
                <a:latin typeface="微軟正黑體" panose="020B0604030504040204" pitchFamily="34" charset="-120"/>
                <a:ea typeface="微軟正黑體" panose="020B0604030504040204" pitchFamily="34" charset="-120"/>
              </a:rPr>
              <a:t>BSC</a:t>
            </a:r>
            <a:r>
              <a:rPr lang="zh-TW" altLang="en-US" sz="2400" dirty="0">
                <a:latin typeface="微軟正黑體" panose="020B0604030504040204" pitchFamily="34" charset="-120"/>
                <a:ea typeface="微軟正黑體" panose="020B0604030504040204" pitchFamily="34" charset="-120"/>
              </a:rPr>
              <a:t>，為智能合約提供可信的鏈下數據來源。</a:t>
            </a:r>
          </a:p>
        </p:txBody>
      </p:sp>
    </p:spTree>
    <p:extLst>
      <p:ext uri="{BB962C8B-B14F-4D97-AF65-F5344CB8AC3E}">
        <p14:creationId xmlns:p14="http://schemas.microsoft.com/office/powerpoint/2010/main" val="2985984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27F1-749B-FC38-5EF5-BBE448994CA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9CDD0E-E9A0-55F5-3269-74000AF24226}"/>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37</a:t>
            </a:fld>
            <a:endParaRPr lang="en-US" dirty="0"/>
          </a:p>
        </p:txBody>
      </p:sp>
      <p:sp>
        <p:nvSpPr>
          <p:cNvPr id="2" name="文字方塊 1">
            <a:extLst>
              <a:ext uri="{FF2B5EF4-FFF2-40B4-BE49-F238E27FC236}">
                <a16:creationId xmlns:a16="http://schemas.microsoft.com/office/drawing/2014/main" id="{C73D41B1-801C-CA57-3792-054B6DC8F58A}"/>
              </a:ext>
            </a:extLst>
          </p:cNvPr>
          <p:cNvSpPr txBox="1"/>
          <p:nvPr/>
        </p:nvSpPr>
        <p:spPr>
          <a:xfrm>
            <a:off x="602167" y="185532"/>
            <a:ext cx="10987666" cy="6672468"/>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8. </a:t>
            </a:r>
            <a:r>
              <a:rPr lang="zh-TW" altLang="en-US" sz="2400" dirty="0">
                <a:latin typeface="微軟正黑體" panose="020B0604030504040204" pitchFamily="34" charset="-120"/>
                <a:ea typeface="微軟正黑體" panose="020B0604030504040204" pitchFamily="34" charset="-120"/>
              </a:rPr>
              <a:t>遊戲與娛樂</a:t>
            </a:r>
          </a:p>
          <a:p>
            <a:pPr>
              <a:lnSpc>
                <a:spcPct val="150000"/>
              </a:lnSpc>
            </a:pP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上的遊戲生態系統正在蓬勃發展，許多區塊鏈遊戲和娛樂應用利用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的低成本和高效性能吸引玩家和用戶。</a:t>
            </a:r>
          </a:p>
          <a:p>
            <a:pPr marL="342900" indent="-342900">
              <a:lnSpc>
                <a:spcPct val="150000"/>
              </a:lnSpc>
              <a:buFont typeface="Wingdings" panose="05000000000000000000" pitchFamily="2" charset="2"/>
              <a:buChar char="u"/>
            </a:pPr>
            <a:r>
              <a:rPr lang="en-US" altLang="zh-TW" sz="2400" dirty="0" err="1">
                <a:latin typeface="微軟正黑體" panose="020B0604030504040204" pitchFamily="34" charset="-120"/>
                <a:ea typeface="微軟正黑體" panose="020B0604030504040204" pitchFamily="34" charset="-120"/>
              </a:rPr>
              <a:t>Mobox</a:t>
            </a:r>
            <a:r>
              <a:rPr lang="zh-TW" altLang="en-US" sz="2400" dirty="0">
                <a:latin typeface="微軟正黑體" panose="020B0604030504040204" pitchFamily="34" charset="-120"/>
                <a:ea typeface="微軟正黑體" panose="020B0604030504040204" pitchFamily="34" charset="-120"/>
              </a:rPr>
              <a:t>：一個基於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的去中心化遊戲平台，結合 </a:t>
            </a:r>
            <a:r>
              <a:rPr lang="en-US" altLang="zh-TW" sz="2400" dirty="0">
                <a:latin typeface="微軟正黑體" panose="020B0604030504040204" pitchFamily="34" charset="-120"/>
                <a:ea typeface="微軟正黑體" panose="020B0604030504040204" pitchFamily="34" charset="-120"/>
              </a:rPr>
              <a:t>DeFi </a:t>
            </a:r>
            <a:r>
              <a:rPr lang="zh-TW" altLang="en-US" sz="2400" dirty="0">
                <a:latin typeface="微軟正黑體" panose="020B0604030504040204" pitchFamily="34" charset="-120"/>
                <a:ea typeface="微軟正黑體" panose="020B0604030504040204" pitchFamily="34" charset="-120"/>
              </a:rPr>
              <a:t>和 </a:t>
            </a:r>
            <a:r>
              <a:rPr lang="en-US" altLang="zh-TW" sz="2400" dirty="0">
                <a:latin typeface="微軟正黑體" panose="020B0604030504040204" pitchFamily="34" charset="-120"/>
                <a:ea typeface="微軟正黑體" panose="020B0604030504040204" pitchFamily="34" charset="-120"/>
              </a:rPr>
              <a:t>NFT </a:t>
            </a:r>
            <a:r>
              <a:rPr lang="zh-TW" altLang="en-US" sz="2400" dirty="0">
                <a:latin typeface="微軟正黑體" panose="020B0604030504040204" pitchFamily="34" charset="-120"/>
                <a:ea typeface="微軟正黑體" panose="020B0604030504040204" pitchFamily="34" charset="-120"/>
              </a:rPr>
              <a:t>的概念，允許玩家通過遊戲中的活動來賺取加密貨幣收益。</a:t>
            </a:r>
          </a:p>
          <a:p>
            <a:pPr marL="342900" indent="-342900">
              <a:lnSpc>
                <a:spcPct val="150000"/>
              </a:lnSpc>
              <a:buFont typeface="Wingdings" panose="05000000000000000000" pitchFamily="2" charset="2"/>
              <a:buChar char="u"/>
            </a:pPr>
            <a:r>
              <a:rPr lang="en-US" altLang="zh-TW" sz="2400" dirty="0">
                <a:latin typeface="微軟正黑體" panose="020B0604030504040204" pitchFamily="34" charset="-120"/>
                <a:ea typeface="微軟正黑體" panose="020B0604030504040204" pitchFamily="34" charset="-120"/>
              </a:rPr>
              <a:t>Alien Worlds</a:t>
            </a:r>
            <a:r>
              <a:rPr lang="zh-TW" altLang="en-US" sz="2400" dirty="0">
                <a:latin typeface="微軟正黑體" panose="020B0604030504040204" pitchFamily="34" charset="-120"/>
                <a:ea typeface="微軟正黑體" panose="020B0604030504040204" pitchFamily="34" charset="-120"/>
              </a:rPr>
              <a:t>：一款跨鏈遊戲，玩家可以通過在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上的資源開採和任務完成來獲得 </a:t>
            </a:r>
            <a:r>
              <a:rPr lang="en-US" altLang="zh-TW" sz="2400" dirty="0">
                <a:latin typeface="微軟正黑體" panose="020B0604030504040204" pitchFamily="34" charset="-120"/>
                <a:ea typeface="微軟正黑體" panose="020B0604030504040204" pitchFamily="34" charset="-120"/>
              </a:rPr>
              <a:t>NFT </a:t>
            </a:r>
            <a:r>
              <a:rPr lang="zh-TW" altLang="en-US" sz="2400" dirty="0">
                <a:latin typeface="微軟正黑體" panose="020B0604030504040204" pitchFamily="34" charset="-120"/>
                <a:ea typeface="微軟正黑體" panose="020B0604030504040204" pitchFamily="34" charset="-120"/>
              </a:rPr>
              <a:t>獎勵和代幣。</a:t>
            </a:r>
          </a:p>
          <a:p>
            <a:pPr>
              <a:lnSpc>
                <a:spcPct val="150000"/>
              </a:lnSpc>
            </a:pPr>
            <a:r>
              <a:rPr lang="zh-TW" altLang="en-US" sz="2400" dirty="0">
                <a:solidFill>
                  <a:srgbClr val="FF0000"/>
                </a:solidFill>
                <a:latin typeface="微軟正黑體" panose="020B0604030504040204" pitchFamily="34" charset="-120"/>
                <a:ea typeface="微軟正黑體" panose="020B0604030504040204" pitchFamily="34" charset="-120"/>
              </a:rPr>
              <a:t>總結</a:t>
            </a:r>
          </a:p>
          <a:p>
            <a:pPr>
              <a:lnSpc>
                <a:spcPct val="150000"/>
              </a:lnSpc>
            </a:pPr>
            <a:r>
              <a:rPr lang="zh-TW" altLang="en-US" sz="2400" dirty="0">
                <a:latin typeface="微軟正黑體" panose="020B0604030504040204" pitchFamily="34" charset="-120"/>
                <a:ea typeface="微軟正黑體" panose="020B0604030504040204" pitchFamily="34" charset="-120"/>
              </a:rPr>
              <a:t>幣安智能鏈（</a:t>
            </a:r>
            <a:r>
              <a:rPr lang="en-US" altLang="zh-TW" sz="2400" dirty="0">
                <a:latin typeface="微軟正黑體" panose="020B0604030504040204" pitchFamily="34" charset="-120"/>
                <a:ea typeface="微軟正黑體" panose="020B0604030504040204" pitchFamily="34" charset="-120"/>
              </a:rPr>
              <a:t>BSC</a:t>
            </a:r>
            <a:r>
              <a:rPr lang="zh-TW" altLang="en-US" sz="2400" dirty="0">
                <a:latin typeface="微軟正黑體" panose="020B0604030504040204" pitchFamily="34" charset="-120"/>
                <a:ea typeface="微軟正黑體" panose="020B0604030504040204" pitchFamily="34" charset="-120"/>
              </a:rPr>
              <a:t>）的應用範圍廣泛，涵蓋 </a:t>
            </a:r>
            <a:r>
              <a:rPr lang="en-US" altLang="zh-TW" sz="2400" dirty="0">
                <a:latin typeface="微軟正黑體" panose="020B0604030504040204" pitchFamily="34" charset="-120"/>
                <a:ea typeface="微軟正黑體" panose="020B0604030504040204" pitchFamily="34" charset="-120"/>
              </a:rPr>
              <a:t>DeFi</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、遊戲、跨鏈交易、預言機等多個領域。它憑藉低手續費、高效能和對以太坊生態系統的兼容性，吸引了大量開發者和用戶。</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在短時間內已經建立了繁榮的生態系統，並成為去中心化應用的重要平台之一。</a:t>
            </a:r>
          </a:p>
        </p:txBody>
      </p:sp>
    </p:spTree>
    <p:extLst>
      <p:ext uri="{BB962C8B-B14F-4D97-AF65-F5344CB8AC3E}">
        <p14:creationId xmlns:p14="http://schemas.microsoft.com/office/powerpoint/2010/main" val="895054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73A18-BA9E-FF9E-F567-41B2197BCECB}"/>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75920EA6-9288-DDF8-A7E6-602AC00F2C76}"/>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幣安智能鏈 </a:t>
            </a:r>
            <a:r>
              <a:rPr lang="en-US" altLang="zh-TW" sz="2400" dirty="0"/>
              <a:t>BSC</a:t>
            </a:r>
            <a:r>
              <a:rPr lang="zh-TW" altLang="en-US" sz="2400" dirty="0"/>
              <a:t>能執行智慧合約（</a:t>
            </a:r>
            <a:r>
              <a:rPr lang="en-US" altLang="zh-TW" sz="2400" dirty="0"/>
              <a:t>Smart Contract</a:t>
            </a:r>
            <a:r>
              <a:rPr lang="zh-TW" altLang="en-US" sz="2400" dirty="0"/>
              <a:t>）</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C7DBF1D3-6406-AC54-8A1A-B02A9CA3C228}"/>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2258598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7354C-BAE7-DBBA-2965-E20A3FA3AF47}"/>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03ECEBFA-4C6F-E129-F529-663249F1CCA6}"/>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幣安智能鏈 </a:t>
            </a:r>
            <a:r>
              <a:rPr lang="en-US" altLang="zh-TW" sz="2400" dirty="0"/>
              <a:t>BSC</a:t>
            </a:r>
            <a:r>
              <a:rPr lang="zh-TW" altLang="en-US" sz="2400" dirty="0"/>
              <a:t>能執行智慧合約（</a:t>
            </a:r>
            <a:r>
              <a:rPr lang="en-US" altLang="zh-TW" sz="2400" dirty="0"/>
              <a:t>Smart Contract</a:t>
            </a:r>
            <a:r>
              <a:rPr lang="zh-TW" altLang="en-US" sz="2400" dirty="0"/>
              <a:t>）</a:t>
            </a:r>
            <a:r>
              <a:rPr lang="en-US" altLang="zh-TW" sz="2400" dirty="0"/>
              <a:t>?</a:t>
            </a: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000" dirty="0">
              <a:latin typeface="微軟正黑體" panose="020B0604030504040204" pitchFamily="34" charset="-120"/>
              <a:ea typeface="微軟正黑體" panose="020B0604030504040204" pitchFamily="34" charset="-120"/>
            </a:endParaRPr>
          </a:p>
        </p:txBody>
      </p:sp>
      <p:graphicFrame>
        <p:nvGraphicFramePr>
          <p:cNvPr id="3" name="表格 2">
            <a:extLst>
              <a:ext uri="{FF2B5EF4-FFF2-40B4-BE49-F238E27FC236}">
                <a16:creationId xmlns:a16="http://schemas.microsoft.com/office/drawing/2014/main" id="{039CB3FB-2ECF-E829-EF4A-D6342F4EF4F4}"/>
              </a:ext>
            </a:extLst>
          </p:cNvPr>
          <p:cNvGraphicFramePr>
            <a:graphicFrameLocks noGrp="1"/>
          </p:cNvGraphicFramePr>
          <p:nvPr>
            <p:extLst>
              <p:ext uri="{D42A27DB-BD31-4B8C-83A1-F6EECF244321}">
                <p14:modId xmlns:p14="http://schemas.microsoft.com/office/powerpoint/2010/main" val="78040511"/>
              </p:ext>
            </p:extLst>
          </p:nvPr>
        </p:nvGraphicFramePr>
        <p:xfrm>
          <a:off x="1034731" y="3243515"/>
          <a:ext cx="8643138" cy="1005840"/>
        </p:xfrm>
        <a:graphic>
          <a:graphicData uri="http://schemas.openxmlformats.org/drawingml/2006/table">
            <a:tbl>
              <a:tblPr/>
              <a:tblGrid>
                <a:gridCol w="2881046">
                  <a:extLst>
                    <a:ext uri="{9D8B030D-6E8A-4147-A177-3AD203B41FA5}">
                      <a16:colId xmlns:a16="http://schemas.microsoft.com/office/drawing/2014/main" val="38072335"/>
                    </a:ext>
                  </a:extLst>
                </a:gridCol>
                <a:gridCol w="1922752">
                  <a:extLst>
                    <a:ext uri="{9D8B030D-6E8A-4147-A177-3AD203B41FA5}">
                      <a16:colId xmlns:a16="http://schemas.microsoft.com/office/drawing/2014/main" val="3612056497"/>
                    </a:ext>
                  </a:extLst>
                </a:gridCol>
                <a:gridCol w="3839340">
                  <a:extLst>
                    <a:ext uri="{9D8B030D-6E8A-4147-A177-3AD203B41FA5}">
                      <a16:colId xmlns:a16="http://schemas.microsoft.com/office/drawing/2014/main" val="3413439871"/>
                    </a:ext>
                  </a:extLst>
                </a:gridCol>
              </a:tblGrid>
              <a:tr h="0">
                <a:tc>
                  <a:txBody>
                    <a:bodyPr/>
                    <a:lstStyle/>
                    <a:p>
                      <a:pPr algn="l">
                        <a:buNone/>
                      </a:pPr>
                      <a:r>
                        <a:rPr lang="zh-TW" altLang="en-US"/>
                        <a:t>功能或特色</a:t>
                      </a:r>
                    </a:p>
                  </a:txBody>
                  <a:tcPr anchor="ctr">
                    <a:lnL>
                      <a:noFill/>
                    </a:lnL>
                    <a:lnR>
                      <a:noFill/>
                    </a:lnR>
                    <a:lnT>
                      <a:noFill/>
                    </a:lnT>
                    <a:lnB>
                      <a:noFill/>
                    </a:lnB>
                    <a:noFill/>
                  </a:tcPr>
                </a:tc>
                <a:tc>
                  <a:txBody>
                    <a:bodyPr/>
                    <a:lstStyle/>
                    <a:p>
                      <a:pPr algn="ctr">
                        <a:buNone/>
                      </a:pPr>
                      <a:r>
                        <a:rPr lang="zh-TW" altLang="en-US" dirty="0"/>
                        <a:t>答案</a:t>
                      </a:r>
                    </a:p>
                  </a:txBody>
                  <a:tcPr anchor="ctr">
                    <a:lnL>
                      <a:noFill/>
                    </a:lnL>
                    <a:lnR>
                      <a:noFill/>
                    </a:lnR>
                    <a:lnT>
                      <a:noFill/>
                    </a:lnT>
                    <a:lnB>
                      <a:noFill/>
                    </a:lnB>
                    <a:noFill/>
                  </a:tcPr>
                </a:tc>
                <a:tc>
                  <a:txBody>
                    <a:bodyPr/>
                    <a:lstStyle/>
                    <a:p>
                      <a:pPr algn="l">
                        <a:buNone/>
                      </a:pPr>
                      <a:r>
                        <a:rPr lang="zh-TW" altLang="en-US" dirty="0"/>
                        <a:t>補充說明</a:t>
                      </a:r>
                    </a:p>
                  </a:txBody>
                  <a:tcPr anchor="ctr">
                    <a:lnL>
                      <a:noFill/>
                    </a:lnL>
                    <a:lnR>
                      <a:noFill/>
                    </a:lnR>
                    <a:lnT>
                      <a:noFill/>
                    </a:lnT>
                    <a:lnB>
                      <a:noFill/>
                    </a:lnB>
                    <a:noFill/>
                  </a:tcPr>
                </a:tc>
                <a:extLst>
                  <a:ext uri="{0D108BD9-81ED-4DB2-BD59-A6C34878D82A}">
                    <a16:rowId xmlns:a16="http://schemas.microsoft.com/office/drawing/2014/main" val="3535754975"/>
                  </a:ext>
                </a:extLst>
              </a:tr>
              <a:tr h="0">
                <a:tc>
                  <a:txBody>
                    <a:bodyPr/>
                    <a:lstStyle/>
                    <a:p>
                      <a:pPr algn="l">
                        <a:buNone/>
                      </a:pPr>
                      <a:r>
                        <a:rPr lang="zh-TW" altLang="en-US" dirty="0"/>
                        <a:t>能執行智慧合約（</a:t>
                      </a:r>
                      <a:r>
                        <a:rPr lang="en-US" dirty="0"/>
                        <a:t>Smart Contract）</a:t>
                      </a:r>
                    </a:p>
                  </a:txBody>
                  <a:tcPr anchor="ctr">
                    <a:lnL>
                      <a:noFill/>
                    </a:lnL>
                    <a:lnR>
                      <a:noFill/>
                    </a:lnR>
                    <a:lnT>
                      <a:noFill/>
                    </a:lnT>
                    <a:lnB>
                      <a:noFill/>
                    </a:lnB>
                    <a:noFill/>
                  </a:tcPr>
                </a:tc>
                <a:tc>
                  <a:txBody>
                    <a:bodyPr/>
                    <a:lstStyle/>
                    <a:p>
                      <a:pPr algn="ctr">
                        <a:buNone/>
                      </a:pPr>
                      <a:r>
                        <a:rPr lang="zh-TW" altLang="en-US" dirty="0"/>
                        <a:t>✅ </a:t>
                      </a:r>
                      <a:r>
                        <a:rPr lang="zh-TW" altLang="en-US" b="1" dirty="0"/>
                        <a:t>能</a:t>
                      </a:r>
                      <a:endParaRPr lang="zh-TW" altLang="en-US" dirty="0"/>
                    </a:p>
                  </a:txBody>
                  <a:tcPr anchor="ctr">
                    <a:lnL>
                      <a:noFill/>
                    </a:lnL>
                    <a:lnR>
                      <a:noFill/>
                    </a:lnR>
                    <a:lnT>
                      <a:noFill/>
                    </a:lnT>
                    <a:lnB>
                      <a:noFill/>
                    </a:lnB>
                    <a:noFill/>
                  </a:tcPr>
                </a:tc>
                <a:tc>
                  <a:txBody>
                    <a:bodyPr/>
                    <a:lstStyle/>
                    <a:p>
                      <a:pPr algn="l">
                        <a:buNone/>
                      </a:pPr>
                      <a:r>
                        <a:rPr lang="en-US" dirty="0"/>
                        <a:t>BSC </a:t>
                      </a:r>
                      <a:r>
                        <a:rPr lang="zh-TW" altLang="en-US" dirty="0"/>
                        <a:t>與以太坊相容，支援 </a:t>
                      </a:r>
                      <a:r>
                        <a:rPr lang="en-US" dirty="0"/>
                        <a:t>Solidity </a:t>
                      </a:r>
                      <a:r>
                        <a:rPr lang="zh-TW" altLang="en-US" dirty="0"/>
                        <a:t>智慧合約。</a:t>
                      </a:r>
                    </a:p>
                  </a:txBody>
                  <a:tcPr anchor="ctr">
                    <a:lnL>
                      <a:noFill/>
                    </a:lnL>
                    <a:lnR>
                      <a:noFill/>
                    </a:lnR>
                    <a:lnT>
                      <a:noFill/>
                    </a:lnT>
                    <a:lnB>
                      <a:noFill/>
                    </a:lnB>
                    <a:noFill/>
                  </a:tcPr>
                </a:tc>
                <a:extLst>
                  <a:ext uri="{0D108BD9-81ED-4DB2-BD59-A6C34878D82A}">
                    <a16:rowId xmlns:a16="http://schemas.microsoft.com/office/drawing/2014/main" val="4066573412"/>
                  </a:ext>
                </a:extLst>
              </a:tr>
            </a:tbl>
          </a:graphicData>
        </a:graphic>
      </p:graphicFrame>
      <p:sp>
        <p:nvSpPr>
          <p:cNvPr id="4" name="文字方塊 3">
            <a:extLst>
              <a:ext uri="{FF2B5EF4-FFF2-40B4-BE49-F238E27FC236}">
                <a16:creationId xmlns:a16="http://schemas.microsoft.com/office/drawing/2014/main" id="{A8CAE5C1-5DD1-4C63-3080-D5B0A2F15305}"/>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17245864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4034B-164B-2555-680A-69E407269ED3}"/>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D6460C47-C362-2A05-4306-089A70F03D4B}"/>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幣安智能鏈 </a:t>
            </a:r>
            <a:r>
              <a:rPr lang="en-US" altLang="zh-TW" sz="2400" dirty="0"/>
              <a:t>BSC</a:t>
            </a:r>
            <a:r>
              <a:rPr lang="zh-TW" altLang="en-US" sz="2400" dirty="0"/>
              <a:t>是去中心化金融（</a:t>
            </a:r>
            <a:r>
              <a:rPr lang="en-US" altLang="zh-TW" sz="2400" dirty="0"/>
              <a:t>DeFi</a:t>
            </a:r>
            <a:r>
              <a:rPr lang="zh-TW" altLang="en-US" sz="2400" dirty="0"/>
              <a:t>）應用的熱門平台</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是</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不是</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970E2038-96E2-182D-4FB4-F4FCCAEC0C0F}"/>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267261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A2BCC-B430-A515-E9C9-F675EA75C74F}"/>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2FF5C5B-4ADD-E9E3-9522-9AC7E7367D2F}"/>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幣安智能鏈 </a:t>
            </a:r>
            <a:r>
              <a:rPr lang="en-US" altLang="zh-TW" sz="2400" dirty="0"/>
              <a:t>BSC</a:t>
            </a:r>
            <a:r>
              <a:rPr lang="zh-TW" altLang="en-US" sz="2400" dirty="0"/>
              <a:t>是去中心化金融（</a:t>
            </a:r>
            <a:r>
              <a:rPr lang="en-US" altLang="zh-TW" sz="2400" dirty="0"/>
              <a:t>DeFi</a:t>
            </a:r>
            <a:r>
              <a:rPr lang="zh-TW" altLang="en-US" sz="2400" dirty="0"/>
              <a:t>）應用的熱門平台</a:t>
            </a:r>
            <a:r>
              <a:rPr lang="en-US" altLang="zh-TW" sz="2400" dirty="0"/>
              <a:t>?</a:t>
            </a: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是</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不是</a:t>
            </a:r>
            <a:endParaRPr lang="en-US" altLang="zh-TW" sz="2000" dirty="0">
              <a:latin typeface="微軟正黑體" panose="020B0604030504040204" pitchFamily="34" charset="-120"/>
              <a:ea typeface="微軟正黑體" panose="020B0604030504040204" pitchFamily="34" charset="-120"/>
            </a:endParaRPr>
          </a:p>
        </p:txBody>
      </p:sp>
      <p:graphicFrame>
        <p:nvGraphicFramePr>
          <p:cNvPr id="3" name="表格 2">
            <a:extLst>
              <a:ext uri="{FF2B5EF4-FFF2-40B4-BE49-F238E27FC236}">
                <a16:creationId xmlns:a16="http://schemas.microsoft.com/office/drawing/2014/main" id="{AFAD6820-D36B-5642-B2FE-00A75E4A1D11}"/>
              </a:ext>
            </a:extLst>
          </p:cNvPr>
          <p:cNvGraphicFramePr>
            <a:graphicFrameLocks noGrp="1"/>
          </p:cNvGraphicFramePr>
          <p:nvPr>
            <p:extLst>
              <p:ext uri="{D42A27DB-BD31-4B8C-83A1-F6EECF244321}">
                <p14:modId xmlns:p14="http://schemas.microsoft.com/office/powerpoint/2010/main" val="3156334924"/>
              </p:ext>
            </p:extLst>
          </p:nvPr>
        </p:nvGraphicFramePr>
        <p:xfrm>
          <a:off x="1034731" y="3243515"/>
          <a:ext cx="8643138" cy="1005840"/>
        </p:xfrm>
        <a:graphic>
          <a:graphicData uri="http://schemas.openxmlformats.org/drawingml/2006/table">
            <a:tbl>
              <a:tblPr/>
              <a:tblGrid>
                <a:gridCol w="2881046">
                  <a:extLst>
                    <a:ext uri="{9D8B030D-6E8A-4147-A177-3AD203B41FA5}">
                      <a16:colId xmlns:a16="http://schemas.microsoft.com/office/drawing/2014/main" val="38072335"/>
                    </a:ext>
                  </a:extLst>
                </a:gridCol>
                <a:gridCol w="1922752">
                  <a:extLst>
                    <a:ext uri="{9D8B030D-6E8A-4147-A177-3AD203B41FA5}">
                      <a16:colId xmlns:a16="http://schemas.microsoft.com/office/drawing/2014/main" val="3612056497"/>
                    </a:ext>
                  </a:extLst>
                </a:gridCol>
                <a:gridCol w="3839340">
                  <a:extLst>
                    <a:ext uri="{9D8B030D-6E8A-4147-A177-3AD203B41FA5}">
                      <a16:colId xmlns:a16="http://schemas.microsoft.com/office/drawing/2014/main" val="3413439871"/>
                    </a:ext>
                  </a:extLst>
                </a:gridCol>
              </a:tblGrid>
              <a:tr h="0">
                <a:tc>
                  <a:txBody>
                    <a:bodyPr/>
                    <a:lstStyle/>
                    <a:p>
                      <a:pPr algn="l">
                        <a:buNone/>
                      </a:pPr>
                      <a:r>
                        <a:rPr lang="zh-TW" altLang="en-US"/>
                        <a:t>功能或特色</a:t>
                      </a:r>
                    </a:p>
                  </a:txBody>
                  <a:tcPr anchor="ctr">
                    <a:lnL>
                      <a:noFill/>
                    </a:lnL>
                    <a:lnR>
                      <a:noFill/>
                    </a:lnR>
                    <a:lnT>
                      <a:noFill/>
                    </a:lnT>
                    <a:lnB>
                      <a:noFill/>
                    </a:lnB>
                    <a:noFill/>
                  </a:tcPr>
                </a:tc>
                <a:tc>
                  <a:txBody>
                    <a:bodyPr/>
                    <a:lstStyle/>
                    <a:p>
                      <a:pPr algn="ctr">
                        <a:buNone/>
                      </a:pPr>
                      <a:r>
                        <a:rPr lang="zh-TW" altLang="en-US" dirty="0"/>
                        <a:t>答案</a:t>
                      </a:r>
                    </a:p>
                  </a:txBody>
                  <a:tcPr anchor="ctr">
                    <a:lnL>
                      <a:noFill/>
                    </a:lnL>
                    <a:lnR>
                      <a:noFill/>
                    </a:lnR>
                    <a:lnT>
                      <a:noFill/>
                    </a:lnT>
                    <a:lnB>
                      <a:noFill/>
                    </a:lnB>
                    <a:noFill/>
                  </a:tcPr>
                </a:tc>
                <a:tc>
                  <a:txBody>
                    <a:bodyPr/>
                    <a:lstStyle/>
                    <a:p>
                      <a:pPr algn="l">
                        <a:buNone/>
                      </a:pPr>
                      <a:r>
                        <a:rPr lang="zh-TW" altLang="en-US" dirty="0"/>
                        <a:t>補充說明</a:t>
                      </a:r>
                    </a:p>
                  </a:txBody>
                  <a:tcPr anchor="ctr">
                    <a:lnL>
                      <a:noFill/>
                    </a:lnL>
                    <a:lnR>
                      <a:noFill/>
                    </a:lnR>
                    <a:lnT>
                      <a:noFill/>
                    </a:lnT>
                    <a:lnB>
                      <a:noFill/>
                    </a:lnB>
                    <a:noFill/>
                  </a:tcPr>
                </a:tc>
                <a:extLst>
                  <a:ext uri="{0D108BD9-81ED-4DB2-BD59-A6C34878D82A}">
                    <a16:rowId xmlns:a16="http://schemas.microsoft.com/office/drawing/2014/main" val="3535754975"/>
                  </a:ext>
                </a:extLst>
              </a:tr>
              <a:tr h="0">
                <a:tc>
                  <a:txBody>
                    <a:bodyPr/>
                    <a:lstStyle/>
                    <a:p>
                      <a:pPr algn="l">
                        <a:buNone/>
                      </a:pPr>
                      <a:r>
                        <a:rPr lang="zh-TW" altLang="en-US" dirty="0"/>
                        <a:t>是去中心化金融（</a:t>
                      </a:r>
                      <a:r>
                        <a:rPr lang="en-US" altLang="zh-TW" dirty="0"/>
                        <a:t>DeFi</a:t>
                      </a:r>
                      <a:r>
                        <a:rPr lang="zh-TW" altLang="en-US" dirty="0"/>
                        <a:t>）應用的熱門平台</a:t>
                      </a:r>
                    </a:p>
                  </a:txBody>
                  <a:tcPr anchor="ctr">
                    <a:lnL>
                      <a:noFill/>
                    </a:lnL>
                    <a:lnR>
                      <a:noFill/>
                    </a:lnR>
                    <a:lnT>
                      <a:noFill/>
                    </a:lnT>
                    <a:lnB>
                      <a:noFill/>
                    </a:lnB>
                    <a:noFill/>
                  </a:tcPr>
                </a:tc>
                <a:tc>
                  <a:txBody>
                    <a:bodyPr/>
                    <a:lstStyle/>
                    <a:p>
                      <a:pPr algn="ctr">
                        <a:buNone/>
                      </a:pPr>
                      <a:r>
                        <a:rPr lang="zh-TW" altLang="en-US" dirty="0"/>
                        <a:t>✅ </a:t>
                      </a:r>
                      <a:r>
                        <a:rPr lang="zh-TW" altLang="en-US" b="1" dirty="0"/>
                        <a:t>是</a:t>
                      </a:r>
                      <a:endParaRPr lang="zh-TW" altLang="en-US" dirty="0"/>
                    </a:p>
                  </a:txBody>
                  <a:tcPr anchor="ctr">
                    <a:lnL>
                      <a:noFill/>
                    </a:lnL>
                    <a:lnR>
                      <a:noFill/>
                    </a:lnR>
                    <a:lnT>
                      <a:noFill/>
                    </a:lnT>
                    <a:lnB>
                      <a:noFill/>
                    </a:lnB>
                    <a:noFill/>
                  </a:tcPr>
                </a:tc>
                <a:tc>
                  <a:txBody>
                    <a:bodyPr/>
                    <a:lstStyle/>
                    <a:p>
                      <a:pPr algn="l">
                        <a:buNone/>
                      </a:pPr>
                      <a:r>
                        <a:rPr lang="en-US" dirty="0" err="1"/>
                        <a:t>PancakeSwap、Venus</a:t>
                      </a:r>
                      <a:r>
                        <a:rPr lang="en-US" dirty="0"/>
                        <a:t> </a:t>
                      </a:r>
                      <a:r>
                        <a:rPr lang="zh-TW" altLang="en-US" dirty="0"/>
                        <a:t>等 </a:t>
                      </a:r>
                      <a:r>
                        <a:rPr lang="en-US" dirty="0"/>
                        <a:t>DeFi </a:t>
                      </a:r>
                      <a:r>
                        <a:rPr lang="zh-TW" altLang="en-US" dirty="0"/>
                        <a:t>應用均建構於 </a:t>
                      </a:r>
                      <a:r>
                        <a:rPr lang="en-US" dirty="0"/>
                        <a:t>BSC。</a:t>
                      </a:r>
                    </a:p>
                  </a:txBody>
                  <a:tcPr anchor="ctr">
                    <a:lnL>
                      <a:noFill/>
                    </a:lnL>
                    <a:lnR>
                      <a:noFill/>
                    </a:lnR>
                    <a:lnT>
                      <a:noFill/>
                    </a:lnT>
                    <a:lnB>
                      <a:noFill/>
                    </a:lnB>
                    <a:noFill/>
                  </a:tcPr>
                </a:tc>
                <a:extLst>
                  <a:ext uri="{0D108BD9-81ED-4DB2-BD59-A6C34878D82A}">
                    <a16:rowId xmlns:a16="http://schemas.microsoft.com/office/drawing/2014/main" val="1603732002"/>
                  </a:ext>
                </a:extLst>
              </a:tr>
            </a:tbl>
          </a:graphicData>
        </a:graphic>
      </p:graphicFrame>
      <p:sp>
        <p:nvSpPr>
          <p:cNvPr id="4" name="文字方塊 3">
            <a:extLst>
              <a:ext uri="{FF2B5EF4-FFF2-40B4-BE49-F238E27FC236}">
                <a16:creationId xmlns:a16="http://schemas.microsoft.com/office/drawing/2014/main" id="{0FF778A5-109C-B77C-F291-F7D331D6AB23}"/>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2394089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76D6-E47C-241B-CB97-93875EDA2DA8}"/>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010DC0DE-C498-84F1-3D90-2A163D55D168}"/>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幣安智能鏈 </a:t>
            </a:r>
            <a:r>
              <a:rPr lang="en-US" altLang="zh-TW" sz="2400" dirty="0"/>
              <a:t>BSC</a:t>
            </a:r>
            <a:r>
              <a:rPr lang="zh-TW" altLang="en-US" sz="2400" dirty="0"/>
              <a:t>完全沒有交易手續費</a:t>
            </a:r>
            <a:r>
              <a:rPr lang="en-US" altLang="zh-TW" sz="2400" dirty="0"/>
              <a:t>?</a:t>
            </a:r>
          </a:p>
          <a:p>
            <a:pPr marL="360000">
              <a:lnSpc>
                <a:spcPct val="150000"/>
              </a:lnSpc>
            </a:pPr>
            <a:r>
              <a:rPr lang="en-US" altLang="zh-TW" sz="2400" dirty="0">
                <a:sym typeface="Wingdings 2" panose="05020102010507070707" pitchFamily="18" charset="2"/>
              </a:rPr>
              <a:t></a:t>
            </a:r>
            <a:r>
              <a:rPr lang="zh-TW" altLang="en-US" sz="2400" dirty="0"/>
              <a:t>是</a:t>
            </a:r>
          </a:p>
          <a:p>
            <a:pPr marL="360000">
              <a:lnSpc>
                <a:spcPct val="150000"/>
              </a:lnSpc>
            </a:pPr>
            <a:r>
              <a:rPr lang="zh-TW" altLang="en-US" sz="2400" dirty="0">
                <a:sym typeface="Wingdings 2" panose="05020102010507070707" pitchFamily="18" charset="2"/>
              </a:rPr>
              <a:t></a:t>
            </a:r>
            <a:r>
              <a:rPr lang="zh-TW" altLang="en-US" sz="2400" dirty="0"/>
              <a:t>不是</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F3816E4A-4CFE-184E-1E93-E838872C4B0C}"/>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16982767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123FD-44AB-23CC-51BE-671708CF06CA}"/>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A58AD7B9-5624-04BD-8921-ED9232806430}"/>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幣安智能鏈 </a:t>
            </a:r>
            <a:r>
              <a:rPr lang="en-US" altLang="zh-TW" sz="2400" dirty="0"/>
              <a:t>BSC</a:t>
            </a:r>
            <a:r>
              <a:rPr lang="zh-TW" altLang="en-US" sz="2400" dirty="0"/>
              <a:t>完全沒有交易手續費</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是</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不是</a:t>
            </a:r>
            <a:endParaRPr lang="en-US" altLang="zh-TW" sz="2000" dirty="0">
              <a:solidFill>
                <a:srgbClr val="FF0000"/>
              </a:solidFill>
              <a:latin typeface="微軟正黑體" panose="020B0604030504040204" pitchFamily="34" charset="-120"/>
              <a:ea typeface="微軟正黑體" panose="020B0604030504040204" pitchFamily="34" charset="-120"/>
            </a:endParaRPr>
          </a:p>
        </p:txBody>
      </p:sp>
      <p:graphicFrame>
        <p:nvGraphicFramePr>
          <p:cNvPr id="3" name="表格 2">
            <a:extLst>
              <a:ext uri="{FF2B5EF4-FFF2-40B4-BE49-F238E27FC236}">
                <a16:creationId xmlns:a16="http://schemas.microsoft.com/office/drawing/2014/main" id="{D07A2815-3354-1073-C08C-D4490E0F296A}"/>
              </a:ext>
            </a:extLst>
          </p:cNvPr>
          <p:cNvGraphicFramePr>
            <a:graphicFrameLocks noGrp="1"/>
          </p:cNvGraphicFramePr>
          <p:nvPr>
            <p:extLst>
              <p:ext uri="{D42A27DB-BD31-4B8C-83A1-F6EECF244321}">
                <p14:modId xmlns:p14="http://schemas.microsoft.com/office/powerpoint/2010/main" val="1907132843"/>
              </p:ext>
            </p:extLst>
          </p:nvPr>
        </p:nvGraphicFramePr>
        <p:xfrm>
          <a:off x="1034731" y="3243515"/>
          <a:ext cx="8643138" cy="1005840"/>
        </p:xfrm>
        <a:graphic>
          <a:graphicData uri="http://schemas.openxmlformats.org/drawingml/2006/table">
            <a:tbl>
              <a:tblPr/>
              <a:tblGrid>
                <a:gridCol w="2881046">
                  <a:extLst>
                    <a:ext uri="{9D8B030D-6E8A-4147-A177-3AD203B41FA5}">
                      <a16:colId xmlns:a16="http://schemas.microsoft.com/office/drawing/2014/main" val="38072335"/>
                    </a:ext>
                  </a:extLst>
                </a:gridCol>
                <a:gridCol w="1922752">
                  <a:extLst>
                    <a:ext uri="{9D8B030D-6E8A-4147-A177-3AD203B41FA5}">
                      <a16:colId xmlns:a16="http://schemas.microsoft.com/office/drawing/2014/main" val="3612056497"/>
                    </a:ext>
                  </a:extLst>
                </a:gridCol>
                <a:gridCol w="3839340">
                  <a:extLst>
                    <a:ext uri="{9D8B030D-6E8A-4147-A177-3AD203B41FA5}">
                      <a16:colId xmlns:a16="http://schemas.microsoft.com/office/drawing/2014/main" val="3413439871"/>
                    </a:ext>
                  </a:extLst>
                </a:gridCol>
              </a:tblGrid>
              <a:tr h="0">
                <a:tc>
                  <a:txBody>
                    <a:bodyPr/>
                    <a:lstStyle/>
                    <a:p>
                      <a:pPr algn="l">
                        <a:buNone/>
                      </a:pPr>
                      <a:r>
                        <a:rPr lang="zh-TW" altLang="en-US"/>
                        <a:t>功能或特色</a:t>
                      </a:r>
                    </a:p>
                  </a:txBody>
                  <a:tcPr anchor="ctr">
                    <a:lnL>
                      <a:noFill/>
                    </a:lnL>
                    <a:lnR>
                      <a:noFill/>
                    </a:lnR>
                    <a:lnT>
                      <a:noFill/>
                    </a:lnT>
                    <a:lnB>
                      <a:noFill/>
                    </a:lnB>
                    <a:noFill/>
                  </a:tcPr>
                </a:tc>
                <a:tc>
                  <a:txBody>
                    <a:bodyPr/>
                    <a:lstStyle/>
                    <a:p>
                      <a:pPr algn="ctr">
                        <a:buNone/>
                      </a:pPr>
                      <a:r>
                        <a:rPr lang="zh-TW" altLang="en-US" dirty="0"/>
                        <a:t>答案</a:t>
                      </a:r>
                    </a:p>
                  </a:txBody>
                  <a:tcPr anchor="ctr">
                    <a:lnL>
                      <a:noFill/>
                    </a:lnL>
                    <a:lnR>
                      <a:noFill/>
                    </a:lnR>
                    <a:lnT>
                      <a:noFill/>
                    </a:lnT>
                    <a:lnB>
                      <a:noFill/>
                    </a:lnB>
                    <a:noFill/>
                  </a:tcPr>
                </a:tc>
                <a:tc>
                  <a:txBody>
                    <a:bodyPr/>
                    <a:lstStyle/>
                    <a:p>
                      <a:pPr algn="l">
                        <a:buNone/>
                      </a:pPr>
                      <a:r>
                        <a:rPr lang="zh-TW" altLang="en-US" dirty="0"/>
                        <a:t>補充說明</a:t>
                      </a:r>
                    </a:p>
                  </a:txBody>
                  <a:tcPr anchor="ctr">
                    <a:lnL>
                      <a:noFill/>
                    </a:lnL>
                    <a:lnR>
                      <a:noFill/>
                    </a:lnR>
                    <a:lnT>
                      <a:noFill/>
                    </a:lnT>
                    <a:lnB>
                      <a:noFill/>
                    </a:lnB>
                    <a:noFill/>
                  </a:tcPr>
                </a:tc>
                <a:extLst>
                  <a:ext uri="{0D108BD9-81ED-4DB2-BD59-A6C34878D82A}">
                    <a16:rowId xmlns:a16="http://schemas.microsoft.com/office/drawing/2014/main" val="3535754975"/>
                  </a:ext>
                </a:extLst>
              </a:tr>
              <a:tr h="0">
                <a:tc>
                  <a:txBody>
                    <a:bodyPr/>
                    <a:lstStyle/>
                    <a:p>
                      <a:pPr algn="l">
                        <a:buNone/>
                      </a:pPr>
                      <a:r>
                        <a:rPr lang="zh-TW" altLang="en-US" dirty="0"/>
                        <a:t>完全沒有交易手續費</a:t>
                      </a:r>
                    </a:p>
                  </a:txBody>
                  <a:tcPr anchor="ctr">
                    <a:lnL>
                      <a:noFill/>
                    </a:lnL>
                    <a:lnR>
                      <a:noFill/>
                    </a:lnR>
                    <a:lnT>
                      <a:noFill/>
                    </a:lnT>
                    <a:lnB>
                      <a:noFill/>
                    </a:lnB>
                    <a:noFill/>
                  </a:tcPr>
                </a:tc>
                <a:tc>
                  <a:txBody>
                    <a:bodyPr/>
                    <a:lstStyle/>
                    <a:p>
                      <a:pPr algn="ctr">
                        <a:buNone/>
                      </a:pPr>
                      <a:r>
                        <a:rPr lang="zh-TW" altLang="en-US" dirty="0"/>
                        <a:t>❌ </a:t>
                      </a:r>
                      <a:r>
                        <a:rPr lang="zh-TW" altLang="en-US" b="1" dirty="0"/>
                        <a:t>不是</a:t>
                      </a:r>
                      <a:endParaRPr lang="zh-TW" altLang="en-US" dirty="0"/>
                    </a:p>
                  </a:txBody>
                  <a:tcPr anchor="ctr">
                    <a:lnL>
                      <a:noFill/>
                    </a:lnL>
                    <a:lnR>
                      <a:noFill/>
                    </a:lnR>
                    <a:lnT>
                      <a:noFill/>
                    </a:lnT>
                    <a:lnB>
                      <a:noFill/>
                    </a:lnB>
                    <a:noFill/>
                  </a:tcPr>
                </a:tc>
                <a:tc>
                  <a:txBody>
                    <a:bodyPr/>
                    <a:lstStyle/>
                    <a:p>
                      <a:pPr algn="l">
                        <a:buNone/>
                      </a:pPr>
                      <a:r>
                        <a:rPr lang="en-US" dirty="0"/>
                        <a:t>BSC </a:t>
                      </a:r>
                      <a:r>
                        <a:rPr lang="zh-TW" altLang="en-US" dirty="0"/>
                        <a:t>手續費雖低，但仍需少量 </a:t>
                      </a:r>
                      <a:r>
                        <a:rPr lang="en-US" dirty="0"/>
                        <a:t>BNB </a:t>
                      </a:r>
                      <a:r>
                        <a:rPr lang="zh-TW" altLang="en-US" dirty="0"/>
                        <a:t>支付 </a:t>
                      </a:r>
                      <a:r>
                        <a:rPr lang="en-US" dirty="0"/>
                        <a:t>Gas Fee。</a:t>
                      </a:r>
                    </a:p>
                  </a:txBody>
                  <a:tcPr anchor="ctr">
                    <a:lnL>
                      <a:noFill/>
                    </a:lnL>
                    <a:lnR>
                      <a:noFill/>
                    </a:lnR>
                    <a:lnT>
                      <a:noFill/>
                    </a:lnT>
                    <a:lnB>
                      <a:noFill/>
                    </a:lnB>
                    <a:noFill/>
                  </a:tcPr>
                </a:tc>
                <a:extLst>
                  <a:ext uri="{0D108BD9-81ED-4DB2-BD59-A6C34878D82A}">
                    <a16:rowId xmlns:a16="http://schemas.microsoft.com/office/drawing/2014/main" val="168432407"/>
                  </a:ext>
                </a:extLst>
              </a:tr>
            </a:tbl>
          </a:graphicData>
        </a:graphic>
      </p:graphicFrame>
      <p:sp>
        <p:nvSpPr>
          <p:cNvPr id="4" name="文字方塊 3">
            <a:extLst>
              <a:ext uri="{FF2B5EF4-FFF2-40B4-BE49-F238E27FC236}">
                <a16:creationId xmlns:a16="http://schemas.microsoft.com/office/drawing/2014/main" id="{0A60F0A5-0EBA-3E77-814C-18F7A1A40561}"/>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38156914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0E63B-BA55-BCA9-442D-D48E3D04DCD0}"/>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324AE29E-7CDC-5A13-F0E7-47A808944DED}"/>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幣安智能鏈 </a:t>
            </a:r>
            <a:r>
              <a:rPr lang="en-US" altLang="zh-TW" sz="2400" dirty="0"/>
              <a:t>BSC</a:t>
            </a:r>
            <a:r>
              <a:rPr lang="zh-TW" altLang="en-US" sz="2400" dirty="0"/>
              <a:t>可用於發行 </a:t>
            </a:r>
            <a:r>
              <a:rPr lang="en-US" altLang="zh-TW" sz="2400" dirty="0"/>
              <a:t>NFT </a:t>
            </a:r>
            <a:r>
              <a:rPr lang="zh-TW" altLang="en-US" sz="2400" dirty="0"/>
              <a:t>或 </a:t>
            </a:r>
            <a:r>
              <a:rPr lang="en-US" altLang="zh-TW" sz="2400" dirty="0" err="1"/>
              <a:t>GameFi</a:t>
            </a:r>
            <a:r>
              <a:rPr lang="en-US" altLang="zh-TW" sz="2400" dirty="0"/>
              <a:t> </a:t>
            </a:r>
            <a:r>
              <a:rPr lang="zh-TW" altLang="en-US" sz="2400" dirty="0"/>
              <a:t>遊戲應用</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0B9EC8A5-998A-5E1C-3B93-16E3BE613C81}"/>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1193506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42042-ED45-2625-D893-27772DE7B083}"/>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30CC9D80-8065-A75A-F898-00DC9CDA88C5}"/>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幣安智能鏈 </a:t>
            </a:r>
            <a:r>
              <a:rPr lang="en-US" altLang="zh-TW" sz="2400" dirty="0"/>
              <a:t>BSC</a:t>
            </a:r>
            <a:r>
              <a:rPr lang="zh-TW" altLang="en-US" sz="2400" dirty="0"/>
              <a:t>可用於發行 </a:t>
            </a:r>
            <a:r>
              <a:rPr lang="en-US" altLang="zh-TW" sz="2400" dirty="0"/>
              <a:t>NFT </a:t>
            </a:r>
            <a:r>
              <a:rPr lang="zh-TW" altLang="en-US" sz="2400" dirty="0"/>
              <a:t>或 </a:t>
            </a:r>
            <a:r>
              <a:rPr lang="en-US" altLang="zh-TW" sz="2400" dirty="0" err="1"/>
              <a:t>GameFi</a:t>
            </a:r>
            <a:r>
              <a:rPr lang="en-US" altLang="zh-TW" sz="2400" dirty="0"/>
              <a:t> </a:t>
            </a:r>
            <a:r>
              <a:rPr lang="zh-TW" altLang="en-US" sz="2400" dirty="0"/>
              <a:t>遊戲應用</a:t>
            </a:r>
            <a:r>
              <a:rPr lang="en-US" altLang="zh-TW" sz="2400" dirty="0"/>
              <a:t>?</a:t>
            </a: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000" dirty="0">
              <a:latin typeface="微軟正黑體" panose="020B0604030504040204" pitchFamily="34" charset="-120"/>
              <a:ea typeface="微軟正黑體" panose="020B0604030504040204" pitchFamily="34" charset="-120"/>
            </a:endParaRPr>
          </a:p>
        </p:txBody>
      </p:sp>
      <p:graphicFrame>
        <p:nvGraphicFramePr>
          <p:cNvPr id="3" name="表格 2">
            <a:extLst>
              <a:ext uri="{FF2B5EF4-FFF2-40B4-BE49-F238E27FC236}">
                <a16:creationId xmlns:a16="http://schemas.microsoft.com/office/drawing/2014/main" id="{EE84D560-59C0-20DC-8AA0-00BB07FF5E44}"/>
              </a:ext>
            </a:extLst>
          </p:cNvPr>
          <p:cNvGraphicFramePr>
            <a:graphicFrameLocks noGrp="1"/>
          </p:cNvGraphicFramePr>
          <p:nvPr>
            <p:extLst>
              <p:ext uri="{D42A27DB-BD31-4B8C-83A1-F6EECF244321}">
                <p14:modId xmlns:p14="http://schemas.microsoft.com/office/powerpoint/2010/main" val="4152385437"/>
              </p:ext>
            </p:extLst>
          </p:nvPr>
        </p:nvGraphicFramePr>
        <p:xfrm>
          <a:off x="1034731" y="3243515"/>
          <a:ext cx="8643138" cy="1005840"/>
        </p:xfrm>
        <a:graphic>
          <a:graphicData uri="http://schemas.openxmlformats.org/drawingml/2006/table">
            <a:tbl>
              <a:tblPr/>
              <a:tblGrid>
                <a:gridCol w="2881046">
                  <a:extLst>
                    <a:ext uri="{9D8B030D-6E8A-4147-A177-3AD203B41FA5}">
                      <a16:colId xmlns:a16="http://schemas.microsoft.com/office/drawing/2014/main" val="38072335"/>
                    </a:ext>
                  </a:extLst>
                </a:gridCol>
                <a:gridCol w="1922752">
                  <a:extLst>
                    <a:ext uri="{9D8B030D-6E8A-4147-A177-3AD203B41FA5}">
                      <a16:colId xmlns:a16="http://schemas.microsoft.com/office/drawing/2014/main" val="3612056497"/>
                    </a:ext>
                  </a:extLst>
                </a:gridCol>
                <a:gridCol w="3839340">
                  <a:extLst>
                    <a:ext uri="{9D8B030D-6E8A-4147-A177-3AD203B41FA5}">
                      <a16:colId xmlns:a16="http://schemas.microsoft.com/office/drawing/2014/main" val="3413439871"/>
                    </a:ext>
                  </a:extLst>
                </a:gridCol>
              </a:tblGrid>
              <a:tr h="0">
                <a:tc>
                  <a:txBody>
                    <a:bodyPr/>
                    <a:lstStyle/>
                    <a:p>
                      <a:pPr algn="l">
                        <a:buNone/>
                      </a:pPr>
                      <a:r>
                        <a:rPr lang="zh-TW" altLang="en-US" dirty="0"/>
                        <a:t>功能或特色</a:t>
                      </a:r>
                    </a:p>
                  </a:txBody>
                  <a:tcPr anchor="ctr">
                    <a:lnL>
                      <a:noFill/>
                    </a:lnL>
                    <a:lnR>
                      <a:noFill/>
                    </a:lnR>
                    <a:lnT>
                      <a:noFill/>
                    </a:lnT>
                    <a:lnB>
                      <a:noFill/>
                    </a:lnB>
                    <a:noFill/>
                  </a:tcPr>
                </a:tc>
                <a:tc>
                  <a:txBody>
                    <a:bodyPr/>
                    <a:lstStyle/>
                    <a:p>
                      <a:pPr algn="ctr">
                        <a:buNone/>
                      </a:pPr>
                      <a:r>
                        <a:rPr lang="zh-TW" altLang="en-US" dirty="0"/>
                        <a:t>答案</a:t>
                      </a:r>
                    </a:p>
                  </a:txBody>
                  <a:tcPr anchor="ctr">
                    <a:lnL>
                      <a:noFill/>
                    </a:lnL>
                    <a:lnR>
                      <a:noFill/>
                    </a:lnR>
                    <a:lnT>
                      <a:noFill/>
                    </a:lnT>
                    <a:lnB>
                      <a:noFill/>
                    </a:lnB>
                    <a:noFill/>
                  </a:tcPr>
                </a:tc>
                <a:tc>
                  <a:txBody>
                    <a:bodyPr/>
                    <a:lstStyle/>
                    <a:p>
                      <a:pPr algn="l">
                        <a:buNone/>
                      </a:pPr>
                      <a:r>
                        <a:rPr lang="zh-TW" altLang="en-US" dirty="0"/>
                        <a:t>補充說明</a:t>
                      </a:r>
                    </a:p>
                  </a:txBody>
                  <a:tcPr anchor="ctr">
                    <a:lnL>
                      <a:noFill/>
                    </a:lnL>
                    <a:lnR>
                      <a:noFill/>
                    </a:lnR>
                    <a:lnT>
                      <a:noFill/>
                    </a:lnT>
                    <a:lnB>
                      <a:noFill/>
                    </a:lnB>
                    <a:noFill/>
                  </a:tcPr>
                </a:tc>
                <a:extLst>
                  <a:ext uri="{0D108BD9-81ED-4DB2-BD59-A6C34878D82A}">
                    <a16:rowId xmlns:a16="http://schemas.microsoft.com/office/drawing/2014/main" val="3535754975"/>
                  </a:ext>
                </a:extLst>
              </a:tr>
              <a:tr h="0">
                <a:tc>
                  <a:txBody>
                    <a:bodyPr/>
                    <a:lstStyle/>
                    <a:p>
                      <a:pPr algn="l">
                        <a:buNone/>
                      </a:pPr>
                      <a:r>
                        <a:rPr lang="zh-TW" altLang="en-US" dirty="0"/>
                        <a:t>可用於發行 </a:t>
                      </a:r>
                      <a:r>
                        <a:rPr lang="en-US" altLang="zh-TW" dirty="0"/>
                        <a:t>NFT </a:t>
                      </a:r>
                      <a:r>
                        <a:rPr lang="zh-TW" altLang="en-US" dirty="0"/>
                        <a:t>或 </a:t>
                      </a:r>
                      <a:r>
                        <a:rPr lang="en-US" altLang="zh-TW" dirty="0" err="1"/>
                        <a:t>GameFi</a:t>
                      </a:r>
                      <a:r>
                        <a:rPr lang="en-US" altLang="zh-TW" dirty="0"/>
                        <a:t> </a:t>
                      </a:r>
                      <a:r>
                        <a:rPr lang="zh-TW" altLang="en-US" dirty="0"/>
                        <a:t>遊戲應用</a:t>
                      </a:r>
                    </a:p>
                  </a:txBody>
                  <a:tcPr anchor="ctr">
                    <a:lnL>
                      <a:noFill/>
                    </a:lnL>
                    <a:lnR>
                      <a:noFill/>
                    </a:lnR>
                    <a:lnT>
                      <a:noFill/>
                    </a:lnT>
                    <a:lnB>
                      <a:noFill/>
                    </a:lnB>
                    <a:noFill/>
                  </a:tcPr>
                </a:tc>
                <a:tc>
                  <a:txBody>
                    <a:bodyPr/>
                    <a:lstStyle/>
                    <a:p>
                      <a:pPr algn="ctr">
                        <a:buNone/>
                      </a:pPr>
                      <a:r>
                        <a:rPr lang="zh-TW" altLang="en-US" dirty="0"/>
                        <a:t>✅ </a:t>
                      </a:r>
                      <a:r>
                        <a:rPr lang="zh-TW" altLang="en-US" b="1" dirty="0"/>
                        <a:t>能</a:t>
                      </a:r>
                      <a:endParaRPr lang="zh-TW" altLang="en-US" dirty="0"/>
                    </a:p>
                  </a:txBody>
                  <a:tcPr anchor="ctr">
                    <a:lnL>
                      <a:noFill/>
                    </a:lnL>
                    <a:lnR>
                      <a:noFill/>
                    </a:lnR>
                    <a:lnT>
                      <a:noFill/>
                    </a:lnT>
                    <a:lnB>
                      <a:noFill/>
                    </a:lnB>
                    <a:noFill/>
                  </a:tcPr>
                </a:tc>
                <a:tc>
                  <a:txBody>
                    <a:bodyPr/>
                    <a:lstStyle/>
                    <a:p>
                      <a:pPr algn="l">
                        <a:buNone/>
                      </a:pPr>
                      <a:r>
                        <a:rPr lang="en-US" dirty="0"/>
                        <a:t>BSC </a:t>
                      </a:r>
                      <a:r>
                        <a:rPr lang="zh-TW" altLang="en-US" dirty="0"/>
                        <a:t>支援 </a:t>
                      </a:r>
                      <a:r>
                        <a:rPr lang="en-US" dirty="0"/>
                        <a:t>NFT（BEP-721）</a:t>
                      </a:r>
                      <a:r>
                        <a:rPr lang="zh-TW" altLang="en-US" dirty="0"/>
                        <a:t>與遊戲應用（如 </a:t>
                      </a:r>
                      <a:r>
                        <a:rPr lang="en-US" dirty="0" err="1"/>
                        <a:t>MOBOX、Binemon</a:t>
                      </a:r>
                      <a:r>
                        <a:rPr lang="en-US" dirty="0"/>
                        <a:t>）。</a:t>
                      </a:r>
                    </a:p>
                  </a:txBody>
                  <a:tcPr anchor="ctr">
                    <a:lnL>
                      <a:noFill/>
                    </a:lnL>
                    <a:lnR>
                      <a:noFill/>
                    </a:lnR>
                    <a:lnT>
                      <a:noFill/>
                    </a:lnT>
                    <a:lnB>
                      <a:noFill/>
                    </a:lnB>
                    <a:noFill/>
                  </a:tcPr>
                </a:tc>
                <a:extLst>
                  <a:ext uri="{0D108BD9-81ED-4DB2-BD59-A6C34878D82A}">
                    <a16:rowId xmlns:a16="http://schemas.microsoft.com/office/drawing/2014/main" val="2675287725"/>
                  </a:ext>
                </a:extLst>
              </a:tr>
            </a:tbl>
          </a:graphicData>
        </a:graphic>
      </p:graphicFrame>
      <p:sp>
        <p:nvSpPr>
          <p:cNvPr id="4" name="文字方塊 3">
            <a:extLst>
              <a:ext uri="{FF2B5EF4-FFF2-40B4-BE49-F238E27FC236}">
                <a16:creationId xmlns:a16="http://schemas.microsoft.com/office/drawing/2014/main" id="{615BD29A-D7CF-9512-8BF0-61F02E6F625E}"/>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12596775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24EC3-D026-C954-57E5-17083701AC4F}"/>
            </a:ext>
          </a:extLst>
        </p:cNvPr>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ACFD14C2-F0CE-D886-393B-72C0ADE593A5}"/>
              </a:ext>
            </a:extLst>
          </p:cNvPr>
          <p:cNvGraphicFramePr>
            <a:graphicFrameLocks noGrp="1"/>
          </p:cNvGraphicFramePr>
          <p:nvPr>
            <p:extLst>
              <p:ext uri="{D42A27DB-BD31-4B8C-83A1-F6EECF244321}">
                <p14:modId xmlns:p14="http://schemas.microsoft.com/office/powerpoint/2010/main" val="1436286399"/>
              </p:ext>
            </p:extLst>
          </p:nvPr>
        </p:nvGraphicFramePr>
        <p:xfrm>
          <a:off x="688281" y="1079624"/>
          <a:ext cx="9228131" cy="4114800"/>
        </p:xfrm>
        <a:graphic>
          <a:graphicData uri="http://schemas.openxmlformats.org/drawingml/2006/table">
            <a:tbl>
              <a:tblPr/>
              <a:tblGrid>
                <a:gridCol w="3366885">
                  <a:extLst>
                    <a:ext uri="{9D8B030D-6E8A-4147-A177-3AD203B41FA5}">
                      <a16:colId xmlns:a16="http://schemas.microsoft.com/office/drawing/2014/main" val="38072335"/>
                    </a:ext>
                  </a:extLst>
                </a:gridCol>
                <a:gridCol w="1622578">
                  <a:extLst>
                    <a:ext uri="{9D8B030D-6E8A-4147-A177-3AD203B41FA5}">
                      <a16:colId xmlns:a16="http://schemas.microsoft.com/office/drawing/2014/main" val="3612056497"/>
                    </a:ext>
                  </a:extLst>
                </a:gridCol>
                <a:gridCol w="4238668">
                  <a:extLst>
                    <a:ext uri="{9D8B030D-6E8A-4147-A177-3AD203B41FA5}">
                      <a16:colId xmlns:a16="http://schemas.microsoft.com/office/drawing/2014/main" val="3413439871"/>
                    </a:ext>
                  </a:extLst>
                </a:gridCol>
              </a:tblGrid>
              <a:tr h="0">
                <a:tc>
                  <a:txBody>
                    <a:bodyPr/>
                    <a:lstStyle/>
                    <a:p>
                      <a:pPr algn="l">
                        <a:buNone/>
                      </a:pPr>
                      <a:r>
                        <a:rPr lang="zh-TW" altLang="en-US" sz="2400" dirty="0"/>
                        <a:t>功能或特色</a:t>
                      </a:r>
                    </a:p>
                  </a:txBody>
                  <a:tcPr anchor="ctr">
                    <a:lnL>
                      <a:noFill/>
                    </a:lnL>
                    <a:lnR>
                      <a:noFill/>
                    </a:lnR>
                    <a:lnT>
                      <a:noFill/>
                    </a:lnT>
                    <a:lnB>
                      <a:noFill/>
                    </a:lnB>
                    <a:noFill/>
                  </a:tcPr>
                </a:tc>
                <a:tc>
                  <a:txBody>
                    <a:bodyPr/>
                    <a:lstStyle/>
                    <a:p>
                      <a:pPr algn="ctr">
                        <a:buNone/>
                      </a:pPr>
                      <a:r>
                        <a:rPr lang="zh-TW" altLang="en-US" sz="2400" dirty="0"/>
                        <a:t>答案</a:t>
                      </a:r>
                    </a:p>
                  </a:txBody>
                  <a:tcPr anchor="ctr">
                    <a:lnL>
                      <a:noFill/>
                    </a:lnL>
                    <a:lnR>
                      <a:noFill/>
                    </a:lnR>
                    <a:lnT>
                      <a:noFill/>
                    </a:lnT>
                    <a:lnB>
                      <a:noFill/>
                    </a:lnB>
                    <a:noFill/>
                  </a:tcPr>
                </a:tc>
                <a:tc>
                  <a:txBody>
                    <a:bodyPr/>
                    <a:lstStyle/>
                    <a:p>
                      <a:pPr algn="l">
                        <a:buNone/>
                      </a:pPr>
                      <a:r>
                        <a:rPr lang="zh-TW" altLang="en-US" sz="2400" dirty="0"/>
                        <a:t>補充說明</a:t>
                      </a:r>
                    </a:p>
                  </a:txBody>
                  <a:tcPr anchor="ctr">
                    <a:lnL>
                      <a:noFill/>
                    </a:lnL>
                    <a:lnR>
                      <a:noFill/>
                    </a:lnR>
                    <a:lnT>
                      <a:noFill/>
                    </a:lnT>
                    <a:lnB>
                      <a:noFill/>
                    </a:lnB>
                    <a:noFill/>
                  </a:tcPr>
                </a:tc>
                <a:extLst>
                  <a:ext uri="{0D108BD9-81ED-4DB2-BD59-A6C34878D82A}">
                    <a16:rowId xmlns:a16="http://schemas.microsoft.com/office/drawing/2014/main" val="3535754975"/>
                  </a:ext>
                </a:extLst>
              </a:tr>
              <a:tr h="0">
                <a:tc>
                  <a:txBody>
                    <a:bodyPr/>
                    <a:lstStyle/>
                    <a:p>
                      <a:pPr algn="l">
                        <a:buNone/>
                      </a:pPr>
                      <a:r>
                        <a:rPr lang="zh-TW" altLang="en-US" sz="2400" dirty="0"/>
                        <a:t>能執行智慧合約（</a:t>
                      </a:r>
                      <a:r>
                        <a:rPr lang="en-US" sz="2400" dirty="0"/>
                        <a:t>Smart Contract）</a:t>
                      </a:r>
                    </a:p>
                  </a:txBody>
                  <a:tcPr anchor="ctr">
                    <a:lnL>
                      <a:noFill/>
                    </a:lnL>
                    <a:lnR>
                      <a:noFill/>
                    </a:lnR>
                    <a:lnT>
                      <a:noFill/>
                    </a:lnT>
                    <a:lnB>
                      <a:noFill/>
                    </a:lnB>
                    <a:noFill/>
                  </a:tcPr>
                </a:tc>
                <a:tc>
                  <a:txBody>
                    <a:bodyPr/>
                    <a:lstStyle/>
                    <a:p>
                      <a:pPr algn="ctr">
                        <a:buNone/>
                      </a:pPr>
                      <a:r>
                        <a:rPr lang="zh-TW" altLang="en-US" sz="2400" dirty="0"/>
                        <a:t>✅ </a:t>
                      </a:r>
                      <a:r>
                        <a:rPr lang="zh-TW" altLang="en-US" sz="2400" b="1" dirty="0"/>
                        <a:t>能</a:t>
                      </a:r>
                      <a:endParaRPr lang="zh-TW" altLang="en-US" sz="2400" dirty="0"/>
                    </a:p>
                  </a:txBody>
                  <a:tcPr anchor="ctr">
                    <a:lnL>
                      <a:noFill/>
                    </a:lnL>
                    <a:lnR>
                      <a:noFill/>
                    </a:lnR>
                    <a:lnT>
                      <a:noFill/>
                    </a:lnT>
                    <a:lnB>
                      <a:noFill/>
                    </a:lnB>
                    <a:noFill/>
                  </a:tcPr>
                </a:tc>
                <a:tc>
                  <a:txBody>
                    <a:bodyPr/>
                    <a:lstStyle/>
                    <a:p>
                      <a:pPr algn="l">
                        <a:buNone/>
                      </a:pPr>
                      <a:r>
                        <a:rPr lang="en-US" sz="2400"/>
                        <a:t>BSC </a:t>
                      </a:r>
                      <a:r>
                        <a:rPr lang="zh-TW" altLang="en-US" sz="2400"/>
                        <a:t>與以太坊相容，支援 </a:t>
                      </a:r>
                      <a:r>
                        <a:rPr lang="en-US" sz="2400"/>
                        <a:t>Solidity </a:t>
                      </a:r>
                      <a:r>
                        <a:rPr lang="zh-TW" altLang="en-US" sz="2400"/>
                        <a:t>智慧合約。</a:t>
                      </a:r>
                    </a:p>
                  </a:txBody>
                  <a:tcPr anchor="ctr">
                    <a:lnL>
                      <a:noFill/>
                    </a:lnL>
                    <a:lnR>
                      <a:noFill/>
                    </a:lnR>
                    <a:lnT>
                      <a:noFill/>
                    </a:lnT>
                    <a:lnB>
                      <a:noFill/>
                    </a:lnB>
                    <a:noFill/>
                  </a:tcPr>
                </a:tc>
                <a:extLst>
                  <a:ext uri="{0D108BD9-81ED-4DB2-BD59-A6C34878D82A}">
                    <a16:rowId xmlns:a16="http://schemas.microsoft.com/office/drawing/2014/main" val="4066573412"/>
                  </a:ext>
                </a:extLst>
              </a:tr>
              <a:tr h="0">
                <a:tc>
                  <a:txBody>
                    <a:bodyPr/>
                    <a:lstStyle/>
                    <a:p>
                      <a:pPr algn="l">
                        <a:buNone/>
                      </a:pPr>
                      <a:r>
                        <a:rPr lang="zh-TW" altLang="en-US" sz="2400" dirty="0"/>
                        <a:t>是去中心化金融（</a:t>
                      </a:r>
                      <a:r>
                        <a:rPr lang="en-US" altLang="zh-TW" sz="2400" dirty="0" err="1"/>
                        <a:t>DeFi</a:t>
                      </a:r>
                      <a:r>
                        <a:rPr lang="zh-TW" altLang="en-US" sz="2400" dirty="0"/>
                        <a:t>）應用的熱門平台</a:t>
                      </a:r>
                    </a:p>
                  </a:txBody>
                  <a:tcPr anchor="ctr">
                    <a:lnL>
                      <a:noFill/>
                    </a:lnL>
                    <a:lnR>
                      <a:noFill/>
                    </a:lnR>
                    <a:lnT>
                      <a:noFill/>
                    </a:lnT>
                    <a:lnB>
                      <a:noFill/>
                    </a:lnB>
                    <a:noFill/>
                  </a:tcPr>
                </a:tc>
                <a:tc>
                  <a:txBody>
                    <a:bodyPr/>
                    <a:lstStyle/>
                    <a:p>
                      <a:pPr algn="ctr">
                        <a:buNone/>
                      </a:pPr>
                      <a:r>
                        <a:rPr lang="zh-TW" altLang="en-US" sz="2400" dirty="0"/>
                        <a:t>✅ </a:t>
                      </a:r>
                      <a:r>
                        <a:rPr lang="zh-TW" altLang="en-US" sz="2400" b="1" dirty="0"/>
                        <a:t>是</a:t>
                      </a:r>
                      <a:endParaRPr lang="zh-TW" altLang="en-US" sz="2400" dirty="0"/>
                    </a:p>
                  </a:txBody>
                  <a:tcPr anchor="ctr">
                    <a:lnL>
                      <a:noFill/>
                    </a:lnL>
                    <a:lnR>
                      <a:noFill/>
                    </a:lnR>
                    <a:lnT>
                      <a:noFill/>
                    </a:lnT>
                    <a:lnB>
                      <a:noFill/>
                    </a:lnB>
                    <a:noFill/>
                  </a:tcPr>
                </a:tc>
                <a:tc>
                  <a:txBody>
                    <a:bodyPr/>
                    <a:lstStyle/>
                    <a:p>
                      <a:pPr algn="l">
                        <a:buNone/>
                      </a:pPr>
                      <a:r>
                        <a:rPr lang="en-US" sz="2400" dirty="0" err="1"/>
                        <a:t>PancakeSwap、Venus</a:t>
                      </a:r>
                      <a:r>
                        <a:rPr lang="en-US" sz="2400" dirty="0"/>
                        <a:t> </a:t>
                      </a:r>
                      <a:r>
                        <a:rPr lang="zh-TW" altLang="en-US" sz="2400" dirty="0"/>
                        <a:t>等 </a:t>
                      </a:r>
                      <a:r>
                        <a:rPr lang="en-US" sz="2400" dirty="0" err="1"/>
                        <a:t>DeFi</a:t>
                      </a:r>
                      <a:r>
                        <a:rPr lang="en-US" sz="2400" dirty="0"/>
                        <a:t> </a:t>
                      </a:r>
                      <a:r>
                        <a:rPr lang="zh-TW" altLang="en-US" sz="2400" dirty="0"/>
                        <a:t>應用均建構於 </a:t>
                      </a:r>
                      <a:r>
                        <a:rPr lang="en-US" sz="2400" dirty="0"/>
                        <a:t>BSC。</a:t>
                      </a:r>
                    </a:p>
                  </a:txBody>
                  <a:tcPr anchor="ctr">
                    <a:lnL>
                      <a:noFill/>
                    </a:lnL>
                    <a:lnR>
                      <a:noFill/>
                    </a:lnR>
                    <a:lnT>
                      <a:noFill/>
                    </a:lnT>
                    <a:lnB>
                      <a:noFill/>
                    </a:lnB>
                    <a:noFill/>
                  </a:tcPr>
                </a:tc>
                <a:extLst>
                  <a:ext uri="{0D108BD9-81ED-4DB2-BD59-A6C34878D82A}">
                    <a16:rowId xmlns:a16="http://schemas.microsoft.com/office/drawing/2014/main" val="1603732002"/>
                  </a:ext>
                </a:extLst>
              </a:tr>
              <a:tr h="0">
                <a:tc>
                  <a:txBody>
                    <a:bodyPr/>
                    <a:lstStyle/>
                    <a:p>
                      <a:pPr algn="l">
                        <a:buNone/>
                      </a:pPr>
                      <a:r>
                        <a:rPr lang="zh-TW" altLang="en-US" sz="2400"/>
                        <a:t>完全沒有交易手續費</a:t>
                      </a:r>
                    </a:p>
                  </a:txBody>
                  <a:tcPr anchor="ctr">
                    <a:lnL>
                      <a:noFill/>
                    </a:lnL>
                    <a:lnR>
                      <a:noFill/>
                    </a:lnR>
                    <a:lnT>
                      <a:noFill/>
                    </a:lnT>
                    <a:lnB>
                      <a:noFill/>
                    </a:lnB>
                    <a:noFill/>
                  </a:tcPr>
                </a:tc>
                <a:tc>
                  <a:txBody>
                    <a:bodyPr/>
                    <a:lstStyle/>
                    <a:p>
                      <a:pPr algn="ctr">
                        <a:buNone/>
                      </a:pPr>
                      <a:r>
                        <a:rPr lang="zh-TW" altLang="en-US" sz="2400" dirty="0"/>
                        <a:t>❌ </a:t>
                      </a:r>
                      <a:r>
                        <a:rPr lang="zh-TW" altLang="en-US" sz="2400" b="1" dirty="0"/>
                        <a:t>不是</a:t>
                      </a:r>
                      <a:endParaRPr lang="zh-TW" altLang="en-US" sz="2400" dirty="0"/>
                    </a:p>
                  </a:txBody>
                  <a:tcPr anchor="ctr">
                    <a:lnL>
                      <a:noFill/>
                    </a:lnL>
                    <a:lnR>
                      <a:noFill/>
                    </a:lnR>
                    <a:lnT>
                      <a:noFill/>
                    </a:lnT>
                    <a:lnB>
                      <a:noFill/>
                    </a:lnB>
                    <a:noFill/>
                  </a:tcPr>
                </a:tc>
                <a:tc>
                  <a:txBody>
                    <a:bodyPr/>
                    <a:lstStyle/>
                    <a:p>
                      <a:pPr algn="l">
                        <a:buNone/>
                      </a:pPr>
                      <a:r>
                        <a:rPr lang="en-US" sz="2400" dirty="0"/>
                        <a:t>BSC </a:t>
                      </a:r>
                      <a:r>
                        <a:rPr lang="zh-TW" altLang="en-US" sz="2400" dirty="0"/>
                        <a:t>手續費雖低，但仍需少量 </a:t>
                      </a:r>
                      <a:r>
                        <a:rPr lang="en-US" sz="2400" dirty="0"/>
                        <a:t>BNB </a:t>
                      </a:r>
                      <a:r>
                        <a:rPr lang="zh-TW" altLang="en-US" sz="2400" dirty="0"/>
                        <a:t>支付 </a:t>
                      </a:r>
                      <a:r>
                        <a:rPr lang="en-US" sz="2400" dirty="0"/>
                        <a:t>Gas Fee。</a:t>
                      </a:r>
                    </a:p>
                  </a:txBody>
                  <a:tcPr anchor="ctr">
                    <a:lnL>
                      <a:noFill/>
                    </a:lnL>
                    <a:lnR>
                      <a:noFill/>
                    </a:lnR>
                    <a:lnT>
                      <a:noFill/>
                    </a:lnT>
                    <a:lnB>
                      <a:noFill/>
                    </a:lnB>
                    <a:noFill/>
                  </a:tcPr>
                </a:tc>
                <a:extLst>
                  <a:ext uri="{0D108BD9-81ED-4DB2-BD59-A6C34878D82A}">
                    <a16:rowId xmlns:a16="http://schemas.microsoft.com/office/drawing/2014/main" val="168432407"/>
                  </a:ext>
                </a:extLst>
              </a:tr>
              <a:tr h="0">
                <a:tc>
                  <a:txBody>
                    <a:bodyPr/>
                    <a:lstStyle/>
                    <a:p>
                      <a:pPr algn="l">
                        <a:buNone/>
                      </a:pPr>
                      <a:r>
                        <a:rPr lang="zh-TW" altLang="en-US" sz="2400" dirty="0"/>
                        <a:t>可用於發行 </a:t>
                      </a:r>
                      <a:r>
                        <a:rPr lang="en-US" altLang="zh-TW" sz="2400" dirty="0"/>
                        <a:t>NFT </a:t>
                      </a:r>
                      <a:r>
                        <a:rPr lang="zh-TW" altLang="en-US" sz="2400" dirty="0"/>
                        <a:t>或 </a:t>
                      </a:r>
                      <a:r>
                        <a:rPr lang="en-US" altLang="zh-TW" sz="2400" dirty="0" err="1"/>
                        <a:t>GameFi</a:t>
                      </a:r>
                      <a:r>
                        <a:rPr lang="en-US" altLang="zh-TW" sz="2400" dirty="0"/>
                        <a:t> </a:t>
                      </a:r>
                      <a:r>
                        <a:rPr lang="zh-TW" altLang="en-US" sz="2400" dirty="0"/>
                        <a:t>遊戲應用</a:t>
                      </a:r>
                    </a:p>
                  </a:txBody>
                  <a:tcPr anchor="ctr">
                    <a:lnL>
                      <a:noFill/>
                    </a:lnL>
                    <a:lnR>
                      <a:noFill/>
                    </a:lnR>
                    <a:lnT>
                      <a:noFill/>
                    </a:lnT>
                    <a:lnB>
                      <a:noFill/>
                    </a:lnB>
                    <a:noFill/>
                  </a:tcPr>
                </a:tc>
                <a:tc>
                  <a:txBody>
                    <a:bodyPr/>
                    <a:lstStyle/>
                    <a:p>
                      <a:pPr algn="ctr">
                        <a:buNone/>
                      </a:pPr>
                      <a:r>
                        <a:rPr lang="zh-TW" altLang="en-US" sz="2400" dirty="0"/>
                        <a:t>✅ </a:t>
                      </a:r>
                      <a:r>
                        <a:rPr lang="zh-TW" altLang="en-US" sz="2400" b="1" dirty="0"/>
                        <a:t>能</a:t>
                      </a:r>
                      <a:endParaRPr lang="zh-TW" altLang="en-US" sz="2400" dirty="0"/>
                    </a:p>
                  </a:txBody>
                  <a:tcPr anchor="ctr">
                    <a:lnL>
                      <a:noFill/>
                    </a:lnL>
                    <a:lnR>
                      <a:noFill/>
                    </a:lnR>
                    <a:lnT>
                      <a:noFill/>
                    </a:lnT>
                    <a:lnB>
                      <a:noFill/>
                    </a:lnB>
                    <a:noFill/>
                  </a:tcPr>
                </a:tc>
                <a:tc>
                  <a:txBody>
                    <a:bodyPr/>
                    <a:lstStyle/>
                    <a:p>
                      <a:pPr algn="l">
                        <a:buNone/>
                      </a:pPr>
                      <a:r>
                        <a:rPr lang="en-US" sz="2400" dirty="0"/>
                        <a:t>BSC </a:t>
                      </a:r>
                      <a:r>
                        <a:rPr lang="zh-TW" altLang="en-US" sz="2400" dirty="0"/>
                        <a:t>支援 </a:t>
                      </a:r>
                      <a:r>
                        <a:rPr lang="en-US" sz="2400" dirty="0"/>
                        <a:t>NFT（BEP-721）</a:t>
                      </a:r>
                      <a:r>
                        <a:rPr lang="zh-TW" altLang="en-US" sz="2400" dirty="0"/>
                        <a:t>與遊戲應用（如 </a:t>
                      </a:r>
                      <a:r>
                        <a:rPr lang="en-US" sz="2400" dirty="0" err="1"/>
                        <a:t>MOBOX、Binemon</a:t>
                      </a:r>
                      <a:r>
                        <a:rPr lang="en-US" sz="2400" dirty="0"/>
                        <a:t>）。</a:t>
                      </a:r>
                    </a:p>
                  </a:txBody>
                  <a:tcPr anchor="ctr">
                    <a:lnL>
                      <a:noFill/>
                    </a:lnL>
                    <a:lnR>
                      <a:noFill/>
                    </a:lnR>
                    <a:lnT>
                      <a:noFill/>
                    </a:lnT>
                    <a:lnB>
                      <a:noFill/>
                    </a:lnB>
                    <a:noFill/>
                  </a:tcPr>
                </a:tc>
                <a:extLst>
                  <a:ext uri="{0D108BD9-81ED-4DB2-BD59-A6C34878D82A}">
                    <a16:rowId xmlns:a16="http://schemas.microsoft.com/office/drawing/2014/main" val="2675287725"/>
                  </a:ext>
                </a:extLst>
              </a:tr>
            </a:tbl>
          </a:graphicData>
        </a:graphic>
      </p:graphicFrame>
      <p:sp>
        <p:nvSpPr>
          <p:cNvPr id="4" name="文字方塊 3">
            <a:extLst>
              <a:ext uri="{FF2B5EF4-FFF2-40B4-BE49-F238E27FC236}">
                <a16:creationId xmlns:a16="http://schemas.microsoft.com/office/drawing/2014/main" id="{3DEE6C39-0366-AB05-1800-9A10A1358961}"/>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幣安智能鏈 </a:t>
            </a:r>
            <a:r>
              <a:rPr lang="en-US" altLang="zh-TW" sz="2400" dirty="0">
                <a:latin typeface="微軟正黑體" panose="020B0604030504040204" pitchFamily="34" charset="-120"/>
                <a:ea typeface="微軟正黑體" panose="020B0604030504040204" pitchFamily="34" charset="-120"/>
              </a:rPr>
              <a:t>BSC </a:t>
            </a:r>
            <a:r>
              <a:rPr lang="zh-TW" altLang="en-US" sz="2400" dirty="0">
                <a:latin typeface="微軟正黑體" panose="020B0604030504040204" pitchFamily="34" charset="-120"/>
                <a:ea typeface="微軟正黑體" panose="020B0604030504040204" pitchFamily="34" charset="-120"/>
              </a:rPr>
              <a:t>能不能？</a:t>
            </a:r>
            <a:endParaRPr lang="zh-TW" altLang="en-US" sz="2400" dirty="0"/>
          </a:p>
        </p:txBody>
      </p:sp>
    </p:spTree>
    <p:extLst>
      <p:ext uri="{BB962C8B-B14F-4D97-AF65-F5344CB8AC3E}">
        <p14:creationId xmlns:p14="http://schemas.microsoft.com/office/powerpoint/2010/main" val="19735442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7CE9-183C-AC1B-8910-47C978E92680}"/>
            </a:ext>
          </a:extLst>
        </p:cNvPr>
        <p:cNvGrpSpPr/>
        <p:nvPr/>
      </p:nvGrpSpPr>
      <p:grpSpPr>
        <a:xfrm>
          <a:off x="0" y="0"/>
          <a:ext cx="0" cy="0"/>
          <a:chOff x="0" y="0"/>
          <a:chExt cx="0" cy="0"/>
        </a:xfrm>
      </p:grpSpPr>
      <p:pic>
        <p:nvPicPr>
          <p:cNvPr id="6" name="Picture Placeholder 5" descr="A hammock hanging from a palm tree on the beach">
            <a:extLst>
              <a:ext uri="{FF2B5EF4-FFF2-40B4-BE49-F238E27FC236}">
                <a16:creationId xmlns:a16="http://schemas.microsoft.com/office/drawing/2014/main" id="{72D02ECD-9487-CEEB-2D91-45FD7CE53F32}"/>
              </a:ext>
            </a:extLst>
          </p:cNvPr>
          <p:cNvPicPr>
            <a:picLocks noGrp="1" noChangeAspect="1"/>
          </p:cNvPicPr>
          <p:nvPr>
            <p:ph type="pic" sz="quarter" idx="13"/>
          </p:nvPr>
        </p:nvPicPr>
        <p:blipFill>
          <a:blip r:embed="rId2"/>
          <a:srcRect t="69" b="69"/>
          <a:stretch/>
        </p:blipFill>
        <p:spPr>
          <a:xfrm>
            <a:off x="576072" y="950976"/>
            <a:ext cx="4050792" cy="4965192"/>
          </a:xfrm>
        </p:spPr>
      </p:pic>
      <p:sp>
        <p:nvSpPr>
          <p:cNvPr id="5" name="Title 4">
            <a:extLst>
              <a:ext uri="{FF2B5EF4-FFF2-40B4-BE49-F238E27FC236}">
                <a16:creationId xmlns:a16="http://schemas.microsoft.com/office/drawing/2014/main" id="{B4911D11-8D7E-ED52-8DCD-563647B43A8F}"/>
              </a:ext>
            </a:extLst>
          </p:cNvPr>
          <p:cNvSpPr>
            <a:spLocks noGrp="1"/>
          </p:cNvSpPr>
          <p:nvPr>
            <p:ph type="title"/>
          </p:nvPr>
        </p:nvSpPr>
        <p:spPr>
          <a:xfrm>
            <a:off x="5082302" y="1529092"/>
            <a:ext cx="6577717" cy="770141"/>
          </a:xfrm>
        </p:spPr>
        <p:txBody>
          <a:bodyPr>
            <a:normAutofit/>
          </a:bodyPr>
          <a:lstStyle/>
          <a:p>
            <a:r>
              <a:rPr lang="zh-TW" altLang="en-US" sz="3200" dirty="0"/>
              <a:t>第三部分：穩定幣（</a:t>
            </a:r>
            <a:r>
              <a:rPr lang="en-US" altLang="zh-TW" sz="3200" dirty="0"/>
              <a:t>Stablecoins</a:t>
            </a:r>
            <a:r>
              <a:rPr lang="zh-TW" altLang="en-US" sz="3200" dirty="0"/>
              <a:t>）</a:t>
            </a:r>
          </a:p>
        </p:txBody>
      </p:sp>
    </p:spTree>
    <p:extLst>
      <p:ext uri="{BB962C8B-B14F-4D97-AF65-F5344CB8AC3E}">
        <p14:creationId xmlns:p14="http://schemas.microsoft.com/office/powerpoint/2010/main" val="2514007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D9590-F794-F2A1-0422-131C8B52B6B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26FDAC3-8884-7F55-088C-478C3544A629}"/>
              </a:ext>
            </a:extLst>
          </p:cNvPr>
          <p:cNvSpPr txBox="1"/>
          <p:nvPr/>
        </p:nvSpPr>
        <p:spPr>
          <a:xfrm>
            <a:off x="10263960" y="303967"/>
            <a:ext cx="1748190" cy="1132298"/>
          </a:xfrm>
          <a:prstGeom prst="rect">
            <a:avLst/>
          </a:prstGeom>
          <a:noFill/>
        </p:spPr>
        <p:txBody>
          <a:bodyPr wrap="square" rtlCol="0">
            <a:spAutoFit/>
          </a:bodyPr>
          <a:lstStyle/>
          <a:p>
            <a:pPr>
              <a:lnSpc>
                <a:spcPct val="150000"/>
              </a:lnSpc>
            </a:pPr>
            <a:r>
              <a:rPr lang="zh-TW" altLang="en-US" sz="2400" dirty="0"/>
              <a:t>穩定幣</a:t>
            </a:r>
            <a:r>
              <a:rPr lang="en-US" altLang="zh-TW" sz="2400" dirty="0"/>
              <a:t>(Stablecoins)</a:t>
            </a:r>
            <a:endParaRPr lang="zh-TW" altLang="en-US" sz="2400" dirty="0">
              <a:latin typeface="微軟正黑體" panose="020B0604030504040204" pitchFamily="34" charset="-120"/>
              <a:ea typeface="微軟正黑體" panose="020B0604030504040204" pitchFamily="34" charset="-120"/>
            </a:endParaRPr>
          </a:p>
        </p:txBody>
      </p:sp>
      <p:sp>
        <p:nvSpPr>
          <p:cNvPr id="4" name="Title 3">
            <a:extLst>
              <a:ext uri="{FF2B5EF4-FFF2-40B4-BE49-F238E27FC236}">
                <a16:creationId xmlns:a16="http://schemas.microsoft.com/office/drawing/2014/main" id="{2AFEFCFF-C3BB-C293-86B9-CD83A0F01D61}"/>
              </a:ext>
            </a:extLst>
          </p:cNvPr>
          <p:cNvSpPr>
            <a:spLocks noGrp="1"/>
          </p:cNvSpPr>
          <p:nvPr>
            <p:ph type="title"/>
          </p:nvPr>
        </p:nvSpPr>
        <p:spPr>
          <a:xfrm>
            <a:off x="731544" y="360081"/>
            <a:ext cx="9088057" cy="678892"/>
          </a:xfrm>
        </p:spPr>
        <p:txBody>
          <a:bodyPr>
            <a:normAutofit/>
          </a:bodyPr>
          <a:lstStyle/>
          <a:p>
            <a:r>
              <a:rPr lang="zh-TW" altLang="en-US" sz="3200" dirty="0"/>
              <a:t>穩定幣區塊鏈（如</a:t>
            </a:r>
            <a:r>
              <a:rPr lang="en-US" altLang="zh-TW" sz="3200" dirty="0"/>
              <a:t>Tether, USDT</a:t>
            </a:r>
            <a:r>
              <a:rPr lang="zh-TW" altLang="en-US" sz="3200" dirty="0"/>
              <a:t>；</a:t>
            </a:r>
            <a:r>
              <a:rPr lang="en-US" altLang="zh-TW" sz="3200" dirty="0"/>
              <a:t>USD Coin, USDC</a:t>
            </a:r>
            <a:r>
              <a:rPr lang="zh-TW" altLang="en-US" sz="3200" dirty="0"/>
              <a:t>）</a:t>
            </a:r>
          </a:p>
        </p:txBody>
      </p:sp>
      <p:sp>
        <p:nvSpPr>
          <p:cNvPr id="2" name="文字方塊 1">
            <a:extLst>
              <a:ext uri="{FF2B5EF4-FFF2-40B4-BE49-F238E27FC236}">
                <a16:creationId xmlns:a16="http://schemas.microsoft.com/office/drawing/2014/main" id="{1FDA3FC3-B58D-EB9E-3394-21D482FD147F}"/>
              </a:ext>
            </a:extLst>
          </p:cNvPr>
          <p:cNvSpPr txBox="1"/>
          <p:nvPr/>
        </p:nvSpPr>
        <p:spPr>
          <a:xfrm>
            <a:off x="919134" y="1309944"/>
            <a:ext cx="8256814" cy="4456476"/>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穩定幣區塊鏈（如</a:t>
            </a:r>
            <a:r>
              <a:rPr lang="en-US" altLang="zh-TW" sz="2400" dirty="0">
                <a:latin typeface="微軟正黑體" panose="020B0604030504040204" pitchFamily="34" charset="-120"/>
                <a:ea typeface="微軟正黑體" panose="020B0604030504040204" pitchFamily="34" charset="-120"/>
              </a:rPr>
              <a:t>Tether, USDT</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USD Coin, USDC</a:t>
            </a:r>
            <a:r>
              <a:rPr lang="zh-TW" altLang="en-US" sz="2400" dirty="0">
                <a:latin typeface="微軟正黑體" panose="020B0604030504040204" pitchFamily="34" charset="-120"/>
                <a:ea typeface="微軟正黑體" panose="020B0604030504040204" pitchFamily="34" charset="-120"/>
              </a:rPr>
              <a:t>）</a:t>
            </a:r>
          </a:p>
          <a:p>
            <a:pPr marL="342900" indent="-342900">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主要特點：</a:t>
            </a:r>
          </a:p>
          <a:p>
            <a:pPr marL="1085850" lvl="1"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以法定貨幣（如美元）為支撐，旨在減少加密貨幣的價格波動性。</a:t>
            </a:r>
          </a:p>
          <a:p>
            <a:pPr marL="1085850" lvl="1"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廣泛應用於交易所、支付、</a:t>
            </a:r>
            <a:r>
              <a:rPr lang="en-US" altLang="zh-TW" sz="2400" dirty="0">
                <a:latin typeface="微軟正黑體" panose="020B0604030504040204" pitchFamily="34" charset="-120"/>
                <a:ea typeface="微軟正黑體" panose="020B0604030504040204" pitchFamily="34" charset="-120"/>
              </a:rPr>
              <a:t>DeFi</a:t>
            </a:r>
            <a:r>
              <a:rPr lang="zh-TW" altLang="en-US" sz="2400" dirty="0">
                <a:latin typeface="微軟正黑體" panose="020B0604030504040204" pitchFamily="34" charset="-120"/>
                <a:ea typeface="微軟正黑體" panose="020B0604030504040204" pitchFamily="34" charset="-120"/>
              </a:rPr>
              <a:t>等領域，作為價值穩定的轉移工具。</a:t>
            </a:r>
          </a:p>
          <a:p>
            <a:pPr marL="1085850" lvl="1"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常見於多個區塊鏈平台，如以太坊、幣安智能鏈、</a:t>
            </a:r>
            <a:r>
              <a:rPr lang="en-US" altLang="zh-TW" sz="2400" dirty="0">
                <a:latin typeface="微軟正黑體" panose="020B0604030504040204" pitchFamily="34" charset="-120"/>
                <a:ea typeface="微軟正黑體" panose="020B0604030504040204" pitchFamily="34" charset="-120"/>
              </a:rPr>
              <a:t>Solana</a:t>
            </a:r>
            <a:r>
              <a:rPr lang="zh-TW" altLang="en-US" sz="2400" dirty="0">
                <a:latin typeface="微軟正黑體" panose="020B0604030504040204" pitchFamily="34" charset="-120"/>
                <a:ea typeface="微軟正黑體" panose="020B0604030504040204" pitchFamily="34" charset="-120"/>
              </a:rPr>
              <a:t>等。</a:t>
            </a:r>
          </a:p>
        </p:txBody>
      </p:sp>
    </p:spTree>
    <p:extLst>
      <p:ext uri="{BB962C8B-B14F-4D97-AF65-F5344CB8AC3E}">
        <p14:creationId xmlns:p14="http://schemas.microsoft.com/office/powerpoint/2010/main" val="26186703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B3C21-AF58-F2F8-5536-62A8915CC9A1}"/>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D5E71EAC-5CF1-D4B1-2BBB-295938ACCD2B}"/>
              </a:ext>
            </a:extLst>
          </p:cNvPr>
          <p:cNvSpPr txBox="1"/>
          <p:nvPr/>
        </p:nvSpPr>
        <p:spPr>
          <a:xfrm>
            <a:off x="10263960" y="303967"/>
            <a:ext cx="1748190" cy="1132298"/>
          </a:xfrm>
          <a:prstGeom prst="rect">
            <a:avLst/>
          </a:prstGeom>
          <a:noFill/>
        </p:spPr>
        <p:txBody>
          <a:bodyPr wrap="square" rtlCol="0">
            <a:spAutoFit/>
          </a:bodyPr>
          <a:lstStyle/>
          <a:p>
            <a:pPr>
              <a:lnSpc>
                <a:spcPct val="150000"/>
              </a:lnSpc>
            </a:pPr>
            <a:r>
              <a:rPr lang="zh-TW" altLang="en-US" sz="2400" dirty="0"/>
              <a:t>穩定幣</a:t>
            </a:r>
            <a:r>
              <a:rPr lang="en-US" altLang="zh-TW" sz="2400" dirty="0"/>
              <a:t>(Stablecoins)</a:t>
            </a:r>
            <a:endParaRPr lang="zh-TW" altLang="en-US" sz="2400" dirty="0">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2B3FEAC9-2E0A-8AB8-1B0A-5DC3D535A5AE}"/>
              </a:ext>
            </a:extLst>
          </p:cNvPr>
          <p:cNvSpPr txBox="1"/>
          <p:nvPr/>
        </p:nvSpPr>
        <p:spPr>
          <a:xfrm>
            <a:off x="179850" y="455316"/>
            <a:ext cx="10140294" cy="6037422"/>
          </a:xfrm>
          <a:prstGeom prst="rect">
            <a:avLst/>
          </a:prstGeom>
          <a:noFill/>
        </p:spPr>
        <p:txBody>
          <a:bodyPr wrap="square" rtlCol="0">
            <a:spAutoFit/>
          </a:bodyPr>
          <a:lstStyle/>
          <a:p>
            <a:pPr>
              <a:lnSpc>
                <a:spcPct val="150000"/>
              </a:lnSpc>
            </a:pPr>
            <a:r>
              <a:rPr lang="zh-TW" altLang="en-US" sz="2000" dirty="0">
                <a:latin typeface="微軟正黑體" panose="020B0604030504040204" pitchFamily="34" charset="-120"/>
                <a:ea typeface="微軟正黑體" panose="020B0604030504040204" pitchFamily="34" charset="-120"/>
              </a:rPr>
              <a:t>穩定幣（</a:t>
            </a:r>
            <a:r>
              <a:rPr lang="en-US" altLang="zh-TW" sz="2000" dirty="0">
                <a:latin typeface="微軟正黑體" panose="020B0604030504040204" pitchFamily="34" charset="-120"/>
                <a:ea typeface="微軟正黑體" panose="020B0604030504040204" pitchFamily="34" charset="-120"/>
              </a:rPr>
              <a:t>Stablecoins</a:t>
            </a:r>
            <a:r>
              <a:rPr lang="zh-TW" altLang="en-US" sz="2000" dirty="0">
                <a:latin typeface="微軟正黑體" panose="020B0604030504040204" pitchFamily="34" charset="-120"/>
                <a:ea typeface="微軟正黑體" panose="020B0604030504040204" pitchFamily="34" charset="-120"/>
              </a:rPr>
              <a:t>）是與法定貨幣（如美元、歐元）或其他資產（如黃金）掛鉤的加密貨幣，旨在保持價值穩定，避免像比特幣、以太坊等加密貨幣的價格波動。由於其穩定性，穩定幣在區塊鏈領域的應用十分廣泛，並為加密貨幣市場和傳統金融市場之間提供了橋樑。以下是穩定幣的主要應用範圍：</a:t>
            </a:r>
          </a:p>
          <a:p>
            <a:pPr>
              <a:lnSpc>
                <a:spcPct val="150000"/>
              </a:lnSpc>
            </a:pPr>
            <a:r>
              <a:rPr lang="en-US" altLang="zh-TW" sz="2000" dirty="0">
                <a:latin typeface="微軟正黑體" panose="020B0604030504040204" pitchFamily="34" charset="-120"/>
                <a:ea typeface="微軟正黑體" panose="020B0604030504040204" pitchFamily="34" charset="-120"/>
              </a:rPr>
              <a:t>1. </a:t>
            </a:r>
            <a:r>
              <a:rPr lang="zh-TW" altLang="en-US" sz="2000" dirty="0">
                <a:solidFill>
                  <a:srgbClr val="FF0000"/>
                </a:solidFill>
                <a:latin typeface="微軟正黑體" panose="020B0604030504040204" pitchFamily="34" charset="-120"/>
                <a:ea typeface="微軟正黑體" panose="020B0604030504040204" pitchFamily="34" charset="-120"/>
              </a:rPr>
              <a:t>支付與匯款</a:t>
            </a:r>
          </a:p>
          <a:p>
            <a:pPr>
              <a:lnSpc>
                <a:spcPct val="150000"/>
              </a:lnSpc>
            </a:pPr>
            <a:r>
              <a:rPr lang="zh-TW" altLang="en-US" sz="2000" dirty="0">
                <a:latin typeface="微軟正黑體" panose="020B0604030504040204" pitchFamily="34" charset="-120"/>
                <a:ea typeface="微軟正黑體" panose="020B0604030504040204" pitchFamily="34" charset="-120"/>
              </a:rPr>
              <a:t>穩定幣為全球支付和匯款提供了一種快速、低成本且安全的選擇。由於其價值與法定貨幣掛鉤，用戶可以避免加密貨幣的價格波動問題，進行更為穩定的跨境支付和匯款。</a:t>
            </a:r>
          </a:p>
          <a:p>
            <a:pPr marL="342900" indent="-342900">
              <a:lnSpc>
                <a:spcPct val="150000"/>
              </a:lnSpc>
              <a:buFont typeface="Wingdings" panose="05000000000000000000" pitchFamily="2" charset="2"/>
              <a:buChar char="u"/>
            </a:pPr>
            <a:r>
              <a:rPr lang="zh-TW" altLang="en-US" sz="2000" dirty="0">
                <a:solidFill>
                  <a:srgbClr val="FF0000"/>
                </a:solidFill>
                <a:latin typeface="微軟正黑體" panose="020B0604030504040204" pitchFamily="34" charset="-120"/>
                <a:ea typeface="微軟正黑體" panose="020B0604030504040204" pitchFamily="34" charset="-120"/>
              </a:rPr>
              <a:t>跨境匯款</a:t>
            </a:r>
            <a:r>
              <a:rPr lang="zh-TW" altLang="en-US" sz="2000" dirty="0">
                <a:latin typeface="微軟正黑體" panose="020B0604030504040204" pitchFamily="34" charset="-120"/>
                <a:ea typeface="微軟正黑體" panose="020B0604030504040204" pitchFamily="34" charset="-120"/>
              </a:rPr>
              <a:t>：傳統的跨境匯款通常需要幾天時間和高額手續費，而穩定幣可以實現快速且低成本的國際匯款。例如，使用穩定幣 </a:t>
            </a:r>
            <a:r>
              <a:rPr lang="en-US" altLang="zh-TW" sz="2000" dirty="0">
                <a:latin typeface="微軟正黑體" panose="020B0604030504040204" pitchFamily="34" charset="-120"/>
                <a:ea typeface="微軟正黑體" panose="020B0604030504040204" pitchFamily="34" charset="-120"/>
              </a:rPr>
              <a:t>USDT</a:t>
            </a:r>
            <a:r>
              <a:rPr lang="zh-TW" altLang="en-US" sz="2000" dirty="0">
                <a:latin typeface="微軟正黑體" panose="020B0604030504040204" pitchFamily="34" charset="-120"/>
                <a:ea typeface="微軟正黑體" panose="020B0604030504040204" pitchFamily="34" charset="-120"/>
              </a:rPr>
              <a:t>、</a:t>
            </a:r>
            <a:r>
              <a:rPr lang="en-US" altLang="zh-TW" sz="2000" dirty="0">
                <a:latin typeface="微軟正黑體" panose="020B0604030504040204" pitchFamily="34" charset="-120"/>
                <a:ea typeface="微軟正黑體" panose="020B0604030504040204" pitchFamily="34" charset="-120"/>
              </a:rPr>
              <a:t>USDC </a:t>
            </a:r>
            <a:r>
              <a:rPr lang="zh-TW" altLang="en-US" sz="2000" dirty="0">
                <a:latin typeface="微軟正黑體" panose="020B0604030504040204" pitchFamily="34" charset="-120"/>
                <a:ea typeface="微軟正黑體" panose="020B0604030504040204" pitchFamily="34" charset="-120"/>
              </a:rPr>
              <a:t>或 </a:t>
            </a:r>
            <a:r>
              <a:rPr lang="en-US" altLang="zh-TW" sz="2000" dirty="0">
                <a:latin typeface="微軟正黑體" panose="020B0604030504040204" pitchFamily="34" charset="-120"/>
                <a:ea typeface="微軟正黑體" panose="020B0604030504040204" pitchFamily="34" charset="-120"/>
              </a:rPr>
              <a:t>BUSD</a:t>
            </a:r>
            <a:r>
              <a:rPr lang="zh-TW" altLang="en-US" sz="2000" dirty="0">
                <a:latin typeface="微軟正黑體" panose="020B0604030504040204" pitchFamily="34" charset="-120"/>
                <a:ea typeface="微軟正黑體" panose="020B0604030504040204" pitchFamily="34" charset="-120"/>
              </a:rPr>
              <a:t>，全球用戶可以即時發送和接收款項，且手續費極低。</a:t>
            </a:r>
          </a:p>
          <a:p>
            <a:pPr marL="342900" indent="-342900">
              <a:lnSpc>
                <a:spcPct val="150000"/>
              </a:lnSpc>
              <a:buFont typeface="Wingdings" panose="05000000000000000000" pitchFamily="2" charset="2"/>
              <a:buChar char="u"/>
            </a:pPr>
            <a:r>
              <a:rPr lang="zh-TW" altLang="en-US" sz="2000" dirty="0">
                <a:solidFill>
                  <a:srgbClr val="FF0000"/>
                </a:solidFill>
                <a:latin typeface="微軟正黑體" panose="020B0604030504040204" pitchFamily="34" charset="-120"/>
                <a:ea typeface="微軟正黑體" panose="020B0604030504040204" pitchFamily="34" charset="-120"/>
              </a:rPr>
              <a:t>商戶支付</a:t>
            </a:r>
            <a:r>
              <a:rPr lang="zh-TW" altLang="en-US" sz="2000" dirty="0">
                <a:latin typeface="微軟正黑體" panose="020B0604030504040204" pitchFamily="34" charset="-120"/>
                <a:ea typeface="微軟正黑體" panose="020B0604030504040204" pitchFamily="34" charset="-120"/>
              </a:rPr>
              <a:t>：越來越多的商戶接受穩定幣作為支付手段，特別是在跨境電商領域。例如，穩定幣 </a:t>
            </a:r>
            <a:r>
              <a:rPr lang="en-US" altLang="zh-TW" sz="2000" dirty="0">
                <a:latin typeface="微軟正黑體" panose="020B0604030504040204" pitchFamily="34" charset="-120"/>
                <a:ea typeface="微軟正黑體" panose="020B0604030504040204" pitchFamily="34" charset="-120"/>
              </a:rPr>
              <a:t>USDC </a:t>
            </a:r>
            <a:r>
              <a:rPr lang="zh-TW" altLang="en-US" sz="2000" dirty="0">
                <a:latin typeface="微軟正黑體" panose="020B0604030504040204" pitchFamily="34" charset="-120"/>
                <a:ea typeface="微軟正黑體" panose="020B0604030504040204" pitchFamily="34" charset="-120"/>
              </a:rPr>
              <a:t>被 </a:t>
            </a:r>
            <a:r>
              <a:rPr lang="en-US" altLang="zh-TW" sz="2000" dirty="0">
                <a:latin typeface="微軟正黑體" panose="020B0604030504040204" pitchFamily="34" charset="-120"/>
                <a:ea typeface="微軟正黑體" panose="020B0604030504040204" pitchFamily="34" charset="-120"/>
              </a:rPr>
              <a:t>Coinbase </a:t>
            </a:r>
            <a:r>
              <a:rPr lang="zh-TW" altLang="en-US" sz="2000" dirty="0">
                <a:latin typeface="微軟正黑體" panose="020B0604030504040204" pitchFamily="34" charset="-120"/>
                <a:ea typeface="微軟正黑體" panose="020B0604030504040204" pitchFamily="34" charset="-120"/>
              </a:rPr>
              <a:t>和其他平台支持，允許全球商戶接收穩定幣支付而無需擔心匯率波動。</a:t>
            </a:r>
          </a:p>
        </p:txBody>
      </p:sp>
    </p:spTree>
    <p:extLst>
      <p:ext uri="{BB962C8B-B14F-4D97-AF65-F5344CB8AC3E}">
        <p14:creationId xmlns:p14="http://schemas.microsoft.com/office/powerpoint/2010/main" val="2408664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B8CF9-38BB-C430-DF05-DEE4F340F60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92F2D1-49B0-74A9-026D-CB00F9D07DF6}"/>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50</a:t>
            </a:fld>
            <a:endParaRPr lang="en-US" dirty="0"/>
          </a:p>
        </p:txBody>
      </p:sp>
      <p:sp>
        <p:nvSpPr>
          <p:cNvPr id="4" name="文字方塊 3">
            <a:extLst>
              <a:ext uri="{FF2B5EF4-FFF2-40B4-BE49-F238E27FC236}">
                <a16:creationId xmlns:a16="http://schemas.microsoft.com/office/drawing/2014/main" id="{98C68837-E762-AD4F-4CCE-C0C1A56E7486}"/>
              </a:ext>
            </a:extLst>
          </p:cNvPr>
          <p:cNvSpPr txBox="1"/>
          <p:nvPr/>
        </p:nvSpPr>
        <p:spPr>
          <a:xfrm>
            <a:off x="535957" y="185532"/>
            <a:ext cx="11120086" cy="6672468"/>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2. </a:t>
            </a:r>
            <a:r>
              <a:rPr lang="zh-TW" altLang="en-US" sz="2400" dirty="0">
                <a:latin typeface="微軟正黑體" panose="020B0604030504040204" pitchFamily="34" charset="-120"/>
                <a:ea typeface="微軟正黑體" panose="020B0604030504040204" pitchFamily="34" charset="-120"/>
              </a:rPr>
              <a:t>去中心化金融（</a:t>
            </a:r>
            <a:r>
              <a:rPr lang="en-US" altLang="zh-TW" sz="2400" dirty="0">
                <a:latin typeface="微軟正黑體" panose="020B0604030504040204" pitchFamily="34" charset="-120"/>
                <a:ea typeface="微軟正黑體" panose="020B0604030504040204" pitchFamily="34" charset="-120"/>
              </a:rPr>
              <a:t>DeFi</a:t>
            </a:r>
            <a:r>
              <a:rPr lang="zh-TW" altLang="en-US" sz="2400" dirty="0">
                <a:latin typeface="微軟正黑體" panose="020B0604030504040204" pitchFamily="34" charset="-120"/>
                <a:ea typeface="微軟正黑體" panose="020B0604030504040204" pitchFamily="34" charset="-120"/>
              </a:rPr>
              <a:t>）</a:t>
            </a:r>
          </a:p>
          <a:p>
            <a:pPr>
              <a:lnSpc>
                <a:spcPct val="150000"/>
              </a:lnSpc>
            </a:pPr>
            <a:r>
              <a:rPr lang="zh-TW" altLang="en-US" sz="2400" dirty="0">
                <a:latin typeface="微軟正黑體" panose="020B0604030504040204" pitchFamily="34" charset="-120"/>
                <a:ea typeface="微軟正黑體" panose="020B0604030504040204" pitchFamily="34" charset="-120"/>
              </a:rPr>
              <a:t>穩定幣在去中心化金融（</a:t>
            </a:r>
            <a:r>
              <a:rPr lang="en-US" altLang="zh-TW" sz="2400" dirty="0">
                <a:latin typeface="微軟正黑體" panose="020B0604030504040204" pitchFamily="34" charset="-120"/>
                <a:ea typeface="微軟正黑體" panose="020B0604030504040204" pitchFamily="34" charset="-120"/>
              </a:rPr>
              <a:t>DeFi</a:t>
            </a:r>
            <a:r>
              <a:rPr lang="zh-TW" altLang="en-US" sz="2400" dirty="0">
                <a:latin typeface="微軟正黑體" panose="020B0604030504040204" pitchFamily="34" charset="-120"/>
                <a:ea typeface="微軟正黑體" panose="020B0604030504040204" pitchFamily="34" charset="-120"/>
              </a:rPr>
              <a:t>）中扮演著關鍵角色，為借貸、交易、儲蓄等金融活動提供穩定的價值基礎。</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借貸平台：如 </a:t>
            </a:r>
            <a:r>
              <a:rPr lang="en-US" altLang="zh-TW" sz="2400" dirty="0" err="1">
                <a:latin typeface="微軟正黑體" panose="020B0604030504040204" pitchFamily="34" charset="-120"/>
                <a:ea typeface="微軟正黑體" panose="020B0604030504040204" pitchFamily="34" charset="-120"/>
              </a:rPr>
              <a:t>Aave</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Compound </a:t>
            </a:r>
            <a:r>
              <a:rPr lang="zh-TW" altLang="en-US" sz="2400" dirty="0">
                <a:latin typeface="微軟正黑體" panose="020B0604030504040204" pitchFamily="34" charset="-120"/>
                <a:ea typeface="微軟正黑體" panose="020B0604030504040204" pitchFamily="34" charset="-120"/>
              </a:rPr>
              <a:t>等 </a:t>
            </a:r>
            <a:r>
              <a:rPr lang="en-US" altLang="zh-TW" sz="2400" dirty="0">
                <a:latin typeface="微軟正黑體" panose="020B0604030504040204" pitchFamily="34" charset="-120"/>
                <a:ea typeface="微軟正黑體" panose="020B0604030504040204" pitchFamily="34" charset="-120"/>
              </a:rPr>
              <a:t>DeFi </a:t>
            </a:r>
            <a:r>
              <a:rPr lang="zh-TW" altLang="en-US" sz="2400" dirty="0">
                <a:latin typeface="微軟正黑體" panose="020B0604030504040204" pitchFamily="34" charset="-120"/>
                <a:ea typeface="微軟正黑體" panose="020B0604030504040204" pitchFamily="34" charset="-120"/>
              </a:rPr>
              <a:t>平台允許用戶使用穩定幣作為抵押品進行借貸操作。用戶可以將穩定幣存入平台以賺取利息，或者借出穩定幣來資助其他活動，而不必擔心價格波動的影響。</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流動性挖礦與收益農業：用戶可以將穩定幣投入流動性池（如 </a:t>
            </a:r>
            <a:r>
              <a:rPr lang="en-US" altLang="zh-TW" sz="2400" dirty="0">
                <a:latin typeface="微軟正黑體" panose="020B0604030504040204" pitchFamily="34" charset="-120"/>
                <a:ea typeface="微軟正黑體" panose="020B0604030504040204" pitchFamily="34" charset="-120"/>
              </a:rPr>
              <a:t>Uniswap</a:t>
            </a:r>
            <a:r>
              <a:rPr lang="zh-TW" altLang="en-US" sz="2400" dirty="0">
                <a:latin typeface="微軟正黑體" panose="020B0604030504040204" pitchFamily="34" charset="-120"/>
                <a:ea typeface="微軟正黑體" panose="020B0604030504040204" pitchFamily="34" charset="-120"/>
              </a:rPr>
              <a:t>、</a:t>
            </a:r>
            <a:r>
              <a:rPr lang="en-US" altLang="zh-TW" sz="2400" dirty="0" err="1">
                <a:latin typeface="微軟正黑體" panose="020B0604030504040204" pitchFamily="34" charset="-120"/>
                <a:ea typeface="微軟正黑體" panose="020B0604030504040204" pitchFamily="34" charset="-120"/>
              </a:rPr>
              <a:t>PancakeSwap</a:t>
            </a:r>
            <a:r>
              <a:rPr lang="zh-TW" altLang="en-US" sz="2400" dirty="0">
                <a:latin typeface="微軟正黑體" panose="020B0604030504040204" pitchFamily="34" charset="-120"/>
                <a:ea typeface="微軟正黑體" panose="020B0604030504040204" pitchFamily="34" charset="-120"/>
              </a:rPr>
              <a:t>），為其他用戶提供流動性，並獲得平台的代幣獎勵。這樣的操作可以使投資者在保持資產穩定的同時，獲得收益。</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去中心化交易所（</a:t>
            </a:r>
            <a:r>
              <a:rPr lang="en-US" altLang="zh-TW" sz="2400" dirty="0">
                <a:latin typeface="微軟正黑體" panose="020B0604030504040204" pitchFamily="34" charset="-120"/>
                <a:ea typeface="微軟正黑體" panose="020B0604030504040204" pitchFamily="34" charset="-120"/>
              </a:rPr>
              <a:t>DEX</a:t>
            </a:r>
            <a:r>
              <a:rPr lang="zh-TW" altLang="en-US" sz="2400" dirty="0">
                <a:latin typeface="微軟正黑體" panose="020B0604030504040204" pitchFamily="34" charset="-120"/>
                <a:ea typeface="微軟正黑體" panose="020B0604030504040204" pitchFamily="34" charset="-120"/>
              </a:rPr>
              <a:t>）：在去中心化交易所上，穩定幣提供了穩定的交易對，幫助用戶在交易高波動性的加密資產時保持穩定。例如，</a:t>
            </a:r>
            <a:r>
              <a:rPr lang="en-US" altLang="zh-TW" sz="2400" dirty="0">
                <a:latin typeface="微軟正黑體" panose="020B0604030504040204" pitchFamily="34" charset="-120"/>
                <a:ea typeface="微軟正黑體" panose="020B0604030504040204" pitchFamily="34" charset="-120"/>
              </a:rPr>
              <a:t>USDC </a:t>
            </a:r>
            <a:r>
              <a:rPr lang="zh-TW" altLang="en-US" sz="2400" dirty="0">
                <a:latin typeface="微軟正黑體" panose="020B0604030504040204" pitchFamily="34" charset="-120"/>
                <a:ea typeface="微軟正黑體" panose="020B0604030504040204" pitchFamily="34" charset="-120"/>
              </a:rPr>
              <a:t>或 </a:t>
            </a:r>
            <a:r>
              <a:rPr lang="en-US" altLang="zh-TW" sz="2400" dirty="0">
                <a:latin typeface="微軟正黑體" panose="020B0604030504040204" pitchFamily="34" charset="-120"/>
                <a:ea typeface="微軟正黑體" panose="020B0604030504040204" pitchFamily="34" charset="-120"/>
              </a:rPr>
              <a:t>DAI </a:t>
            </a:r>
            <a:r>
              <a:rPr lang="zh-TW" altLang="en-US" sz="2400" dirty="0">
                <a:latin typeface="微軟正黑體" panose="020B0604030504040204" pitchFamily="34" charset="-120"/>
                <a:ea typeface="微軟正黑體" panose="020B0604030504040204" pitchFamily="34" charset="-120"/>
              </a:rPr>
              <a:t>可以作為交易對中的一方，讓用戶輕鬆兌換比特幣、以太坊等波動較大的加密貨幣。</a:t>
            </a:r>
          </a:p>
        </p:txBody>
      </p:sp>
    </p:spTree>
    <p:extLst>
      <p:ext uri="{BB962C8B-B14F-4D97-AF65-F5344CB8AC3E}">
        <p14:creationId xmlns:p14="http://schemas.microsoft.com/office/powerpoint/2010/main" val="10522360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F8FD5-C543-991D-412A-91320AA7223E}"/>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F6EE34B0-8958-7433-6EC6-501F1080B2A7}"/>
              </a:ext>
            </a:extLst>
          </p:cNvPr>
          <p:cNvSpPr txBox="1"/>
          <p:nvPr/>
        </p:nvSpPr>
        <p:spPr>
          <a:xfrm>
            <a:off x="10263960" y="303967"/>
            <a:ext cx="1748190" cy="1132298"/>
          </a:xfrm>
          <a:prstGeom prst="rect">
            <a:avLst/>
          </a:prstGeom>
          <a:noFill/>
        </p:spPr>
        <p:txBody>
          <a:bodyPr wrap="square" rtlCol="0">
            <a:spAutoFit/>
          </a:bodyPr>
          <a:lstStyle/>
          <a:p>
            <a:pPr>
              <a:lnSpc>
                <a:spcPct val="150000"/>
              </a:lnSpc>
            </a:pPr>
            <a:r>
              <a:rPr lang="zh-TW" altLang="en-US" sz="2400" dirty="0"/>
              <a:t>穩定幣</a:t>
            </a:r>
            <a:r>
              <a:rPr lang="en-US" altLang="zh-TW" sz="2400" dirty="0"/>
              <a:t>(Stablecoins)</a:t>
            </a:r>
            <a:endParaRPr lang="zh-TW" altLang="en-US" sz="2400" dirty="0">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id="{C435152B-4866-ADE2-AC5A-90DD29593139}"/>
              </a:ext>
            </a:extLst>
          </p:cNvPr>
          <p:cNvSpPr txBox="1"/>
          <p:nvPr/>
        </p:nvSpPr>
        <p:spPr>
          <a:xfrm>
            <a:off x="845847" y="1014635"/>
            <a:ext cx="8747215" cy="5010474"/>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3. </a:t>
            </a:r>
            <a:r>
              <a:rPr lang="zh-TW" altLang="en-US" sz="2400" dirty="0">
                <a:solidFill>
                  <a:srgbClr val="FF0000"/>
                </a:solidFill>
                <a:latin typeface="微軟正黑體" panose="020B0604030504040204" pitchFamily="34" charset="-120"/>
                <a:ea typeface="微軟正黑體" panose="020B0604030504040204" pitchFamily="34" charset="-120"/>
              </a:rPr>
              <a:t>對沖與避險工具</a:t>
            </a:r>
          </a:p>
          <a:p>
            <a:pPr>
              <a:lnSpc>
                <a:spcPct val="150000"/>
              </a:lnSpc>
            </a:pPr>
            <a:r>
              <a:rPr lang="zh-TW" altLang="en-US" sz="2400" dirty="0">
                <a:latin typeface="微軟正黑體" panose="020B0604030504040204" pitchFamily="34" charset="-120"/>
                <a:ea typeface="微軟正黑體" panose="020B0604030504040204" pitchFamily="34" charset="-120"/>
              </a:rPr>
              <a:t>穩定幣可以作為加密貨幣投資者的避險工具，當市場波動過大時，投資者可以將資金轉換為穩定幣以避免損失。</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資產保值：在加密貨幣市場波動較大時，投資者可以將資金從高波動的加密資產轉移到穩定幣上，從而實現資產保值，等待市場穩定後再進行重新投資。</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保護交易利潤：在加密貨幣交易中，投資者可以將交易獲利部分轉換為穩定幣，防止市場突然反轉或價格回調，從而保護已有的利潤。</a:t>
            </a:r>
          </a:p>
        </p:txBody>
      </p:sp>
    </p:spTree>
    <p:extLst>
      <p:ext uri="{BB962C8B-B14F-4D97-AF65-F5344CB8AC3E}">
        <p14:creationId xmlns:p14="http://schemas.microsoft.com/office/powerpoint/2010/main" val="7231886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5C0BD-2C21-FA1B-F772-7DE5BE4ED98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8C8B809E-AAC9-0F49-7818-A21863B2BFBD}"/>
              </a:ext>
            </a:extLst>
          </p:cNvPr>
          <p:cNvSpPr txBox="1"/>
          <p:nvPr/>
        </p:nvSpPr>
        <p:spPr>
          <a:xfrm>
            <a:off x="10263960" y="303967"/>
            <a:ext cx="1748190" cy="1132298"/>
          </a:xfrm>
          <a:prstGeom prst="rect">
            <a:avLst/>
          </a:prstGeom>
          <a:noFill/>
        </p:spPr>
        <p:txBody>
          <a:bodyPr wrap="square" rtlCol="0">
            <a:spAutoFit/>
          </a:bodyPr>
          <a:lstStyle/>
          <a:p>
            <a:pPr>
              <a:lnSpc>
                <a:spcPct val="150000"/>
              </a:lnSpc>
            </a:pPr>
            <a:r>
              <a:rPr lang="zh-TW" altLang="en-US" sz="2400" dirty="0"/>
              <a:t>穩定幣</a:t>
            </a:r>
            <a:r>
              <a:rPr lang="en-US" altLang="zh-TW" sz="2400" dirty="0"/>
              <a:t>(Stablecoins)</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B57809A8-724C-889B-3618-80AC4328157E}"/>
              </a:ext>
            </a:extLst>
          </p:cNvPr>
          <p:cNvSpPr txBox="1"/>
          <p:nvPr/>
        </p:nvSpPr>
        <p:spPr>
          <a:xfrm>
            <a:off x="620459" y="923763"/>
            <a:ext cx="9446823" cy="5010474"/>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4. </a:t>
            </a:r>
            <a:r>
              <a:rPr lang="zh-TW" altLang="en-US" sz="2400" dirty="0">
                <a:latin typeface="微軟正黑體" panose="020B0604030504040204" pitchFamily="34" charset="-120"/>
                <a:ea typeface="微軟正黑體" panose="020B0604030504040204" pitchFamily="34" charset="-120"/>
              </a:rPr>
              <a:t>跨境貿易與供應鏈金融</a:t>
            </a:r>
          </a:p>
          <a:p>
            <a:pPr>
              <a:lnSpc>
                <a:spcPct val="150000"/>
              </a:lnSpc>
            </a:pPr>
            <a:r>
              <a:rPr lang="zh-TW" altLang="en-US" sz="2400" dirty="0">
                <a:latin typeface="微軟正黑體" panose="020B0604030504040204" pitchFamily="34" charset="-120"/>
                <a:ea typeface="微軟正黑體" panose="020B0604030504040204" pitchFamily="34" charset="-120"/>
              </a:rPr>
              <a:t>穩定幣能有效解決國際貿易中的付款與資金流動問題，特別是解決匯率波動和結算時間長的挑戰。</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跨境貿易結算：穩定幣可以用作跨境貿易的結算工具，特別是在匯率波動較大的國家和地區，穩定幣的價值穩定性可以減少貿易結算的風險。同時，基於區塊鏈技術的即時性，貿易雙方可以實現更快速的資金清算。</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供應鏈金融：企業可以使用穩定幣在供應鏈金融中進行付款和融資，確保供應商和買家能夠快速、安全地進行資金流動和交易結算。</a:t>
            </a:r>
          </a:p>
        </p:txBody>
      </p:sp>
    </p:spTree>
    <p:extLst>
      <p:ext uri="{BB962C8B-B14F-4D97-AF65-F5344CB8AC3E}">
        <p14:creationId xmlns:p14="http://schemas.microsoft.com/office/powerpoint/2010/main" val="5701161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926ED-A94A-852C-619B-413C9869AB8D}"/>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63895F30-4303-1813-476A-CF91CD2A61E6}"/>
              </a:ext>
            </a:extLst>
          </p:cNvPr>
          <p:cNvSpPr txBox="1"/>
          <p:nvPr/>
        </p:nvSpPr>
        <p:spPr>
          <a:xfrm>
            <a:off x="10263960" y="303967"/>
            <a:ext cx="1748190" cy="1132298"/>
          </a:xfrm>
          <a:prstGeom prst="rect">
            <a:avLst/>
          </a:prstGeom>
          <a:noFill/>
        </p:spPr>
        <p:txBody>
          <a:bodyPr wrap="square" rtlCol="0">
            <a:spAutoFit/>
          </a:bodyPr>
          <a:lstStyle/>
          <a:p>
            <a:pPr>
              <a:lnSpc>
                <a:spcPct val="150000"/>
              </a:lnSpc>
            </a:pPr>
            <a:r>
              <a:rPr lang="zh-TW" altLang="en-US" sz="2400" dirty="0"/>
              <a:t>穩定幣</a:t>
            </a:r>
            <a:r>
              <a:rPr lang="en-US" altLang="zh-TW" sz="2400" dirty="0"/>
              <a:t>(Stablecoins)</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507A22E5-7B84-B6D6-C60E-0CDC48FD5B7F}"/>
              </a:ext>
            </a:extLst>
          </p:cNvPr>
          <p:cNvSpPr txBox="1"/>
          <p:nvPr/>
        </p:nvSpPr>
        <p:spPr>
          <a:xfrm>
            <a:off x="1298836" y="923763"/>
            <a:ext cx="8225576" cy="5010474"/>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5. </a:t>
            </a:r>
            <a:r>
              <a:rPr lang="zh-TW" altLang="en-US" sz="2400" dirty="0">
                <a:latin typeface="微軟正黑體" panose="020B0604030504040204" pitchFamily="34" charset="-120"/>
                <a:ea typeface="微軟正黑體" panose="020B0604030504040204" pitchFamily="34" charset="-120"/>
              </a:rPr>
              <a:t>數字資產的穩定儲備</a:t>
            </a:r>
          </a:p>
          <a:p>
            <a:pPr>
              <a:lnSpc>
                <a:spcPct val="150000"/>
              </a:lnSpc>
            </a:pPr>
            <a:r>
              <a:rPr lang="zh-TW" altLang="en-US" sz="2400" dirty="0">
                <a:latin typeface="微軟正黑體" panose="020B0604030504040204" pitchFamily="34" charset="-120"/>
                <a:ea typeface="微軟正黑體" panose="020B0604030504040204" pitchFamily="34" charset="-120"/>
              </a:rPr>
              <a:t>穩定幣可以作為數字資產投資組合中的穩定儲備，幫助投資者在不退出加密貨幣市場的情況下，保持資產價值的穩定性。</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儲備貨幣角色：類似於傳統金融中的美元或歐元，穩定幣成為加密貨幣市場中的儲備貨幣。許多交易所和項目會選擇持有穩定幣作為儲備，確保其資金管理的穩定性。</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交易所的穩定幣交易對：穩定幣被廣泛用於加密貨幣交易所的交易對，讓用戶可以在波動較大的幣種之間進行對沖或交易，同時保持一定的價值穩定性。</a:t>
            </a:r>
          </a:p>
        </p:txBody>
      </p:sp>
    </p:spTree>
    <p:extLst>
      <p:ext uri="{BB962C8B-B14F-4D97-AF65-F5344CB8AC3E}">
        <p14:creationId xmlns:p14="http://schemas.microsoft.com/office/powerpoint/2010/main" val="28537524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56374-FDAF-98CB-C3A7-C4C0310A552A}"/>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5A17D7A2-3BD3-D58E-79A9-DE34C4ACD4EC}"/>
              </a:ext>
            </a:extLst>
          </p:cNvPr>
          <p:cNvSpPr txBox="1"/>
          <p:nvPr/>
        </p:nvSpPr>
        <p:spPr>
          <a:xfrm>
            <a:off x="10263960" y="303967"/>
            <a:ext cx="1748190" cy="1132298"/>
          </a:xfrm>
          <a:prstGeom prst="rect">
            <a:avLst/>
          </a:prstGeom>
          <a:noFill/>
        </p:spPr>
        <p:txBody>
          <a:bodyPr wrap="square" rtlCol="0">
            <a:spAutoFit/>
          </a:bodyPr>
          <a:lstStyle/>
          <a:p>
            <a:pPr>
              <a:lnSpc>
                <a:spcPct val="150000"/>
              </a:lnSpc>
            </a:pPr>
            <a:r>
              <a:rPr lang="zh-TW" altLang="en-US" sz="2400" dirty="0"/>
              <a:t>穩定幣</a:t>
            </a:r>
            <a:r>
              <a:rPr lang="en-US" altLang="zh-TW" sz="2400" dirty="0"/>
              <a:t>(Stablecoins)</a:t>
            </a:r>
            <a:endParaRPr lang="zh-TW" altLang="en-US" sz="2400"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61E7E7BA-51E5-7C73-47FE-338C32222E00}"/>
              </a:ext>
            </a:extLst>
          </p:cNvPr>
          <p:cNvSpPr txBox="1"/>
          <p:nvPr/>
        </p:nvSpPr>
        <p:spPr>
          <a:xfrm>
            <a:off x="1080650" y="984756"/>
            <a:ext cx="8569244" cy="5010474"/>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6. </a:t>
            </a:r>
            <a:r>
              <a:rPr lang="zh-TW" altLang="en-US" sz="2400" dirty="0">
                <a:latin typeface="微軟正黑體" panose="020B0604030504040204" pitchFamily="34" charset="-120"/>
                <a:ea typeface="微軟正黑體" panose="020B0604030504040204" pitchFamily="34" charset="-120"/>
              </a:rPr>
              <a:t>預言機與智能合約應用</a:t>
            </a:r>
          </a:p>
          <a:p>
            <a:pPr>
              <a:lnSpc>
                <a:spcPct val="150000"/>
              </a:lnSpc>
            </a:pPr>
            <a:r>
              <a:rPr lang="zh-TW" altLang="en-US" sz="2400" dirty="0">
                <a:latin typeface="微軟正黑體" panose="020B0604030504040204" pitchFamily="34" charset="-120"/>
                <a:ea typeface="微軟正黑體" panose="020B0604030504040204" pitchFamily="34" charset="-120"/>
              </a:rPr>
              <a:t>穩定幣在預言機和智能合約中也有重要應用，為基於區塊鏈的應用提供穩定的價值單位。</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智能合約結算：許多智能合約需要依賴穩定的價值標準來自動完成合約條款，而穩定幣提供了這樣的功能。它們被用於支付、質押和其他合約相關的自動化交易。</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預言機：預言機項目如 </a:t>
            </a:r>
            <a:r>
              <a:rPr lang="en-US" altLang="zh-TW" sz="2400" dirty="0" err="1">
                <a:latin typeface="微軟正黑體" panose="020B0604030504040204" pitchFamily="34" charset="-120"/>
                <a:ea typeface="微軟正黑體" panose="020B0604030504040204" pitchFamily="34" charset="-120"/>
              </a:rPr>
              <a:t>Chainlink</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允許智能合約通過穩定幣進行外部數據的支付和獎勵，例如合約自動觸發付款給第三方，這時使用穩定幣可以保證數據供應方獲得穩定的報酬。</a:t>
            </a:r>
          </a:p>
        </p:txBody>
      </p:sp>
    </p:spTree>
    <p:extLst>
      <p:ext uri="{BB962C8B-B14F-4D97-AF65-F5344CB8AC3E}">
        <p14:creationId xmlns:p14="http://schemas.microsoft.com/office/powerpoint/2010/main" val="21643742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CF2EF-CBF4-CB1D-23BD-5157E3E7597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44358CA-D588-5557-580E-832155B12166}"/>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55</a:t>
            </a:fld>
            <a:endParaRPr lang="en-US" dirty="0"/>
          </a:p>
        </p:txBody>
      </p:sp>
      <p:sp>
        <p:nvSpPr>
          <p:cNvPr id="2" name="文字方塊 1">
            <a:extLst>
              <a:ext uri="{FF2B5EF4-FFF2-40B4-BE49-F238E27FC236}">
                <a16:creationId xmlns:a16="http://schemas.microsoft.com/office/drawing/2014/main" id="{7C960A99-FDCC-9A17-C7F0-DB8E5296605B}"/>
              </a:ext>
            </a:extLst>
          </p:cNvPr>
          <p:cNvSpPr txBox="1"/>
          <p:nvPr/>
        </p:nvSpPr>
        <p:spPr>
          <a:xfrm>
            <a:off x="607555" y="185532"/>
            <a:ext cx="11181455" cy="6672468"/>
          </a:xfrm>
          <a:prstGeom prst="rect">
            <a:avLst/>
          </a:prstGeom>
          <a:noFill/>
        </p:spPr>
        <p:txBody>
          <a:bodyPr wrap="square" rtlCol="0">
            <a:spAutoFit/>
          </a:bodyPr>
          <a:lstStyle/>
          <a:p>
            <a:pPr>
              <a:lnSpc>
                <a:spcPct val="150000"/>
              </a:lnSpc>
            </a:pPr>
            <a:r>
              <a:rPr lang="en-US" altLang="zh-TW" sz="2400" dirty="0">
                <a:latin typeface="微軟正黑體" panose="020B0604030504040204" pitchFamily="34" charset="-120"/>
                <a:ea typeface="微軟正黑體" panose="020B0604030504040204" pitchFamily="34" charset="-120"/>
              </a:rPr>
              <a:t>7. </a:t>
            </a:r>
            <a:r>
              <a:rPr lang="zh-TW" altLang="en-US" sz="2400" dirty="0">
                <a:latin typeface="微軟正黑體" panose="020B0604030504040204" pitchFamily="34" charset="-120"/>
                <a:ea typeface="微軟正黑體" panose="020B0604030504040204" pitchFamily="34" charset="-120"/>
              </a:rPr>
              <a:t>央行數字貨幣（</a:t>
            </a:r>
            <a:r>
              <a:rPr lang="en-US" altLang="zh-TW" sz="2400" dirty="0">
                <a:latin typeface="微軟正黑體" panose="020B0604030504040204" pitchFamily="34" charset="-120"/>
                <a:ea typeface="微軟正黑體" panose="020B0604030504040204" pitchFamily="34" charset="-120"/>
              </a:rPr>
              <a:t>CBDC</a:t>
            </a:r>
            <a:r>
              <a:rPr lang="zh-TW" altLang="en-US" sz="2400" dirty="0">
                <a:latin typeface="微軟正黑體" panose="020B0604030504040204" pitchFamily="34" charset="-120"/>
                <a:ea typeface="微軟正黑體" panose="020B0604030504040204" pitchFamily="34" charset="-120"/>
              </a:rPr>
              <a:t>）的基礎</a:t>
            </a:r>
          </a:p>
          <a:p>
            <a:pPr>
              <a:lnSpc>
                <a:spcPct val="150000"/>
              </a:lnSpc>
            </a:pPr>
            <a:r>
              <a:rPr lang="zh-TW" altLang="en-US" sz="2400" dirty="0">
                <a:latin typeface="微軟正黑體" panose="020B0604030504040204" pitchFamily="34" charset="-120"/>
                <a:ea typeface="微軟正黑體" panose="020B0604030504040204" pitchFamily="34" charset="-120"/>
              </a:rPr>
              <a:t>許多國家已經或正在考慮推出自己的央行數字貨幣（</a:t>
            </a:r>
            <a:r>
              <a:rPr lang="en-US" altLang="zh-TW" sz="2400" dirty="0">
                <a:latin typeface="微軟正黑體" panose="020B0604030504040204" pitchFamily="34" charset="-120"/>
                <a:ea typeface="微軟正黑體" panose="020B0604030504040204" pitchFamily="34" charset="-120"/>
              </a:rPr>
              <a:t>CBDC</a:t>
            </a:r>
            <a:r>
              <a:rPr lang="zh-TW" altLang="en-US" sz="2400" dirty="0">
                <a:latin typeface="微軟正黑體" panose="020B0604030504040204" pitchFamily="34" charset="-120"/>
                <a:ea typeface="微軟正黑體" panose="020B0604030504040204" pitchFamily="34" charset="-120"/>
              </a:rPr>
              <a:t>），而穩定幣技術提供了央行實現數字貨幣發行的技術基礎。</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中國數字人民幣（</a:t>
            </a:r>
            <a:r>
              <a:rPr lang="en-US" altLang="zh-TW" sz="2400" dirty="0">
                <a:latin typeface="微軟正黑體" panose="020B0604030504040204" pitchFamily="34" charset="-120"/>
                <a:ea typeface="微軟正黑體" panose="020B0604030504040204" pitchFamily="34" charset="-120"/>
              </a:rPr>
              <a:t>e-CNY</a:t>
            </a:r>
            <a:r>
              <a:rPr lang="zh-TW" altLang="en-US" sz="2400" dirty="0">
                <a:latin typeface="微軟正黑體" panose="020B0604030504040204" pitchFamily="34" charset="-120"/>
                <a:ea typeface="微軟正黑體" panose="020B0604030504040204" pitchFamily="34" charset="-120"/>
              </a:rPr>
              <a:t>）：中國的數字人民幣項目借鑒了穩定幣技術，提供了一種國家支持的法定數字貨幣，供國內和跨境支付使用。</a:t>
            </a:r>
          </a:p>
          <a:p>
            <a:pPr marL="342900" indent="-342900">
              <a:lnSpc>
                <a:spcPct val="150000"/>
              </a:lnSpc>
              <a:buFont typeface="Wingdings" panose="05000000000000000000" pitchFamily="2" charset="2"/>
              <a:buChar char="u"/>
            </a:pPr>
            <a:r>
              <a:rPr lang="zh-TW" altLang="en-US" sz="2400" dirty="0">
                <a:latin typeface="微軟正黑體" panose="020B0604030504040204" pitchFamily="34" charset="-120"/>
                <a:ea typeface="微軟正黑體" panose="020B0604030504040204" pitchFamily="34" charset="-120"/>
              </a:rPr>
              <a:t>其他國家 </a:t>
            </a:r>
            <a:r>
              <a:rPr lang="en-US" altLang="zh-TW" sz="2400" dirty="0">
                <a:latin typeface="微軟正黑體" panose="020B0604030504040204" pitchFamily="34" charset="-120"/>
                <a:ea typeface="微軟正黑體" panose="020B0604030504040204" pitchFamily="34" charset="-120"/>
              </a:rPr>
              <a:t>CBDC</a:t>
            </a:r>
            <a:r>
              <a:rPr lang="zh-TW" altLang="en-US" sz="2400" dirty="0">
                <a:latin typeface="微軟正黑體" panose="020B0604030504040204" pitchFamily="34" charset="-120"/>
                <a:ea typeface="微軟正黑體" panose="020B0604030504040204" pitchFamily="34" charset="-120"/>
              </a:rPr>
              <a:t>：包括歐盟、美國等在內的多個國家正在研究或試點基於穩定幣技術的央行數字貨幣，這些貨幣將在國際支付和貿易中發揮越來越重要的作用。</a:t>
            </a:r>
          </a:p>
          <a:p>
            <a:pPr>
              <a:lnSpc>
                <a:spcPct val="150000"/>
              </a:lnSpc>
            </a:pPr>
            <a:r>
              <a:rPr lang="zh-TW" altLang="en-US" sz="2400" dirty="0">
                <a:solidFill>
                  <a:srgbClr val="FF0000"/>
                </a:solidFill>
                <a:latin typeface="微軟正黑體" panose="020B0604030504040204" pitchFamily="34" charset="-120"/>
                <a:ea typeface="微軟正黑體" panose="020B0604030504040204" pitchFamily="34" charset="-120"/>
              </a:rPr>
              <a:t>總結</a:t>
            </a:r>
          </a:p>
          <a:p>
            <a:pPr>
              <a:lnSpc>
                <a:spcPct val="150000"/>
              </a:lnSpc>
            </a:pPr>
            <a:r>
              <a:rPr lang="zh-TW" altLang="en-US" sz="2400" dirty="0">
                <a:latin typeface="微軟正黑體" panose="020B0604030504040204" pitchFamily="34" charset="-120"/>
                <a:ea typeface="微軟正黑體" panose="020B0604030504040204" pitchFamily="34" charset="-120"/>
              </a:rPr>
              <a:t>穩定幣在區塊鏈領域的應用範圍廣泛，包括支付、借貸、跨境貿易、資產管理和數字貨幣發行等多個方面。它們解決了傳統加密貨幣價格波動帶來的問題，成為加密貨幣市場與傳統金融系統之間的重要橋樑，未來將在數字經濟中發揮越來越重要的作用。</a:t>
            </a:r>
          </a:p>
        </p:txBody>
      </p:sp>
    </p:spTree>
    <p:extLst>
      <p:ext uri="{BB962C8B-B14F-4D97-AF65-F5344CB8AC3E}">
        <p14:creationId xmlns:p14="http://schemas.microsoft.com/office/powerpoint/2010/main" val="5107277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FC3D-516F-4153-4CC5-C95F45D4FF0E}"/>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id="{4A7C03FF-7961-8869-B61A-06C50839293F}"/>
              </a:ext>
            </a:extLst>
          </p:cNvPr>
          <p:cNvSpPr txBox="1"/>
          <p:nvPr/>
        </p:nvSpPr>
        <p:spPr>
          <a:xfrm>
            <a:off x="744725" y="425128"/>
            <a:ext cx="8931728" cy="6118470"/>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主流區塊鏈的應用場景</a:t>
            </a:r>
          </a:p>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加密貨幣交易：如比特幣、以太坊等作為數字資產在交易所中進行交易。</a:t>
            </a:r>
          </a:p>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去中心化金融（</a:t>
            </a:r>
            <a:r>
              <a:rPr lang="en-US" altLang="zh-TW" sz="2400" dirty="0">
                <a:latin typeface="微軟正黑體" panose="020B0604030504040204" pitchFamily="34" charset="-120"/>
                <a:ea typeface="微軟正黑體" panose="020B0604030504040204" pitchFamily="34" charset="-120"/>
              </a:rPr>
              <a:t>DeFi</a:t>
            </a:r>
            <a:r>
              <a:rPr lang="zh-TW" altLang="en-US" sz="2400" dirty="0">
                <a:latin typeface="微軟正黑體" panose="020B0604030504040204" pitchFamily="34" charset="-120"/>
                <a:ea typeface="微軟正黑體" panose="020B0604030504040204" pitchFamily="34" charset="-120"/>
              </a:rPr>
              <a:t>）：利用智能合約提供借貸、交易、收益農業等金融服務。</a:t>
            </a:r>
          </a:p>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非同質化代幣（</a:t>
            </a:r>
            <a:r>
              <a:rPr lang="en-US" altLang="zh-TW" sz="2400" dirty="0">
                <a:latin typeface="微軟正黑體" panose="020B0604030504040204" pitchFamily="34" charset="-120"/>
                <a:ea typeface="微軟正黑體" panose="020B0604030504040204" pitchFamily="34" charset="-120"/>
              </a:rPr>
              <a:t>NFT</a:t>
            </a:r>
            <a:r>
              <a:rPr lang="zh-TW" altLang="en-US" sz="2400" dirty="0">
                <a:latin typeface="微軟正黑體" panose="020B0604030504040204" pitchFamily="34" charset="-120"/>
                <a:ea typeface="微軟正黑體" panose="020B0604030504040204" pitchFamily="34" charset="-120"/>
              </a:rPr>
              <a:t>）：在藝術、遊戲、收藏品等領域創建和交易獨特的數字資產。</a:t>
            </a:r>
          </a:p>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供應鏈管理：利用區塊鏈的透明性和不可篡改性追蹤產品的生產和流通過程。</a:t>
            </a:r>
          </a:p>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身份驗證和數據管理：提供去中心化的身份驗證和安全的數據存儲解決方案。</a:t>
            </a:r>
          </a:p>
        </p:txBody>
      </p:sp>
    </p:spTree>
    <p:extLst>
      <p:ext uri="{BB962C8B-B14F-4D97-AF65-F5344CB8AC3E}">
        <p14:creationId xmlns:p14="http://schemas.microsoft.com/office/powerpoint/2010/main" val="2738679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A480-5711-6C7C-5EC9-F9CB9545CDCC}"/>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21150D63-FC5E-2C82-71B6-5485A4230B46}"/>
              </a:ext>
            </a:extLst>
          </p:cNvPr>
          <p:cNvSpPr txBox="1"/>
          <p:nvPr/>
        </p:nvSpPr>
        <p:spPr>
          <a:xfrm>
            <a:off x="2147944" y="1160238"/>
            <a:ext cx="7250833" cy="4537524"/>
          </a:xfrm>
          <a:prstGeom prst="rect">
            <a:avLst/>
          </a:prstGeom>
          <a:noFill/>
        </p:spPr>
        <p:txBody>
          <a:bodyPr wrap="square" rtlCol="0">
            <a:spAutoFit/>
          </a:bodyPr>
          <a:lstStyle/>
          <a:p>
            <a:pPr>
              <a:lnSpc>
                <a:spcPct val="150000"/>
              </a:lnSpc>
            </a:pPr>
            <a:r>
              <a:rPr lang="zh-TW" altLang="en-US" sz="2800" dirty="0">
                <a:solidFill>
                  <a:srgbClr val="FF0000"/>
                </a:solidFill>
                <a:latin typeface="微軟正黑體" panose="020B0604030504040204" pitchFamily="34" charset="-120"/>
                <a:ea typeface="微軟正黑體" panose="020B0604030504040204" pitchFamily="34" charset="-120"/>
              </a:rPr>
              <a:t>結論</a:t>
            </a:r>
          </a:p>
          <a:p>
            <a:pPr>
              <a:lnSpc>
                <a:spcPct val="150000"/>
              </a:lnSpc>
            </a:pPr>
            <a:r>
              <a:rPr lang="zh-TW" altLang="en-US" sz="2800" dirty="0">
                <a:latin typeface="微軟正黑體" panose="020B0604030504040204" pitchFamily="34" charset="-120"/>
                <a:ea typeface="微軟正黑體" panose="020B0604030504040204" pitchFamily="34" charset="-120"/>
              </a:rPr>
              <a:t>主流區塊鏈平台各具特色，適用於不同的應用場景。隨著技術的進步和生態系統的擴展，這些區塊鏈平台不斷創新，推動區塊鏈技術在各行各業中的應用。選擇適合的區塊鏈平台需根據具體需求、技術特性以及社群支持等多方面考量。</a:t>
            </a:r>
          </a:p>
        </p:txBody>
      </p:sp>
    </p:spTree>
    <p:extLst>
      <p:ext uri="{BB962C8B-B14F-4D97-AF65-F5344CB8AC3E}">
        <p14:creationId xmlns:p14="http://schemas.microsoft.com/office/powerpoint/2010/main" val="11829255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7F54A-1E87-51FE-738A-960BDB093222}"/>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3B6A6E4-46C6-0FA8-0CE7-0E6301358A23}"/>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穩定幣能保持幣值穩定、不易暴漲暴跌</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C6A3CC3D-0C01-EA8A-C7D5-24AC59BBD6FC}"/>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spTree>
    <p:extLst>
      <p:ext uri="{BB962C8B-B14F-4D97-AF65-F5344CB8AC3E}">
        <p14:creationId xmlns:p14="http://schemas.microsoft.com/office/powerpoint/2010/main" val="19449642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07F9-708B-E498-A541-F91F5AC4DC13}"/>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2136D057-25B1-246D-337C-C8078DDFCBFA}"/>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穩定幣能保持幣值穩定、不易暴漲暴跌</a:t>
            </a:r>
            <a:r>
              <a:rPr lang="en-US" altLang="zh-TW" sz="2400" dirty="0"/>
              <a:t>?</a:t>
            </a: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p:txBody>
      </p:sp>
      <p:sp>
        <p:nvSpPr>
          <p:cNvPr id="4" name="文字方塊 3">
            <a:extLst>
              <a:ext uri="{FF2B5EF4-FFF2-40B4-BE49-F238E27FC236}">
                <a16:creationId xmlns:a16="http://schemas.microsoft.com/office/drawing/2014/main" id="{512E3AED-725C-4C93-9650-C09E661F57A1}"/>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graphicFrame>
        <p:nvGraphicFramePr>
          <p:cNvPr id="5" name="表格 4">
            <a:extLst>
              <a:ext uri="{FF2B5EF4-FFF2-40B4-BE49-F238E27FC236}">
                <a16:creationId xmlns:a16="http://schemas.microsoft.com/office/drawing/2014/main" id="{5D629AC7-DA5E-D0F9-1E26-E21FF31F3D87}"/>
              </a:ext>
            </a:extLst>
          </p:cNvPr>
          <p:cNvGraphicFramePr>
            <a:graphicFrameLocks noGrp="1"/>
          </p:cNvGraphicFramePr>
          <p:nvPr>
            <p:extLst>
              <p:ext uri="{D42A27DB-BD31-4B8C-83A1-F6EECF244321}">
                <p14:modId xmlns:p14="http://schemas.microsoft.com/office/powerpoint/2010/main" val="1194375978"/>
              </p:ext>
            </p:extLst>
          </p:nvPr>
        </p:nvGraphicFramePr>
        <p:xfrm>
          <a:off x="599661" y="2789789"/>
          <a:ext cx="8998700" cy="1316228"/>
        </p:xfrm>
        <a:graphic>
          <a:graphicData uri="http://schemas.openxmlformats.org/drawingml/2006/table">
            <a:tbl>
              <a:tblPr/>
              <a:tblGrid>
                <a:gridCol w="3052259">
                  <a:extLst>
                    <a:ext uri="{9D8B030D-6E8A-4147-A177-3AD203B41FA5}">
                      <a16:colId xmlns:a16="http://schemas.microsoft.com/office/drawing/2014/main" val="3756426204"/>
                    </a:ext>
                  </a:extLst>
                </a:gridCol>
                <a:gridCol w="1461886">
                  <a:extLst>
                    <a:ext uri="{9D8B030D-6E8A-4147-A177-3AD203B41FA5}">
                      <a16:colId xmlns:a16="http://schemas.microsoft.com/office/drawing/2014/main" val="556504619"/>
                    </a:ext>
                  </a:extLst>
                </a:gridCol>
                <a:gridCol w="4484555">
                  <a:extLst>
                    <a:ext uri="{9D8B030D-6E8A-4147-A177-3AD203B41FA5}">
                      <a16:colId xmlns:a16="http://schemas.microsoft.com/office/drawing/2014/main" val="1257354780"/>
                    </a:ext>
                  </a:extLst>
                </a:gridCol>
              </a:tblGrid>
              <a:tr h="0">
                <a:tc>
                  <a:txBody>
                    <a:bodyPr/>
                    <a:lstStyle/>
                    <a:p>
                      <a:pPr algn="just">
                        <a:lnSpc>
                          <a:spcPct val="150000"/>
                        </a:lnSpc>
                        <a:buNone/>
                      </a:pPr>
                      <a:r>
                        <a:rPr lang="zh-TW" altLang="en-US" sz="1800" dirty="0"/>
                        <a:t>功能或情境</a:t>
                      </a:r>
                    </a:p>
                  </a:txBody>
                  <a:tcPr anchor="ctr">
                    <a:lnL>
                      <a:noFill/>
                    </a:lnL>
                    <a:lnR>
                      <a:noFill/>
                    </a:lnR>
                    <a:lnT>
                      <a:noFill/>
                    </a:lnT>
                    <a:lnB>
                      <a:noFill/>
                    </a:lnB>
                    <a:noFill/>
                  </a:tcPr>
                </a:tc>
                <a:tc>
                  <a:txBody>
                    <a:bodyPr/>
                    <a:lstStyle/>
                    <a:p>
                      <a:pPr algn="just">
                        <a:lnSpc>
                          <a:spcPct val="150000"/>
                        </a:lnSpc>
                        <a:buNone/>
                      </a:pPr>
                      <a:r>
                        <a:rPr lang="zh-TW" altLang="en-US" sz="1800" dirty="0"/>
                        <a:t>答案</a:t>
                      </a:r>
                    </a:p>
                  </a:txBody>
                  <a:tcPr anchor="ctr">
                    <a:lnL>
                      <a:noFill/>
                    </a:lnL>
                    <a:lnR>
                      <a:noFill/>
                    </a:lnR>
                    <a:lnT>
                      <a:noFill/>
                    </a:lnT>
                    <a:lnB>
                      <a:noFill/>
                    </a:lnB>
                    <a:noFill/>
                  </a:tcPr>
                </a:tc>
                <a:tc>
                  <a:txBody>
                    <a:bodyPr/>
                    <a:lstStyle/>
                    <a:p>
                      <a:pPr algn="just">
                        <a:lnSpc>
                          <a:spcPct val="150000"/>
                        </a:lnSpc>
                        <a:buNone/>
                      </a:pPr>
                      <a:r>
                        <a:rPr lang="zh-TW" altLang="en-US" sz="1800"/>
                        <a:t>補充說明</a:t>
                      </a:r>
                    </a:p>
                  </a:txBody>
                  <a:tcPr anchor="ctr">
                    <a:lnL>
                      <a:noFill/>
                    </a:lnL>
                    <a:lnR>
                      <a:noFill/>
                    </a:lnR>
                    <a:lnT>
                      <a:noFill/>
                    </a:lnT>
                    <a:lnB>
                      <a:noFill/>
                    </a:lnB>
                    <a:noFill/>
                  </a:tcPr>
                </a:tc>
                <a:extLst>
                  <a:ext uri="{0D108BD9-81ED-4DB2-BD59-A6C34878D82A}">
                    <a16:rowId xmlns:a16="http://schemas.microsoft.com/office/drawing/2014/main" val="835236267"/>
                  </a:ext>
                </a:extLst>
              </a:tr>
              <a:tr h="0">
                <a:tc>
                  <a:txBody>
                    <a:bodyPr/>
                    <a:lstStyle/>
                    <a:p>
                      <a:pPr algn="just">
                        <a:lnSpc>
                          <a:spcPct val="150000"/>
                        </a:lnSpc>
                        <a:buNone/>
                      </a:pPr>
                      <a:r>
                        <a:rPr lang="zh-TW" altLang="en-US" sz="1800" dirty="0"/>
                        <a:t>能保持幣值穩定、不易暴漲暴跌</a:t>
                      </a:r>
                    </a:p>
                  </a:txBody>
                  <a:tcPr anchor="ctr">
                    <a:lnL>
                      <a:noFill/>
                    </a:lnL>
                    <a:lnR>
                      <a:noFill/>
                    </a:lnR>
                    <a:lnT>
                      <a:noFill/>
                    </a:lnT>
                    <a:lnB>
                      <a:noFill/>
                    </a:lnB>
                    <a:noFill/>
                  </a:tcPr>
                </a:tc>
                <a:tc>
                  <a:txBody>
                    <a:bodyPr/>
                    <a:lstStyle/>
                    <a:p>
                      <a:pPr algn="just">
                        <a:lnSpc>
                          <a:spcPct val="150000"/>
                        </a:lnSpc>
                        <a:buNone/>
                      </a:pPr>
                      <a:r>
                        <a:rPr lang="zh-TW" altLang="en-US" sz="1800" dirty="0"/>
                        <a:t>✅ </a:t>
                      </a:r>
                      <a:r>
                        <a:rPr lang="zh-TW" altLang="en-US" sz="1800" b="1" dirty="0"/>
                        <a:t>能</a:t>
                      </a:r>
                      <a:endParaRPr lang="zh-TW" altLang="en-US" sz="1800" dirty="0"/>
                    </a:p>
                  </a:txBody>
                  <a:tcPr anchor="ctr">
                    <a:lnL>
                      <a:noFill/>
                    </a:lnL>
                    <a:lnR>
                      <a:noFill/>
                    </a:lnR>
                    <a:lnT>
                      <a:noFill/>
                    </a:lnT>
                    <a:lnB>
                      <a:noFill/>
                    </a:lnB>
                    <a:noFill/>
                  </a:tcPr>
                </a:tc>
                <a:tc>
                  <a:txBody>
                    <a:bodyPr/>
                    <a:lstStyle/>
                    <a:p>
                      <a:pPr algn="just">
                        <a:lnSpc>
                          <a:spcPct val="150000"/>
                        </a:lnSpc>
                        <a:buNone/>
                      </a:pPr>
                      <a:r>
                        <a:rPr lang="zh-TW" altLang="en-US" sz="1800" dirty="0"/>
                        <a:t>穩定幣通常與美元或其他法幣掛鉤（如 </a:t>
                      </a:r>
                      <a:r>
                        <a:rPr lang="en-US" altLang="zh-TW" sz="1800" dirty="0"/>
                        <a:t>USDT</a:t>
                      </a:r>
                      <a:r>
                        <a:rPr lang="zh-TW" altLang="en-US" sz="1800" dirty="0"/>
                        <a:t>、</a:t>
                      </a:r>
                      <a:r>
                        <a:rPr lang="en-US" altLang="zh-TW" sz="1800" dirty="0"/>
                        <a:t>USDC</a:t>
                      </a:r>
                      <a:r>
                        <a:rPr lang="zh-TW" altLang="en-US" sz="1800" dirty="0"/>
                        <a:t>）。</a:t>
                      </a:r>
                    </a:p>
                  </a:txBody>
                  <a:tcPr anchor="ctr">
                    <a:lnL>
                      <a:noFill/>
                    </a:lnL>
                    <a:lnR>
                      <a:noFill/>
                    </a:lnR>
                    <a:lnT>
                      <a:noFill/>
                    </a:lnT>
                    <a:lnB>
                      <a:noFill/>
                    </a:lnB>
                    <a:noFill/>
                  </a:tcPr>
                </a:tc>
                <a:extLst>
                  <a:ext uri="{0D108BD9-81ED-4DB2-BD59-A6C34878D82A}">
                    <a16:rowId xmlns:a16="http://schemas.microsoft.com/office/drawing/2014/main" val="715807486"/>
                  </a:ext>
                </a:extLst>
              </a:tr>
            </a:tbl>
          </a:graphicData>
        </a:graphic>
      </p:graphicFrame>
    </p:spTree>
    <p:extLst>
      <p:ext uri="{BB962C8B-B14F-4D97-AF65-F5344CB8AC3E}">
        <p14:creationId xmlns:p14="http://schemas.microsoft.com/office/powerpoint/2010/main" val="9562598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03211-55C2-E09F-9922-D692702D32C8}"/>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82F6EB76-80B6-611C-5B94-8DC401BF6B37}"/>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穩定幣能能像股票一樣讓你賺取高報酬波動價差</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42EC6B1C-E9F2-AA83-3EFB-E8DA7F746BFA}"/>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spTree>
    <p:extLst>
      <p:ext uri="{BB962C8B-B14F-4D97-AF65-F5344CB8AC3E}">
        <p14:creationId xmlns:p14="http://schemas.microsoft.com/office/powerpoint/2010/main" val="24123751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3DE9C-7D17-5005-CEC5-4A4DF9B8C0DF}"/>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81A71891-6CDF-6958-E106-85DFAF162707}"/>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穩定幣能能像股票一樣讓你賺取高報酬波動價差</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p:txBody>
      </p:sp>
      <p:sp>
        <p:nvSpPr>
          <p:cNvPr id="4" name="文字方塊 3">
            <a:extLst>
              <a:ext uri="{FF2B5EF4-FFF2-40B4-BE49-F238E27FC236}">
                <a16:creationId xmlns:a16="http://schemas.microsoft.com/office/drawing/2014/main" id="{3EF067EA-1DC9-E099-A276-869327BBE306}"/>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graphicFrame>
        <p:nvGraphicFramePr>
          <p:cNvPr id="5" name="表格 4">
            <a:extLst>
              <a:ext uri="{FF2B5EF4-FFF2-40B4-BE49-F238E27FC236}">
                <a16:creationId xmlns:a16="http://schemas.microsoft.com/office/drawing/2014/main" id="{26FDA347-5975-4505-261C-D08683A74145}"/>
              </a:ext>
            </a:extLst>
          </p:cNvPr>
          <p:cNvGraphicFramePr>
            <a:graphicFrameLocks noGrp="1"/>
          </p:cNvGraphicFramePr>
          <p:nvPr>
            <p:extLst>
              <p:ext uri="{D42A27DB-BD31-4B8C-83A1-F6EECF244321}">
                <p14:modId xmlns:p14="http://schemas.microsoft.com/office/powerpoint/2010/main" val="3812042772"/>
              </p:ext>
            </p:extLst>
          </p:nvPr>
        </p:nvGraphicFramePr>
        <p:xfrm>
          <a:off x="599661" y="2789789"/>
          <a:ext cx="8998700" cy="1316228"/>
        </p:xfrm>
        <a:graphic>
          <a:graphicData uri="http://schemas.openxmlformats.org/drawingml/2006/table">
            <a:tbl>
              <a:tblPr/>
              <a:tblGrid>
                <a:gridCol w="3052259">
                  <a:extLst>
                    <a:ext uri="{9D8B030D-6E8A-4147-A177-3AD203B41FA5}">
                      <a16:colId xmlns:a16="http://schemas.microsoft.com/office/drawing/2014/main" val="3756426204"/>
                    </a:ext>
                  </a:extLst>
                </a:gridCol>
                <a:gridCol w="1461886">
                  <a:extLst>
                    <a:ext uri="{9D8B030D-6E8A-4147-A177-3AD203B41FA5}">
                      <a16:colId xmlns:a16="http://schemas.microsoft.com/office/drawing/2014/main" val="556504619"/>
                    </a:ext>
                  </a:extLst>
                </a:gridCol>
                <a:gridCol w="4484555">
                  <a:extLst>
                    <a:ext uri="{9D8B030D-6E8A-4147-A177-3AD203B41FA5}">
                      <a16:colId xmlns:a16="http://schemas.microsoft.com/office/drawing/2014/main" val="1257354780"/>
                    </a:ext>
                  </a:extLst>
                </a:gridCol>
              </a:tblGrid>
              <a:tr h="0">
                <a:tc>
                  <a:txBody>
                    <a:bodyPr/>
                    <a:lstStyle/>
                    <a:p>
                      <a:pPr algn="just">
                        <a:lnSpc>
                          <a:spcPct val="150000"/>
                        </a:lnSpc>
                        <a:buNone/>
                      </a:pPr>
                      <a:r>
                        <a:rPr lang="zh-TW" altLang="en-US" sz="1800" dirty="0"/>
                        <a:t>功能或情境</a:t>
                      </a:r>
                    </a:p>
                  </a:txBody>
                  <a:tcPr anchor="ctr">
                    <a:lnL>
                      <a:noFill/>
                    </a:lnL>
                    <a:lnR>
                      <a:noFill/>
                    </a:lnR>
                    <a:lnT>
                      <a:noFill/>
                    </a:lnT>
                    <a:lnB>
                      <a:noFill/>
                    </a:lnB>
                    <a:noFill/>
                  </a:tcPr>
                </a:tc>
                <a:tc>
                  <a:txBody>
                    <a:bodyPr/>
                    <a:lstStyle/>
                    <a:p>
                      <a:pPr algn="just">
                        <a:lnSpc>
                          <a:spcPct val="150000"/>
                        </a:lnSpc>
                        <a:buNone/>
                      </a:pPr>
                      <a:r>
                        <a:rPr lang="zh-TW" altLang="en-US" sz="1800" dirty="0"/>
                        <a:t>答案</a:t>
                      </a:r>
                    </a:p>
                  </a:txBody>
                  <a:tcPr anchor="ctr">
                    <a:lnL>
                      <a:noFill/>
                    </a:lnL>
                    <a:lnR>
                      <a:noFill/>
                    </a:lnR>
                    <a:lnT>
                      <a:noFill/>
                    </a:lnT>
                    <a:lnB>
                      <a:noFill/>
                    </a:lnB>
                    <a:noFill/>
                  </a:tcPr>
                </a:tc>
                <a:tc>
                  <a:txBody>
                    <a:bodyPr/>
                    <a:lstStyle/>
                    <a:p>
                      <a:pPr algn="just">
                        <a:lnSpc>
                          <a:spcPct val="150000"/>
                        </a:lnSpc>
                        <a:buNone/>
                      </a:pPr>
                      <a:r>
                        <a:rPr lang="zh-TW" altLang="en-US" sz="1800" dirty="0"/>
                        <a:t>補充說明</a:t>
                      </a:r>
                    </a:p>
                  </a:txBody>
                  <a:tcPr anchor="ctr">
                    <a:lnL>
                      <a:noFill/>
                    </a:lnL>
                    <a:lnR>
                      <a:noFill/>
                    </a:lnR>
                    <a:lnT>
                      <a:noFill/>
                    </a:lnT>
                    <a:lnB>
                      <a:noFill/>
                    </a:lnB>
                    <a:noFill/>
                  </a:tcPr>
                </a:tc>
                <a:extLst>
                  <a:ext uri="{0D108BD9-81ED-4DB2-BD59-A6C34878D82A}">
                    <a16:rowId xmlns:a16="http://schemas.microsoft.com/office/drawing/2014/main" val="835236267"/>
                  </a:ext>
                </a:extLst>
              </a:tr>
              <a:tr h="0">
                <a:tc>
                  <a:txBody>
                    <a:bodyPr/>
                    <a:lstStyle/>
                    <a:p>
                      <a:pPr algn="just">
                        <a:lnSpc>
                          <a:spcPct val="150000"/>
                        </a:lnSpc>
                        <a:buNone/>
                      </a:pPr>
                      <a:r>
                        <a:rPr lang="zh-TW" altLang="en-US" sz="1800" dirty="0"/>
                        <a:t>能像股票一樣讓你賺取高報酬波動價差</a:t>
                      </a:r>
                    </a:p>
                  </a:txBody>
                  <a:tcPr anchor="ctr">
                    <a:lnL>
                      <a:noFill/>
                    </a:lnL>
                    <a:lnR>
                      <a:noFill/>
                    </a:lnR>
                    <a:lnT>
                      <a:noFill/>
                    </a:lnT>
                    <a:lnB>
                      <a:noFill/>
                    </a:lnB>
                    <a:noFill/>
                  </a:tcPr>
                </a:tc>
                <a:tc>
                  <a:txBody>
                    <a:bodyPr/>
                    <a:lstStyle/>
                    <a:p>
                      <a:pPr algn="just">
                        <a:lnSpc>
                          <a:spcPct val="150000"/>
                        </a:lnSpc>
                        <a:buNone/>
                      </a:pPr>
                      <a:r>
                        <a:rPr lang="zh-TW" altLang="en-US" sz="1800" dirty="0"/>
                        <a:t>❌ </a:t>
                      </a:r>
                      <a:r>
                        <a:rPr lang="zh-TW" altLang="en-US" sz="1800" b="1" dirty="0"/>
                        <a:t>不能</a:t>
                      </a:r>
                      <a:endParaRPr lang="zh-TW" altLang="en-US" sz="1800" dirty="0"/>
                    </a:p>
                  </a:txBody>
                  <a:tcPr anchor="ctr">
                    <a:lnL>
                      <a:noFill/>
                    </a:lnL>
                    <a:lnR>
                      <a:noFill/>
                    </a:lnR>
                    <a:lnT>
                      <a:noFill/>
                    </a:lnT>
                    <a:lnB>
                      <a:noFill/>
                    </a:lnB>
                    <a:noFill/>
                  </a:tcPr>
                </a:tc>
                <a:tc>
                  <a:txBody>
                    <a:bodyPr/>
                    <a:lstStyle/>
                    <a:p>
                      <a:pPr algn="just">
                        <a:lnSpc>
                          <a:spcPct val="150000"/>
                        </a:lnSpc>
                        <a:buNone/>
                      </a:pPr>
                      <a:r>
                        <a:rPr lang="zh-TW" altLang="en-US" sz="1800" dirty="0"/>
                        <a:t>穩定幣價值固定，主要用途在交易與支付，不是投機。</a:t>
                      </a:r>
                    </a:p>
                  </a:txBody>
                  <a:tcPr anchor="ctr">
                    <a:lnL>
                      <a:noFill/>
                    </a:lnL>
                    <a:lnR>
                      <a:noFill/>
                    </a:lnR>
                    <a:lnT>
                      <a:noFill/>
                    </a:lnT>
                    <a:lnB>
                      <a:noFill/>
                    </a:lnB>
                    <a:noFill/>
                  </a:tcPr>
                </a:tc>
                <a:extLst>
                  <a:ext uri="{0D108BD9-81ED-4DB2-BD59-A6C34878D82A}">
                    <a16:rowId xmlns:a16="http://schemas.microsoft.com/office/drawing/2014/main" val="247682094"/>
                  </a:ext>
                </a:extLst>
              </a:tr>
            </a:tbl>
          </a:graphicData>
        </a:graphic>
      </p:graphicFrame>
    </p:spTree>
    <p:extLst>
      <p:ext uri="{BB962C8B-B14F-4D97-AF65-F5344CB8AC3E}">
        <p14:creationId xmlns:p14="http://schemas.microsoft.com/office/powerpoint/2010/main" val="617838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8B45A-315D-4060-F973-A5E5F83E179D}"/>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60053333-A563-2A14-0654-D93EF98A988E}"/>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穩定幣能用於跨國轉帳、支付、或 </a:t>
            </a:r>
            <a:r>
              <a:rPr lang="en-US" altLang="zh-TW" sz="2400" dirty="0"/>
              <a:t>DeFi </a:t>
            </a:r>
            <a:r>
              <a:rPr lang="zh-TW" altLang="en-US" sz="2400" dirty="0"/>
              <a:t>抵押</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4309C7BE-5236-31E7-5132-5F28EC8657CD}"/>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spTree>
    <p:extLst>
      <p:ext uri="{BB962C8B-B14F-4D97-AF65-F5344CB8AC3E}">
        <p14:creationId xmlns:p14="http://schemas.microsoft.com/office/powerpoint/2010/main" val="3439659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073F7-EA66-5D00-9714-13BF5B7EEBB4}"/>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764235CE-060A-80C0-E2E6-313ACEDA4441}"/>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穩定幣能用於跨國轉帳、支付、或 </a:t>
            </a:r>
            <a:r>
              <a:rPr lang="en-US" altLang="zh-TW" sz="2400" dirty="0"/>
              <a:t>DeFi </a:t>
            </a:r>
            <a:r>
              <a:rPr lang="zh-TW" altLang="en-US" sz="2400" dirty="0"/>
              <a:t>抵押</a:t>
            </a:r>
            <a:r>
              <a:rPr lang="en-US" altLang="zh-TW" sz="2400" dirty="0"/>
              <a:t>?</a:t>
            </a: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能</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不能</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p:txBody>
      </p:sp>
      <p:sp>
        <p:nvSpPr>
          <p:cNvPr id="4" name="文字方塊 3">
            <a:extLst>
              <a:ext uri="{FF2B5EF4-FFF2-40B4-BE49-F238E27FC236}">
                <a16:creationId xmlns:a16="http://schemas.microsoft.com/office/drawing/2014/main" id="{D24D223D-18D2-529B-A48A-E64E6D1CA41E}"/>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graphicFrame>
        <p:nvGraphicFramePr>
          <p:cNvPr id="5" name="表格 4">
            <a:extLst>
              <a:ext uri="{FF2B5EF4-FFF2-40B4-BE49-F238E27FC236}">
                <a16:creationId xmlns:a16="http://schemas.microsoft.com/office/drawing/2014/main" id="{5655B9A5-952E-B741-F536-BC3FD45E73D2}"/>
              </a:ext>
            </a:extLst>
          </p:cNvPr>
          <p:cNvGraphicFramePr>
            <a:graphicFrameLocks noGrp="1"/>
          </p:cNvGraphicFramePr>
          <p:nvPr>
            <p:extLst>
              <p:ext uri="{D42A27DB-BD31-4B8C-83A1-F6EECF244321}">
                <p14:modId xmlns:p14="http://schemas.microsoft.com/office/powerpoint/2010/main" val="2735100153"/>
              </p:ext>
            </p:extLst>
          </p:nvPr>
        </p:nvGraphicFramePr>
        <p:xfrm>
          <a:off x="599661" y="2789789"/>
          <a:ext cx="8998700" cy="1316228"/>
        </p:xfrm>
        <a:graphic>
          <a:graphicData uri="http://schemas.openxmlformats.org/drawingml/2006/table">
            <a:tbl>
              <a:tblPr/>
              <a:tblGrid>
                <a:gridCol w="3052259">
                  <a:extLst>
                    <a:ext uri="{9D8B030D-6E8A-4147-A177-3AD203B41FA5}">
                      <a16:colId xmlns:a16="http://schemas.microsoft.com/office/drawing/2014/main" val="3756426204"/>
                    </a:ext>
                  </a:extLst>
                </a:gridCol>
                <a:gridCol w="1461886">
                  <a:extLst>
                    <a:ext uri="{9D8B030D-6E8A-4147-A177-3AD203B41FA5}">
                      <a16:colId xmlns:a16="http://schemas.microsoft.com/office/drawing/2014/main" val="556504619"/>
                    </a:ext>
                  </a:extLst>
                </a:gridCol>
                <a:gridCol w="4484555">
                  <a:extLst>
                    <a:ext uri="{9D8B030D-6E8A-4147-A177-3AD203B41FA5}">
                      <a16:colId xmlns:a16="http://schemas.microsoft.com/office/drawing/2014/main" val="1257354780"/>
                    </a:ext>
                  </a:extLst>
                </a:gridCol>
              </a:tblGrid>
              <a:tr h="0">
                <a:tc>
                  <a:txBody>
                    <a:bodyPr/>
                    <a:lstStyle/>
                    <a:p>
                      <a:pPr algn="just">
                        <a:lnSpc>
                          <a:spcPct val="150000"/>
                        </a:lnSpc>
                        <a:buNone/>
                      </a:pPr>
                      <a:r>
                        <a:rPr lang="zh-TW" altLang="en-US" sz="1800" dirty="0"/>
                        <a:t>功能或情境</a:t>
                      </a:r>
                    </a:p>
                  </a:txBody>
                  <a:tcPr anchor="ctr">
                    <a:lnL>
                      <a:noFill/>
                    </a:lnL>
                    <a:lnR>
                      <a:noFill/>
                    </a:lnR>
                    <a:lnT>
                      <a:noFill/>
                    </a:lnT>
                    <a:lnB>
                      <a:noFill/>
                    </a:lnB>
                    <a:noFill/>
                  </a:tcPr>
                </a:tc>
                <a:tc>
                  <a:txBody>
                    <a:bodyPr/>
                    <a:lstStyle/>
                    <a:p>
                      <a:pPr algn="just">
                        <a:lnSpc>
                          <a:spcPct val="150000"/>
                        </a:lnSpc>
                        <a:buNone/>
                      </a:pPr>
                      <a:r>
                        <a:rPr lang="zh-TW" altLang="en-US" sz="1800" dirty="0"/>
                        <a:t>答案</a:t>
                      </a:r>
                    </a:p>
                  </a:txBody>
                  <a:tcPr anchor="ctr">
                    <a:lnL>
                      <a:noFill/>
                    </a:lnL>
                    <a:lnR>
                      <a:noFill/>
                    </a:lnR>
                    <a:lnT>
                      <a:noFill/>
                    </a:lnT>
                    <a:lnB>
                      <a:noFill/>
                    </a:lnB>
                    <a:noFill/>
                  </a:tcPr>
                </a:tc>
                <a:tc>
                  <a:txBody>
                    <a:bodyPr/>
                    <a:lstStyle/>
                    <a:p>
                      <a:pPr algn="just">
                        <a:lnSpc>
                          <a:spcPct val="150000"/>
                        </a:lnSpc>
                        <a:buNone/>
                      </a:pPr>
                      <a:r>
                        <a:rPr lang="zh-TW" altLang="en-US" sz="1800"/>
                        <a:t>補充說明</a:t>
                      </a:r>
                    </a:p>
                  </a:txBody>
                  <a:tcPr anchor="ctr">
                    <a:lnL>
                      <a:noFill/>
                    </a:lnL>
                    <a:lnR>
                      <a:noFill/>
                    </a:lnR>
                    <a:lnT>
                      <a:noFill/>
                    </a:lnT>
                    <a:lnB>
                      <a:noFill/>
                    </a:lnB>
                    <a:noFill/>
                  </a:tcPr>
                </a:tc>
                <a:extLst>
                  <a:ext uri="{0D108BD9-81ED-4DB2-BD59-A6C34878D82A}">
                    <a16:rowId xmlns:a16="http://schemas.microsoft.com/office/drawing/2014/main" val="835236267"/>
                  </a:ext>
                </a:extLst>
              </a:tr>
              <a:tr h="0">
                <a:tc>
                  <a:txBody>
                    <a:bodyPr/>
                    <a:lstStyle/>
                    <a:p>
                      <a:pPr algn="just">
                        <a:lnSpc>
                          <a:spcPct val="150000"/>
                        </a:lnSpc>
                        <a:buNone/>
                      </a:pPr>
                      <a:r>
                        <a:rPr lang="zh-TW" altLang="en-US" sz="1800" dirty="0"/>
                        <a:t>能用於跨國轉帳、支付、或 </a:t>
                      </a:r>
                      <a:r>
                        <a:rPr lang="en-US" altLang="zh-TW" sz="1800" dirty="0"/>
                        <a:t>DeFi </a:t>
                      </a:r>
                      <a:r>
                        <a:rPr lang="zh-TW" altLang="en-US" sz="1800" dirty="0"/>
                        <a:t>抵押</a:t>
                      </a:r>
                    </a:p>
                  </a:txBody>
                  <a:tcPr anchor="ctr">
                    <a:lnL>
                      <a:noFill/>
                    </a:lnL>
                    <a:lnR>
                      <a:noFill/>
                    </a:lnR>
                    <a:lnT>
                      <a:noFill/>
                    </a:lnT>
                    <a:lnB>
                      <a:noFill/>
                    </a:lnB>
                    <a:noFill/>
                  </a:tcPr>
                </a:tc>
                <a:tc>
                  <a:txBody>
                    <a:bodyPr/>
                    <a:lstStyle/>
                    <a:p>
                      <a:pPr algn="just">
                        <a:lnSpc>
                          <a:spcPct val="150000"/>
                        </a:lnSpc>
                        <a:buNone/>
                      </a:pPr>
                      <a:r>
                        <a:rPr lang="zh-TW" altLang="en-US" sz="1800" dirty="0"/>
                        <a:t>✅ </a:t>
                      </a:r>
                      <a:r>
                        <a:rPr lang="zh-TW" altLang="en-US" sz="1800" b="1" dirty="0"/>
                        <a:t>能</a:t>
                      </a:r>
                      <a:endParaRPr lang="zh-TW" altLang="en-US" sz="1800" dirty="0"/>
                    </a:p>
                  </a:txBody>
                  <a:tcPr anchor="ctr">
                    <a:lnL>
                      <a:noFill/>
                    </a:lnL>
                    <a:lnR>
                      <a:noFill/>
                    </a:lnR>
                    <a:lnT>
                      <a:noFill/>
                    </a:lnT>
                    <a:lnB>
                      <a:noFill/>
                    </a:lnB>
                    <a:noFill/>
                  </a:tcPr>
                </a:tc>
                <a:tc>
                  <a:txBody>
                    <a:bodyPr/>
                    <a:lstStyle/>
                    <a:p>
                      <a:pPr algn="just">
                        <a:lnSpc>
                          <a:spcPct val="150000"/>
                        </a:lnSpc>
                        <a:buNone/>
                      </a:pPr>
                      <a:r>
                        <a:rPr lang="zh-TW" altLang="en-US" sz="1800" dirty="0"/>
                        <a:t>穩定幣常用於快速、低成本的跨境支付與金融操作。</a:t>
                      </a:r>
                    </a:p>
                  </a:txBody>
                  <a:tcPr anchor="ctr">
                    <a:lnL>
                      <a:noFill/>
                    </a:lnL>
                    <a:lnR>
                      <a:noFill/>
                    </a:lnR>
                    <a:lnT>
                      <a:noFill/>
                    </a:lnT>
                    <a:lnB>
                      <a:noFill/>
                    </a:lnB>
                    <a:noFill/>
                  </a:tcPr>
                </a:tc>
                <a:extLst>
                  <a:ext uri="{0D108BD9-81ED-4DB2-BD59-A6C34878D82A}">
                    <a16:rowId xmlns:a16="http://schemas.microsoft.com/office/drawing/2014/main" val="1128924392"/>
                  </a:ext>
                </a:extLst>
              </a:tr>
            </a:tbl>
          </a:graphicData>
        </a:graphic>
      </p:graphicFrame>
    </p:spTree>
    <p:extLst>
      <p:ext uri="{BB962C8B-B14F-4D97-AF65-F5344CB8AC3E}">
        <p14:creationId xmlns:p14="http://schemas.microsoft.com/office/powerpoint/2010/main" val="18078956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CAF83-5ACE-726A-0C87-D28A8BA858FD}"/>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4311E414-42A8-8466-4A75-F213AC26EF0D}"/>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穩定幣完全不受政府監管與法律約束</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是</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不是</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B23C75DB-887E-2642-727F-2A1710758441}"/>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spTree>
    <p:extLst>
      <p:ext uri="{BB962C8B-B14F-4D97-AF65-F5344CB8AC3E}">
        <p14:creationId xmlns:p14="http://schemas.microsoft.com/office/powerpoint/2010/main" val="14236071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3F2D7-76A7-1264-188D-AD291B28E663}"/>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004023F-49CF-FA9E-1369-9FD5E78964A1}"/>
              </a:ext>
            </a:extLst>
          </p:cNvPr>
          <p:cNvSpPr txBox="1"/>
          <p:nvPr/>
        </p:nvSpPr>
        <p:spPr>
          <a:xfrm>
            <a:off x="556590" y="414085"/>
            <a:ext cx="9399577" cy="224311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dirty="0"/>
              <a:t>穩定幣完全不受政府監管與法律約束</a:t>
            </a:r>
            <a:r>
              <a:rPr lang="en-US" altLang="zh-TW" sz="2400" dirty="0"/>
              <a:t>?</a:t>
            </a:r>
          </a:p>
          <a:p>
            <a:pPr marL="360000" algn="just">
              <a:lnSpc>
                <a:spcPct val="150000"/>
              </a:lnSpc>
            </a:pPr>
            <a:r>
              <a:rPr lang="en-US" altLang="zh-TW" sz="2400" dirty="0">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latin typeface="微軟正黑體" panose="020B0604030504040204" pitchFamily="34" charset="-120"/>
                <a:ea typeface="微軟正黑體" panose="020B0604030504040204" pitchFamily="34" charset="-120"/>
                <a:sym typeface="Wingdings 2" panose="05020102010507070707" pitchFamily="18" charset="2"/>
              </a:rPr>
              <a:t>是</a:t>
            </a:r>
            <a:endParaRPr lang="en-US" altLang="zh-TW" sz="2400" dirty="0">
              <a:latin typeface="微軟正黑體" panose="020B0604030504040204" pitchFamily="34" charset="-120"/>
              <a:ea typeface="微軟正黑體" panose="020B0604030504040204" pitchFamily="34" charset="-120"/>
              <a:sym typeface="Wingdings 2" panose="05020102010507070707" pitchFamily="18" charset="2"/>
            </a:endParaRPr>
          </a:p>
          <a:p>
            <a:pPr marL="360000" algn="just">
              <a:lnSpc>
                <a:spcPct val="150000"/>
              </a:lnSpc>
            </a:pPr>
            <a:r>
              <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a:t>
            </a:r>
            <a:r>
              <a:rPr lang="zh-TW" altLang="en-US"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rPr>
              <a:t>不是</a:t>
            </a:r>
            <a:endParaRPr lang="en-US" altLang="zh-TW" sz="2400" dirty="0">
              <a:solidFill>
                <a:srgbClr val="FF0000"/>
              </a:solidFill>
              <a:latin typeface="微軟正黑體" panose="020B0604030504040204" pitchFamily="34" charset="-120"/>
              <a:ea typeface="微軟正黑體" panose="020B0604030504040204" pitchFamily="34" charset="-120"/>
              <a:sym typeface="Wingdings 2" panose="05020102010507070707" pitchFamily="18" charset="2"/>
            </a:endParaRPr>
          </a:p>
        </p:txBody>
      </p:sp>
      <p:sp>
        <p:nvSpPr>
          <p:cNvPr id="4" name="文字方塊 3">
            <a:extLst>
              <a:ext uri="{FF2B5EF4-FFF2-40B4-BE49-F238E27FC236}">
                <a16:creationId xmlns:a16="http://schemas.microsoft.com/office/drawing/2014/main" id="{4EA7D899-D966-8985-0072-22B5BE9A5B1D}"/>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graphicFrame>
        <p:nvGraphicFramePr>
          <p:cNvPr id="5" name="表格 4">
            <a:extLst>
              <a:ext uri="{FF2B5EF4-FFF2-40B4-BE49-F238E27FC236}">
                <a16:creationId xmlns:a16="http://schemas.microsoft.com/office/drawing/2014/main" id="{2C4D955F-E9F3-DC05-2E83-E5688AE41C2F}"/>
              </a:ext>
            </a:extLst>
          </p:cNvPr>
          <p:cNvGraphicFramePr>
            <a:graphicFrameLocks noGrp="1"/>
          </p:cNvGraphicFramePr>
          <p:nvPr>
            <p:extLst>
              <p:ext uri="{D42A27DB-BD31-4B8C-83A1-F6EECF244321}">
                <p14:modId xmlns:p14="http://schemas.microsoft.com/office/powerpoint/2010/main" val="2811464752"/>
              </p:ext>
            </p:extLst>
          </p:nvPr>
        </p:nvGraphicFramePr>
        <p:xfrm>
          <a:off x="599661" y="2789789"/>
          <a:ext cx="8998700" cy="1316228"/>
        </p:xfrm>
        <a:graphic>
          <a:graphicData uri="http://schemas.openxmlformats.org/drawingml/2006/table">
            <a:tbl>
              <a:tblPr/>
              <a:tblGrid>
                <a:gridCol w="3052259">
                  <a:extLst>
                    <a:ext uri="{9D8B030D-6E8A-4147-A177-3AD203B41FA5}">
                      <a16:colId xmlns:a16="http://schemas.microsoft.com/office/drawing/2014/main" val="3756426204"/>
                    </a:ext>
                  </a:extLst>
                </a:gridCol>
                <a:gridCol w="1461886">
                  <a:extLst>
                    <a:ext uri="{9D8B030D-6E8A-4147-A177-3AD203B41FA5}">
                      <a16:colId xmlns:a16="http://schemas.microsoft.com/office/drawing/2014/main" val="556504619"/>
                    </a:ext>
                  </a:extLst>
                </a:gridCol>
                <a:gridCol w="4484555">
                  <a:extLst>
                    <a:ext uri="{9D8B030D-6E8A-4147-A177-3AD203B41FA5}">
                      <a16:colId xmlns:a16="http://schemas.microsoft.com/office/drawing/2014/main" val="1257354780"/>
                    </a:ext>
                  </a:extLst>
                </a:gridCol>
              </a:tblGrid>
              <a:tr h="0">
                <a:tc>
                  <a:txBody>
                    <a:bodyPr/>
                    <a:lstStyle/>
                    <a:p>
                      <a:pPr algn="just">
                        <a:lnSpc>
                          <a:spcPct val="150000"/>
                        </a:lnSpc>
                        <a:buNone/>
                      </a:pPr>
                      <a:r>
                        <a:rPr lang="zh-TW" altLang="en-US" sz="1800" dirty="0"/>
                        <a:t>功能或情境</a:t>
                      </a:r>
                    </a:p>
                  </a:txBody>
                  <a:tcPr anchor="ctr">
                    <a:lnL>
                      <a:noFill/>
                    </a:lnL>
                    <a:lnR>
                      <a:noFill/>
                    </a:lnR>
                    <a:lnT>
                      <a:noFill/>
                    </a:lnT>
                    <a:lnB>
                      <a:noFill/>
                    </a:lnB>
                    <a:noFill/>
                  </a:tcPr>
                </a:tc>
                <a:tc>
                  <a:txBody>
                    <a:bodyPr/>
                    <a:lstStyle/>
                    <a:p>
                      <a:pPr algn="just">
                        <a:lnSpc>
                          <a:spcPct val="150000"/>
                        </a:lnSpc>
                        <a:buNone/>
                      </a:pPr>
                      <a:r>
                        <a:rPr lang="zh-TW" altLang="en-US" sz="1800" dirty="0"/>
                        <a:t>答案</a:t>
                      </a:r>
                    </a:p>
                  </a:txBody>
                  <a:tcPr anchor="ctr">
                    <a:lnL>
                      <a:noFill/>
                    </a:lnL>
                    <a:lnR>
                      <a:noFill/>
                    </a:lnR>
                    <a:lnT>
                      <a:noFill/>
                    </a:lnT>
                    <a:lnB>
                      <a:noFill/>
                    </a:lnB>
                    <a:noFill/>
                  </a:tcPr>
                </a:tc>
                <a:tc>
                  <a:txBody>
                    <a:bodyPr/>
                    <a:lstStyle/>
                    <a:p>
                      <a:pPr algn="just">
                        <a:lnSpc>
                          <a:spcPct val="150000"/>
                        </a:lnSpc>
                        <a:buNone/>
                      </a:pPr>
                      <a:r>
                        <a:rPr lang="zh-TW" altLang="en-US" sz="1800"/>
                        <a:t>補充說明</a:t>
                      </a:r>
                    </a:p>
                  </a:txBody>
                  <a:tcPr anchor="ctr">
                    <a:lnL>
                      <a:noFill/>
                    </a:lnL>
                    <a:lnR>
                      <a:noFill/>
                    </a:lnR>
                    <a:lnT>
                      <a:noFill/>
                    </a:lnT>
                    <a:lnB>
                      <a:noFill/>
                    </a:lnB>
                    <a:noFill/>
                  </a:tcPr>
                </a:tc>
                <a:extLst>
                  <a:ext uri="{0D108BD9-81ED-4DB2-BD59-A6C34878D82A}">
                    <a16:rowId xmlns:a16="http://schemas.microsoft.com/office/drawing/2014/main" val="835236267"/>
                  </a:ext>
                </a:extLst>
              </a:tr>
              <a:tr h="0">
                <a:tc>
                  <a:txBody>
                    <a:bodyPr/>
                    <a:lstStyle/>
                    <a:p>
                      <a:pPr algn="just">
                        <a:lnSpc>
                          <a:spcPct val="150000"/>
                        </a:lnSpc>
                        <a:buNone/>
                      </a:pPr>
                      <a:r>
                        <a:rPr lang="zh-TW" altLang="en-US" sz="1800" dirty="0"/>
                        <a:t>完全不受政府監管與法律約束</a:t>
                      </a:r>
                    </a:p>
                  </a:txBody>
                  <a:tcPr anchor="ctr">
                    <a:lnL>
                      <a:noFill/>
                    </a:lnL>
                    <a:lnR>
                      <a:noFill/>
                    </a:lnR>
                    <a:lnT>
                      <a:noFill/>
                    </a:lnT>
                    <a:lnB>
                      <a:noFill/>
                    </a:lnB>
                    <a:noFill/>
                  </a:tcPr>
                </a:tc>
                <a:tc>
                  <a:txBody>
                    <a:bodyPr/>
                    <a:lstStyle/>
                    <a:p>
                      <a:pPr algn="just">
                        <a:lnSpc>
                          <a:spcPct val="150000"/>
                        </a:lnSpc>
                        <a:buNone/>
                      </a:pPr>
                      <a:r>
                        <a:rPr lang="zh-TW" altLang="en-US" sz="1800" dirty="0"/>
                        <a:t>❌ </a:t>
                      </a:r>
                      <a:r>
                        <a:rPr lang="zh-TW" altLang="en-US" sz="1800" b="1" dirty="0"/>
                        <a:t>不是</a:t>
                      </a:r>
                      <a:endParaRPr lang="zh-TW" altLang="en-US" sz="1800" dirty="0"/>
                    </a:p>
                  </a:txBody>
                  <a:tcPr anchor="ctr">
                    <a:lnL>
                      <a:noFill/>
                    </a:lnL>
                    <a:lnR>
                      <a:noFill/>
                    </a:lnR>
                    <a:lnT>
                      <a:noFill/>
                    </a:lnT>
                    <a:lnB>
                      <a:noFill/>
                    </a:lnB>
                    <a:noFill/>
                  </a:tcPr>
                </a:tc>
                <a:tc>
                  <a:txBody>
                    <a:bodyPr/>
                    <a:lstStyle/>
                    <a:p>
                      <a:pPr algn="just">
                        <a:lnSpc>
                          <a:spcPct val="150000"/>
                        </a:lnSpc>
                        <a:buNone/>
                      </a:pPr>
                      <a:r>
                        <a:rPr lang="zh-TW" altLang="en-US" sz="1800" dirty="0"/>
                        <a:t>多數穩定幣（如 </a:t>
                      </a:r>
                      <a:r>
                        <a:rPr lang="en-US" altLang="zh-TW" sz="1800" dirty="0"/>
                        <a:t>USDC</a:t>
                      </a:r>
                      <a:r>
                        <a:rPr lang="zh-TW" altLang="en-US" sz="1800" dirty="0"/>
                        <a:t>）受到發行公司及監管機構管理。</a:t>
                      </a:r>
                    </a:p>
                  </a:txBody>
                  <a:tcPr anchor="ctr">
                    <a:lnL>
                      <a:noFill/>
                    </a:lnL>
                    <a:lnR>
                      <a:noFill/>
                    </a:lnR>
                    <a:lnT>
                      <a:noFill/>
                    </a:lnT>
                    <a:lnB>
                      <a:noFill/>
                    </a:lnB>
                    <a:noFill/>
                  </a:tcPr>
                </a:tc>
                <a:extLst>
                  <a:ext uri="{0D108BD9-81ED-4DB2-BD59-A6C34878D82A}">
                    <a16:rowId xmlns:a16="http://schemas.microsoft.com/office/drawing/2014/main" val="645893724"/>
                  </a:ext>
                </a:extLst>
              </a:tr>
            </a:tbl>
          </a:graphicData>
        </a:graphic>
      </p:graphicFrame>
    </p:spTree>
    <p:extLst>
      <p:ext uri="{BB962C8B-B14F-4D97-AF65-F5344CB8AC3E}">
        <p14:creationId xmlns:p14="http://schemas.microsoft.com/office/powerpoint/2010/main" val="4434531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76D4C-53FB-7BE3-7D97-BC967F73D95C}"/>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id="{E20A03FF-6DDC-9295-0355-5FF483C0E11E}"/>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穩定幣能不能？</a:t>
            </a:r>
            <a:endParaRPr lang="zh-TW" altLang="en-US" sz="2400" dirty="0"/>
          </a:p>
        </p:txBody>
      </p:sp>
      <p:graphicFrame>
        <p:nvGraphicFramePr>
          <p:cNvPr id="2" name="表格 1">
            <a:extLst>
              <a:ext uri="{FF2B5EF4-FFF2-40B4-BE49-F238E27FC236}">
                <a16:creationId xmlns:a16="http://schemas.microsoft.com/office/drawing/2014/main" id="{72639B74-9E21-2DED-AF3E-31E6CF2FB075}"/>
              </a:ext>
            </a:extLst>
          </p:cNvPr>
          <p:cNvGraphicFramePr>
            <a:graphicFrameLocks noGrp="1"/>
          </p:cNvGraphicFramePr>
          <p:nvPr>
            <p:extLst>
              <p:ext uri="{D42A27DB-BD31-4B8C-83A1-F6EECF244321}">
                <p14:modId xmlns:p14="http://schemas.microsoft.com/office/powerpoint/2010/main" val="2102335147"/>
              </p:ext>
            </p:extLst>
          </p:nvPr>
        </p:nvGraphicFramePr>
        <p:xfrm>
          <a:off x="520148" y="641216"/>
          <a:ext cx="9356507" cy="5058095"/>
        </p:xfrm>
        <a:graphic>
          <a:graphicData uri="http://schemas.openxmlformats.org/drawingml/2006/table">
            <a:tbl>
              <a:tblPr/>
              <a:tblGrid>
                <a:gridCol w="3336235">
                  <a:extLst>
                    <a:ext uri="{9D8B030D-6E8A-4147-A177-3AD203B41FA5}">
                      <a16:colId xmlns:a16="http://schemas.microsoft.com/office/drawing/2014/main" val="3756426204"/>
                    </a:ext>
                  </a:extLst>
                </a:gridCol>
                <a:gridCol w="1743607">
                  <a:extLst>
                    <a:ext uri="{9D8B030D-6E8A-4147-A177-3AD203B41FA5}">
                      <a16:colId xmlns:a16="http://schemas.microsoft.com/office/drawing/2014/main" val="556504619"/>
                    </a:ext>
                  </a:extLst>
                </a:gridCol>
                <a:gridCol w="4276665">
                  <a:extLst>
                    <a:ext uri="{9D8B030D-6E8A-4147-A177-3AD203B41FA5}">
                      <a16:colId xmlns:a16="http://schemas.microsoft.com/office/drawing/2014/main" val="1257354780"/>
                    </a:ext>
                  </a:extLst>
                </a:gridCol>
              </a:tblGrid>
              <a:tr h="0">
                <a:tc>
                  <a:txBody>
                    <a:bodyPr/>
                    <a:lstStyle/>
                    <a:p>
                      <a:pPr algn="just">
                        <a:lnSpc>
                          <a:spcPct val="150000"/>
                        </a:lnSpc>
                        <a:buNone/>
                      </a:pPr>
                      <a:r>
                        <a:rPr lang="zh-TW" altLang="en-US" sz="2400" dirty="0"/>
                        <a:t>功能或情境</a:t>
                      </a:r>
                    </a:p>
                  </a:txBody>
                  <a:tcPr anchor="ctr">
                    <a:lnL>
                      <a:noFill/>
                    </a:lnL>
                    <a:lnR>
                      <a:noFill/>
                    </a:lnR>
                    <a:lnT>
                      <a:noFill/>
                    </a:lnT>
                    <a:lnB>
                      <a:noFill/>
                    </a:lnB>
                    <a:noFill/>
                  </a:tcPr>
                </a:tc>
                <a:tc>
                  <a:txBody>
                    <a:bodyPr/>
                    <a:lstStyle/>
                    <a:p>
                      <a:pPr algn="just">
                        <a:lnSpc>
                          <a:spcPct val="150000"/>
                        </a:lnSpc>
                        <a:buNone/>
                      </a:pPr>
                      <a:r>
                        <a:rPr lang="zh-TW" altLang="en-US" sz="2400" dirty="0"/>
                        <a:t>答案</a:t>
                      </a:r>
                    </a:p>
                  </a:txBody>
                  <a:tcPr anchor="ctr">
                    <a:lnL>
                      <a:noFill/>
                    </a:lnL>
                    <a:lnR>
                      <a:noFill/>
                    </a:lnR>
                    <a:lnT>
                      <a:noFill/>
                    </a:lnT>
                    <a:lnB>
                      <a:noFill/>
                    </a:lnB>
                    <a:noFill/>
                  </a:tcPr>
                </a:tc>
                <a:tc>
                  <a:txBody>
                    <a:bodyPr/>
                    <a:lstStyle/>
                    <a:p>
                      <a:pPr algn="just">
                        <a:lnSpc>
                          <a:spcPct val="150000"/>
                        </a:lnSpc>
                        <a:buNone/>
                      </a:pPr>
                      <a:r>
                        <a:rPr lang="zh-TW" altLang="en-US" sz="2400"/>
                        <a:t>補充說明</a:t>
                      </a:r>
                    </a:p>
                  </a:txBody>
                  <a:tcPr anchor="ctr">
                    <a:lnL>
                      <a:noFill/>
                    </a:lnL>
                    <a:lnR>
                      <a:noFill/>
                    </a:lnR>
                    <a:lnT>
                      <a:noFill/>
                    </a:lnT>
                    <a:lnB>
                      <a:noFill/>
                    </a:lnB>
                    <a:noFill/>
                  </a:tcPr>
                </a:tc>
                <a:extLst>
                  <a:ext uri="{0D108BD9-81ED-4DB2-BD59-A6C34878D82A}">
                    <a16:rowId xmlns:a16="http://schemas.microsoft.com/office/drawing/2014/main" val="835236267"/>
                  </a:ext>
                </a:extLst>
              </a:tr>
              <a:tr h="0">
                <a:tc>
                  <a:txBody>
                    <a:bodyPr/>
                    <a:lstStyle/>
                    <a:p>
                      <a:pPr algn="just">
                        <a:lnSpc>
                          <a:spcPct val="150000"/>
                        </a:lnSpc>
                        <a:buNone/>
                      </a:pPr>
                      <a:r>
                        <a:rPr lang="zh-TW" altLang="en-US" sz="2400" dirty="0"/>
                        <a:t>能保持幣值穩定、不易暴漲暴跌</a:t>
                      </a:r>
                    </a:p>
                  </a:txBody>
                  <a:tcPr anchor="ctr">
                    <a:lnL>
                      <a:noFill/>
                    </a:lnL>
                    <a:lnR>
                      <a:noFill/>
                    </a:lnR>
                    <a:lnT>
                      <a:noFill/>
                    </a:lnT>
                    <a:lnB>
                      <a:noFill/>
                    </a:lnB>
                    <a:noFill/>
                  </a:tcPr>
                </a:tc>
                <a:tc>
                  <a:txBody>
                    <a:bodyPr/>
                    <a:lstStyle/>
                    <a:p>
                      <a:pPr algn="just">
                        <a:lnSpc>
                          <a:spcPct val="150000"/>
                        </a:lnSpc>
                        <a:buNone/>
                      </a:pPr>
                      <a:r>
                        <a:rPr lang="zh-TW" altLang="en-US" sz="2400" dirty="0"/>
                        <a:t>✅ </a:t>
                      </a:r>
                      <a:r>
                        <a:rPr lang="zh-TW" altLang="en-US" sz="2400" b="1" dirty="0"/>
                        <a:t>能</a:t>
                      </a:r>
                      <a:endParaRPr lang="zh-TW" altLang="en-US" sz="2400" dirty="0"/>
                    </a:p>
                  </a:txBody>
                  <a:tcPr anchor="ctr">
                    <a:lnL>
                      <a:noFill/>
                    </a:lnL>
                    <a:lnR>
                      <a:noFill/>
                    </a:lnR>
                    <a:lnT>
                      <a:noFill/>
                    </a:lnT>
                    <a:lnB>
                      <a:noFill/>
                    </a:lnB>
                    <a:noFill/>
                  </a:tcPr>
                </a:tc>
                <a:tc>
                  <a:txBody>
                    <a:bodyPr/>
                    <a:lstStyle/>
                    <a:p>
                      <a:pPr algn="just">
                        <a:lnSpc>
                          <a:spcPct val="150000"/>
                        </a:lnSpc>
                        <a:buNone/>
                      </a:pPr>
                      <a:r>
                        <a:rPr lang="zh-TW" altLang="en-US" sz="2400"/>
                        <a:t>穩定幣通常與美元或其他法幣掛鉤（如 </a:t>
                      </a:r>
                      <a:r>
                        <a:rPr lang="en-US" altLang="zh-TW" sz="2400"/>
                        <a:t>USDT</a:t>
                      </a:r>
                      <a:r>
                        <a:rPr lang="zh-TW" altLang="en-US" sz="2400"/>
                        <a:t>、</a:t>
                      </a:r>
                      <a:r>
                        <a:rPr lang="en-US" altLang="zh-TW" sz="2400"/>
                        <a:t>USDC</a:t>
                      </a:r>
                      <a:r>
                        <a:rPr lang="zh-TW" altLang="en-US" sz="2400"/>
                        <a:t>）。</a:t>
                      </a:r>
                    </a:p>
                  </a:txBody>
                  <a:tcPr anchor="ctr">
                    <a:lnL>
                      <a:noFill/>
                    </a:lnL>
                    <a:lnR>
                      <a:noFill/>
                    </a:lnR>
                    <a:lnT>
                      <a:noFill/>
                    </a:lnT>
                    <a:lnB>
                      <a:noFill/>
                    </a:lnB>
                    <a:noFill/>
                  </a:tcPr>
                </a:tc>
                <a:extLst>
                  <a:ext uri="{0D108BD9-81ED-4DB2-BD59-A6C34878D82A}">
                    <a16:rowId xmlns:a16="http://schemas.microsoft.com/office/drawing/2014/main" val="715807486"/>
                  </a:ext>
                </a:extLst>
              </a:tr>
              <a:tr h="0">
                <a:tc>
                  <a:txBody>
                    <a:bodyPr/>
                    <a:lstStyle/>
                    <a:p>
                      <a:pPr algn="just">
                        <a:lnSpc>
                          <a:spcPct val="150000"/>
                        </a:lnSpc>
                        <a:buNone/>
                      </a:pPr>
                      <a:r>
                        <a:rPr lang="zh-TW" altLang="en-US" sz="2400" dirty="0"/>
                        <a:t>能像股票一樣讓你賺取高報酬波動價差</a:t>
                      </a:r>
                    </a:p>
                  </a:txBody>
                  <a:tcPr anchor="ctr">
                    <a:lnL>
                      <a:noFill/>
                    </a:lnL>
                    <a:lnR>
                      <a:noFill/>
                    </a:lnR>
                    <a:lnT>
                      <a:noFill/>
                    </a:lnT>
                    <a:lnB>
                      <a:noFill/>
                    </a:lnB>
                    <a:noFill/>
                  </a:tcPr>
                </a:tc>
                <a:tc>
                  <a:txBody>
                    <a:bodyPr/>
                    <a:lstStyle/>
                    <a:p>
                      <a:pPr algn="just">
                        <a:lnSpc>
                          <a:spcPct val="150000"/>
                        </a:lnSpc>
                        <a:buNone/>
                      </a:pPr>
                      <a:r>
                        <a:rPr lang="zh-TW" altLang="en-US" sz="2400" dirty="0"/>
                        <a:t>❌ </a:t>
                      </a:r>
                      <a:r>
                        <a:rPr lang="zh-TW" altLang="en-US" sz="2400" b="1" dirty="0"/>
                        <a:t>不能</a:t>
                      </a:r>
                      <a:endParaRPr lang="zh-TW" altLang="en-US" sz="2400" dirty="0"/>
                    </a:p>
                  </a:txBody>
                  <a:tcPr anchor="ctr">
                    <a:lnL>
                      <a:noFill/>
                    </a:lnL>
                    <a:lnR>
                      <a:noFill/>
                    </a:lnR>
                    <a:lnT>
                      <a:noFill/>
                    </a:lnT>
                    <a:lnB>
                      <a:noFill/>
                    </a:lnB>
                    <a:noFill/>
                  </a:tcPr>
                </a:tc>
                <a:tc>
                  <a:txBody>
                    <a:bodyPr/>
                    <a:lstStyle/>
                    <a:p>
                      <a:pPr algn="just">
                        <a:lnSpc>
                          <a:spcPct val="150000"/>
                        </a:lnSpc>
                        <a:buNone/>
                      </a:pPr>
                      <a:r>
                        <a:rPr lang="zh-TW" altLang="en-US" sz="2400" dirty="0"/>
                        <a:t>穩定幣價值固定，主要用途在交易與支付，不是投機。</a:t>
                      </a:r>
                    </a:p>
                  </a:txBody>
                  <a:tcPr anchor="ctr">
                    <a:lnL>
                      <a:noFill/>
                    </a:lnL>
                    <a:lnR>
                      <a:noFill/>
                    </a:lnR>
                    <a:lnT>
                      <a:noFill/>
                    </a:lnT>
                    <a:lnB>
                      <a:noFill/>
                    </a:lnB>
                    <a:noFill/>
                  </a:tcPr>
                </a:tc>
                <a:extLst>
                  <a:ext uri="{0D108BD9-81ED-4DB2-BD59-A6C34878D82A}">
                    <a16:rowId xmlns:a16="http://schemas.microsoft.com/office/drawing/2014/main" val="247682094"/>
                  </a:ext>
                </a:extLst>
              </a:tr>
              <a:tr h="0">
                <a:tc>
                  <a:txBody>
                    <a:bodyPr/>
                    <a:lstStyle/>
                    <a:p>
                      <a:pPr algn="just">
                        <a:lnSpc>
                          <a:spcPct val="150000"/>
                        </a:lnSpc>
                        <a:buNone/>
                      </a:pPr>
                      <a:r>
                        <a:rPr lang="zh-TW" altLang="en-US" sz="2400" dirty="0"/>
                        <a:t>能用於跨國轉帳、支付、或 </a:t>
                      </a:r>
                      <a:r>
                        <a:rPr lang="en-US" altLang="zh-TW" sz="2400" dirty="0"/>
                        <a:t>DeFi </a:t>
                      </a:r>
                      <a:r>
                        <a:rPr lang="zh-TW" altLang="en-US" sz="2400" dirty="0"/>
                        <a:t>抵押</a:t>
                      </a:r>
                    </a:p>
                  </a:txBody>
                  <a:tcPr anchor="ctr">
                    <a:lnL>
                      <a:noFill/>
                    </a:lnL>
                    <a:lnR>
                      <a:noFill/>
                    </a:lnR>
                    <a:lnT>
                      <a:noFill/>
                    </a:lnT>
                    <a:lnB>
                      <a:noFill/>
                    </a:lnB>
                    <a:noFill/>
                  </a:tcPr>
                </a:tc>
                <a:tc>
                  <a:txBody>
                    <a:bodyPr/>
                    <a:lstStyle/>
                    <a:p>
                      <a:pPr algn="just">
                        <a:lnSpc>
                          <a:spcPct val="150000"/>
                        </a:lnSpc>
                        <a:buNone/>
                      </a:pPr>
                      <a:r>
                        <a:rPr lang="zh-TW" altLang="en-US" sz="2400" dirty="0"/>
                        <a:t>✅ </a:t>
                      </a:r>
                      <a:r>
                        <a:rPr lang="zh-TW" altLang="en-US" sz="2400" b="1" dirty="0"/>
                        <a:t>能</a:t>
                      </a:r>
                      <a:endParaRPr lang="zh-TW" altLang="en-US" sz="2400" dirty="0"/>
                    </a:p>
                  </a:txBody>
                  <a:tcPr anchor="ctr">
                    <a:lnL>
                      <a:noFill/>
                    </a:lnL>
                    <a:lnR>
                      <a:noFill/>
                    </a:lnR>
                    <a:lnT>
                      <a:noFill/>
                    </a:lnT>
                    <a:lnB>
                      <a:noFill/>
                    </a:lnB>
                    <a:noFill/>
                  </a:tcPr>
                </a:tc>
                <a:tc>
                  <a:txBody>
                    <a:bodyPr/>
                    <a:lstStyle/>
                    <a:p>
                      <a:pPr algn="just">
                        <a:lnSpc>
                          <a:spcPct val="150000"/>
                        </a:lnSpc>
                        <a:buNone/>
                      </a:pPr>
                      <a:r>
                        <a:rPr lang="zh-TW" altLang="en-US" sz="2400"/>
                        <a:t>穩定幣常用於快速、低成本的跨境支付與金融操作。</a:t>
                      </a:r>
                    </a:p>
                  </a:txBody>
                  <a:tcPr anchor="ctr">
                    <a:lnL>
                      <a:noFill/>
                    </a:lnL>
                    <a:lnR>
                      <a:noFill/>
                    </a:lnR>
                    <a:lnT>
                      <a:noFill/>
                    </a:lnT>
                    <a:lnB>
                      <a:noFill/>
                    </a:lnB>
                    <a:noFill/>
                  </a:tcPr>
                </a:tc>
                <a:extLst>
                  <a:ext uri="{0D108BD9-81ED-4DB2-BD59-A6C34878D82A}">
                    <a16:rowId xmlns:a16="http://schemas.microsoft.com/office/drawing/2014/main" val="1128924392"/>
                  </a:ext>
                </a:extLst>
              </a:tr>
              <a:tr h="0">
                <a:tc>
                  <a:txBody>
                    <a:bodyPr/>
                    <a:lstStyle/>
                    <a:p>
                      <a:pPr algn="just">
                        <a:lnSpc>
                          <a:spcPct val="150000"/>
                        </a:lnSpc>
                        <a:buNone/>
                      </a:pPr>
                      <a:r>
                        <a:rPr lang="zh-TW" altLang="en-US" sz="2400" dirty="0"/>
                        <a:t>完全不受政府監管與法律約束</a:t>
                      </a:r>
                    </a:p>
                  </a:txBody>
                  <a:tcPr anchor="ctr">
                    <a:lnL>
                      <a:noFill/>
                    </a:lnL>
                    <a:lnR>
                      <a:noFill/>
                    </a:lnR>
                    <a:lnT>
                      <a:noFill/>
                    </a:lnT>
                    <a:lnB>
                      <a:noFill/>
                    </a:lnB>
                    <a:noFill/>
                  </a:tcPr>
                </a:tc>
                <a:tc>
                  <a:txBody>
                    <a:bodyPr/>
                    <a:lstStyle/>
                    <a:p>
                      <a:pPr algn="just">
                        <a:lnSpc>
                          <a:spcPct val="150000"/>
                        </a:lnSpc>
                        <a:buNone/>
                      </a:pPr>
                      <a:r>
                        <a:rPr lang="zh-TW" altLang="en-US" sz="2400" dirty="0"/>
                        <a:t>❌ </a:t>
                      </a:r>
                      <a:r>
                        <a:rPr lang="zh-TW" altLang="en-US" sz="2400" b="1" dirty="0"/>
                        <a:t>不是</a:t>
                      </a:r>
                      <a:endParaRPr lang="zh-TW" altLang="en-US" sz="2400" dirty="0"/>
                    </a:p>
                  </a:txBody>
                  <a:tcPr anchor="ctr">
                    <a:lnL>
                      <a:noFill/>
                    </a:lnL>
                    <a:lnR>
                      <a:noFill/>
                    </a:lnR>
                    <a:lnT>
                      <a:noFill/>
                    </a:lnT>
                    <a:lnB>
                      <a:noFill/>
                    </a:lnB>
                    <a:noFill/>
                  </a:tcPr>
                </a:tc>
                <a:tc>
                  <a:txBody>
                    <a:bodyPr/>
                    <a:lstStyle/>
                    <a:p>
                      <a:pPr algn="just">
                        <a:lnSpc>
                          <a:spcPct val="150000"/>
                        </a:lnSpc>
                        <a:buNone/>
                      </a:pPr>
                      <a:r>
                        <a:rPr lang="zh-TW" altLang="en-US" sz="2400" dirty="0"/>
                        <a:t>多數穩定幣（如 </a:t>
                      </a:r>
                      <a:r>
                        <a:rPr lang="en-US" altLang="zh-TW" sz="2400" dirty="0"/>
                        <a:t>USDC</a:t>
                      </a:r>
                      <a:r>
                        <a:rPr lang="zh-TW" altLang="en-US" sz="2400" dirty="0"/>
                        <a:t>）受到發行公司及監管機構管理。</a:t>
                      </a:r>
                    </a:p>
                  </a:txBody>
                  <a:tcPr anchor="ctr">
                    <a:lnL>
                      <a:noFill/>
                    </a:lnL>
                    <a:lnR>
                      <a:noFill/>
                    </a:lnR>
                    <a:lnT>
                      <a:noFill/>
                    </a:lnT>
                    <a:lnB>
                      <a:noFill/>
                    </a:lnB>
                    <a:noFill/>
                  </a:tcPr>
                </a:tc>
                <a:extLst>
                  <a:ext uri="{0D108BD9-81ED-4DB2-BD59-A6C34878D82A}">
                    <a16:rowId xmlns:a16="http://schemas.microsoft.com/office/drawing/2014/main" val="645893724"/>
                  </a:ext>
                </a:extLst>
              </a:tr>
            </a:tbl>
          </a:graphicData>
        </a:graphic>
      </p:graphicFrame>
    </p:spTree>
    <p:extLst>
      <p:ext uri="{BB962C8B-B14F-4D97-AF65-F5344CB8AC3E}">
        <p14:creationId xmlns:p14="http://schemas.microsoft.com/office/powerpoint/2010/main" val="1558158494"/>
      </p:ext>
    </p:extLst>
  </p:cSld>
  <p:clrMapOvr>
    <a:masterClrMapping/>
  </p:clrMapOvr>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AF5DA8-6387-4138-BF96-B65D39F2FC2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3.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398</TotalTime>
  <Words>5961</Words>
  <Application>Microsoft Office PowerPoint</Application>
  <PresentationFormat>寬螢幕</PresentationFormat>
  <Paragraphs>478</Paragraphs>
  <Slides>66</Slides>
  <Notes>28</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66</vt:i4>
      </vt:variant>
    </vt:vector>
  </HeadingPairs>
  <TitlesOfParts>
    <vt:vector size="73" baseType="lpstr">
      <vt:lpstr>微軟正黑體</vt:lpstr>
      <vt:lpstr>Arial</vt:lpstr>
      <vt:lpstr>Calibri</vt:lpstr>
      <vt:lpstr>Segoe UI Light</vt:lpstr>
      <vt:lpstr>Wingdings</vt:lpstr>
      <vt:lpstr>Wingdings 2</vt:lpstr>
      <vt:lpstr>Custom</vt:lpstr>
      <vt:lpstr>主流區塊鏈專案介紹</vt:lpstr>
      <vt:lpstr>課程主題</vt:lpstr>
      <vt:lpstr>第一部分：比特幣、以太坊</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第二部分：幣安智能鏈(BSC)</vt:lpstr>
      <vt:lpstr>幣安智能鏈（Binance Smart Chain, BSC）</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第三部分：穩定幣（Stablecoins）</vt:lpstr>
      <vt:lpstr>穩定幣區塊鏈（如Tether, USDT；USD Coin, USDC）</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Acer</dc:creator>
  <cp:lastModifiedBy>桂珍 邱</cp:lastModifiedBy>
  <cp:revision>19</cp:revision>
  <dcterms:created xsi:type="dcterms:W3CDTF">2021-05-30T14:58:49Z</dcterms:created>
  <dcterms:modified xsi:type="dcterms:W3CDTF">2026-10-17T16:16:43Z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