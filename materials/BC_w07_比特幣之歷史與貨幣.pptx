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4"/>
  </p:notesMasterIdLst>
  <p:handoutMasterIdLst>
    <p:handoutMasterId r:id="rId55"/>
  </p:handoutMasterIdLst>
  <p:sldIdLst>
    <p:sldId id="325" r:id="rId5"/>
    <p:sldId id="326" r:id="rId6"/>
    <p:sldId id="327" r:id="rId7"/>
    <p:sldId id="395" r:id="rId8"/>
    <p:sldId id="424" r:id="rId9"/>
    <p:sldId id="463" r:id="rId10"/>
    <p:sldId id="464" r:id="rId11"/>
    <p:sldId id="543" r:id="rId12"/>
    <p:sldId id="544" r:id="rId13"/>
    <p:sldId id="545" r:id="rId14"/>
    <p:sldId id="513" r:id="rId15"/>
    <p:sldId id="564" r:id="rId16"/>
    <p:sldId id="565" r:id="rId17"/>
    <p:sldId id="566" r:id="rId18"/>
    <p:sldId id="567" r:id="rId19"/>
    <p:sldId id="568" r:id="rId20"/>
    <p:sldId id="335" r:id="rId21"/>
    <p:sldId id="486" r:id="rId22"/>
    <p:sldId id="546" r:id="rId23"/>
    <p:sldId id="547" r:id="rId24"/>
    <p:sldId id="554" r:id="rId25"/>
    <p:sldId id="553" r:id="rId26"/>
    <p:sldId id="581" r:id="rId27"/>
    <p:sldId id="582" r:id="rId28"/>
    <p:sldId id="548" r:id="rId29"/>
    <p:sldId id="552" r:id="rId30"/>
    <p:sldId id="557" r:id="rId31"/>
    <p:sldId id="584" r:id="rId32"/>
    <p:sldId id="583" r:id="rId33"/>
    <p:sldId id="569" r:id="rId34"/>
    <p:sldId id="570" r:id="rId35"/>
    <p:sldId id="571" r:id="rId36"/>
    <p:sldId id="572" r:id="rId37"/>
    <p:sldId id="573" r:id="rId38"/>
    <p:sldId id="574" r:id="rId39"/>
    <p:sldId id="495" r:id="rId40"/>
    <p:sldId id="496" r:id="rId41"/>
    <p:sldId id="558" r:id="rId42"/>
    <p:sldId id="559" r:id="rId43"/>
    <p:sldId id="560" r:id="rId44"/>
    <p:sldId id="561" r:id="rId45"/>
    <p:sldId id="562" r:id="rId46"/>
    <p:sldId id="563" r:id="rId47"/>
    <p:sldId id="575" r:id="rId48"/>
    <p:sldId id="576" r:id="rId49"/>
    <p:sldId id="577" r:id="rId50"/>
    <p:sldId id="578" r:id="rId51"/>
    <p:sldId id="579" r:id="rId52"/>
    <p:sldId id="580"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5F9F9"/>
    <a:srgbClr val="3399FF"/>
    <a:srgbClr val="FEEBCA"/>
    <a:srgbClr val="D9FFFF"/>
    <a:srgbClr val="685135"/>
    <a:srgbClr val="BDA07D"/>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62" autoAdjust="0"/>
    <p:restoredTop sz="95238" autoAdjust="0"/>
  </p:normalViewPr>
  <p:slideViewPr>
    <p:cSldViewPr snapToGrid="0">
      <p:cViewPr varScale="1">
        <p:scale>
          <a:sx n="79" d="100"/>
          <a:sy n="79" d="100"/>
        </p:scale>
        <p:origin x="48" y="1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10/26/2026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10/26/2026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8EC616-C518-4358-9496-6C33B2F5FA56}" type="slidenum">
              <a:rPr lang="en-US" smtClean="0"/>
              <a:t>1</a:t>
            </a:fld>
            <a:endParaRPr lang="en-US" dirty="0"/>
          </a:p>
        </p:txBody>
      </p:sp>
    </p:spTree>
    <p:extLst>
      <p:ext uri="{BB962C8B-B14F-4D97-AF65-F5344CB8AC3E}">
        <p14:creationId xmlns:p14="http://schemas.microsoft.com/office/powerpoint/2010/main" val="1712827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D143-18D4-B538-075B-5E4C0AD2D32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B32C442-BC2C-BE03-1C87-F37558F1C7F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227A317-A836-DF90-9328-56054B12E17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535F3C4-B603-BEC3-5B78-1DD23A85208E}"/>
              </a:ext>
            </a:extLst>
          </p:cNvPr>
          <p:cNvSpPr>
            <a:spLocks noGrp="1"/>
          </p:cNvSpPr>
          <p:nvPr>
            <p:ph type="sldNum" sz="quarter" idx="5"/>
          </p:nvPr>
        </p:nvSpPr>
        <p:spPr/>
        <p:txBody>
          <a:bodyPr/>
          <a:lstStyle/>
          <a:p>
            <a:fld id="{C58EC616-C518-4358-9496-6C33B2F5FA56}" type="slidenum">
              <a:rPr lang="en-US" smtClean="0"/>
              <a:t>11</a:t>
            </a:fld>
            <a:endParaRPr lang="en-US" dirty="0"/>
          </a:p>
        </p:txBody>
      </p:sp>
    </p:spTree>
    <p:extLst>
      <p:ext uri="{BB962C8B-B14F-4D97-AF65-F5344CB8AC3E}">
        <p14:creationId xmlns:p14="http://schemas.microsoft.com/office/powerpoint/2010/main" val="66395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8358-DC0C-706E-2534-31F201359F7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31218A2-4089-39E2-769C-2E5CFBB923E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B2494CE-A07F-C192-594C-CFFBCFDC813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06047C2-492D-0D13-8346-4E3B02FEC8C0}"/>
              </a:ext>
            </a:extLst>
          </p:cNvPr>
          <p:cNvSpPr>
            <a:spLocks noGrp="1"/>
          </p:cNvSpPr>
          <p:nvPr>
            <p:ph type="sldNum" sz="quarter" idx="5"/>
          </p:nvPr>
        </p:nvSpPr>
        <p:spPr/>
        <p:txBody>
          <a:bodyPr/>
          <a:lstStyle/>
          <a:p>
            <a:fld id="{C58EC616-C518-4358-9496-6C33B2F5FA56}" type="slidenum">
              <a:rPr lang="en-US" smtClean="0"/>
              <a:t>12</a:t>
            </a:fld>
            <a:endParaRPr lang="en-US" dirty="0"/>
          </a:p>
        </p:txBody>
      </p:sp>
    </p:spTree>
    <p:extLst>
      <p:ext uri="{BB962C8B-B14F-4D97-AF65-F5344CB8AC3E}">
        <p14:creationId xmlns:p14="http://schemas.microsoft.com/office/powerpoint/2010/main" val="3979359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510C0-DCB3-565B-FAD9-529D2FCD5A7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8149786-8A82-4AEA-A411-9BD3B866B1C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1248F45-8ECB-1EDF-B046-8C2A496DB75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4F412E4-51B1-992F-578D-95A7ACF22ED2}"/>
              </a:ext>
            </a:extLst>
          </p:cNvPr>
          <p:cNvSpPr>
            <a:spLocks noGrp="1"/>
          </p:cNvSpPr>
          <p:nvPr>
            <p:ph type="sldNum" sz="quarter" idx="5"/>
          </p:nvPr>
        </p:nvSpPr>
        <p:spPr/>
        <p:txBody>
          <a:bodyPr/>
          <a:lstStyle/>
          <a:p>
            <a:fld id="{C58EC616-C518-4358-9496-6C33B2F5FA56}" type="slidenum">
              <a:rPr lang="en-US" smtClean="0"/>
              <a:t>13</a:t>
            </a:fld>
            <a:endParaRPr lang="en-US" dirty="0"/>
          </a:p>
        </p:txBody>
      </p:sp>
    </p:spTree>
    <p:extLst>
      <p:ext uri="{BB962C8B-B14F-4D97-AF65-F5344CB8AC3E}">
        <p14:creationId xmlns:p14="http://schemas.microsoft.com/office/powerpoint/2010/main" val="3031963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C5AC5-6DE5-C08C-EEC2-CEFE29028B9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890C8BE-6C98-D1E0-1166-DE8DE3F54B4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53ADCC-A8DF-AA0F-2F92-DA93B34FCC7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91897DA-9672-D273-9D1B-62BBE5E416AE}"/>
              </a:ext>
            </a:extLst>
          </p:cNvPr>
          <p:cNvSpPr>
            <a:spLocks noGrp="1"/>
          </p:cNvSpPr>
          <p:nvPr>
            <p:ph type="sldNum" sz="quarter" idx="5"/>
          </p:nvPr>
        </p:nvSpPr>
        <p:spPr/>
        <p:txBody>
          <a:bodyPr/>
          <a:lstStyle/>
          <a:p>
            <a:fld id="{C58EC616-C518-4358-9496-6C33B2F5FA56}" type="slidenum">
              <a:rPr lang="en-US" smtClean="0"/>
              <a:t>14</a:t>
            </a:fld>
            <a:endParaRPr lang="en-US" dirty="0"/>
          </a:p>
        </p:txBody>
      </p:sp>
    </p:spTree>
    <p:extLst>
      <p:ext uri="{BB962C8B-B14F-4D97-AF65-F5344CB8AC3E}">
        <p14:creationId xmlns:p14="http://schemas.microsoft.com/office/powerpoint/2010/main" val="1960312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A0310-36E0-668A-4161-03A449BA4B8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429049D-4813-C4B8-C585-9F098AB0129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6608FAB-DAA9-5F4A-C3CC-2F96B466095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068CB29-A552-BDD2-22B5-FA4B82CB0727}"/>
              </a:ext>
            </a:extLst>
          </p:cNvPr>
          <p:cNvSpPr>
            <a:spLocks noGrp="1"/>
          </p:cNvSpPr>
          <p:nvPr>
            <p:ph type="sldNum" sz="quarter" idx="5"/>
          </p:nvPr>
        </p:nvSpPr>
        <p:spPr/>
        <p:txBody>
          <a:bodyPr/>
          <a:lstStyle/>
          <a:p>
            <a:fld id="{C58EC616-C518-4358-9496-6C33B2F5FA56}" type="slidenum">
              <a:rPr lang="en-US" smtClean="0"/>
              <a:t>15</a:t>
            </a:fld>
            <a:endParaRPr lang="en-US" dirty="0"/>
          </a:p>
        </p:txBody>
      </p:sp>
    </p:spTree>
    <p:extLst>
      <p:ext uri="{BB962C8B-B14F-4D97-AF65-F5344CB8AC3E}">
        <p14:creationId xmlns:p14="http://schemas.microsoft.com/office/powerpoint/2010/main" val="2420103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47D62-DDA1-7898-A741-AA05B28C5DB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E4915E2-8C47-153C-AE4C-C7273F6E211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960BDAF-221E-99D6-5812-9883FE25B8C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BACFD55-6265-F3C8-9BA8-E5FA5801DCD2}"/>
              </a:ext>
            </a:extLst>
          </p:cNvPr>
          <p:cNvSpPr>
            <a:spLocks noGrp="1"/>
          </p:cNvSpPr>
          <p:nvPr>
            <p:ph type="sldNum" sz="quarter" idx="5"/>
          </p:nvPr>
        </p:nvSpPr>
        <p:spPr/>
        <p:txBody>
          <a:bodyPr/>
          <a:lstStyle/>
          <a:p>
            <a:fld id="{C58EC616-C518-4358-9496-6C33B2F5FA56}" type="slidenum">
              <a:rPr lang="en-US" smtClean="0"/>
              <a:t>16</a:t>
            </a:fld>
            <a:endParaRPr lang="en-US" dirty="0"/>
          </a:p>
        </p:txBody>
      </p:sp>
    </p:spTree>
    <p:extLst>
      <p:ext uri="{BB962C8B-B14F-4D97-AF65-F5344CB8AC3E}">
        <p14:creationId xmlns:p14="http://schemas.microsoft.com/office/powerpoint/2010/main" val="294769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FCC43-DCB4-FF77-4AD1-8C81714F970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AE13D2E-02BA-53DB-AF51-E22E51A8E7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2C37F75-25B8-75F6-D4BB-CFE015B1465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F513CFB-CCA3-ABF2-59F4-3D9B2B1B6CEF}"/>
              </a:ext>
            </a:extLst>
          </p:cNvPr>
          <p:cNvSpPr>
            <a:spLocks noGrp="1"/>
          </p:cNvSpPr>
          <p:nvPr>
            <p:ph type="sldNum" sz="quarter" idx="5"/>
          </p:nvPr>
        </p:nvSpPr>
        <p:spPr/>
        <p:txBody>
          <a:bodyPr/>
          <a:lstStyle/>
          <a:p>
            <a:fld id="{C58EC616-C518-4358-9496-6C33B2F5FA56}" type="slidenum">
              <a:rPr lang="en-US" smtClean="0"/>
              <a:t>30</a:t>
            </a:fld>
            <a:endParaRPr lang="en-US" dirty="0"/>
          </a:p>
        </p:txBody>
      </p:sp>
    </p:spTree>
    <p:extLst>
      <p:ext uri="{BB962C8B-B14F-4D97-AF65-F5344CB8AC3E}">
        <p14:creationId xmlns:p14="http://schemas.microsoft.com/office/powerpoint/2010/main" val="1687189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F1DC9-CA60-5257-9542-E1877C24D30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271E0A7-6DCC-A8E4-4EA0-735582A6CCA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AD767D4-DCB0-7331-07DC-2DE3D05348E2}"/>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3FAD1BC-9B04-6D23-E0CA-E14F6C307B07}"/>
              </a:ext>
            </a:extLst>
          </p:cNvPr>
          <p:cNvSpPr>
            <a:spLocks noGrp="1"/>
          </p:cNvSpPr>
          <p:nvPr>
            <p:ph type="sldNum" sz="quarter" idx="5"/>
          </p:nvPr>
        </p:nvSpPr>
        <p:spPr/>
        <p:txBody>
          <a:bodyPr/>
          <a:lstStyle/>
          <a:p>
            <a:fld id="{C58EC616-C518-4358-9496-6C33B2F5FA56}" type="slidenum">
              <a:rPr lang="en-US" smtClean="0"/>
              <a:t>31</a:t>
            </a:fld>
            <a:endParaRPr lang="en-US" dirty="0"/>
          </a:p>
        </p:txBody>
      </p:sp>
    </p:spTree>
    <p:extLst>
      <p:ext uri="{BB962C8B-B14F-4D97-AF65-F5344CB8AC3E}">
        <p14:creationId xmlns:p14="http://schemas.microsoft.com/office/powerpoint/2010/main" val="582055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FF264-B6C3-9B2C-3815-FC46869E8D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76FEF51-7047-5235-3817-35B75232C90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3BDDCD6-3A4D-F56D-2ABC-4EEFAA4BC40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AE4E5C3-6CA2-3964-FECC-7C9E372AD842}"/>
              </a:ext>
            </a:extLst>
          </p:cNvPr>
          <p:cNvSpPr>
            <a:spLocks noGrp="1"/>
          </p:cNvSpPr>
          <p:nvPr>
            <p:ph type="sldNum" sz="quarter" idx="5"/>
          </p:nvPr>
        </p:nvSpPr>
        <p:spPr/>
        <p:txBody>
          <a:bodyPr/>
          <a:lstStyle/>
          <a:p>
            <a:fld id="{C58EC616-C518-4358-9496-6C33B2F5FA56}" type="slidenum">
              <a:rPr lang="en-US" smtClean="0"/>
              <a:t>32</a:t>
            </a:fld>
            <a:endParaRPr lang="en-US" dirty="0"/>
          </a:p>
        </p:txBody>
      </p:sp>
    </p:spTree>
    <p:extLst>
      <p:ext uri="{BB962C8B-B14F-4D97-AF65-F5344CB8AC3E}">
        <p14:creationId xmlns:p14="http://schemas.microsoft.com/office/powerpoint/2010/main" val="3658031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55D43-D587-18DF-C4C6-E5D522CF23E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F3200B5-03C3-8EF9-17A0-991882ECD81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5372C91-8487-3581-643B-1FDD090786F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BC2920B-FF7E-034D-5449-03EA653CD4BC}"/>
              </a:ext>
            </a:extLst>
          </p:cNvPr>
          <p:cNvSpPr>
            <a:spLocks noGrp="1"/>
          </p:cNvSpPr>
          <p:nvPr>
            <p:ph type="sldNum" sz="quarter" idx="5"/>
          </p:nvPr>
        </p:nvSpPr>
        <p:spPr/>
        <p:txBody>
          <a:bodyPr/>
          <a:lstStyle/>
          <a:p>
            <a:fld id="{C58EC616-C518-4358-9496-6C33B2F5FA56}" type="slidenum">
              <a:rPr lang="en-US" smtClean="0"/>
              <a:t>33</a:t>
            </a:fld>
            <a:endParaRPr lang="en-US" dirty="0"/>
          </a:p>
        </p:txBody>
      </p:sp>
    </p:spTree>
    <p:extLst>
      <p:ext uri="{BB962C8B-B14F-4D97-AF65-F5344CB8AC3E}">
        <p14:creationId xmlns:p14="http://schemas.microsoft.com/office/powerpoint/2010/main" val="3774198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4C78-3733-1295-9214-E3007D7E208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7ED2740-7CAA-CC84-F15E-98D09DF3F30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C825FC7-6B33-A8FF-B411-6E716E477A3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D45ADA4-6824-4890-91BD-2C14EEB13EFC}"/>
              </a:ext>
            </a:extLst>
          </p:cNvPr>
          <p:cNvSpPr>
            <a:spLocks noGrp="1"/>
          </p:cNvSpPr>
          <p:nvPr>
            <p:ph type="sldNum" sz="quarter" idx="5"/>
          </p:nvPr>
        </p:nvSpPr>
        <p:spPr/>
        <p:txBody>
          <a:bodyPr/>
          <a:lstStyle/>
          <a:p>
            <a:fld id="{C58EC616-C518-4358-9496-6C33B2F5FA56}" type="slidenum">
              <a:rPr lang="en-US" smtClean="0"/>
              <a:t>34</a:t>
            </a:fld>
            <a:endParaRPr lang="en-US" dirty="0"/>
          </a:p>
        </p:txBody>
      </p:sp>
    </p:spTree>
    <p:extLst>
      <p:ext uri="{BB962C8B-B14F-4D97-AF65-F5344CB8AC3E}">
        <p14:creationId xmlns:p14="http://schemas.microsoft.com/office/powerpoint/2010/main" val="1173922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0ABDB-AC30-5035-F926-36C0D25BBCF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0DB017D-27A1-451E-F59E-2EED4973C01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1EF2A81-0591-94EF-64C0-ACBBCDAFCA2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920A630-B7DE-A8B7-F441-A045455BD6BA}"/>
              </a:ext>
            </a:extLst>
          </p:cNvPr>
          <p:cNvSpPr>
            <a:spLocks noGrp="1"/>
          </p:cNvSpPr>
          <p:nvPr>
            <p:ph type="sldNum" sz="quarter" idx="5"/>
          </p:nvPr>
        </p:nvSpPr>
        <p:spPr/>
        <p:txBody>
          <a:bodyPr/>
          <a:lstStyle/>
          <a:p>
            <a:fld id="{C58EC616-C518-4358-9496-6C33B2F5FA56}" type="slidenum">
              <a:rPr lang="en-US" smtClean="0"/>
              <a:t>35</a:t>
            </a:fld>
            <a:endParaRPr lang="en-US" dirty="0"/>
          </a:p>
        </p:txBody>
      </p:sp>
    </p:spTree>
    <p:extLst>
      <p:ext uri="{BB962C8B-B14F-4D97-AF65-F5344CB8AC3E}">
        <p14:creationId xmlns:p14="http://schemas.microsoft.com/office/powerpoint/2010/main" val="518482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6DF5B-E05E-6431-8E6A-F3B3A34F987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CAE34CD-6D35-2214-4BDD-4FB320B0854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AC6B73D-5234-D879-5E73-82CECDF5606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269AAD3-D7D5-F3F4-F466-9129FD1472B3}"/>
              </a:ext>
            </a:extLst>
          </p:cNvPr>
          <p:cNvSpPr>
            <a:spLocks noGrp="1"/>
          </p:cNvSpPr>
          <p:nvPr>
            <p:ph type="sldNum" sz="quarter" idx="5"/>
          </p:nvPr>
        </p:nvSpPr>
        <p:spPr/>
        <p:txBody>
          <a:bodyPr/>
          <a:lstStyle/>
          <a:p>
            <a:fld id="{C58EC616-C518-4358-9496-6C33B2F5FA56}" type="slidenum">
              <a:rPr lang="en-US" smtClean="0"/>
              <a:t>44</a:t>
            </a:fld>
            <a:endParaRPr lang="en-US" dirty="0"/>
          </a:p>
        </p:txBody>
      </p:sp>
    </p:spTree>
    <p:extLst>
      <p:ext uri="{BB962C8B-B14F-4D97-AF65-F5344CB8AC3E}">
        <p14:creationId xmlns:p14="http://schemas.microsoft.com/office/powerpoint/2010/main" val="3280027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6FA9E-D983-4236-DCE0-7354C9FB867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BD34B60-F384-C386-261B-D2AB2C09596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79BCB78-0CB2-D173-DA03-E851E2F377B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059242E-6E7E-E1C1-F38F-5A033AA7F110}"/>
              </a:ext>
            </a:extLst>
          </p:cNvPr>
          <p:cNvSpPr>
            <a:spLocks noGrp="1"/>
          </p:cNvSpPr>
          <p:nvPr>
            <p:ph type="sldNum" sz="quarter" idx="5"/>
          </p:nvPr>
        </p:nvSpPr>
        <p:spPr/>
        <p:txBody>
          <a:bodyPr/>
          <a:lstStyle/>
          <a:p>
            <a:fld id="{C58EC616-C518-4358-9496-6C33B2F5FA56}" type="slidenum">
              <a:rPr lang="en-US" smtClean="0"/>
              <a:t>45</a:t>
            </a:fld>
            <a:endParaRPr lang="en-US" dirty="0"/>
          </a:p>
        </p:txBody>
      </p:sp>
    </p:spTree>
    <p:extLst>
      <p:ext uri="{BB962C8B-B14F-4D97-AF65-F5344CB8AC3E}">
        <p14:creationId xmlns:p14="http://schemas.microsoft.com/office/powerpoint/2010/main" val="1773998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AD077-898D-0E3B-4074-DE09BB08C4F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FDEBFF-123C-E9CC-4E60-E13F24B16B0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124DB25-A41D-85FC-A8BB-B36E3E450D5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130869D-7DDF-8BF5-3E4D-FDD1D6FF3BB9}"/>
              </a:ext>
            </a:extLst>
          </p:cNvPr>
          <p:cNvSpPr>
            <a:spLocks noGrp="1"/>
          </p:cNvSpPr>
          <p:nvPr>
            <p:ph type="sldNum" sz="quarter" idx="5"/>
          </p:nvPr>
        </p:nvSpPr>
        <p:spPr/>
        <p:txBody>
          <a:bodyPr/>
          <a:lstStyle/>
          <a:p>
            <a:fld id="{C58EC616-C518-4358-9496-6C33B2F5FA56}" type="slidenum">
              <a:rPr lang="en-US" smtClean="0"/>
              <a:t>46</a:t>
            </a:fld>
            <a:endParaRPr lang="en-US" dirty="0"/>
          </a:p>
        </p:txBody>
      </p:sp>
    </p:spTree>
    <p:extLst>
      <p:ext uri="{BB962C8B-B14F-4D97-AF65-F5344CB8AC3E}">
        <p14:creationId xmlns:p14="http://schemas.microsoft.com/office/powerpoint/2010/main" val="20222238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5784-D1D8-5B28-0DBE-47502770836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5E1AB20-F169-D822-454F-6D4946A616A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B4AFA4C-8E35-F295-125F-B7E998914592}"/>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6B1C75C-7325-FDF3-4680-F6732D195D66}"/>
              </a:ext>
            </a:extLst>
          </p:cNvPr>
          <p:cNvSpPr>
            <a:spLocks noGrp="1"/>
          </p:cNvSpPr>
          <p:nvPr>
            <p:ph type="sldNum" sz="quarter" idx="5"/>
          </p:nvPr>
        </p:nvSpPr>
        <p:spPr/>
        <p:txBody>
          <a:bodyPr/>
          <a:lstStyle/>
          <a:p>
            <a:fld id="{C58EC616-C518-4358-9496-6C33B2F5FA56}" type="slidenum">
              <a:rPr lang="en-US" smtClean="0"/>
              <a:t>47</a:t>
            </a:fld>
            <a:endParaRPr lang="en-US" dirty="0"/>
          </a:p>
        </p:txBody>
      </p:sp>
    </p:spTree>
    <p:extLst>
      <p:ext uri="{BB962C8B-B14F-4D97-AF65-F5344CB8AC3E}">
        <p14:creationId xmlns:p14="http://schemas.microsoft.com/office/powerpoint/2010/main" val="2512740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35A1E-7A2B-37FD-67E0-74031A68F04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8CA833B-CC6C-3906-41F0-DD2B9451AE8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2757440-F880-F035-E0D1-A5A9EA27962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C7BD49A-DD40-E4A3-0449-92B5E294C05F}"/>
              </a:ext>
            </a:extLst>
          </p:cNvPr>
          <p:cNvSpPr>
            <a:spLocks noGrp="1"/>
          </p:cNvSpPr>
          <p:nvPr>
            <p:ph type="sldNum" sz="quarter" idx="5"/>
          </p:nvPr>
        </p:nvSpPr>
        <p:spPr/>
        <p:txBody>
          <a:bodyPr/>
          <a:lstStyle/>
          <a:p>
            <a:fld id="{C58EC616-C518-4358-9496-6C33B2F5FA56}" type="slidenum">
              <a:rPr lang="en-US" smtClean="0"/>
              <a:t>48</a:t>
            </a:fld>
            <a:endParaRPr lang="en-US" dirty="0"/>
          </a:p>
        </p:txBody>
      </p:sp>
    </p:spTree>
    <p:extLst>
      <p:ext uri="{BB962C8B-B14F-4D97-AF65-F5344CB8AC3E}">
        <p14:creationId xmlns:p14="http://schemas.microsoft.com/office/powerpoint/2010/main" val="160314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82A20-1246-17AF-C6F6-D5B0670D83D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E69C3AF-4EF3-04B0-0C43-8BC371BD46D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E4D4070-351F-16C4-80C3-BDA040C5118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5055D3B-196E-2014-3720-05AA3A84F4B7}"/>
              </a:ext>
            </a:extLst>
          </p:cNvPr>
          <p:cNvSpPr>
            <a:spLocks noGrp="1"/>
          </p:cNvSpPr>
          <p:nvPr>
            <p:ph type="sldNum" sz="quarter" idx="5"/>
          </p:nvPr>
        </p:nvSpPr>
        <p:spPr/>
        <p:txBody>
          <a:bodyPr/>
          <a:lstStyle/>
          <a:p>
            <a:fld id="{C58EC616-C518-4358-9496-6C33B2F5FA56}" type="slidenum">
              <a:rPr lang="en-US" smtClean="0"/>
              <a:t>49</a:t>
            </a:fld>
            <a:endParaRPr lang="en-US" dirty="0"/>
          </a:p>
        </p:txBody>
      </p:sp>
    </p:spTree>
    <p:extLst>
      <p:ext uri="{BB962C8B-B14F-4D97-AF65-F5344CB8AC3E}">
        <p14:creationId xmlns:p14="http://schemas.microsoft.com/office/powerpoint/2010/main" val="3468582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dirty="0"/>
              <a:t>Click to edit Master title style</a:t>
            </a:r>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9680-7C22-BFF1-165D-52AB411C0F66}"/>
              </a:ext>
            </a:extLst>
          </p:cNvPr>
          <p:cNvSpPr>
            <a:spLocks noGrp="1"/>
          </p:cNvSpPr>
          <p:nvPr>
            <p:ph type="title"/>
          </p:nvPr>
        </p:nvSpPr>
        <p:spPr>
          <a:xfrm>
            <a:off x="768096" y="667512"/>
            <a:ext cx="5916168" cy="4873752"/>
          </a:xfrm>
        </p:spPr>
        <p:txBody>
          <a:bodyPr>
            <a:normAutofit/>
          </a:bodyPr>
          <a:lstStyle/>
          <a:p>
            <a:r>
              <a:rPr lang="zh-TW" altLang="en-US" sz="4800" dirty="0"/>
              <a:t>比特幣之歷史與貨幣</a:t>
            </a:r>
          </a:p>
        </p:txBody>
      </p:sp>
      <p:sp>
        <p:nvSpPr>
          <p:cNvPr id="3" name="Text Placeholder 2">
            <a:extLst>
              <a:ext uri="{FF2B5EF4-FFF2-40B4-BE49-F238E27FC236}">
                <a16:creationId xmlns:a16="http://schemas.microsoft.com/office/drawing/2014/main" id="{302F459B-002E-E89C-3A0E-589730DD7197}"/>
              </a:ext>
            </a:extLst>
          </p:cNvPr>
          <p:cNvSpPr>
            <a:spLocks noGrp="1"/>
          </p:cNvSpPr>
          <p:nvPr>
            <p:ph type="body" sz="quarter" idx="10"/>
          </p:nvPr>
        </p:nvSpPr>
        <p:spPr>
          <a:xfrm>
            <a:off x="768096" y="5568696"/>
            <a:ext cx="5276088" cy="859536"/>
          </a:xfrm>
        </p:spPr>
        <p:txBody>
          <a:bodyPr/>
          <a:lstStyle/>
          <a:p>
            <a:r>
              <a:rPr lang="en-US" dirty="0"/>
              <a:t>Week 07</a:t>
            </a:r>
          </a:p>
        </p:txBody>
      </p:sp>
      <p:pic>
        <p:nvPicPr>
          <p:cNvPr id="5" name="Picture Placeholder 4" descr="People at the beach">
            <a:extLst>
              <a:ext uri="{FF2B5EF4-FFF2-40B4-BE49-F238E27FC236}">
                <a16:creationId xmlns:a16="http://schemas.microsoft.com/office/drawing/2014/main" id="{0672830B-5F52-9AD6-1CF1-D12BDF673ACE}"/>
              </a:ext>
            </a:extLst>
          </p:cNvPr>
          <p:cNvPicPr>
            <a:picLocks noGrp="1" noChangeAspect="1"/>
          </p:cNvPicPr>
          <p:nvPr>
            <p:ph type="pic" sz="quarter" idx="11"/>
          </p:nvPr>
        </p:nvPicPr>
        <p:blipFill>
          <a:blip r:embed="rId3"/>
          <a:srcRect t="62" b="62"/>
          <a:stretch/>
        </p:blipFill>
        <p:spPr>
          <a:xfrm>
            <a:off x="7754112" y="947737"/>
            <a:ext cx="4048124" cy="4962525"/>
          </a:xfrm>
        </p:spPr>
      </p:pic>
    </p:spTree>
    <p:extLst>
      <p:ext uri="{BB962C8B-B14F-4D97-AF65-F5344CB8AC3E}">
        <p14:creationId xmlns:p14="http://schemas.microsoft.com/office/powerpoint/2010/main" val="3262765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F76D-A0D2-8179-168C-8025D377329E}"/>
              </a:ext>
            </a:extLst>
          </p:cNvPr>
          <p:cNvSpPr>
            <a:spLocks noGrp="1"/>
          </p:cNvSpPr>
          <p:nvPr>
            <p:ph type="title"/>
          </p:nvPr>
        </p:nvSpPr>
        <p:spPr>
          <a:xfrm>
            <a:off x="768096" y="667512"/>
            <a:ext cx="2551176" cy="5513832"/>
          </a:xfrm>
        </p:spPr>
        <p:txBody>
          <a:bodyPr/>
          <a:lstStyle/>
          <a:p>
            <a:r>
              <a:rPr lang="zh-TW" altLang="en-US" dirty="0"/>
              <a:t>課程主題</a:t>
            </a:r>
            <a:endParaRPr lang="en-US" dirty="0"/>
          </a:p>
        </p:txBody>
      </p:sp>
      <p:sp>
        <p:nvSpPr>
          <p:cNvPr id="3" name="Content Placeholder 2">
            <a:extLst>
              <a:ext uri="{FF2B5EF4-FFF2-40B4-BE49-F238E27FC236}">
                <a16:creationId xmlns:a16="http://schemas.microsoft.com/office/drawing/2014/main" id="{B16F5ACA-5B20-DED2-F6EA-E50B5B17F3AE}"/>
              </a:ext>
            </a:extLst>
          </p:cNvPr>
          <p:cNvSpPr>
            <a:spLocks noGrp="1"/>
          </p:cNvSpPr>
          <p:nvPr>
            <p:ph idx="1"/>
          </p:nvPr>
        </p:nvSpPr>
        <p:spPr>
          <a:xfrm>
            <a:off x="3447288" y="667512"/>
            <a:ext cx="5897881" cy="5568696"/>
          </a:xfrm>
        </p:spPr>
        <p:txBody>
          <a:bodyPr/>
          <a:lstStyle/>
          <a:p>
            <a:pPr marL="0" indent="0">
              <a:buNone/>
            </a:pPr>
            <a:r>
              <a:rPr lang="zh-TW" altLang="en-US" dirty="0"/>
              <a:t>第一部分：比特幣之發展</a:t>
            </a:r>
            <a:endParaRPr lang="en-US" altLang="zh-TW" dirty="0"/>
          </a:p>
          <a:p>
            <a:pPr marL="0" indent="0">
              <a:buNone/>
            </a:pPr>
            <a:r>
              <a:rPr lang="zh-TW" altLang="en-US" dirty="0"/>
              <a:t>第二部分：比特幣作為支付工具</a:t>
            </a:r>
            <a:endParaRPr lang="en-US" altLang="zh-TW" dirty="0"/>
          </a:p>
          <a:p>
            <a:pPr marL="0" indent="0">
              <a:buNone/>
            </a:pPr>
            <a:r>
              <a:rPr lang="zh-TW" altLang="en-US" dirty="0"/>
              <a:t>第三部分：投資比特幣</a:t>
            </a:r>
            <a:endParaRPr lang="en-US" dirty="0"/>
          </a:p>
        </p:txBody>
      </p:sp>
      <p:sp>
        <p:nvSpPr>
          <p:cNvPr id="5" name="Slide Number Placeholder 4">
            <a:extLst>
              <a:ext uri="{FF2B5EF4-FFF2-40B4-BE49-F238E27FC236}">
                <a16:creationId xmlns:a16="http://schemas.microsoft.com/office/drawing/2014/main" id="{269330A5-9701-4D21-4CCC-742D1F9B425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852209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Umbrellas at the beach">
            <a:extLst>
              <a:ext uri="{FF2B5EF4-FFF2-40B4-BE49-F238E27FC236}">
                <a16:creationId xmlns:a16="http://schemas.microsoft.com/office/drawing/2014/main" id="{C9711FA8-82E0-BC2D-81D0-FE7DE3A5C723}"/>
              </a:ext>
            </a:extLst>
          </p:cNvPr>
          <p:cNvPicPr>
            <a:picLocks noGrp="1" noChangeAspect="1"/>
          </p:cNvPicPr>
          <p:nvPr>
            <p:ph type="pic" sz="quarter" idx="11"/>
          </p:nvPr>
        </p:nvPicPr>
        <p:blipFill>
          <a:blip r:embed="rId2"/>
          <a:srcRect l="40" r="40"/>
          <a:stretch/>
        </p:blipFill>
        <p:spPr>
          <a:xfrm>
            <a:off x="630936" y="576072"/>
            <a:ext cx="4023360" cy="5495544"/>
          </a:xfrm>
        </p:spPr>
      </p:pic>
      <p:sp>
        <p:nvSpPr>
          <p:cNvPr id="9" name="Title 4">
            <a:extLst>
              <a:ext uri="{FF2B5EF4-FFF2-40B4-BE49-F238E27FC236}">
                <a16:creationId xmlns:a16="http://schemas.microsoft.com/office/drawing/2014/main" id="{7716687E-B9E6-EF79-42FA-195AF9DF4F1F}"/>
              </a:ext>
            </a:extLst>
          </p:cNvPr>
          <p:cNvSpPr>
            <a:spLocks noGrp="1"/>
          </p:cNvSpPr>
          <p:nvPr>
            <p:ph type="title"/>
          </p:nvPr>
        </p:nvSpPr>
        <p:spPr>
          <a:xfrm>
            <a:off x="5474188" y="191001"/>
            <a:ext cx="6577717" cy="770141"/>
          </a:xfrm>
        </p:spPr>
        <p:txBody>
          <a:bodyPr>
            <a:normAutofit/>
          </a:bodyPr>
          <a:lstStyle/>
          <a:p>
            <a:r>
              <a:rPr lang="zh-TW" altLang="en-US" sz="3200" dirty="0"/>
              <a:t>第一部分：比特幣之發展</a:t>
            </a:r>
            <a:endParaRPr lang="en-US" sz="3200" dirty="0"/>
          </a:p>
        </p:txBody>
      </p:sp>
      <p:sp>
        <p:nvSpPr>
          <p:cNvPr id="10" name="Content Placeholder 5">
            <a:extLst>
              <a:ext uri="{FF2B5EF4-FFF2-40B4-BE49-F238E27FC236}">
                <a16:creationId xmlns:a16="http://schemas.microsoft.com/office/drawing/2014/main" id="{9E7E1599-3872-6AF2-8860-E37CED93BC6F}"/>
              </a:ext>
            </a:extLst>
          </p:cNvPr>
          <p:cNvSpPr txBox="1">
            <a:spLocks/>
          </p:cNvSpPr>
          <p:nvPr/>
        </p:nvSpPr>
        <p:spPr>
          <a:xfrm>
            <a:off x="5474189" y="1049515"/>
            <a:ext cx="6577716" cy="568212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zh-TW" altLang="en-US" sz="3200" dirty="0">
                <a:latin typeface="微軟正黑體" panose="020B0604030504040204" pitchFamily="34" charset="-120"/>
                <a:ea typeface="微軟正黑體" panose="020B0604030504040204" pitchFamily="34" charset="-120"/>
              </a:rPr>
              <a:t>主題一：</a:t>
            </a:r>
            <a:r>
              <a:rPr lang="zh-TW" altLang="en-US" sz="3200" dirty="0"/>
              <a:t>比特幣的創立與概念</a:t>
            </a:r>
            <a:endParaRPr lang="en-US" altLang="zh-TW" sz="3200" dirty="0">
              <a:latin typeface="微軟正黑體" panose="020B0604030504040204" pitchFamily="34" charset="-120"/>
              <a:ea typeface="微軟正黑體" panose="020B0604030504040204" pitchFamily="34" charset="-120"/>
            </a:endParaRPr>
          </a:p>
          <a:p>
            <a:pPr marL="0" indent="0" algn="just">
              <a:lnSpc>
                <a:spcPct val="150000"/>
              </a:lnSpc>
              <a:spcBef>
                <a:spcPts val="0"/>
              </a:spcBef>
              <a:buNone/>
            </a:pPr>
            <a:r>
              <a:rPr lang="zh-TW" altLang="en-US" sz="3200" dirty="0">
                <a:latin typeface="微軟正黑體" panose="020B0604030504040204" pitchFamily="34" charset="-120"/>
                <a:ea typeface="微軟正黑體" panose="020B0604030504040204" pitchFamily="34" charset="-120"/>
              </a:rPr>
              <a:t>主題二：比特幣的支付與巿場</a:t>
            </a:r>
            <a:endParaRPr lang="en-US" altLang="zh-TW" sz="3200" dirty="0">
              <a:latin typeface="微軟正黑體" panose="020B0604030504040204" pitchFamily="34" charset="-120"/>
              <a:ea typeface="微軟正黑體" panose="020B0604030504040204" pitchFamily="34" charset="-120"/>
            </a:endParaRPr>
          </a:p>
          <a:p>
            <a:pPr marL="0" indent="0" algn="just">
              <a:lnSpc>
                <a:spcPct val="150000"/>
              </a:lnSpc>
              <a:spcBef>
                <a:spcPts val="0"/>
              </a:spcBef>
              <a:buNone/>
            </a:pPr>
            <a:r>
              <a:rPr lang="zh-TW" altLang="en-US" sz="3200" dirty="0">
                <a:latin typeface="微軟正黑體" panose="020B0604030504040204" pitchFamily="34" charset="-120"/>
                <a:ea typeface="微軟正黑體" panose="020B0604030504040204" pitchFamily="34" charset="-120"/>
              </a:rPr>
              <a:t>主題三：比特幣的創新與挑戰</a:t>
            </a:r>
            <a:endParaRPr lang="en-US" altLang="zh-TW" sz="3200" dirty="0">
              <a:latin typeface="微軟正黑體" panose="020B0604030504040204" pitchFamily="34" charset="-120"/>
              <a:ea typeface="微軟正黑體" panose="020B0604030504040204" pitchFamily="34" charset="-120"/>
            </a:endParaRPr>
          </a:p>
          <a:p>
            <a:pPr marL="0" indent="0" algn="just">
              <a:lnSpc>
                <a:spcPct val="120000"/>
              </a:lnSpc>
              <a:spcBef>
                <a:spcPts val="0"/>
              </a:spcBef>
              <a:buNone/>
            </a:pPr>
            <a:endParaRPr lang="en-US" sz="1800" dirty="0"/>
          </a:p>
        </p:txBody>
      </p:sp>
    </p:spTree>
    <p:extLst>
      <p:ext uri="{BB962C8B-B14F-4D97-AF65-F5344CB8AC3E}">
        <p14:creationId xmlns:p14="http://schemas.microsoft.com/office/powerpoint/2010/main" val="234890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2DCBA4B6-4393-3837-E2A1-FDE7E3DF206B}"/>
              </a:ext>
            </a:extLst>
          </p:cNvPr>
          <p:cNvSpPr txBox="1"/>
          <p:nvPr/>
        </p:nvSpPr>
        <p:spPr>
          <a:xfrm>
            <a:off x="305661" y="313289"/>
            <a:ext cx="9780814" cy="5564472"/>
          </a:xfrm>
          <a:prstGeom prst="rect">
            <a:avLst/>
          </a:prstGeom>
          <a:noFill/>
        </p:spPr>
        <p:txBody>
          <a:bodyPr wrap="square" rtlCol="0">
            <a:spAutoFit/>
          </a:bodyPr>
          <a:lstStyle/>
          <a:p>
            <a:pPr algn="just">
              <a:lnSpc>
                <a:spcPct val="150000"/>
              </a:lnSpc>
            </a:pPr>
            <a:r>
              <a:rPr lang="zh-TW" altLang="en-US" sz="2400" dirty="0">
                <a:effectLst/>
                <a:latin typeface="微軟正黑體" panose="020B0604030504040204" pitchFamily="34" charset="-120"/>
                <a:ea typeface="微軟正黑體" panose="020B0604030504040204" pitchFamily="34" charset="-120"/>
                <a:cs typeface="Times New Roman" panose="02020603050405020304" pitchFamily="18" charset="0"/>
              </a:rPr>
              <a:t>比特幣作為支付貨幣的發展歷程，從最初的技術試驗逐步演變為一種全球性的支付工具，儘管其路徑充滿挑戰。以下是比特幣作為支付貨幣的重要歷程：</a:t>
            </a:r>
            <a:endParaRPr lang="en-US" altLang="zh-TW" sz="24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Bitcoin, BTC</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）創立與概念提出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(2008-2010)</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中本聰的構想：比特幣最初由中本聰在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2008</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年提出，目標是成為一種去中心化、點對點的電子現金系統，能夠消除傳統金融機構的中介角色，允許用戶之間直接進行數位支付。</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創世區塊與早期試驗：</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2009</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月，比特幣網絡的第一個區塊（創世區塊）誕生，隨著網路的運行，比特幣逐漸吸引了小規模技術愛好者進行試驗性支付交易。</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9649EC84-39B9-98EE-EBA2-B2A996839622}"/>
              </a:ext>
            </a:extLst>
          </p:cNvPr>
          <p:cNvSpPr txBox="1"/>
          <p:nvPr/>
        </p:nvSpPr>
        <p:spPr>
          <a:xfrm>
            <a:off x="10315075" y="1207008"/>
            <a:ext cx="1571264"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a:t>
            </a:r>
            <a:r>
              <a:rPr lang="zh-TW" altLang="en-US" sz="2400" dirty="0"/>
              <a:t>比特幣的創立與概念</a:t>
            </a:r>
            <a:endParaRPr lang="zh-TW" altLang="en-US" sz="24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2DCBA4B6-4393-3837-E2A1-FDE7E3DF206B}"/>
              </a:ext>
            </a:extLst>
          </p:cNvPr>
          <p:cNvSpPr txBox="1"/>
          <p:nvPr/>
        </p:nvSpPr>
        <p:spPr>
          <a:xfrm>
            <a:off x="283501" y="111259"/>
            <a:ext cx="9570437" cy="584147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第一個比特幣支付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(2010)</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披薩交易：</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月</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22</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日，程式開發者拉斯洛</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漢耶茨用</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10,000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個比特幣購買了</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兩個披薩</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，這是首例公開的比特幣支付，象徵著比特幣開始從理論過渡到實際應用。這一交易雖小，但為比特幣作為支付貨幣奠定了基礎。</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1062900" indent="-342900" algn="just">
              <a:lnSpc>
                <a:spcPct val="150000"/>
              </a:lnSpc>
              <a:buFont typeface="Wingdings" panose="05000000000000000000" pitchFamily="2" charset="2"/>
              <a:buChar char="u"/>
            </a:pP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現在這 </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萬顆比特幣價值約多少台幣？（以 </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1 BTC ≈ NT$3</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百萬 計算）</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sym typeface="Wingdings 3" panose="05040102010807070707" pitchFamily="18" charset="2"/>
              </a:rPr>
              <a:t></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約 新台幣</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260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億！</a:t>
            </a:r>
            <a:r>
              <a:rPr lang="en-US" altLang="zh-TW"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(26,071,288,200TWD</a:t>
            </a:r>
            <a:r>
              <a:rPr lang="zh-TW" altLang="en-US"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2026.1026)</a:t>
            </a:r>
          </a:p>
          <a:p>
            <a:pPr marL="1062900" indent="-342900" algn="just">
              <a:lnSpc>
                <a:spcPct val="150000"/>
              </a:lnSpc>
              <a:buFont typeface="Wingdings" panose="05000000000000000000" pitchFamily="2" charset="2"/>
              <a:buChar char="u"/>
            </a:pPr>
            <a:r>
              <a:rPr lang="en-US" altLang="zh-TW"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1 BTC ≈ 79,992.65USD ≈2,607,128.82TWD(2026</a:t>
            </a:r>
            <a:r>
              <a:rPr lang="zh-TW" altLang="en-US"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月</a:t>
            </a:r>
            <a:r>
              <a:rPr lang="en-US" altLang="zh-TW"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26</a:t>
            </a:r>
            <a:r>
              <a:rPr lang="zh-TW" altLang="en-US"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日</a:t>
            </a:r>
            <a:r>
              <a:rPr lang="en-US" altLang="zh-TW"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2000" dirty="0">
              <a:solidFill>
                <a:srgbClr val="0033CC"/>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第一次交易所誕生：</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Mt. Gox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成立，允許用戶將比特幣兌換成法定貨幣，增加了比特幣的流通性，並推動更多實體商品和服務接受比特幣支付。</a:t>
            </a:r>
            <a:endParaRPr lang="zh-TW"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0824479B-4475-3DF6-6125-7EC8778AED2E}"/>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主題二：比特幣的支付與巿場</a:t>
            </a:r>
          </a:p>
        </p:txBody>
      </p:sp>
    </p:spTree>
    <p:extLst>
      <p:ext uri="{BB962C8B-B14F-4D97-AF65-F5344CB8AC3E}">
        <p14:creationId xmlns:p14="http://schemas.microsoft.com/office/powerpoint/2010/main" val="105737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7DF58-3832-92ED-6F1F-18FBEFD85B36}"/>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BB1067AB-7B58-4BB1-56BB-9470142130FB}"/>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主題二：比特幣的支付與巿場</a:t>
            </a:r>
          </a:p>
        </p:txBody>
      </p:sp>
      <p:sp>
        <p:nvSpPr>
          <p:cNvPr id="5" name="文字方塊 4">
            <a:extLst>
              <a:ext uri="{FF2B5EF4-FFF2-40B4-BE49-F238E27FC236}">
                <a16:creationId xmlns:a16="http://schemas.microsoft.com/office/drawing/2014/main" id="{FA1404CC-0A2B-9722-E205-BAF84598DD2F}"/>
              </a:ext>
            </a:extLst>
          </p:cNvPr>
          <p:cNvSpPr txBox="1"/>
          <p:nvPr/>
        </p:nvSpPr>
        <p:spPr>
          <a:xfrm>
            <a:off x="283501" y="753954"/>
            <a:ext cx="9570437" cy="501047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早期採用比特幣與市場波動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(2011-2013)</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比特幣的商業接受度增長：隨著比特幣逐漸受到技術社群、自由主義者和反主流金融運動者的青睞，一些早期的線</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上平台和小型商家</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開始接受比特幣作為支付方式，尤其是在自由市場、數位產品和服務的交易中。</a:t>
            </a:r>
          </a:p>
          <a:p>
            <a:pPr marL="702900" indent="-342900" algn="just">
              <a:lnSpc>
                <a:spcPct val="150000"/>
              </a:lnSpc>
              <a:buFont typeface="Wingdings" panose="05000000000000000000" pitchFamily="2" charset="2"/>
              <a:buChar char="Ø"/>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支付服務的興起</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2012</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err="1">
                <a:latin typeface="微軟正黑體" panose="020B0604030504040204" pitchFamily="34" charset="-120"/>
                <a:ea typeface="微軟正黑體" panose="020B0604030504040204" pitchFamily="34" charset="-120"/>
                <a:cs typeface="Times New Roman" panose="02020603050405020304" pitchFamily="18" charset="0"/>
              </a:rPr>
              <a:t>BitPay</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成立，專注於為商家提供比特幣支付解決方案，這是促進比特幣被更廣泛商家接受的重要步驟。同年，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WordPress</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成為首個大型平台接受比特幣支付，帶來了象徵性意義。</a:t>
            </a:r>
            <a:endParaRPr lang="zh-TW"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338962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EF144-5C4A-B806-9F39-BB38BE1B73DF}"/>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82F2A19D-6236-D328-E982-FF48CAB9E7A6}"/>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主題三：比特幣的創新與挑戰</a:t>
            </a:r>
          </a:p>
        </p:txBody>
      </p:sp>
      <p:sp>
        <p:nvSpPr>
          <p:cNvPr id="2" name="文字方塊 1">
            <a:extLst>
              <a:ext uri="{FF2B5EF4-FFF2-40B4-BE49-F238E27FC236}">
                <a16:creationId xmlns:a16="http://schemas.microsoft.com/office/drawing/2014/main" id="{5404E865-D4A6-7E37-E663-32AA2836D6BC}"/>
              </a:ext>
            </a:extLst>
          </p:cNvPr>
          <p:cNvSpPr txBox="1"/>
          <p:nvPr/>
        </p:nvSpPr>
        <p:spPr>
          <a:xfrm>
            <a:off x="283501" y="753954"/>
            <a:ext cx="9570437" cy="445647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比特幣擴展挑戰與價格波動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(2014-2016)</a:t>
            </a:r>
          </a:p>
          <a:p>
            <a:pPr marL="702900" indent="-342900" algn="just">
              <a:lnSpc>
                <a:spcPct val="150000"/>
              </a:lnSpc>
              <a:buFont typeface="Wingdings" panose="05000000000000000000" pitchFamily="2" charset="2"/>
              <a:buChar char="Ø"/>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Mt. Gox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崩潰和信任危機：</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2014</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年，比特幣支付進程遭遇重大打擊，由於</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Mt. Gox</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交易所倒閉及被黑，導致大量用戶資金損失，影響了人們對比特幣的信心。同時，比特幣的波動性讓商家對它作為穩定支付工具的信任減弱。</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擴展性問題：隨著比特幣交易量的增加，網絡擁堵問題顯現，交易速度變慢且成本提高，這阻礙了它在支付領域的擴展。</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2015</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年以太坊的推出則分散了一部分市場注意力</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626176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F28F-760F-5AEA-A948-21E310102E64}"/>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58159D91-7790-9A26-3D00-EF7BD40C0288}"/>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主題三：比特幣的創新與挑戰</a:t>
            </a:r>
          </a:p>
        </p:txBody>
      </p:sp>
      <p:sp>
        <p:nvSpPr>
          <p:cNvPr id="2" name="文字方塊 1">
            <a:extLst>
              <a:ext uri="{FF2B5EF4-FFF2-40B4-BE49-F238E27FC236}">
                <a16:creationId xmlns:a16="http://schemas.microsoft.com/office/drawing/2014/main" id="{BB30D0FA-AC60-C207-C27E-F0818C4C0864}"/>
              </a:ext>
            </a:extLst>
          </p:cNvPr>
          <p:cNvSpPr txBox="1"/>
          <p:nvPr/>
        </p:nvSpPr>
        <p:spPr>
          <a:xfrm>
            <a:off x="283501" y="753954"/>
            <a:ext cx="9570437" cy="501047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比特幣創新和支付技術的進步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(2017-2019)</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比特幣價格飆升和支付困境：</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2017</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年比特幣價格達到前所未有的高點，突破</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20,000</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美元</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，但高昂的交易費用和緩慢的處理速度導致其作為日常支付工具的適用性下降。許多商家暫停或取消了比特幣支付選項。</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隔離見證和閃電網路：為了解決交易速度和成本問題，開發者推出了「隔離見證」</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err="1">
                <a:latin typeface="微軟正黑體" panose="020B0604030504040204" pitchFamily="34" charset="-120"/>
                <a:ea typeface="微軟正黑體" panose="020B0604030504040204" pitchFamily="34" charset="-120"/>
                <a:cs typeface="Times New Roman" panose="02020603050405020304" pitchFamily="18" charset="0"/>
              </a:rPr>
              <a:t>SegWit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升級，旨在提高網絡效率。同時，「閃電網路」的開發促進了比特幣微支付的發展，使即時支付成為可能。</a:t>
            </a:r>
            <a:endParaRPr lang="zh-TW"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3253509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30B6-25BD-1DE5-A468-F40DF32024F7}"/>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11C02B57-7883-150D-AE7E-C8C0E59747A9}"/>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主題三：比特幣的創新與挑戰</a:t>
            </a:r>
          </a:p>
        </p:txBody>
      </p:sp>
      <p:sp>
        <p:nvSpPr>
          <p:cNvPr id="2" name="文字方塊 1">
            <a:extLst>
              <a:ext uri="{FF2B5EF4-FFF2-40B4-BE49-F238E27FC236}">
                <a16:creationId xmlns:a16="http://schemas.microsoft.com/office/drawing/2014/main" id="{3CA4D3DF-6A81-C99D-7861-1FDC685A1CD1}"/>
              </a:ext>
            </a:extLst>
          </p:cNvPr>
          <p:cNvSpPr txBox="1"/>
          <p:nvPr/>
        </p:nvSpPr>
        <p:spPr>
          <a:xfrm>
            <a:off x="283501" y="753954"/>
            <a:ext cx="9570437" cy="520642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機構採用比特幣和支付平台的支援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至今</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702900" indent="-342900" algn="just">
              <a:lnSpc>
                <a:spcPct val="150000"/>
              </a:lnSpc>
              <a:buFont typeface="Wingdings" panose="05000000000000000000" pitchFamily="2" charset="2"/>
              <a:buChar char="Ø"/>
            </a:pP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PayPal</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支持比特幣支付</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2020</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PayPal</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宣布將允許用戶購買、出售和使用比特幣支付，這是比特幣支付採用中的一個重要里程碑。隨著其他大型支付平台如</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Square</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Visa</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和</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Mastercard</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加入支持比特幣支付的行列，比特幣作為支付貨幣的可行性再次提升。</a:t>
            </a:r>
          </a:p>
          <a:p>
            <a:pPr marL="702900" indent="-342900" algn="just">
              <a:lnSpc>
                <a:spcPct val="150000"/>
              </a:lnSpc>
              <a:buFont typeface="Wingdings" panose="05000000000000000000" pitchFamily="2" charset="2"/>
              <a:buChar char="Ø"/>
            </a:pP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企業採用案例</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：越來越多的國際企業，如</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特斯拉</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，宣佈接受比特幣支付，儘管由於波動性和環保擔憂，特斯拉後來暫停了這一選項。然而，這仍顯示了企業對比特幣的日益重視。</a:t>
            </a:r>
          </a:p>
          <a:p>
            <a:pPr marL="702900" indent="-342900" algn="just">
              <a:lnSpc>
                <a:spcPct val="150000"/>
              </a:lnSpc>
              <a:buFont typeface="Wingdings" panose="05000000000000000000" pitchFamily="2" charset="2"/>
              <a:buChar char="Ø"/>
            </a:pP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去中心化金融 </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(DeFi)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與支付應用</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：比特幣在去中心化金融領域的應用也使其支付能力擴展到更廣泛的金融服務，如貸款、保險和資產管理。此外，比特幣在跨境支付中的潛力，尤其是在限制性貨幣管制的國家，得到更多的認可。</a:t>
            </a:r>
            <a:endParaRPr lang="zh-TW" altLang="zh-TW" sz="20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2562141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34024-62B6-4F7B-4DFF-800DDE942F79}"/>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CE609FD7-CCDD-8A17-8684-3D220ABA3113}"/>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主題三：比特幣的創新與挑戰</a:t>
            </a:r>
          </a:p>
        </p:txBody>
      </p:sp>
      <p:sp>
        <p:nvSpPr>
          <p:cNvPr id="2" name="文字方塊 1">
            <a:extLst>
              <a:ext uri="{FF2B5EF4-FFF2-40B4-BE49-F238E27FC236}">
                <a16:creationId xmlns:a16="http://schemas.microsoft.com/office/drawing/2014/main" id="{6776321A-F8AC-26FE-FAE9-919260D6D66E}"/>
              </a:ext>
            </a:extLst>
          </p:cNvPr>
          <p:cNvSpPr txBox="1"/>
          <p:nvPr/>
        </p:nvSpPr>
        <p:spPr>
          <a:xfrm>
            <a:off x="395672" y="92766"/>
            <a:ext cx="9570437" cy="667246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比特幣作為支付貨幣的挑戰</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Wingdings" panose="05000000000000000000" pitchFamily="2" charset="2"/>
              <a:buChar char="Ø"/>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波動性：</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比特幣的價格劇烈波動仍是阻礙其廣泛作為支付貨幣的一大挑戰。商家和消費者在日常交易中更傾向於穩定的貨幣。</a:t>
            </a:r>
          </a:p>
          <a:p>
            <a:pPr marL="702900" indent="-342900" algn="just">
              <a:lnSpc>
                <a:spcPct val="150000"/>
              </a:lnSpc>
              <a:buFont typeface="Wingdings" panose="05000000000000000000" pitchFamily="2" charset="2"/>
              <a:buChar char="Ø"/>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監管壓力：</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各國政府對加密貨幣支付的監管態度不一，從全面禁止到積極採用。這使得比特幣在不同地區的支付應用面臨不確定性。</a:t>
            </a:r>
          </a:p>
          <a:p>
            <a:pPr marL="702900" indent="-342900" algn="just">
              <a:lnSpc>
                <a:spcPct val="150000"/>
              </a:lnSpc>
              <a:buFont typeface="Wingdings" panose="05000000000000000000" pitchFamily="2" charset="2"/>
              <a:buChar char="Ø"/>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技術可擴展性：</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雖然技術創新如閃電網路正在改善比特幣的支付體驗，但其可擴展性仍然受到挑戰，特別是在大規模日常支付應用中。</a:t>
            </a:r>
          </a:p>
          <a:p>
            <a:pPr marL="360000"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儘管比特幣在支付領域的發展充滿挑戰，它仍然是世界上最知名的加密貨幣之一，並且隨著技術和基礎設施的進步，它作為支付工具的潛力也將繼續增加。</a:t>
            </a:r>
          </a:p>
        </p:txBody>
      </p:sp>
    </p:spTree>
    <p:extLst>
      <p:ext uri="{BB962C8B-B14F-4D97-AF65-F5344CB8AC3E}">
        <p14:creationId xmlns:p14="http://schemas.microsoft.com/office/powerpoint/2010/main" val="3215311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6D615-97D1-D398-25A4-A1801C44FFF1}"/>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8EC7E90F-42A8-90AE-4AD2-2870F263D49B}"/>
              </a:ext>
            </a:extLst>
          </p:cNvPr>
          <p:cNvSpPr txBox="1"/>
          <p:nvPr/>
        </p:nvSpPr>
        <p:spPr>
          <a:xfrm>
            <a:off x="556590" y="414085"/>
            <a:ext cx="9399577" cy="334828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比特幣的核心設計初衷是為了？</a:t>
            </a:r>
            <a:br>
              <a:rPr lang="zh-TW" altLang="en-US" sz="2400" b="1" dirty="0"/>
            </a:br>
            <a:r>
              <a:rPr lang="zh-TW" altLang="en-US" sz="2400" dirty="0"/>
              <a:t>　</a:t>
            </a:r>
            <a:r>
              <a:rPr lang="en-US" altLang="zh-TW" sz="2400" dirty="0"/>
              <a:t>A. </a:t>
            </a:r>
            <a:r>
              <a:rPr lang="zh-TW" altLang="en-US" sz="2400" dirty="0"/>
              <a:t>投資炒作工具</a:t>
            </a:r>
            <a:br>
              <a:rPr lang="zh-TW" altLang="en-US" sz="2400" dirty="0"/>
            </a:br>
            <a:r>
              <a:rPr lang="zh-TW" altLang="en-US" sz="2400" dirty="0"/>
              <a:t>　</a:t>
            </a:r>
            <a:r>
              <a:rPr lang="en-US" altLang="zh-TW" sz="2400" dirty="0"/>
              <a:t>B. </a:t>
            </a:r>
            <a:r>
              <a:rPr lang="zh-TW" altLang="en-US" sz="2400" dirty="0"/>
              <a:t>國家金融監管平台</a:t>
            </a:r>
            <a:br>
              <a:rPr lang="zh-TW" altLang="en-US" sz="2400" dirty="0"/>
            </a:br>
            <a:r>
              <a:rPr lang="zh-TW" altLang="en-US" sz="2400" dirty="0"/>
              <a:t>　</a:t>
            </a:r>
            <a:r>
              <a:rPr lang="en-US" altLang="zh-TW" sz="2400" dirty="0"/>
              <a:t>C. </a:t>
            </a:r>
            <a:r>
              <a:rPr lang="zh-TW" altLang="en-US" sz="2400" dirty="0"/>
              <a:t>一種免中介機構的支付機制</a:t>
            </a:r>
            <a:br>
              <a:rPr lang="zh-TW" altLang="en-US" sz="2400" dirty="0"/>
            </a:br>
            <a:r>
              <a:rPr lang="zh-TW" altLang="en-US" sz="2400" dirty="0"/>
              <a:t>　</a:t>
            </a:r>
            <a:r>
              <a:rPr lang="en-US" altLang="zh-TW" sz="2400" dirty="0"/>
              <a:t>D. </a:t>
            </a:r>
            <a:r>
              <a:rPr lang="zh-TW" altLang="en-US" sz="2400" dirty="0"/>
              <a:t>資金洗白通道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6D302679-12A1-0A4F-D1D9-3C0E461826C6}"/>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比特幣之發展</a:t>
            </a:r>
            <a:endParaRPr lang="zh-TW" altLang="en-US" sz="2400" dirty="0"/>
          </a:p>
        </p:txBody>
      </p:sp>
    </p:spTree>
    <p:extLst>
      <p:ext uri="{BB962C8B-B14F-4D97-AF65-F5344CB8AC3E}">
        <p14:creationId xmlns:p14="http://schemas.microsoft.com/office/powerpoint/2010/main" val="2496026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49839-4564-4A01-3160-09EC1815B5E0}"/>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F16B1D67-7788-0940-6D86-E72ABF57C30E}"/>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比特幣的核心設計初衷是為了？</a:t>
            </a:r>
            <a:br>
              <a:rPr lang="zh-TW" altLang="en-US" sz="2400" b="1" dirty="0"/>
            </a:br>
            <a:r>
              <a:rPr lang="zh-TW" altLang="en-US" sz="2400" dirty="0"/>
              <a:t>　</a:t>
            </a:r>
            <a:r>
              <a:rPr lang="en-US" altLang="zh-TW" sz="2400" dirty="0"/>
              <a:t>A. </a:t>
            </a:r>
            <a:r>
              <a:rPr lang="zh-TW" altLang="en-US" sz="2400" dirty="0"/>
              <a:t>投資炒作工具</a:t>
            </a:r>
            <a:br>
              <a:rPr lang="zh-TW" altLang="en-US" sz="2400" dirty="0"/>
            </a:br>
            <a:r>
              <a:rPr lang="zh-TW" altLang="en-US" sz="2400" dirty="0"/>
              <a:t>　</a:t>
            </a:r>
            <a:r>
              <a:rPr lang="en-US" altLang="zh-TW" sz="2400" dirty="0"/>
              <a:t>B. </a:t>
            </a:r>
            <a:r>
              <a:rPr lang="zh-TW" altLang="en-US" sz="2400" dirty="0"/>
              <a:t>國家金融監管平台</a:t>
            </a:r>
            <a:br>
              <a:rPr lang="zh-TW" altLang="en-US" sz="2400" dirty="0"/>
            </a:br>
            <a:r>
              <a:rPr lang="zh-TW" altLang="en-US" sz="2400" dirty="0"/>
              <a:t>　</a:t>
            </a:r>
            <a:r>
              <a:rPr lang="en-US" altLang="zh-TW" sz="2400" dirty="0"/>
              <a:t>C. </a:t>
            </a:r>
            <a:r>
              <a:rPr lang="zh-TW" altLang="en-US" sz="2400" dirty="0"/>
              <a:t>一種免中介機構的支付機制</a:t>
            </a:r>
            <a:br>
              <a:rPr lang="zh-TW" altLang="en-US" sz="2400" dirty="0"/>
            </a:br>
            <a:r>
              <a:rPr lang="zh-TW" altLang="en-US" sz="2400" dirty="0"/>
              <a:t>　</a:t>
            </a:r>
            <a:r>
              <a:rPr lang="en-US" altLang="zh-TW" sz="2400" dirty="0"/>
              <a:t>D. </a:t>
            </a:r>
            <a:r>
              <a:rPr lang="zh-TW" altLang="en-US" sz="2400" dirty="0"/>
              <a:t>資金洗白通道</a:t>
            </a:r>
            <a:br>
              <a:rPr lang="zh-TW" altLang="en-US" sz="2400" dirty="0"/>
            </a:br>
            <a:r>
              <a:rPr lang="zh-TW" altLang="en-US" sz="2400" dirty="0"/>
              <a:t>　正解：</a:t>
            </a:r>
            <a:r>
              <a:rPr lang="en-US" altLang="zh-TW" sz="2400" b="1" dirty="0"/>
              <a:t>C</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1B2059BC-ED0F-E5D4-B112-A14F283D5717}"/>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比特幣之發展</a:t>
            </a:r>
            <a:endParaRPr lang="zh-TW" altLang="en-US" sz="2400" dirty="0"/>
          </a:p>
        </p:txBody>
      </p:sp>
    </p:spTree>
    <p:extLst>
      <p:ext uri="{BB962C8B-B14F-4D97-AF65-F5344CB8AC3E}">
        <p14:creationId xmlns:p14="http://schemas.microsoft.com/office/powerpoint/2010/main" val="1972134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4F01-D659-9726-9FF6-1FE18B37E430}"/>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5B60F50-12BA-A05D-BBC1-DA4333600AA1}"/>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「去中心化」的真正意義是？</a:t>
            </a:r>
            <a:br>
              <a:rPr lang="zh-TW" altLang="en-US" sz="2400" dirty="0"/>
            </a:br>
            <a:r>
              <a:rPr lang="zh-TW" altLang="en-US" sz="2400" dirty="0"/>
              <a:t>　</a:t>
            </a:r>
            <a:r>
              <a:rPr lang="en-US" altLang="zh-TW" sz="2400" dirty="0"/>
              <a:t>A. </a:t>
            </a:r>
            <a:r>
              <a:rPr lang="zh-TW" altLang="en-US" sz="2400" dirty="0"/>
              <a:t>不需要使用者帳號</a:t>
            </a:r>
            <a:br>
              <a:rPr lang="zh-TW" altLang="en-US" sz="2400" dirty="0"/>
            </a:br>
            <a:r>
              <a:rPr lang="zh-TW" altLang="en-US" sz="2400" dirty="0"/>
              <a:t>　</a:t>
            </a:r>
            <a:r>
              <a:rPr lang="en-US" altLang="zh-TW" sz="2400" dirty="0"/>
              <a:t>B. </a:t>
            </a:r>
            <a:r>
              <a:rPr lang="zh-TW" altLang="en-US" sz="2400" dirty="0"/>
              <a:t>沒有任何一個單位能完全控制整體系統</a:t>
            </a:r>
            <a:br>
              <a:rPr lang="zh-TW" altLang="en-US" sz="2400" dirty="0"/>
            </a:br>
            <a:r>
              <a:rPr lang="zh-TW" altLang="en-US" sz="2400" dirty="0"/>
              <a:t>　</a:t>
            </a:r>
            <a:r>
              <a:rPr lang="en-US" altLang="zh-TW" sz="2400" dirty="0"/>
              <a:t>C. </a:t>
            </a:r>
            <a:r>
              <a:rPr lang="zh-TW" altLang="en-US" sz="2400" dirty="0"/>
              <a:t>沒有管理者也不會有規則</a:t>
            </a:r>
            <a:br>
              <a:rPr lang="zh-TW" altLang="en-US" sz="2400" dirty="0"/>
            </a:br>
            <a:r>
              <a:rPr lang="zh-TW" altLang="en-US" sz="2400" dirty="0"/>
              <a:t>　</a:t>
            </a:r>
            <a:r>
              <a:rPr lang="en-US" altLang="zh-TW" sz="2400" dirty="0"/>
              <a:t>D. </a:t>
            </a:r>
            <a:r>
              <a:rPr lang="zh-TW" altLang="en-US" sz="2400" dirty="0"/>
              <a:t>所有人都匿名</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3DA8E29D-C40E-DEE4-0733-7F7F975045AE}"/>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比特幣之發展</a:t>
            </a:r>
            <a:endParaRPr lang="zh-TW" altLang="en-US" sz="2400" dirty="0"/>
          </a:p>
        </p:txBody>
      </p:sp>
    </p:spTree>
    <p:extLst>
      <p:ext uri="{BB962C8B-B14F-4D97-AF65-F5344CB8AC3E}">
        <p14:creationId xmlns:p14="http://schemas.microsoft.com/office/powerpoint/2010/main" val="4137253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B1E51-AEAA-8732-86A2-1A640FA27E6C}"/>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832756B7-025E-CD9D-79DE-8C02F7ED8311}"/>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「去中心化」的真正意義是？</a:t>
            </a:r>
            <a:br>
              <a:rPr lang="zh-TW" altLang="en-US" sz="2400" dirty="0"/>
            </a:br>
            <a:r>
              <a:rPr lang="zh-TW" altLang="en-US" sz="2400" dirty="0"/>
              <a:t>　</a:t>
            </a:r>
            <a:r>
              <a:rPr lang="en-US" altLang="zh-TW" sz="2400" dirty="0"/>
              <a:t>A. </a:t>
            </a:r>
            <a:r>
              <a:rPr lang="zh-TW" altLang="en-US" sz="2400" dirty="0"/>
              <a:t>不需要使用者帳號</a:t>
            </a:r>
            <a:br>
              <a:rPr lang="zh-TW" altLang="en-US" sz="2400" dirty="0"/>
            </a:br>
            <a:r>
              <a:rPr lang="zh-TW" altLang="en-US" sz="2400" dirty="0"/>
              <a:t>　</a:t>
            </a:r>
            <a:r>
              <a:rPr lang="en-US" altLang="zh-TW" sz="2400" dirty="0"/>
              <a:t>B. </a:t>
            </a:r>
            <a:r>
              <a:rPr lang="zh-TW" altLang="en-US" sz="2400" dirty="0"/>
              <a:t>沒有任何一個單位能完全控制整體系統</a:t>
            </a:r>
            <a:br>
              <a:rPr lang="zh-TW" altLang="en-US" sz="2400" dirty="0"/>
            </a:br>
            <a:r>
              <a:rPr lang="zh-TW" altLang="en-US" sz="2400" dirty="0"/>
              <a:t>　</a:t>
            </a:r>
            <a:r>
              <a:rPr lang="en-US" altLang="zh-TW" sz="2400" dirty="0"/>
              <a:t>C. </a:t>
            </a:r>
            <a:r>
              <a:rPr lang="zh-TW" altLang="en-US" sz="2400" dirty="0"/>
              <a:t>沒有管理者也不會有規則</a:t>
            </a:r>
            <a:br>
              <a:rPr lang="zh-TW" altLang="en-US" sz="2400" dirty="0"/>
            </a:br>
            <a:r>
              <a:rPr lang="zh-TW" altLang="en-US" sz="2400" dirty="0"/>
              <a:t>　</a:t>
            </a:r>
            <a:r>
              <a:rPr lang="en-US" altLang="zh-TW" sz="2400" dirty="0"/>
              <a:t>D. </a:t>
            </a:r>
            <a:r>
              <a:rPr lang="zh-TW" altLang="en-US" sz="2400" dirty="0"/>
              <a:t>所有人都匿名</a:t>
            </a:r>
            <a:br>
              <a:rPr lang="zh-TW" altLang="en-US" sz="2400" dirty="0"/>
            </a:br>
            <a:r>
              <a:rPr lang="zh-TW" altLang="en-US" sz="2400" dirty="0"/>
              <a:t>　 正解：</a:t>
            </a:r>
            <a:r>
              <a:rPr lang="en-US" altLang="zh-TW" sz="2400" b="1" dirty="0"/>
              <a:t>B</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E80A396D-63F1-FB93-2A95-466E089C5C90}"/>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比特幣之發展</a:t>
            </a:r>
            <a:endParaRPr lang="zh-TW" altLang="en-US" sz="2400" dirty="0"/>
          </a:p>
        </p:txBody>
      </p:sp>
    </p:spTree>
    <p:extLst>
      <p:ext uri="{BB962C8B-B14F-4D97-AF65-F5344CB8AC3E}">
        <p14:creationId xmlns:p14="http://schemas.microsoft.com/office/powerpoint/2010/main" val="2285456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DD372-4AF4-BAAC-88AF-B5ADB48DBF73}"/>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95BA78C0-37F3-E2DB-7CEB-C1AABFFFE460}"/>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比特幣的帳本之所以可信，是因為？</a:t>
            </a:r>
            <a:br>
              <a:rPr lang="zh-TW" altLang="en-US" sz="2400" dirty="0"/>
            </a:br>
            <a:r>
              <a:rPr lang="zh-TW" altLang="en-US" sz="2400" dirty="0"/>
              <a:t>　</a:t>
            </a:r>
            <a:r>
              <a:rPr lang="en-US" altLang="zh-TW" sz="2400" dirty="0"/>
              <a:t>A. </a:t>
            </a:r>
            <a:r>
              <a:rPr lang="zh-TW" altLang="en-US" sz="2400" dirty="0"/>
              <a:t>發行單位會保證</a:t>
            </a:r>
            <a:br>
              <a:rPr lang="zh-TW" altLang="en-US" sz="2400" dirty="0"/>
            </a:br>
            <a:r>
              <a:rPr lang="zh-TW" altLang="en-US" sz="2400" dirty="0"/>
              <a:t>　</a:t>
            </a:r>
            <a:r>
              <a:rPr lang="en-US" altLang="zh-TW" sz="2400" dirty="0"/>
              <a:t>B. </a:t>
            </a:r>
            <a:r>
              <a:rPr lang="zh-TW" altLang="en-US" sz="2400" dirty="0"/>
              <a:t>每筆交易都經過銀行驗證</a:t>
            </a:r>
            <a:br>
              <a:rPr lang="zh-TW" altLang="en-US" sz="2400" dirty="0"/>
            </a:br>
            <a:r>
              <a:rPr lang="zh-TW" altLang="en-US" sz="2400" dirty="0"/>
              <a:t>　</a:t>
            </a:r>
            <a:r>
              <a:rPr lang="en-US" altLang="zh-TW" sz="2400" dirty="0"/>
              <a:t>C. </a:t>
            </a:r>
            <a:r>
              <a:rPr lang="zh-TW" altLang="en-US" sz="2400" dirty="0"/>
              <a:t>所有人共同維護的區塊鏈不可竄改</a:t>
            </a:r>
            <a:br>
              <a:rPr lang="zh-TW" altLang="en-US" sz="2400" dirty="0"/>
            </a:br>
            <a:r>
              <a:rPr lang="zh-TW" altLang="en-US" sz="2400" dirty="0"/>
              <a:t>　</a:t>
            </a:r>
            <a:r>
              <a:rPr lang="en-US" altLang="zh-TW" sz="2400" dirty="0"/>
              <a:t>D. </a:t>
            </a:r>
            <a:r>
              <a:rPr lang="zh-TW" altLang="en-US" sz="2400" dirty="0"/>
              <a:t>使用軍用加密演算法</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A227BD28-3148-8AE3-D651-9E4DDA85B45E}"/>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比特幣之發展</a:t>
            </a:r>
            <a:endParaRPr lang="zh-TW" altLang="en-US" sz="2400" dirty="0"/>
          </a:p>
        </p:txBody>
      </p:sp>
    </p:spTree>
    <p:extLst>
      <p:ext uri="{BB962C8B-B14F-4D97-AF65-F5344CB8AC3E}">
        <p14:creationId xmlns:p14="http://schemas.microsoft.com/office/powerpoint/2010/main" val="2721113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D7477-C43B-6B42-462B-3549DD07E775}"/>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9DB7E909-EDAC-E5AD-CF42-E5753DE565F0}"/>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比特幣的帳本之所以可信，是因為？</a:t>
            </a:r>
            <a:br>
              <a:rPr lang="zh-TW" altLang="en-US" sz="2400" dirty="0"/>
            </a:br>
            <a:r>
              <a:rPr lang="zh-TW" altLang="en-US" sz="2400" dirty="0"/>
              <a:t>　</a:t>
            </a:r>
            <a:r>
              <a:rPr lang="en-US" altLang="zh-TW" sz="2400" dirty="0"/>
              <a:t>A. </a:t>
            </a:r>
            <a:r>
              <a:rPr lang="zh-TW" altLang="en-US" sz="2400" dirty="0"/>
              <a:t>發行單位會保證</a:t>
            </a:r>
            <a:br>
              <a:rPr lang="zh-TW" altLang="en-US" sz="2400" dirty="0"/>
            </a:br>
            <a:r>
              <a:rPr lang="zh-TW" altLang="en-US" sz="2400" dirty="0"/>
              <a:t>　</a:t>
            </a:r>
            <a:r>
              <a:rPr lang="en-US" altLang="zh-TW" sz="2400" dirty="0"/>
              <a:t>B. </a:t>
            </a:r>
            <a:r>
              <a:rPr lang="zh-TW" altLang="en-US" sz="2400" dirty="0"/>
              <a:t>每筆交易都經過銀行驗證</a:t>
            </a:r>
            <a:br>
              <a:rPr lang="zh-TW" altLang="en-US" sz="2400" dirty="0"/>
            </a:br>
            <a:r>
              <a:rPr lang="zh-TW" altLang="en-US" sz="2400" dirty="0"/>
              <a:t>　</a:t>
            </a:r>
            <a:r>
              <a:rPr lang="en-US" altLang="zh-TW" sz="2400" dirty="0"/>
              <a:t>C. </a:t>
            </a:r>
            <a:r>
              <a:rPr lang="zh-TW" altLang="en-US" sz="2400" dirty="0"/>
              <a:t>所有人共同維護的區塊鏈不可竄改</a:t>
            </a:r>
            <a:br>
              <a:rPr lang="zh-TW" altLang="en-US" sz="2400" dirty="0"/>
            </a:br>
            <a:r>
              <a:rPr lang="zh-TW" altLang="en-US" sz="2400" dirty="0"/>
              <a:t>　</a:t>
            </a:r>
            <a:r>
              <a:rPr lang="en-US" altLang="zh-TW" sz="2400" dirty="0"/>
              <a:t>D. </a:t>
            </a:r>
            <a:r>
              <a:rPr lang="zh-TW" altLang="en-US" sz="2400" dirty="0"/>
              <a:t>使用軍用加密演算法</a:t>
            </a:r>
            <a:br>
              <a:rPr lang="zh-TW" altLang="en-US" sz="2400" dirty="0"/>
            </a:br>
            <a:r>
              <a:rPr lang="zh-TW" altLang="en-US" sz="2400" dirty="0"/>
              <a:t>　正解：</a:t>
            </a:r>
            <a:r>
              <a:rPr lang="en-US" altLang="zh-TW" sz="2400" b="1" dirty="0"/>
              <a:t>C</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8D7F5137-6516-54DB-AE84-9387D1364FF5}"/>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比特幣之發展</a:t>
            </a:r>
            <a:endParaRPr lang="zh-TW" altLang="en-US" sz="2400" dirty="0"/>
          </a:p>
        </p:txBody>
      </p:sp>
    </p:spTree>
    <p:extLst>
      <p:ext uri="{BB962C8B-B14F-4D97-AF65-F5344CB8AC3E}">
        <p14:creationId xmlns:p14="http://schemas.microsoft.com/office/powerpoint/2010/main" val="3293153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hammock hanging from a palm tree on the beach">
            <a:extLst>
              <a:ext uri="{FF2B5EF4-FFF2-40B4-BE49-F238E27FC236}">
                <a16:creationId xmlns:a16="http://schemas.microsoft.com/office/drawing/2014/main" id="{152E4EE8-CCF1-2631-F29C-C4555FF13096}"/>
              </a:ext>
            </a:extLst>
          </p:cNvPr>
          <p:cNvPicPr>
            <a:picLocks noGrp="1" noChangeAspect="1"/>
          </p:cNvPicPr>
          <p:nvPr>
            <p:ph type="pic" sz="quarter" idx="13"/>
          </p:nvPr>
        </p:nvPicPr>
        <p:blipFill>
          <a:blip r:embed="rId2"/>
          <a:srcRect t="69" b="69"/>
          <a:stretch/>
        </p:blipFill>
        <p:spPr>
          <a:xfrm>
            <a:off x="576072" y="950976"/>
            <a:ext cx="4050792" cy="4965192"/>
          </a:xfrm>
        </p:spPr>
      </p:pic>
      <p:sp>
        <p:nvSpPr>
          <p:cNvPr id="5" name="Title 4">
            <a:extLst>
              <a:ext uri="{FF2B5EF4-FFF2-40B4-BE49-F238E27FC236}">
                <a16:creationId xmlns:a16="http://schemas.microsoft.com/office/drawing/2014/main" id="{35619F67-F861-9306-E9A8-3442F8BADB5D}"/>
              </a:ext>
            </a:extLst>
          </p:cNvPr>
          <p:cNvSpPr>
            <a:spLocks noGrp="1"/>
          </p:cNvSpPr>
          <p:nvPr>
            <p:ph type="title"/>
          </p:nvPr>
        </p:nvSpPr>
        <p:spPr>
          <a:xfrm>
            <a:off x="5082302" y="1529092"/>
            <a:ext cx="6577717" cy="770141"/>
          </a:xfrm>
        </p:spPr>
        <p:txBody>
          <a:bodyPr>
            <a:normAutofit/>
          </a:bodyPr>
          <a:lstStyle/>
          <a:p>
            <a:r>
              <a:rPr lang="zh-TW" altLang="en-US" sz="3200" dirty="0"/>
              <a:t>第二部分：比特幣作為支付工具</a:t>
            </a:r>
            <a:endParaRPr lang="en-US" sz="3200" dirty="0"/>
          </a:p>
        </p:txBody>
      </p:sp>
      <p:sp>
        <p:nvSpPr>
          <p:cNvPr id="2" name="Content Placeholder 5">
            <a:extLst>
              <a:ext uri="{FF2B5EF4-FFF2-40B4-BE49-F238E27FC236}">
                <a16:creationId xmlns:a16="http://schemas.microsoft.com/office/drawing/2014/main" id="{19E2AA29-01D3-008E-C7F5-F4A180A999DD}"/>
              </a:ext>
            </a:extLst>
          </p:cNvPr>
          <p:cNvSpPr txBox="1">
            <a:spLocks/>
          </p:cNvSpPr>
          <p:nvPr/>
        </p:nvSpPr>
        <p:spPr>
          <a:xfrm>
            <a:off x="5474189" y="2612571"/>
            <a:ext cx="6141739" cy="411907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zh-TW" altLang="en-US" dirty="0">
                <a:latin typeface="微軟正黑體" panose="020B0604030504040204" pitchFamily="34" charset="-120"/>
                <a:ea typeface="微軟正黑體" panose="020B0604030504040204" pitchFamily="34" charset="-120"/>
              </a:rPr>
              <a:t>主題一：</a:t>
            </a:r>
            <a:r>
              <a:rPr lang="zh-TW" altLang="en-US" dirty="0"/>
              <a:t>比特幣作為交易支付實例</a:t>
            </a:r>
            <a:endParaRPr lang="en-US" altLang="zh-TW" dirty="0">
              <a:latin typeface="微軟正黑體" panose="020B0604030504040204" pitchFamily="34" charset="-120"/>
              <a:ea typeface="微軟正黑體" panose="020B0604030504040204" pitchFamily="34" charset="-120"/>
            </a:endParaRPr>
          </a:p>
          <a:p>
            <a:pPr marL="0" indent="0" algn="just">
              <a:lnSpc>
                <a:spcPct val="150000"/>
              </a:lnSpc>
              <a:spcBef>
                <a:spcPts val="0"/>
              </a:spcBef>
              <a:buNone/>
            </a:pPr>
            <a:r>
              <a:rPr lang="zh-TW" altLang="en-US" dirty="0">
                <a:latin typeface="微軟正黑體" panose="020B0604030504040204" pitchFamily="34" charset="-120"/>
                <a:ea typeface="微軟正黑體" panose="020B0604030504040204" pitchFamily="34" charset="-120"/>
              </a:rPr>
              <a:t>主題二：</a:t>
            </a:r>
            <a:r>
              <a:rPr lang="zh-TW" altLang="en-US" dirty="0"/>
              <a:t>比特幣作為交易支付的計算</a:t>
            </a:r>
            <a:endParaRPr lang="en-US" altLang="zh-TW" dirty="0"/>
          </a:p>
          <a:p>
            <a:pPr marL="0" indent="0" algn="just">
              <a:lnSpc>
                <a:spcPct val="150000"/>
              </a:lnSpc>
              <a:spcBef>
                <a:spcPts val="0"/>
              </a:spcBef>
              <a:buNone/>
            </a:pPr>
            <a:r>
              <a:rPr lang="zh-TW" altLang="en-US" dirty="0">
                <a:latin typeface="微軟正黑體" panose="020B0604030504040204" pitchFamily="34" charset="-120"/>
                <a:ea typeface="微軟正黑體" panose="020B0604030504040204" pitchFamily="34" charset="-120"/>
              </a:rPr>
              <a:t>主題三：比特幣為法定貨幣的國家</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08735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F7DB6-DF24-3A1B-8245-D4EE8ED3FB30}"/>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2809CA9E-35D8-FFC3-2CB1-EEFE9C600831}"/>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主題一：比特幣作為交易支付實例</a:t>
            </a:r>
          </a:p>
        </p:txBody>
      </p:sp>
      <p:sp>
        <p:nvSpPr>
          <p:cNvPr id="8" name="文字方塊 7">
            <a:extLst>
              <a:ext uri="{FF2B5EF4-FFF2-40B4-BE49-F238E27FC236}">
                <a16:creationId xmlns:a16="http://schemas.microsoft.com/office/drawing/2014/main" id="{8CFA7A8A-878A-8961-804A-676BE978B480}"/>
              </a:ext>
            </a:extLst>
          </p:cNvPr>
          <p:cNvSpPr txBox="1"/>
          <p:nvPr/>
        </p:nvSpPr>
        <p:spPr>
          <a:xfrm>
            <a:off x="294860" y="430222"/>
            <a:ext cx="9570437" cy="6118470"/>
          </a:xfrm>
          <a:prstGeom prst="rect">
            <a:avLst/>
          </a:prstGeom>
          <a:noFill/>
        </p:spPr>
        <p:txBody>
          <a:bodyPr wrap="square" rtlCol="0">
            <a:spAutoFit/>
          </a:bodyPr>
          <a:lstStyle/>
          <a:p>
            <a:pPr algn="just">
              <a:lnSpc>
                <a:spcPct val="150000"/>
              </a:lnSpc>
            </a:pPr>
            <a:r>
              <a:rPr lang="zh-TW" altLang="en-US" sz="2400" dirty="0">
                <a:latin typeface="微軟正黑體" panose="020B0604030504040204" pitchFamily="34" charset="-120"/>
                <a:ea typeface="微軟正黑體" panose="020B0604030504040204" pitchFamily="34" charset="-120"/>
              </a:rPr>
              <a:t>比特幣支付的實例遍布全球，涵蓋了從日常購物到跨境匯款等多種應用。這些例子展示了比特幣作為支付工具的靈活性和應用場景：</a:t>
            </a:r>
          </a:p>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比特幣披薩日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(2010)</a:t>
            </a:r>
          </a:p>
          <a:p>
            <a:pPr marL="702900" indent="-342900" algn="just">
              <a:lnSpc>
                <a:spcPct val="150000"/>
              </a:lnSpc>
              <a:buFont typeface="Wingdings" panose="05000000000000000000" pitchFamily="2" charset="2"/>
              <a:buChar char="Ø"/>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最著名的實例是</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2010</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月</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22</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日，程式員拉斯洛</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漢耶茨用</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10,000</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個比特幣購買了兩個披薩</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，這是首例已知的實物商品比特幣交易。這一天被稱為「比特幣披薩日」，象徵著比特幣作為支付工具的首次應用。</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Wingdings" panose="05000000000000000000" pitchFamily="2" charset="2"/>
              <a:buChar char="l"/>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WordPress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接受比特幣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(2012)</a:t>
            </a:r>
          </a:p>
          <a:p>
            <a:pPr marL="702900" indent="-342900" algn="just">
              <a:lnSpc>
                <a:spcPct val="150000"/>
              </a:lnSpc>
              <a:buFont typeface="Wingdings" panose="05000000000000000000" pitchFamily="2" charset="2"/>
              <a:buChar char="Ø"/>
            </a:pP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WordPress</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於</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2012</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年成為首個接受比特幣支付的大型線上平台</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。此舉使用戶能使用比特幣來購買網頁托管服務，並推動了比特幣作為支付貨幣的商業應用。</a:t>
            </a:r>
          </a:p>
        </p:txBody>
      </p:sp>
    </p:spTree>
    <p:extLst>
      <p:ext uri="{BB962C8B-B14F-4D97-AF65-F5344CB8AC3E}">
        <p14:creationId xmlns:p14="http://schemas.microsoft.com/office/powerpoint/2010/main" val="1266230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E06C5-2E90-A190-71EB-CD6C1046B46B}"/>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36994F96-111F-EA33-656E-2DDDA0F060C4}"/>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主題一：比特幣作為交易支付實例</a:t>
            </a:r>
          </a:p>
        </p:txBody>
      </p:sp>
      <p:sp>
        <p:nvSpPr>
          <p:cNvPr id="8" name="文字方塊 7">
            <a:extLst>
              <a:ext uri="{FF2B5EF4-FFF2-40B4-BE49-F238E27FC236}">
                <a16:creationId xmlns:a16="http://schemas.microsoft.com/office/drawing/2014/main" id="{06044647-AEC7-CA31-F261-C744B50C5F73}"/>
              </a:ext>
            </a:extLst>
          </p:cNvPr>
          <p:cNvSpPr txBox="1"/>
          <p:nvPr/>
        </p:nvSpPr>
        <p:spPr>
          <a:xfrm>
            <a:off x="294860" y="430222"/>
            <a:ext cx="9570437" cy="501047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Overstock.com (2014)</a:t>
            </a:r>
          </a:p>
          <a:p>
            <a:pPr marL="702900" indent="-342900" algn="just">
              <a:lnSpc>
                <a:spcPct val="150000"/>
              </a:lnSpc>
              <a:buFont typeface="Wingdings" panose="05000000000000000000" pitchFamily="2" charset="2"/>
              <a:buChar char="Ø"/>
            </a:pP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2014</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Overstock.com </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成為全球首批接受比特幣的主流電商平台之一</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。用戶可以通過比特幣購買家具、電子產品等商品。此舉開啟了比特幣作為主流電商支付方式的先河。</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Wingdings" panose="05000000000000000000" pitchFamily="2" charset="2"/>
              <a:buChar char="l"/>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Expedia (2014-2018)</a:t>
            </a:r>
          </a:p>
          <a:p>
            <a:pPr marL="702900" indent="-342900" algn="just">
              <a:lnSpc>
                <a:spcPct val="150000"/>
              </a:lnSpc>
              <a:buFont typeface="Wingdings" panose="05000000000000000000" pitchFamily="2" charset="2"/>
              <a:buChar char="Ø"/>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旅遊平台 </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Expedia </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在</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2014</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年開始接受比特幣</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，用戶可以使用比特幣支付酒店預訂費用。這標誌著比特幣在旅遊行業中的首次大規模應用，儘管該平台後來因波動性原因於</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2018</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年暫停了比特幣支付服務。</a:t>
            </a:r>
          </a:p>
        </p:txBody>
      </p:sp>
    </p:spTree>
    <p:extLst>
      <p:ext uri="{BB962C8B-B14F-4D97-AF65-F5344CB8AC3E}">
        <p14:creationId xmlns:p14="http://schemas.microsoft.com/office/powerpoint/2010/main" val="2479344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9F443-51FB-6AB2-2F68-26BE2271E60F}"/>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ADA85963-5520-2CA4-E494-6AA16840B128}"/>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主題一：比特幣作為交易支付實例</a:t>
            </a:r>
          </a:p>
        </p:txBody>
      </p:sp>
      <p:sp>
        <p:nvSpPr>
          <p:cNvPr id="8" name="文字方塊 7">
            <a:extLst>
              <a:ext uri="{FF2B5EF4-FFF2-40B4-BE49-F238E27FC236}">
                <a16:creationId xmlns:a16="http://schemas.microsoft.com/office/drawing/2014/main" id="{2D77886B-EFDE-0F84-B9A8-B8D1FE6E964B}"/>
              </a:ext>
            </a:extLst>
          </p:cNvPr>
          <p:cNvSpPr txBox="1"/>
          <p:nvPr/>
        </p:nvSpPr>
        <p:spPr>
          <a:xfrm>
            <a:off x="294860" y="430222"/>
            <a:ext cx="9570437" cy="501047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特斯拉 </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(2021)</a:t>
            </a:r>
          </a:p>
          <a:p>
            <a:pPr marL="702900" indent="-342900" algn="just">
              <a:lnSpc>
                <a:spcPct val="150000"/>
              </a:lnSpc>
              <a:buFont typeface="Wingdings" panose="05000000000000000000" pitchFamily="2" charset="2"/>
              <a:buChar char="Ø"/>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初，特斯拉宣布接受比特幣作為購車付款方式。這是比特幣支付應用的一個重要里程碑，因為它顯示了比特幣不僅可以用於小額消費，還能用於大宗商品交易。儘管後來因環保問題暫停了比特幣支付，這一事件仍具有重大象徵意義。</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Wingdings" panose="05000000000000000000" pitchFamily="2" charset="2"/>
              <a:buChar char="l"/>
            </a:pP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PayPal </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支持比特幣支付 </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(2020)</a:t>
            </a:r>
          </a:p>
          <a:p>
            <a:pPr marL="702900" indent="-342900" algn="just">
              <a:lnSpc>
                <a:spcPct val="150000"/>
              </a:lnSpc>
              <a:buFont typeface="Wingdings" panose="05000000000000000000" pitchFamily="2" charset="2"/>
              <a:buChar char="Ø"/>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PayPal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年啟動了一項允許用戶使用比特幣進行購買和支付的計劃。用戶可以在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PayPal</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平台上使用比特幣購買商品和服務，進一步促進比特幣的普及。</a:t>
            </a:r>
          </a:p>
        </p:txBody>
      </p:sp>
    </p:spTree>
    <p:extLst>
      <p:ext uri="{BB962C8B-B14F-4D97-AF65-F5344CB8AC3E}">
        <p14:creationId xmlns:p14="http://schemas.microsoft.com/office/powerpoint/2010/main" val="2470265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DEFB-2DB0-7CC7-AFA2-7630BBAA647C}"/>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C93181E5-7F6E-BB03-6A7C-93EED6F6E8EF}"/>
              </a:ext>
            </a:extLst>
          </p:cNvPr>
          <p:cNvSpPr txBox="1"/>
          <p:nvPr/>
        </p:nvSpPr>
        <p:spPr>
          <a:xfrm>
            <a:off x="294860" y="430222"/>
            <a:ext cx="9570437" cy="611847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慈善捐款：</a:t>
            </a:r>
          </a:p>
          <a:p>
            <a:pPr marL="702900" indent="-342900" algn="just">
              <a:lnSpc>
                <a:spcPct val="150000"/>
              </a:lnSpc>
              <a:buFont typeface="Wingdings" panose="05000000000000000000" pitchFamily="2" charset="2"/>
              <a:buChar char="Ø"/>
            </a:pP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Wikimedia Foundation (2014)</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維基媒體基金會接受比特幣捐款，用戶可以以比特幣的形式為維基百科和其他相關計劃捐贈資金，這是一個顯著的慈善應用。</a:t>
            </a:r>
          </a:p>
          <a:p>
            <a:pPr marL="702900" indent="-342900" algn="just">
              <a:lnSpc>
                <a:spcPct val="150000"/>
              </a:lnSpc>
              <a:buFont typeface="Wingdings" panose="05000000000000000000" pitchFamily="2" charset="2"/>
              <a:buChar char="Ø"/>
            </a:pP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The Water Project (2014)</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：這個非營利組織也接受比特幣捐款，資助非洲的淨水計劃，展示了比特幣在慈善領域的影響力。</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線下支付：</a:t>
            </a:r>
          </a:p>
          <a:p>
            <a:pPr marL="702900" indent="-342900" algn="just">
              <a:lnSpc>
                <a:spcPct val="150000"/>
              </a:lnSpc>
              <a:buFont typeface="Wingdings" panose="05000000000000000000" pitchFamily="2" charset="2"/>
              <a:buChar char="Ø"/>
            </a:pP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Bitcoin Beach (El </a:t>
            </a:r>
            <a:r>
              <a:rPr lang="en-US" altLang="zh-TW" sz="2400" dirty="0" err="1">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Zonte</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薩爾瓦多</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(El Salvador))</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：這個海灘小鎮是一個知名的比特幣支付實驗區。</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當地的商店、咖啡館和其他服務提供商幾乎完全接受比特幣支付，使其成為全球最早全面採用比特幣的社區之一。</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9DB409A1-F487-EC57-7B82-D646F48A6689}"/>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主題一：比特幣作為交易支付實例</a:t>
            </a:r>
          </a:p>
        </p:txBody>
      </p:sp>
    </p:spTree>
    <p:extLst>
      <p:ext uri="{BB962C8B-B14F-4D97-AF65-F5344CB8AC3E}">
        <p14:creationId xmlns:p14="http://schemas.microsoft.com/office/powerpoint/2010/main" val="644748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3C40D-EF7B-EA6B-17BB-7772A9E75C8B}"/>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C3E93F86-EF65-2A0E-A74B-ABC6920F555C}"/>
              </a:ext>
            </a:extLst>
          </p:cNvPr>
          <p:cNvSpPr txBox="1"/>
          <p:nvPr/>
        </p:nvSpPr>
        <p:spPr>
          <a:xfrm>
            <a:off x="294860" y="430222"/>
            <a:ext cx="9570437" cy="224048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跨境支付與匯款：</a:t>
            </a:r>
          </a:p>
          <a:p>
            <a:pPr marL="702900" indent="-342900" algn="just">
              <a:lnSpc>
                <a:spcPct val="150000"/>
              </a:lnSpc>
              <a:buFont typeface="Wingdings" panose="05000000000000000000" pitchFamily="2" charset="2"/>
              <a:buChar char="Ø"/>
            </a:pPr>
            <a:r>
              <a:rPr lang="en-US" altLang="zh-TW" sz="2400" dirty="0" err="1">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BitPesa</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 (2013)</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：成立於非洲的 </a:t>
            </a:r>
            <a:r>
              <a:rPr lang="en-US" altLang="zh-TW" sz="2400" dirty="0" err="1">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BitPesa</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提供基於比特幣的跨境匯款服務</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，用戶可以使用比特幣在非洲和歐洲之間進行低成本的匯款，特別是在匯率不穩定或貨幣受管制的國家。</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80E884AA-8024-8774-161D-5EAA339A6B24}"/>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主題一：比特幣作為交易支付實例</a:t>
            </a:r>
          </a:p>
        </p:txBody>
      </p:sp>
    </p:spTree>
    <p:extLst>
      <p:ext uri="{BB962C8B-B14F-4D97-AF65-F5344CB8AC3E}">
        <p14:creationId xmlns:p14="http://schemas.microsoft.com/office/powerpoint/2010/main" val="3455483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C7B55-74DF-CEB8-4988-CA7C9092BBF3}"/>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E4F72E81-A9E8-D34B-AA0A-B6659D581D9B}"/>
              </a:ext>
            </a:extLst>
          </p:cNvPr>
          <p:cNvSpPr txBox="1"/>
          <p:nvPr/>
        </p:nvSpPr>
        <p:spPr>
          <a:xfrm>
            <a:off x="283501" y="254158"/>
            <a:ext cx="9570437" cy="622208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將比特幣定為法定貨幣的國家：</a:t>
            </a:r>
          </a:p>
          <a:p>
            <a:pPr marL="702900" indent="-342900" algn="just">
              <a:lnSpc>
                <a:spcPct val="150000"/>
              </a:lnSpc>
              <a:buFont typeface="Wingdings" panose="05000000000000000000" pitchFamily="2" charset="2"/>
              <a:buChar char="Ø"/>
            </a:pP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Strike </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和薩爾瓦多</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(El Salvador) </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Arial" panose="020B0604020202020204" pitchFamily="34" charset="0"/>
              <a:buChar char="•"/>
            </a:pP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El Salvador (2021)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成為全球第一個將比特幣作為法定貨幣的國家</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，並通過支付應用 </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Strike </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促進比特幣在國內的支付。</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當地商家必須接受比特幣</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，這推動了比特幣在國內外匯款、購物和繳費中的應用。</a:t>
            </a:r>
            <a:endPar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Arial" panose="020B0604020202020204" pitchFamily="34" charset="0"/>
              <a:buChar char="•"/>
            </a:pPr>
            <a:r>
              <a:rPr lang="zh-TW"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2025 年</a:t>
            </a:r>
            <a:r>
              <a:rPr lang="zh-TW" altLang="zh-TW" sz="2000" dirty="0">
                <a:latin typeface="微軟正黑體" panose="020B0604030504040204" pitchFamily="34" charset="-120"/>
                <a:ea typeface="微軟正黑體" panose="020B0604030504040204" pitchFamily="34" charset="-120"/>
                <a:cs typeface="Times New Roman" panose="02020603050405020304" pitchFamily="18" charset="0"/>
              </a:rPr>
              <a:t> 1 月 29 日，薩爾瓦多國會通過《比特幣法》修正案，並於同年 4 月 30 日生效。此次修法主要配合國際貨幣基金（IMF）的融資協議，調整比特幣在國內的法律與支付制度。修法後，</a:t>
            </a:r>
            <a:r>
              <a:rPr lang="zh-TW"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商家接受比特幣付款改為自願性質</a:t>
            </a:r>
            <a:r>
              <a:rPr lang="zh-TW" altLang="zh-TW" sz="2000" dirty="0">
                <a:latin typeface="微軟正黑體" panose="020B0604030504040204" pitchFamily="34" charset="-120"/>
                <a:ea typeface="微軟正黑體" panose="020B0604030504040204" pitchFamily="34" charset="-120"/>
                <a:cs typeface="Times New Roman" panose="02020603050405020304" pitchFamily="18" charset="0"/>
              </a:rPr>
              <a:t>，不再強制接受；政府部門使用比特幣受到限制，稅款則必須以美元繳納。此外，政府</a:t>
            </a:r>
            <a:r>
              <a:rPr lang="zh-TW"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取消提供比特幣與美元自動兌換的法定義務</a:t>
            </a:r>
            <a:r>
              <a:rPr lang="zh-TW" altLang="zh-TW" sz="2000" dirty="0">
                <a:latin typeface="微軟正黑體" panose="020B0604030504040204" pitchFamily="34" charset="-120"/>
                <a:ea typeface="微軟正黑體" panose="020B0604030504040204" pitchFamily="34" charset="-120"/>
                <a:cs typeface="Times New Roman" panose="02020603050405020304" pitchFamily="18" charset="0"/>
              </a:rPr>
              <a:t>，並規劃退出政府電子錢包 Chivo 的營運。</a:t>
            </a:r>
            <a:endPar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Arial" panose="020B0604020202020204" pitchFamily="34" charset="0"/>
              <a:buChar char="•"/>
            </a:pPr>
            <a:r>
              <a:rPr lang="zh-TW" altLang="zh-TW" sz="2000" dirty="0">
                <a:latin typeface="微軟正黑體" panose="020B0604030504040204" pitchFamily="34" charset="-120"/>
                <a:ea typeface="微軟正黑體" panose="020B0604030504040204" pitchFamily="34" charset="-120"/>
                <a:cs typeface="Times New Roman" panose="02020603050405020304" pitchFamily="18" charset="0"/>
              </a:rPr>
              <a:t>因此，薩爾瓦多並未全面禁止比特幣交易，而是由 2021 年的強制接受政策，轉向 2025 年以自願使用、限制政府參與及強化風險管理為主的制度。</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3" name="文字方塊 2">
            <a:extLst>
              <a:ext uri="{FF2B5EF4-FFF2-40B4-BE49-F238E27FC236}">
                <a16:creationId xmlns:a16="http://schemas.microsoft.com/office/drawing/2014/main" id="{4FD3A519-2BAF-9338-A733-39EEA69D9323}"/>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主題一：比特幣作為交易支付實例</a:t>
            </a:r>
          </a:p>
        </p:txBody>
      </p:sp>
    </p:spTree>
    <p:extLst>
      <p:ext uri="{BB962C8B-B14F-4D97-AF65-F5344CB8AC3E}">
        <p14:creationId xmlns:p14="http://schemas.microsoft.com/office/powerpoint/2010/main" val="1866015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948B-603F-814F-0112-8DA7F7D19D7C}"/>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73637769-AC55-018A-2777-EB5381D2D2FC}"/>
              </a:ext>
            </a:extLst>
          </p:cNvPr>
          <p:cNvSpPr txBox="1"/>
          <p:nvPr/>
        </p:nvSpPr>
        <p:spPr>
          <a:xfrm>
            <a:off x="283501" y="254158"/>
            <a:ext cx="9570437" cy="641803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將比特幣定為法定貨幣的國家：</a:t>
            </a:r>
          </a:p>
          <a:p>
            <a:pPr marL="702900" indent="-342900" algn="just">
              <a:lnSpc>
                <a:spcPct val="150000"/>
              </a:lnSpc>
              <a:buFont typeface="Wingdings" panose="05000000000000000000" pitchFamily="2" charset="2"/>
              <a:buChar char="Ø"/>
            </a:pP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中非共和國（</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Central African Republic</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Arial" panose="020B0604020202020204" pitchFamily="34" charset="0"/>
              <a:buChar char="•"/>
            </a:pP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2022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年 </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4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月 </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22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日，中非共和國通過加密貨幣法，成為全球第二個將比特幣列為法定貨幣的國家，</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與原有的中非法郎（</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CFA Franc</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）並行。原法規要求商家接受加密貨幣付款，並允許以加密貨幣繳稅，期望促進金融普惠、吸引外國投資及發展數位經濟。</a:t>
            </a:r>
          </a:p>
          <a:p>
            <a:pPr marL="702900" indent="-342900" algn="just">
              <a:lnSpc>
                <a:spcPct val="150000"/>
              </a:lnSpc>
              <a:buFont typeface="Arial" panose="020B0604020202020204" pitchFamily="34" charset="0"/>
              <a:buChar char="•"/>
            </a:pP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2022 </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年 </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7 </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月，政府推出 </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Sango Coin</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（桑戈幣） 計畫，嘗試利用區塊鏈吸引投資，並推動數位身分及資產代幣化。</a:t>
            </a:r>
            <a:endPar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Arial" panose="020B0604020202020204" pitchFamily="34" charset="0"/>
              <a:buChar char="•"/>
            </a:pP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2023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年 </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4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月 </a:t>
            </a:r>
            <a:r>
              <a:rPr lang="en-US" altLang="zh-TW"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6 </a:t>
            </a:r>
            <a:r>
              <a:rPr lang="zh-TW" altLang="en-US" sz="20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日，中非共和國修訂加密貨幣法，取消比特幣等加密資產的法定貨幣地位及政府保障兌換的規定</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，以符合中非經濟與貨幣共同體（</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CEMAC</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）的區域貨幣制度，並降低金融穩定風險。</a:t>
            </a:r>
          </a:p>
          <a:p>
            <a:pPr marL="702900" indent="-342900" algn="just">
              <a:lnSpc>
                <a:spcPct val="150000"/>
              </a:lnSpc>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cs typeface="Times New Roman" panose="02020603050405020304" pitchFamily="18" charset="0"/>
              </a:rPr>
              <a:t>後續發展： 中非共和國並未全面放棄區塊鏈技術，而是持續探索數位金融與資產代幣化應用。但由於網路、電力及金融基礎設施不足，相關計畫的實際推廣受到限制。因此，中非共和國由 </a:t>
            </a:r>
            <a:r>
              <a:rPr lang="en-US" altLang="zh-TW" sz="1600" dirty="0">
                <a:latin typeface="微軟正黑體" panose="020B0604030504040204" pitchFamily="34" charset="-120"/>
                <a:ea typeface="微軟正黑體" panose="020B0604030504040204" pitchFamily="34" charset="-120"/>
                <a:cs typeface="Times New Roman" panose="02020603050405020304" pitchFamily="18" charset="0"/>
              </a:rPr>
              <a:t>2022 </a:t>
            </a:r>
            <a:r>
              <a:rPr lang="zh-TW" altLang="en-US" sz="1600" dirty="0">
                <a:latin typeface="微軟正黑體" panose="020B0604030504040204" pitchFamily="34" charset="-120"/>
                <a:ea typeface="微軟正黑體" panose="020B0604030504040204" pitchFamily="34" charset="-120"/>
                <a:cs typeface="Times New Roman" panose="02020603050405020304" pitchFamily="18" charset="0"/>
              </a:rPr>
              <a:t>年將比特幣列為法定貨幣，轉向 </a:t>
            </a:r>
            <a:r>
              <a:rPr lang="en-US" altLang="zh-TW" sz="1600" dirty="0">
                <a:latin typeface="微軟正黑體" panose="020B0604030504040204" pitchFamily="34" charset="-120"/>
                <a:ea typeface="微軟正黑體" panose="020B0604030504040204" pitchFamily="34" charset="-120"/>
                <a:cs typeface="Times New Roman" panose="02020603050405020304" pitchFamily="18" charset="0"/>
              </a:rPr>
              <a:t>2023 </a:t>
            </a:r>
            <a:r>
              <a:rPr lang="zh-TW" altLang="en-US" sz="1600" dirty="0">
                <a:latin typeface="微軟正黑體" panose="020B0604030504040204" pitchFamily="34" charset="-120"/>
                <a:ea typeface="微軟正黑體" panose="020B0604030504040204" pitchFamily="34" charset="-120"/>
                <a:cs typeface="Times New Roman" panose="02020603050405020304" pitchFamily="18" charset="0"/>
              </a:rPr>
              <a:t>年取消法定貨幣地位，但仍探索區塊鏈與數位經濟應用。</a:t>
            </a:r>
          </a:p>
        </p:txBody>
      </p:sp>
      <p:sp>
        <p:nvSpPr>
          <p:cNvPr id="3" name="文字方塊 2">
            <a:extLst>
              <a:ext uri="{FF2B5EF4-FFF2-40B4-BE49-F238E27FC236}">
                <a16:creationId xmlns:a16="http://schemas.microsoft.com/office/drawing/2014/main" id="{A222D37D-5001-A570-EBA7-6F2896405378}"/>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主題一：比特幣作為交易支付實例</a:t>
            </a:r>
          </a:p>
        </p:txBody>
      </p:sp>
    </p:spTree>
    <p:extLst>
      <p:ext uri="{BB962C8B-B14F-4D97-AF65-F5344CB8AC3E}">
        <p14:creationId xmlns:p14="http://schemas.microsoft.com/office/powerpoint/2010/main" val="2169481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2108D-FDE1-D1EC-7105-99875C4FC280}"/>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49247926-81A2-B9A7-0E76-7D996B5C435C}"/>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主題二：比特幣作為交易支付的計算</a:t>
            </a:r>
          </a:p>
        </p:txBody>
      </p:sp>
      <p:sp>
        <p:nvSpPr>
          <p:cNvPr id="8" name="文字方塊 7">
            <a:extLst>
              <a:ext uri="{FF2B5EF4-FFF2-40B4-BE49-F238E27FC236}">
                <a16:creationId xmlns:a16="http://schemas.microsoft.com/office/drawing/2014/main" id="{9B494059-F036-2383-0488-1ECBAE2CD024}"/>
              </a:ext>
            </a:extLst>
          </p:cNvPr>
          <p:cNvSpPr txBox="1"/>
          <p:nvPr/>
        </p:nvSpPr>
        <p:spPr>
          <a:xfrm>
            <a:off x="294860" y="430222"/>
            <a:ext cx="9570437" cy="6118470"/>
          </a:xfrm>
          <a:prstGeom prst="rect">
            <a:avLst/>
          </a:prstGeom>
          <a:noFill/>
        </p:spPr>
        <p:txBody>
          <a:bodyPr wrap="square" rtlCol="0">
            <a:spAutoFit/>
          </a:bodyPr>
          <a:lstStyle/>
          <a:p>
            <a:pPr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比特幣的支付並不必須是整數。實際上，比特幣可以被拆分成非常小的單位來進行支付，這使它非常靈活，特別是用於微支付。</a:t>
            </a:r>
          </a:p>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比特幣的單位：</a:t>
            </a:r>
          </a:p>
          <a:p>
            <a:pPr marL="702900" indent="-342900" algn="just">
              <a:lnSpc>
                <a:spcPct val="150000"/>
              </a:lnSpc>
              <a:buFont typeface="Wingdings" panose="05000000000000000000" pitchFamily="2" charset="2"/>
              <a:buChar char="Ø"/>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BTC</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 可以被分割成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億個單位，這些最小單位被稱為「聰」（</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Satoshi</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），以比特幣創始人中本聰命名。</a:t>
            </a:r>
          </a:p>
          <a:p>
            <a:pPr marL="702900" indent="-342900" algn="just">
              <a:lnSpc>
                <a:spcPct val="150000"/>
              </a:lnSpc>
              <a:buFont typeface="Wingdings" panose="05000000000000000000" pitchFamily="2" charset="2"/>
              <a:buChar char="Ø"/>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 BTC = 100,000,000 </a:t>
            </a:r>
            <a:r>
              <a:rPr lang="en-US" altLang="zh-TW" sz="2400" dirty="0" err="1">
                <a:latin typeface="微軟正黑體" panose="020B0604030504040204" pitchFamily="34" charset="-120"/>
                <a:ea typeface="微軟正黑體" panose="020B0604030504040204" pitchFamily="34" charset="-120"/>
                <a:cs typeface="Times New Roman" panose="02020603050405020304" pitchFamily="18" charset="0"/>
              </a:rPr>
              <a:t>Satoshis</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這意味著你可以用小數形式來進行比特幣支付。例如，</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0.001 BTC</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萬聰，現約新台幣</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2,607</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元，</a:t>
            </a:r>
            <a:r>
              <a:rPr lang="en-US" altLang="zh-TW" sz="1600" dirty="0">
                <a:latin typeface="微軟正黑體" panose="020B0604030504040204" pitchFamily="34" charset="-120"/>
                <a:ea typeface="微軟正黑體" panose="020B0604030504040204" pitchFamily="34" charset="-120"/>
                <a:cs typeface="Times New Roman" panose="02020603050405020304" pitchFamily="18" charset="0"/>
              </a:rPr>
              <a:t>2026.10.26</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0.0001 BTC </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萬聰，現約新台幣</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260</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元，</a:t>
            </a:r>
            <a:r>
              <a:rPr lang="en-US" altLang="zh-TW" sz="1600" dirty="0">
                <a:latin typeface="微軟正黑體" panose="020B0604030504040204" pitchFamily="34" charset="-120"/>
                <a:ea typeface="微軟正黑體" panose="020B0604030504040204" pitchFamily="34" charset="-120"/>
                <a:cs typeface="Times New Roman" panose="02020603050405020304" pitchFamily="18" charset="0"/>
              </a:rPr>
              <a:t>2026.10.26</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，甚至更小的數量都可以用於支付。在許多日常交易中，尤其是當比特幣價格較高時，用戶通常不會支付整個比特幣，而是支付一個比特幣的很小一部分。</a:t>
            </a:r>
          </a:p>
        </p:txBody>
      </p:sp>
    </p:spTree>
    <p:extLst>
      <p:ext uri="{BB962C8B-B14F-4D97-AF65-F5344CB8AC3E}">
        <p14:creationId xmlns:p14="http://schemas.microsoft.com/office/powerpoint/2010/main" val="2381536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F3D84-1C0E-62B1-AE3E-62B61EDF0FC8}"/>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FCF6EC5C-8801-20E1-205A-C82C267E29E1}"/>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主題二：比特幣作為交易支付的計算</a:t>
            </a:r>
          </a:p>
        </p:txBody>
      </p:sp>
      <p:sp>
        <p:nvSpPr>
          <p:cNvPr id="8" name="文字方塊 7">
            <a:extLst>
              <a:ext uri="{FF2B5EF4-FFF2-40B4-BE49-F238E27FC236}">
                <a16:creationId xmlns:a16="http://schemas.microsoft.com/office/drawing/2014/main" id="{D1139E9C-5373-3C6E-E430-672606B18B85}"/>
              </a:ext>
            </a:extLst>
          </p:cNvPr>
          <p:cNvSpPr txBox="1"/>
          <p:nvPr/>
        </p:nvSpPr>
        <p:spPr>
          <a:xfrm>
            <a:off x="294860" y="430222"/>
            <a:ext cx="9570437" cy="556447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支付實例：</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如果你要支付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0.01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BTC</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，這相當於</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百萬聰</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(1,000,000 </a:t>
            </a:r>
            <a:r>
              <a:rPr lang="en-US" altLang="zh-TW" sz="2400" dirty="0" err="1">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Satoshis</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，現約新台幣</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26,071</a:t>
            </a:r>
            <a:r>
              <a:rPr lang="zh-TW" altLang="en-US"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元，</a:t>
            </a:r>
            <a:r>
              <a:rPr lang="en-US" altLang="zh-TW" sz="1600" dirty="0">
                <a:latin typeface="微軟正黑體" panose="020B0604030504040204" pitchFamily="34" charset="-120"/>
                <a:ea typeface="微軟正黑體" panose="020B0604030504040204" pitchFamily="34" charset="-120"/>
                <a:cs typeface="Times New Roman" panose="02020603050405020304" pitchFamily="18" charset="0"/>
              </a:rPr>
              <a:t>2026.10.26</a:t>
            </a:r>
            <a:r>
              <a:rPr lang="en-US" altLang="zh-TW" sz="24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比特幣交易所、錢包和支付系統會自動處理這些小數支付，因此用戶無需擔心手動換算。</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小數支付的應用：</a:t>
            </a:r>
          </a:p>
          <a:p>
            <a:pPr marL="70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比特幣的小數支付特別適合用於微支付（如小額捐贈、在線購買數位內容等），以及 國際匯款，因為它能避免傳統金融系統中的匯率和手續費問題。</a:t>
            </a:r>
          </a:p>
          <a:p>
            <a:pPr marL="360000"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因此，比特幣支付可以靈活地處理小數位支付，而不需要整數形式。</a:t>
            </a:r>
          </a:p>
        </p:txBody>
      </p:sp>
    </p:spTree>
    <p:extLst>
      <p:ext uri="{BB962C8B-B14F-4D97-AF65-F5344CB8AC3E}">
        <p14:creationId xmlns:p14="http://schemas.microsoft.com/office/powerpoint/2010/main" val="3425707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A9A10-74C1-60FC-BE2A-47A5EF820589}"/>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E6820A42-303B-61B4-423F-888915A690BD}"/>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主題三：比特幣為法定貨幣的國家</a:t>
            </a:r>
          </a:p>
        </p:txBody>
      </p:sp>
      <p:sp>
        <p:nvSpPr>
          <p:cNvPr id="8" name="文字方塊 7">
            <a:extLst>
              <a:ext uri="{FF2B5EF4-FFF2-40B4-BE49-F238E27FC236}">
                <a16:creationId xmlns:a16="http://schemas.microsoft.com/office/drawing/2014/main" id="{89AC9297-BEDE-2FDB-16C5-664B699F6A6B}"/>
              </a:ext>
            </a:extLst>
          </p:cNvPr>
          <p:cNvSpPr txBox="1"/>
          <p:nvPr/>
        </p:nvSpPr>
        <p:spPr>
          <a:xfrm>
            <a:off x="681240" y="502622"/>
            <a:ext cx="8541974" cy="585275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曾以比特幣作為法定貨幣的國家只有兩個，但截至目前</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(2026</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月</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，這二個國家皆已取消比特幣作為法定貨幣，這二個國家推動比特幣成為法定貨幣的原因：</a:t>
            </a: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經濟發展與金融包容性：這些國家希望比特幣能促進金融包容性，特別是對於無法獲取傳統銀行服務的人口。比特幣作為數位貨幣，可以讓更多人參與到經濟活動中，特別是在移動支付普及的背景下。</a:t>
            </a: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降低匯款成本：對於像薩爾瓦多這樣依賴國外匯款的國家，比特幣提供了一種低成本的國際匯款方式，減少傳統金融機構的手續費。</a:t>
            </a: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吸引外國投資：將比特幣合法化可能會吸引加密貨幣投資者和企業，促進當地的技術創新和經濟增長。</a:t>
            </a:r>
          </a:p>
          <a:p>
            <a:pPr algn="just">
              <a:lnSpc>
                <a:spcPct val="150000"/>
              </a:lnSpc>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這二個國家曾是比特幣法定貨幣的領頭羊，但在全球範圍內，比特幣大多數國家仍然將其視為一種資產或投資工具，而不是法定貨幣。</a:t>
            </a:r>
          </a:p>
        </p:txBody>
      </p:sp>
    </p:spTree>
    <p:extLst>
      <p:ext uri="{BB962C8B-B14F-4D97-AF65-F5344CB8AC3E}">
        <p14:creationId xmlns:p14="http://schemas.microsoft.com/office/powerpoint/2010/main" val="178189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F5A0-DE8F-78B7-7E5A-D4058653EEF4}"/>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10236715-FE2B-94E3-C1E4-5434CDDD01CB}"/>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主題三：比特幣為法定貨幣的國家</a:t>
            </a:r>
          </a:p>
        </p:txBody>
      </p:sp>
      <p:sp>
        <p:nvSpPr>
          <p:cNvPr id="8" name="文字方塊 7">
            <a:extLst>
              <a:ext uri="{FF2B5EF4-FFF2-40B4-BE49-F238E27FC236}">
                <a16:creationId xmlns:a16="http://schemas.microsoft.com/office/drawing/2014/main" id="{DC7ED768-6C72-8476-8D22-23491F644D8A}"/>
              </a:ext>
            </a:extLst>
          </p:cNvPr>
          <p:cNvSpPr txBox="1"/>
          <p:nvPr/>
        </p:nvSpPr>
        <p:spPr>
          <a:xfrm>
            <a:off x="784186" y="736741"/>
            <a:ext cx="8541974" cy="502175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曾以比特幣作為法定貨幣的國家只有兩個，但截至目前</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(2026</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月</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，這二個國家皆已取消比特幣作為法定貨幣，這二個國家取消或調整比特幣法定貨幣制度的原因：</a:t>
            </a:r>
          </a:p>
          <a:p>
            <a:pPr marL="342900" indent="-342900" algn="just">
              <a:lnSpc>
                <a:spcPct val="150000"/>
              </a:lnSpc>
              <a:buFont typeface="Wingdings" panose="05000000000000000000" pitchFamily="2" charset="2"/>
              <a:buChar char="ü"/>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薩爾瓦多（</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El Salvador</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2025</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年修法）：</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國際融資需求： 為取得國際貨幣基金（</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IMF</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）的融資支持，降低政府參與比特幣交易的風險，調整原有法定貨幣制度。</a:t>
            </a: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降低金融風險： 比特幣價格波動大，可能影響政府財政及金融穩定，因此取消商家強制接受比特幣的規定，改為自願使用。</a:t>
            </a: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實際使用率有限： 民眾與商家仍普遍使用美元，比特幣支付的普及程度未達原先預期。</a:t>
            </a:r>
          </a:p>
        </p:txBody>
      </p:sp>
    </p:spTree>
    <p:extLst>
      <p:ext uri="{BB962C8B-B14F-4D97-AF65-F5344CB8AC3E}">
        <p14:creationId xmlns:p14="http://schemas.microsoft.com/office/powerpoint/2010/main" val="1561507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DA64A-B071-461A-E07D-85A57F30D662}"/>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77C413A6-61CB-02F9-F366-EB3AA7DD3FEE}"/>
              </a:ext>
            </a:extLst>
          </p:cNvPr>
          <p:cNvSpPr txBox="1"/>
          <p:nvPr/>
        </p:nvSpPr>
        <p:spPr>
          <a:xfrm>
            <a:off x="10315075" y="1207008"/>
            <a:ext cx="1481253" cy="224048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主題三：比特幣為法定貨幣的國家</a:t>
            </a:r>
          </a:p>
        </p:txBody>
      </p:sp>
      <p:sp>
        <p:nvSpPr>
          <p:cNvPr id="8" name="文字方塊 7">
            <a:extLst>
              <a:ext uri="{FF2B5EF4-FFF2-40B4-BE49-F238E27FC236}">
                <a16:creationId xmlns:a16="http://schemas.microsoft.com/office/drawing/2014/main" id="{B166BBA7-E4B9-298F-78C5-C21FFA76319E}"/>
              </a:ext>
            </a:extLst>
          </p:cNvPr>
          <p:cNvSpPr txBox="1"/>
          <p:nvPr/>
        </p:nvSpPr>
        <p:spPr>
          <a:xfrm>
            <a:off x="578293" y="512683"/>
            <a:ext cx="9013823" cy="600164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曾以比特幣作為法定貨幣的國家只有兩個，但截至目前</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(2026</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月</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，這二個國家皆已取消比特幣作為法定貨幣，這二個國家取消或調整比特幣法定貨幣制度的原因：</a:t>
            </a:r>
          </a:p>
          <a:p>
            <a:pPr marL="3429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中非共和國（</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Central African Republic</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2023</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年修法）：</a:t>
            </a:r>
            <a:endPar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區域貨幣制度限制： 中非共和國屬於中非經濟與貨幣共同體（</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CEMAC</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），其共同貨幣為中非法郎。將比特幣列為法定貨幣與區域貨幣制度產生衝突。</a:t>
            </a: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金融監管與穩定問題： 區域中央銀行及金融監管機構對加密貨幣的合法性、貨幣管理及金融穩定提出疑慮。</a:t>
            </a:r>
          </a:p>
          <a:p>
            <a:pPr marL="342900" indent="-342900" algn="just">
              <a:lnSpc>
                <a:spcPct val="15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基礎設施不足： 國內網路、電力及金融服務普及程度有限，難以支持比特幣作為全國性日常支付工具。</a:t>
            </a:r>
            <a:endPar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lnSpc>
                <a:spcPct val="100000"/>
              </a:lnSpc>
            </a:pPr>
            <a:r>
              <a:rPr lang="zh-TW" altLang="zh-TW" sz="2000" dirty="0">
                <a:latin typeface="微軟正黑體" panose="020B0604030504040204" pitchFamily="34" charset="-120"/>
                <a:ea typeface="微軟正黑體" panose="020B0604030504040204" pitchFamily="34" charset="-120"/>
                <a:cs typeface="Times New Roman" panose="02020603050405020304" pitchFamily="18" charset="0"/>
              </a:rPr>
              <a:t>因此，兩國政策調整的共同考量是降低金融風險，但薩爾瓦多主要受到國際融資條件及實際使用情況影響；中非共和國則主要受到區域貨幣制度與金融基礎設施限制。</a:t>
            </a:r>
            <a:endPar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99129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40D6-7D5A-FB80-7338-1A956136F031}"/>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46867AFC-A7AE-E8FC-5F85-AA0F1F4B5CD5}"/>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比特幣能作為支付工具的前提條件是？</a:t>
            </a:r>
            <a:br>
              <a:rPr lang="zh-TW" altLang="en-US" sz="2400" dirty="0"/>
            </a:br>
            <a:r>
              <a:rPr lang="zh-TW" altLang="en-US" sz="2400" dirty="0"/>
              <a:t>　</a:t>
            </a:r>
            <a:r>
              <a:rPr lang="en-US" altLang="zh-TW" sz="2400" dirty="0"/>
              <a:t>A. </a:t>
            </a:r>
            <a:r>
              <a:rPr lang="zh-TW" altLang="en-US" sz="2400" dirty="0"/>
              <a:t>幣值穩定且可被信任</a:t>
            </a:r>
            <a:br>
              <a:rPr lang="zh-TW" altLang="en-US" sz="2400" dirty="0"/>
            </a:br>
            <a:r>
              <a:rPr lang="zh-TW" altLang="en-US" sz="2400" dirty="0"/>
              <a:t>　</a:t>
            </a:r>
            <a:r>
              <a:rPr lang="en-US" altLang="zh-TW" sz="2400" dirty="0"/>
              <a:t>B. </a:t>
            </a:r>
            <a:r>
              <a:rPr lang="zh-TW" altLang="en-US" sz="2400" dirty="0"/>
              <a:t>交易手續費為 </a:t>
            </a:r>
            <a:r>
              <a:rPr lang="en-US" altLang="zh-TW" sz="2400" dirty="0"/>
              <a:t>0</a:t>
            </a:r>
            <a:br>
              <a:rPr lang="en-US" altLang="zh-TW" sz="2400" dirty="0"/>
            </a:br>
            <a:r>
              <a:rPr lang="zh-TW" altLang="en-US" sz="2400" dirty="0"/>
              <a:t>　</a:t>
            </a:r>
            <a:r>
              <a:rPr lang="en-US" altLang="zh-TW" sz="2400" dirty="0"/>
              <a:t>C. </a:t>
            </a:r>
            <a:r>
              <a:rPr lang="zh-TW" altLang="en-US" sz="2400" dirty="0"/>
              <a:t>可以印鈔票調節供需</a:t>
            </a:r>
            <a:br>
              <a:rPr lang="zh-TW" altLang="en-US" sz="2400" dirty="0"/>
            </a:br>
            <a:r>
              <a:rPr lang="zh-TW" altLang="en-US" sz="2400" dirty="0"/>
              <a:t>　</a:t>
            </a:r>
            <a:r>
              <a:rPr lang="en-US" altLang="zh-TW" sz="2400" dirty="0"/>
              <a:t>D. </a:t>
            </a:r>
            <a:r>
              <a:rPr lang="zh-TW" altLang="en-US" sz="2400" dirty="0"/>
              <a:t>被央行合法承認</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93EE798B-31BA-BF3D-4497-5114BB675A8B}"/>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比特幣作為支付工具</a:t>
            </a:r>
            <a:endParaRPr lang="zh-TW" altLang="en-US" sz="2400" dirty="0"/>
          </a:p>
        </p:txBody>
      </p:sp>
    </p:spTree>
    <p:extLst>
      <p:ext uri="{BB962C8B-B14F-4D97-AF65-F5344CB8AC3E}">
        <p14:creationId xmlns:p14="http://schemas.microsoft.com/office/powerpoint/2010/main" val="270467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B00B2-ACF0-FE94-221E-C2F0865611A1}"/>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E378A206-A800-5FB9-C187-545BACDC45C2}"/>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比特幣能作為支付工具的前提條件是？</a:t>
            </a:r>
            <a:br>
              <a:rPr lang="zh-TW" altLang="en-US" sz="2400" dirty="0"/>
            </a:br>
            <a:r>
              <a:rPr lang="zh-TW" altLang="en-US" sz="2400" dirty="0"/>
              <a:t>　</a:t>
            </a:r>
            <a:r>
              <a:rPr lang="en-US" altLang="zh-TW" sz="2400" dirty="0"/>
              <a:t>A. </a:t>
            </a:r>
            <a:r>
              <a:rPr lang="zh-TW" altLang="en-US" sz="2400" dirty="0"/>
              <a:t>幣值穩定且可被信任</a:t>
            </a:r>
            <a:br>
              <a:rPr lang="zh-TW" altLang="en-US" sz="2400" dirty="0"/>
            </a:br>
            <a:r>
              <a:rPr lang="zh-TW" altLang="en-US" sz="2400" dirty="0"/>
              <a:t>　</a:t>
            </a:r>
            <a:r>
              <a:rPr lang="en-US" altLang="zh-TW" sz="2400" dirty="0"/>
              <a:t>B. </a:t>
            </a:r>
            <a:r>
              <a:rPr lang="zh-TW" altLang="en-US" sz="2400" dirty="0"/>
              <a:t>交易手續費為 </a:t>
            </a:r>
            <a:r>
              <a:rPr lang="en-US" altLang="zh-TW" sz="2400" dirty="0"/>
              <a:t>0</a:t>
            </a:r>
            <a:br>
              <a:rPr lang="en-US" altLang="zh-TW" sz="2400" dirty="0"/>
            </a:br>
            <a:r>
              <a:rPr lang="zh-TW" altLang="en-US" sz="2400" dirty="0"/>
              <a:t>　</a:t>
            </a:r>
            <a:r>
              <a:rPr lang="en-US" altLang="zh-TW" sz="2400" dirty="0"/>
              <a:t>C. </a:t>
            </a:r>
            <a:r>
              <a:rPr lang="zh-TW" altLang="en-US" sz="2400" dirty="0"/>
              <a:t>可以印鈔票調節供需</a:t>
            </a:r>
            <a:br>
              <a:rPr lang="zh-TW" altLang="en-US" sz="2400" dirty="0"/>
            </a:br>
            <a:r>
              <a:rPr lang="zh-TW" altLang="en-US" sz="2400" dirty="0"/>
              <a:t>　</a:t>
            </a:r>
            <a:r>
              <a:rPr lang="en-US" altLang="zh-TW" sz="2400" dirty="0"/>
              <a:t>D. </a:t>
            </a:r>
            <a:r>
              <a:rPr lang="zh-TW" altLang="en-US" sz="2400" dirty="0"/>
              <a:t>被央行合法承認</a:t>
            </a:r>
            <a:br>
              <a:rPr lang="zh-TW" altLang="en-US" sz="2400" dirty="0"/>
            </a:br>
            <a:r>
              <a:rPr lang="zh-TW" altLang="en-US" sz="2400" dirty="0"/>
              <a:t>　 正解：</a:t>
            </a:r>
            <a:r>
              <a:rPr lang="en-US" altLang="zh-TW" sz="2400" b="1" dirty="0"/>
              <a:t>A</a:t>
            </a:r>
            <a:endParaRPr lang="en-US" altLang="zh-TW" sz="2000"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D11F1896-E0C3-A2A3-63F9-C0631A59ECB5}"/>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比特幣作為支付工具</a:t>
            </a:r>
            <a:endParaRPr lang="zh-TW" altLang="en-US" sz="2400" dirty="0"/>
          </a:p>
        </p:txBody>
      </p:sp>
    </p:spTree>
    <p:extLst>
      <p:ext uri="{BB962C8B-B14F-4D97-AF65-F5344CB8AC3E}">
        <p14:creationId xmlns:p14="http://schemas.microsoft.com/office/powerpoint/2010/main" val="1409961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5ECA-EF8B-7D13-09FC-9E40C8E1DF65}"/>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8CF4519E-707A-D6F4-1ABE-76F26D187FE0}"/>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比特幣交易過程中，不需要以下哪一項？</a:t>
            </a:r>
            <a:br>
              <a:rPr lang="zh-TW" altLang="en-US" sz="2400" dirty="0"/>
            </a:br>
            <a:r>
              <a:rPr lang="zh-TW" altLang="en-US" sz="2400" dirty="0"/>
              <a:t>　</a:t>
            </a:r>
            <a:r>
              <a:rPr lang="en-US" altLang="zh-TW" sz="2400" dirty="0"/>
              <a:t>A. </a:t>
            </a:r>
            <a:r>
              <a:rPr lang="zh-TW" altLang="en-US" sz="2400" dirty="0"/>
              <a:t>信用卡驗證</a:t>
            </a:r>
            <a:br>
              <a:rPr lang="zh-TW" altLang="en-US" sz="2400" dirty="0"/>
            </a:br>
            <a:r>
              <a:rPr lang="zh-TW" altLang="en-US" sz="2400" dirty="0"/>
              <a:t>　</a:t>
            </a:r>
            <a:r>
              <a:rPr lang="en-US" altLang="zh-TW" sz="2400" dirty="0"/>
              <a:t>B. </a:t>
            </a:r>
            <a:r>
              <a:rPr lang="zh-TW" altLang="en-US" sz="2400" dirty="0"/>
              <a:t>公私鑰驗證機制</a:t>
            </a:r>
            <a:br>
              <a:rPr lang="zh-TW" altLang="en-US" sz="2400" dirty="0"/>
            </a:br>
            <a:r>
              <a:rPr lang="zh-TW" altLang="en-US" sz="2400" dirty="0"/>
              <a:t>　</a:t>
            </a:r>
            <a:r>
              <a:rPr lang="en-US" altLang="zh-TW" sz="2400" dirty="0"/>
              <a:t>C. </a:t>
            </a:r>
            <a:r>
              <a:rPr lang="zh-TW" altLang="en-US" sz="2400" dirty="0"/>
              <a:t>去中心化帳本記錄</a:t>
            </a:r>
            <a:br>
              <a:rPr lang="zh-TW" altLang="en-US" sz="2400" dirty="0"/>
            </a:br>
            <a:r>
              <a:rPr lang="zh-TW" altLang="en-US" sz="2400" dirty="0"/>
              <a:t>　</a:t>
            </a:r>
            <a:r>
              <a:rPr lang="en-US" altLang="zh-TW" sz="2400" dirty="0"/>
              <a:t>D. </a:t>
            </a:r>
            <a:r>
              <a:rPr lang="zh-TW" altLang="en-US" sz="2400" dirty="0"/>
              <a:t>對方的比特幣地址</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34ED3927-FED0-B03E-8869-2969D2A34803}"/>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比特幣作為支付工具</a:t>
            </a:r>
            <a:endParaRPr lang="zh-TW" altLang="en-US" sz="2400" dirty="0"/>
          </a:p>
        </p:txBody>
      </p:sp>
    </p:spTree>
    <p:extLst>
      <p:ext uri="{BB962C8B-B14F-4D97-AF65-F5344CB8AC3E}">
        <p14:creationId xmlns:p14="http://schemas.microsoft.com/office/powerpoint/2010/main" val="2230506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C90E8-FCFB-5A1B-5940-BB747167249B}"/>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75221C5-0A78-43B6-3CA6-83562D327DDC}"/>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比特幣交易過程中，不需要以下哪一項？</a:t>
            </a:r>
            <a:br>
              <a:rPr lang="zh-TW" altLang="en-US" sz="2400" dirty="0"/>
            </a:br>
            <a:r>
              <a:rPr lang="zh-TW" altLang="en-US" sz="2400" dirty="0"/>
              <a:t>　</a:t>
            </a:r>
            <a:r>
              <a:rPr lang="en-US" altLang="zh-TW" sz="2400" dirty="0"/>
              <a:t>A. </a:t>
            </a:r>
            <a:r>
              <a:rPr lang="zh-TW" altLang="en-US" sz="2400" dirty="0"/>
              <a:t>信用卡驗證</a:t>
            </a:r>
            <a:br>
              <a:rPr lang="zh-TW" altLang="en-US" sz="2400" dirty="0"/>
            </a:br>
            <a:r>
              <a:rPr lang="zh-TW" altLang="en-US" sz="2400" dirty="0"/>
              <a:t>　</a:t>
            </a:r>
            <a:r>
              <a:rPr lang="en-US" altLang="zh-TW" sz="2400" dirty="0"/>
              <a:t>B. </a:t>
            </a:r>
            <a:r>
              <a:rPr lang="zh-TW" altLang="en-US" sz="2400" dirty="0"/>
              <a:t>公私鑰驗證機制</a:t>
            </a:r>
            <a:br>
              <a:rPr lang="zh-TW" altLang="en-US" sz="2400" dirty="0"/>
            </a:br>
            <a:r>
              <a:rPr lang="zh-TW" altLang="en-US" sz="2400" dirty="0"/>
              <a:t>　</a:t>
            </a:r>
            <a:r>
              <a:rPr lang="en-US" altLang="zh-TW" sz="2400" dirty="0"/>
              <a:t>C. </a:t>
            </a:r>
            <a:r>
              <a:rPr lang="zh-TW" altLang="en-US" sz="2400" dirty="0"/>
              <a:t>去中心化帳本記錄</a:t>
            </a:r>
            <a:br>
              <a:rPr lang="zh-TW" altLang="en-US" sz="2400" dirty="0"/>
            </a:br>
            <a:r>
              <a:rPr lang="zh-TW" altLang="en-US" sz="2400" dirty="0"/>
              <a:t>　</a:t>
            </a:r>
            <a:r>
              <a:rPr lang="en-US" altLang="zh-TW" sz="2400" dirty="0"/>
              <a:t>D. </a:t>
            </a:r>
            <a:r>
              <a:rPr lang="zh-TW" altLang="en-US" sz="2400" dirty="0"/>
              <a:t>對方的比特幣地址</a:t>
            </a:r>
            <a:br>
              <a:rPr lang="zh-TW" altLang="en-US" sz="2400" dirty="0"/>
            </a:br>
            <a:r>
              <a:rPr lang="zh-TW" altLang="en-US" sz="2400" dirty="0"/>
              <a:t>　 正解：</a:t>
            </a:r>
            <a:r>
              <a:rPr lang="en-US" altLang="zh-TW" sz="2400" b="1" dirty="0"/>
              <a:t>A</a:t>
            </a:r>
            <a:endParaRPr lang="en-US" altLang="zh-TW" sz="2000"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F49C3680-F469-D303-ED46-AB49D8D935C4}"/>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比特幣作為支付工具</a:t>
            </a:r>
            <a:endParaRPr lang="zh-TW" altLang="en-US" sz="2400" dirty="0"/>
          </a:p>
        </p:txBody>
      </p:sp>
    </p:spTree>
    <p:extLst>
      <p:ext uri="{BB962C8B-B14F-4D97-AF65-F5344CB8AC3E}">
        <p14:creationId xmlns:p14="http://schemas.microsoft.com/office/powerpoint/2010/main" val="76252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735DC-FB50-009F-CC4B-CA79E1FD5FE3}"/>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A74C07A6-6515-C6F6-924F-BD34F40DD5D1}"/>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下列哪一項是比特幣支付的挑戰？</a:t>
            </a:r>
            <a:br>
              <a:rPr lang="zh-TW" altLang="en-US" sz="2400" dirty="0"/>
            </a:br>
            <a:r>
              <a:rPr lang="zh-TW" altLang="en-US" sz="2400" dirty="0"/>
              <a:t>　</a:t>
            </a:r>
            <a:r>
              <a:rPr lang="en-US" altLang="zh-TW" sz="2400" dirty="0"/>
              <a:t>A. </a:t>
            </a:r>
            <a:r>
              <a:rPr lang="zh-TW" altLang="en-US" sz="2400" dirty="0"/>
              <a:t>全世界都接受</a:t>
            </a:r>
            <a:br>
              <a:rPr lang="zh-TW" altLang="en-US" sz="2400" dirty="0"/>
            </a:br>
            <a:r>
              <a:rPr lang="zh-TW" altLang="en-US" sz="2400" dirty="0"/>
              <a:t>　</a:t>
            </a:r>
            <a:r>
              <a:rPr lang="en-US" altLang="zh-TW" sz="2400" dirty="0"/>
              <a:t>B. </a:t>
            </a:r>
            <a:r>
              <a:rPr lang="zh-TW" altLang="en-US" sz="2400" dirty="0"/>
              <a:t>傳輸速度太快</a:t>
            </a:r>
            <a:br>
              <a:rPr lang="zh-TW" altLang="en-US" sz="2400" dirty="0"/>
            </a:br>
            <a:r>
              <a:rPr lang="zh-TW" altLang="en-US" sz="2400" dirty="0"/>
              <a:t>　</a:t>
            </a:r>
            <a:r>
              <a:rPr lang="en-US" altLang="zh-TW" sz="2400" dirty="0"/>
              <a:t>C. </a:t>
            </a:r>
            <a:r>
              <a:rPr lang="zh-TW" altLang="en-US" sz="2400" dirty="0"/>
              <a:t>幣值波動大，不利定價</a:t>
            </a:r>
            <a:br>
              <a:rPr lang="zh-TW" altLang="en-US" sz="2400" dirty="0"/>
            </a:br>
            <a:r>
              <a:rPr lang="zh-TW" altLang="en-US" sz="2400" dirty="0"/>
              <a:t>　</a:t>
            </a:r>
            <a:r>
              <a:rPr lang="en-US" altLang="zh-TW" sz="2400" dirty="0"/>
              <a:t>D. </a:t>
            </a:r>
            <a:r>
              <a:rPr lang="zh-TW" altLang="en-US" sz="2400" dirty="0"/>
              <a:t>銀行手續費過低</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46B53767-20F2-C93B-1AFC-8F1CA70DAF3B}"/>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比特幣作為支付工具</a:t>
            </a:r>
            <a:endParaRPr lang="zh-TW" altLang="en-US" sz="2400" dirty="0"/>
          </a:p>
        </p:txBody>
      </p:sp>
    </p:spTree>
    <p:extLst>
      <p:ext uri="{BB962C8B-B14F-4D97-AF65-F5344CB8AC3E}">
        <p14:creationId xmlns:p14="http://schemas.microsoft.com/office/powerpoint/2010/main" val="739997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F6EB2-20C5-2C7B-F78D-22C32C63D7B7}"/>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A22BEEED-61F3-A6C7-A8AA-79E381075141}"/>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下列哪一項是比特幣支付的挑戰？</a:t>
            </a:r>
            <a:br>
              <a:rPr lang="zh-TW" altLang="en-US" sz="2400" dirty="0"/>
            </a:br>
            <a:r>
              <a:rPr lang="zh-TW" altLang="en-US" sz="2400" dirty="0"/>
              <a:t>　</a:t>
            </a:r>
            <a:r>
              <a:rPr lang="en-US" altLang="zh-TW" sz="2400" dirty="0"/>
              <a:t>A. </a:t>
            </a:r>
            <a:r>
              <a:rPr lang="zh-TW" altLang="en-US" sz="2400" dirty="0"/>
              <a:t>全世界都接受</a:t>
            </a:r>
            <a:br>
              <a:rPr lang="zh-TW" altLang="en-US" sz="2400" dirty="0"/>
            </a:br>
            <a:r>
              <a:rPr lang="zh-TW" altLang="en-US" sz="2400" dirty="0"/>
              <a:t>　</a:t>
            </a:r>
            <a:r>
              <a:rPr lang="en-US" altLang="zh-TW" sz="2400" dirty="0"/>
              <a:t>B. </a:t>
            </a:r>
            <a:r>
              <a:rPr lang="zh-TW" altLang="en-US" sz="2400" dirty="0"/>
              <a:t>傳輸速度太快</a:t>
            </a:r>
            <a:br>
              <a:rPr lang="zh-TW" altLang="en-US" sz="2400" dirty="0"/>
            </a:br>
            <a:r>
              <a:rPr lang="zh-TW" altLang="en-US" sz="2400" dirty="0"/>
              <a:t>　</a:t>
            </a:r>
            <a:r>
              <a:rPr lang="en-US" altLang="zh-TW" sz="2400" dirty="0"/>
              <a:t>C. </a:t>
            </a:r>
            <a:r>
              <a:rPr lang="zh-TW" altLang="en-US" sz="2400" dirty="0"/>
              <a:t>幣值波動大，不利定價</a:t>
            </a:r>
            <a:br>
              <a:rPr lang="zh-TW" altLang="en-US" sz="2400" dirty="0"/>
            </a:br>
            <a:r>
              <a:rPr lang="zh-TW" altLang="en-US" sz="2400" dirty="0"/>
              <a:t>　</a:t>
            </a:r>
            <a:r>
              <a:rPr lang="en-US" altLang="zh-TW" sz="2400" dirty="0"/>
              <a:t>D. </a:t>
            </a:r>
            <a:r>
              <a:rPr lang="zh-TW" altLang="en-US" sz="2400" dirty="0"/>
              <a:t>銀行手續費過低</a:t>
            </a:r>
            <a:br>
              <a:rPr lang="zh-TW" altLang="en-US" sz="2400" dirty="0"/>
            </a:br>
            <a:r>
              <a:rPr lang="zh-TW" altLang="en-US" sz="2400" dirty="0"/>
              <a:t>　 正解：</a:t>
            </a:r>
            <a:r>
              <a:rPr lang="en-US" altLang="zh-TW" sz="2400" b="1" dirty="0"/>
              <a:t>C</a:t>
            </a:r>
            <a:endParaRPr lang="en-US" altLang="zh-TW" sz="2000"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7E3293F8-CFE8-6081-DD91-1E18EF14CF15}"/>
              </a:ext>
            </a:extLst>
          </p:cNvPr>
          <p:cNvSpPr txBox="1"/>
          <p:nvPr/>
        </p:nvSpPr>
        <p:spPr>
          <a:xfrm>
            <a:off x="10400267" y="979828"/>
            <a:ext cx="1700141" cy="1686295"/>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比特幣作為支付工具</a:t>
            </a:r>
            <a:endParaRPr lang="zh-TW" altLang="en-US" sz="2400" dirty="0"/>
          </a:p>
        </p:txBody>
      </p:sp>
    </p:spTree>
    <p:extLst>
      <p:ext uri="{BB962C8B-B14F-4D97-AF65-F5344CB8AC3E}">
        <p14:creationId xmlns:p14="http://schemas.microsoft.com/office/powerpoint/2010/main" val="2115042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7CE9-183C-AC1B-8910-47C978E92680}"/>
            </a:ext>
          </a:extLst>
        </p:cNvPr>
        <p:cNvGrpSpPr/>
        <p:nvPr/>
      </p:nvGrpSpPr>
      <p:grpSpPr>
        <a:xfrm>
          <a:off x="0" y="0"/>
          <a:ext cx="0" cy="0"/>
          <a:chOff x="0" y="0"/>
          <a:chExt cx="0" cy="0"/>
        </a:xfrm>
      </p:grpSpPr>
      <p:pic>
        <p:nvPicPr>
          <p:cNvPr id="6" name="Picture Placeholder 5" descr="A hammock hanging from a palm tree on the beach">
            <a:extLst>
              <a:ext uri="{FF2B5EF4-FFF2-40B4-BE49-F238E27FC236}">
                <a16:creationId xmlns:a16="http://schemas.microsoft.com/office/drawing/2014/main" id="{72D02ECD-9487-CEEB-2D91-45FD7CE53F32}"/>
              </a:ext>
            </a:extLst>
          </p:cNvPr>
          <p:cNvPicPr>
            <a:picLocks noGrp="1" noChangeAspect="1"/>
          </p:cNvPicPr>
          <p:nvPr>
            <p:ph type="pic" sz="quarter" idx="13"/>
          </p:nvPr>
        </p:nvPicPr>
        <p:blipFill>
          <a:blip r:embed="rId2"/>
          <a:srcRect t="69" b="69"/>
          <a:stretch/>
        </p:blipFill>
        <p:spPr>
          <a:xfrm>
            <a:off x="576072" y="950976"/>
            <a:ext cx="4050792" cy="4965192"/>
          </a:xfrm>
        </p:spPr>
      </p:pic>
      <p:sp>
        <p:nvSpPr>
          <p:cNvPr id="5" name="Title 4">
            <a:extLst>
              <a:ext uri="{FF2B5EF4-FFF2-40B4-BE49-F238E27FC236}">
                <a16:creationId xmlns:a16="http://schemas.microsoft.com/office/drawing/2014/main" id="{B4911D11-8D7E-ED52-8DCD-563647B43A8F}"/>
              </a:ext>
            </a:extLst>
          </p:cNvPr>
          <p:cNvSpPr>
            <a:spLocks noGrp="1"/>
          </p:cNvSpPr>
          <p:nvPr>
            <p:ph type="title"/>
          </p:nvPr>
        </p:nvSpPr>
        <p:spPr>
          <a:xfrm>
            <a:off x="5082302" y="1529092"/>
            <a:ext cx="6577717" cy="770141"/>
          </a:xfrm>
        </p:spPr>
        <p:txBody>
          <a:bodyPr>
            <a:normAutofit/>
          </a:bodyPr>
          <a:lstStyle/>
          <a:p>
            <a:r>
              <a:rPr lang="zh-TW" altLang="en-US" sz="3200" dirty="0"/>
              <a:t>第三部分：投資比特幣</a:t>
            </a:r>
          </a:p>
        </p:txBody>
      </p:sp>
      <p:sp>
        <p:nvSpPr>
          <p:cNvPr id="2" name="Content Placeholder 5">
            <a:extLst>
              <a:ext uri="{FF2B5EF4-FFF2-40B4-BE49-F238E27FC236}">
                <a16:creationId xmlns:a16="http://schemas.microsoft.com/office/drawing/2014/main" id="{651870C2-483F-9CCA-1C3E-CF6F683C29E3}"/>
              </a:ext>
            </a:extLst>
          </p:cNvPr>
          <p:cNvSpPr txBox="1">
            <a:spLocks/>
          </p:cNvSpPr>
          <p:nvPr/>
        </p:nvSpPr>
        <p:spPr>
          <a:xfrm>
            <a:off x="5474189" y="2612571"/>
            <a:ext cx="6141739" cy="411907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zh-TW" altLang="en-US" dirty="0">
                <a:latin typeface="微軟正黑體" panose="020B0604030504040204" pitchFamily="34" charset="-120"/>
                <a:ea typeface="微軟正黑體" panose="020B0604030504040204" pitchFamily="34" charset="-120"/>
              </a:rPr>
              <a:t>主題一：</a:t>
            </a:r>
            <a:r>
              <a:rPr lang="zh-TW" altLang="en-US" dirty="0"/>
              <a:t>比特幣指數</a:t>
            </a:r>
            <a:r>
              <a:rPr lang="en-US" altLang="zh-TW" dirty="0"/>
              <a:t>ETF</a:t>
            </a:r>
            <a:endParaRPr lang="en-US" altLang="zh-TW" dirty="0">
              <a:latin typeface="微軟正黑體" panose="020B0604030504040204" pitchFamily="34" charset="-120"/>
              <a:ea typeface="微軟正黑體" panose="020B0604030504040204" pitchFamily="34" charset="-120"/>
            </a:endParaRPr>
          </a:p>
          <a:p>
            <a:pPr marL="0" indent="0" algn="just">
              <a:lnSpc>
                <a:spcPct val="150000"/>
              </a:lnSpc>
              <a:spcBef>
                <a:spcPts val="0"/>
              </a:spcBef>
              <a:buNone/>
            </a:pPr>
            <a:r>
              <a:rPr lang="zh-TW" altLang="en-US" dirty="0">
                <a:latin typeface="微軟正黑體" panose="020B0604030504040204" pitchFamily="34" charset="-120"/>
                <a:ea typeface="微軟正黑體" panose="020B0604030504040204" pitchFamily="34" charset="-120"/>
              </a:rPr>
              <a:t>主題二：投資比特幣的方式</a:t>
            </a:r>
            <a:endParaRPr lang="en-US" altLang="zh-TW" dirty="0"/>
          </a:p>
        </p:txBody>
      </p:sp>
    </p:spTree>
    <p:extLst>
      <p:ext uri="{BB962C8B-B14F-4D97-AF65-F5344CB8AC3E}">
        <p14:creationId xmlns:p14="http://schemas.microsoft.com/office/powerpoint/2010/main" val="251400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D9590-F794-F2A1-0422-131C8B52B6B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26FDAC3-8884-7F55-088C-478C3544A629}"/>
              </a:ext>
            </a:extLst>
          </p:cNvPr>
          <p:cNvSpPr txBox="1"/>
          <p:nvPr/>
        </p:nvSpPr>
        <p:spPr>
          <a:xfrm>
            <a:off x="10275319" y="1743474"/>
            <a:ext cx="1748190" cy="1685526"/>
          </a:xfrm>
          <a:prstGeom prst="rect">
            <a:avLst/>
          </a:prstGeom>
          <a:noFill/>
        </p:spPr>
        <p:txBody>
          <a:bodyPr wrap="square" rtlCol="0">
            <a:spAutoFit/>
          </a:bodyPr>
          <a:lstStyle/>
          <a:p>
            <a:pPr>
              <a:lnSpc>
                <a:spcPct val="150000"/>
              </a:lnSpc>
            </a:pPr>
            <a:r>
              <a:rPr lang="zh-TW" altLang="en-US" sz="2400" dirty="0"/>
              <a:t>主題一：</a:t>
            </a:r>
            <a:endParaRPr lang="en-US" altLang="zh-TW" sz="2400" dirty="0"/>
          </a:p>
          <a:p>
            <a:pPr>
              <a:lnSpc>
                <a:spcPct val="150000"/>
              </a:lnSpc>
            </a:pPr>
            <a:r>
              <a:rPr lang="zh-TW" altLang="en-US" sz="2400" dirty="0"/>
              <a:t>比特幣指數</a:t>
            </a:r>
            <a:r>
              <a:rPr lang="en-US" altLang="zh-TW" sz="2400" dirty="0"/>
              <a:t>ETF</a:t>
            </a:r>
          </a:p>
        </p:txBody>
      </p:sp>
      <p:sp>
        <p:nvSpPr>
          <p:cNvPr id="4" name="Title 3">
            <a:extLst>
              <a:ext uri="{FF2B5EF4-FFF2-40B4-BE49-F238E27FC236}">
                <a16:creationId xmlns:a16="http://schemas.microsoft.com/office/drawing/2014/main" id="{2AFEFCFF-C3BB-C293-86B9-CD83A0F01D61}"/>
              </a:ext>
            </a:extLst>
          </p:cNvPr>
          <p:cNvSpPr>
            <a:spLocks noGrp="1"/>
          </p:cNvSpPr>
          <p:nvPr>
            <p:ph type="title"/>
          </p:nvPr>
        </p:nvSpPr>
        <p:spPr>
          <a:xfrm>
            <a:off x="731544" y="360081"/>
            <a:ext cx="8894103" cy="678892"/>
          </a:xfrm>
        </p:spPr>
        <p:txBody>
          <a:bodyPr>
            <a:normAutofit/>
          </a:bodyPr>
          <a:lstStyle/>
          <a:p>
            <a:r>
              <a:rPr lang="zh-TW" altLang="en-US" sz="3200" dirty="0"/>
              <a:t>比特幣指數</a:t>
            </a:r>
            <a:r>
              <a:rPr lang="en-US" altLang="zh-TW" sz="3200" dirty="0"/>
              <a:t>ETF</a:t>
            </a:r>
            <a:r>
              <a:rPr lang="zh-TW" altLang="en-US" sz="3200" dirty="0"/>
              <a:t>（</a:t>
            </a:r>
            <a:r>
              <a:rPr lang="en-US" altLang="zh-TW" sz="3200" dirty="0"/>
              <a:t>Bitcoin Index ETF</a:t>
            </a:r>
            <a:r>
              <a:rPr lang="zh-TW" altLang="en-US" sz="3200" dirty="0"/>
              <a:t>）</a:t>
            </a:r>
          </a:p>
        </p:txBody>
      </p:sp>
      <p:sp>
        <p:nvSpPr>
          <p:cNvPr id="2" name="文字方塊 1">
            <a:extLst>
              <a:ext uri="{FF2B5EF4-FFF2-40B4-BE49-F238E27FC236}">
                <a16:creationId xmlns:a16="http://schemas.microsoft.com/office/drawing/2014/main" id="{1FDA3FC3-B58D-EB9E-3394-21D482FD147F}"/>
              </a:ext>
            </a:extLst>
          </p:cNvPr>
          <p:cNvSpPr txBox="1"/>
          <p:nvPr/>
        </p:nvSpPr>
        <p:spPr>
          <a:xfrm>
            <a:off x="778092" y="1309944"/>
            <a:ext cx="8847555" cy="4456476"/>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比特幣指數</a:t>
            </a:r>
            <a:r>
              <a:rPr lang="en-US" altLang="zh-TW" sz="2400" dirty="0">
                <a:latin typeface="微軟正黑體" panose="020B0604030504040204" pitchFamily="34" charset="-120"/>
                <a:ea typeface="微軟正黑體" panose="020B0604030504040204" pitchFamily="34" charset="-120"/>
              </a:rPr>
              <a:t>ETF</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Bitcoin Index ETF</a:t>
            </a:r>
            <a:r>
              <a:rPr lang="zh-TW" altLang="en-US" sz="2400" dirty="0">
                <a:latin typeface="微軟正黑體" panose="020B0604030504040204" pitchFamily="34" charset="-120"/>
                <a:ea typeface="微軟正黑體" panose="020B0604030504040204" pitchFamily="34" charset="-120"/>
              </a:rPr>
              <a:t>）是</a:t>
            </a:r>
            <a:r>
              <a:rPr lang="zh-TW" altLang="en-US" sz="2400" dirty="0">
                <a:solidFill>
                  <a:srgbClr val="FF0000"/>
                </a:solidFill>
                <a:latin typeface="微軟正黑體" panose="020B0604030504040204" pitchFamily="34" charset="-120"/>
                <a:ea typeface="微軟正黑體" panose="020B0604030504040204" pitchFamily="34" charset="-120"/>
              </a:rPr>
              <a:t>追蹤比特幣價格</a:t>
            </a:r>
            <a:r>
              <a:rPr lang="zh-TW" altLang="en-US" sz="2400" dirty="0">
                <a:latin typeface="微軟正黑體" panose="020B0604030504040204" pitchFamily="34" charset="-120"/>
                <a:ea typeface="微軟正黑體" panose="020B0604030504040204" pitchFamily="34" charset="-120"/>
              </a:rPr>
              <a:t>表現的交易所交易基金（</a:t>
            </a:r>
            <a:r>
              <a:rPr lang="en-US" altLang="zh-TW" sz="2400" dirty="0">
                <a:latin typeface="微軟正黑體" panose="020B0604030504040204" pitchFamily="34" charset="-120"/>
                <a:ea typeface="微軟正黑體" panose="020B0604030504040204" pitchFamily="34" charset="-120"/>
              </a:rPr>
              <a:t>ETF</a:t>
            </a:r>
            <a:r>
              <a:rPr lang="zh-TW" altLang="en-US" sz="2400" dirty="0">
                <a:latin typeface="微軟正黑體" panose="020B0604030504040204" pitchFamily="34" charset="-120"/>
                <a:ea typeface="微軟正黑體" panose="020B0604030504040204" pitchFamily="34" charset="-120"/>
              </a:rPr>
              <a:t>）。</a:t>
            </a:r>
            <a:endParaRPr lang="en-US" altLang="zh-TW" sz="2400" dirty="0">
              <a:latin typeface="微軟正黑體" panose="020B0604030504040204" pitchFamily="34" charset="-120"/>
              <a:ea typeface="微軟正黑體" panose="020B0604030504040204" pitchFamily="34" charset="-120"/>
            </a:endParaRPr>
          </a:p>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這些基金提供了一種</a:t>
            </a:r>
            <a:r>
              <a:rPr lang="zh-TW" altLang="en-US" sz="2400" dirty="0">
                <a:solidFill>
                  <a:srgbClr val="FF0000"/>
                </a:solidFill>
                <a:latin typeface="微軟正黑體" panose="020B0604030504040204" pitchFamily="34" charset="-120"/>
                <a:ea typeface="微軟正黑體" panose="020B0604030504040204" pitchFamily="34" charset="-120"/>
              </a:rPr>
              <a:t>間接持有比特幣的方式</a:t>
            </a:r>
            <a:r>
              <a:rPr lang="zh-TW" altLang="en-US" sz="2400" dirty="0">
                <a:latin typeface="微軟正黑體" panose="020B0604030504040204" pitchFamily="34" charset="-120"/>
                <a:ea typeface="微軟正黑體" panose="020B0604030504040204" pitchFamily="34" charset="-120"/>
              </a:rPr>
              <a:t>，讓投資者可以在傳統證券交易所購買和出售這些</a:t>
            </a:r>
            <a:r>
              <a:rPr lang="en-US" altLang="zh-TW" sz="2400" dirty="0">
                <a:latin typeface="微軟正黑體" panose="020B0604030504040204" pitchFamily="34" charset="-120"/>
                <a:ea typeface="微軟正黑體" panose="020B0604030504040204" pitchFamily="34" charset="-120"/>
              </a:rPr>
              <a:t>ETF</a:t>
            </a:r>
            <a:r>
              <a:rPr lang="zh-TW" altLang="en-US" sz="2400" dirty="0">
                <a:latin typeface="微軟正黑體" panose="020B0604030504040204" pitchFamily="34" charset="-120"/>
                <a:ea typeface="微軟正黑體" panose="020B0604030504040204" pitchFamily="34" charset="-120"/>
              </a:rPr>
              <a:t>，而無需實際持有或管理比特幣本身。</a:t>
            </a:r>
          </a:p>
          <a:p>
            <a:pPr marL="342900" indent="-342900">
              <a:lnSpc>
                <a:spcPct val="150000"/>
              </a:lnSpc>
              <a:buFont typeface="Wingdings" panose="05000000000000000000" pitchFamily="2" charset="2"/>
              <a:buChar char="l"/>
            </a:pPr>
            <a:r>
              <a:rPr lang="zh-TW" altLang="en-US" sz="2400" dirty="0">
                <a:latin typeface="微軟正黑體" panose="020B0604030504040204" pitchFamily="34" charset="-120"/>
                <a:ea typeface="微軟正黑體" panose="020B0604030504040204" pitchFamily="34" charset="-120"/>
              </a:rPr>
              <a:t>比特幣指數</a:t>
            </a:r>
            <a:r>
              <a:rPr lang="en-US" altLang="zh-TW" sz="2400" dirty="0">
                <a:latin typeface="微軟正黑體" panose="020B0604030504040204" pitchFamily="34" charset="-120"/>
                <a:ea typeface="微軟正黑體" panose="020B0604030504040204" pitchFamily="34" charset="-120"/>
              </a:rPr>
              <a:t>ETF</a:t>
            </a:r>
            <a:r>
              <a:rPr lang="zh-TW" altLang="en-US" sz="2400" dirty="0">
                <a:latin typeface="微軟正黑體" panose="020B0604030504040204" pitchFamily="34" charset="-120"/>
                <a:ea typeface="微軟正黑體" panose="020B0604030504040204" pitchFamily="34" charset="-120"/>
              </a:rPr>
              <a:t>的目的是提供投資者接觸比特幣市場的機會，同時減少直接持有比特幣的風險，例如數位資產存儲的安全性問題或私鑰管理。</a:t>
            </a:r>
          </a:p>
        </p:txBody>
      </p:sp>
    </p:spTree>
    <p:extLst>
      <p:ext uri="{BB962C8B-B14F-4D97-AF65-F5344CB8AC3E}">
        <p14:creationId xmlns:p14="http://schemas.microsoft.com/office/powerpoint/2010/main" val="2618670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7A249-D520-5673-174A-3CD65B4625F8}"/>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BF2B9033-F48C-AB43-21C9-BCF6C9E38EE2}"/>
              </a:ext>
            </a:extLst>
          </p:cNvPr>
          <p:cNvSpPr txBox="1"/>
          <p:nvPr/>
        </p:nvSpPr>
        <p:spPr>
          <a:xfrm>
            <a:off x="658822" y="416497"/>
            <a:ext cx="8905461" cy="6118470"/>
          </a:xfrm>
          <a:prstGeom prst="rect">
            <a:avLst/>
          </a:prstGeom>
          <a:noFill/>
        </p:spPr>
        <p:txBody>
          <a:bodyPr wrap="square" rtlCol="0">
            <a:spAutoFit/>
          </a:bodyPr>
          <a:lstStyle/>
          <a:p>
            <a:pPr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比特幣指數</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的類型</a:t>
            </a:r>
          </a:p>
          <a:p>
            <a:pPr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可以根據其結構分為兩大類：</a:t>
            </a:r>
          </a:p>
          <a:p>
            <a:pPr algn="just">
              <a:lnSpc>
                <a:spcPct val="150000"/>
              </a:lnSpc>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現貨比特幣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Spot Bitcoin 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7200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這類</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直接持有比特幣，並根據比特幣的現貨價格進行價值跟蹤。投資者購買這種</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時，基金公司實際會購買等值的比特幣並持有，以反映</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的價值。</a:t>
            </a:r>
          </a:p>
          <a:p>
            <a:pPr marL="7200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目前，現貨比特幣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尚未在美國獲得批准，儘管全球一些國家，如加拿大和巴西，已推出了現貨比特幣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7200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例子：</a:t>
            </a:r>
          </a:p>
          <a:p>
            <a:pPr marL="1080000" indent="-342900" algn="just">
              <a:lnSpc>
                <a:spcPct val="150000"/>
              </a:lnSpc>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加拿大的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Purpose Bitcoin 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：這是全球首個獲批的現貨比特幣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，於</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月在多倫多證券交易所上市。</a:t>
            </a:r>
          </a:p>
        </p:txBody>
      </p:sp>
      <p:sp>
        <p:nvSpPr>
          <p:cNvPr id="3" name="文字方塊 2">
            <a:extLst>
              <a:ext uri="{FF2B5EF4-FFF2-40B4-BE49-F238E27FC236}">
                <a16:creationId xmlns:a16="http://schemas.microsoft.com/office/drawing/2014/main" id="{2BF13EEA-9954-CEEB-5355-5C2232B01E37}"/>
              </a:ext>
            </a:extLst>
          </p:cNvPr>
          <p:cNvSpPr txBox="1"/>
          <p:nvPr/>
        </p:nvSpPr>
        <p:spPr>
          <a:xfrm>
            <a:off x="10275319" y="1743474"/>
            <a:ext cx="1748190" cy="1685526"/>
          </a:xfrm>
          <a:prstGeom prst="rect">
            <a:avLst/>
          </a:prstGeom>
          <a:noFill/>
        </p:spPr>
        <p:txBody>
          <a:bodyPr wrap="square" rtlCol="0">
            <a:spAutoFit/>
          </a:bodyPr>
          <a:lstStyle/>
          <a:p>
            <a:pPr>
              <a:lnSpc>
                <a:spcPct val="150000"/>
              </a:lnSpc>
            </a:pPr>
            <a:r>
              <a:rPr lang="zh-TW" altLang="en-US" sz="2400" dirty="0"/>
              <a:t>主題一：</a:t>
            </a:r>
            <a:endParaRPr lang="en-US" altLang="zh-TW" sz="2400" dirty="0"/>
          </a:p>
          <a:p>
            <a:pPr>
              <a:lnSpc>
                <a:spcPct val="150000"/>
              </a:lnSpc>
            </a:pPr>
            <a:r>
              <a:rPr lang="zh-TW" altLang="en-US" sz="2400" dirty="0"/>
              <a:t>比特幣指數</a:t>
            </a:r>
            <a:r>
              <a:rPr lang="en-US" altLang="zh-TW" sz="2400" dirty="0"/>
              <a:t>ETF</a:t>
            </a:r>
          </a:p>
        </p:txBody>
      </p:sp>
    </p:spTree>
    <p:extLst>
      <p:ext uri="{BB962C8B-B14F-4D97-AF65-F5344CB8AC3E}">
        <p14:creationId xmlns:p14="http://schemas.microsoft.com/office/powerpoint/2010/main" val="2385294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1B2CC-6E2A-1C1D-BAAE-39E3EF0B4E41}"/>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B69EA264-9413-76A0-9C59-2DCEF791E206}"/>
              </a:ext>
            </a:extLst>
          </p:cNvPr>
          <p:cNvSpPr txBox="1"/>
          <p:nvPr/>
        </p:nvSpPr>
        <p:spPr>
          <a:xfrm>
            <a:off x="630424" y="369765"/>
            <a:ext cx="8956577" cy="6118470"/>
          </a:xfrm>
          <a:prstGeom prst="rect">
            <a:avLst/>
          </a:prstGeom>
          <a:noFill/>
        </p:spPr>
        <p:txBody>
          <a:bodyPr wrap="square" rtlCol="0">
            <a:spAutoFit/>
          </a:bodyPr>
          <a:lstStyle/>
          <a:p>
            <a:pPr algn="just">
              <a:lnSpc>
                <a:spcPct val="150000"/>
              </a:lnSpc>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比特幣期貨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Bitcoin Futures 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這種</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並不直接持有比特幣，而是通過比特幣期貨合約來追蹤比特幣的價格。基金會投資於芝加哥商品交易所（</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CME</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）的比特幣期貨，這些期貨合約根據比特幣的未來價格進行交易。</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比特幣期貨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由於交易的是期貨而不是現貨，其價格可能與實際比特幣市場價格存在一些差異。</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例子：</a:t>
            </a:r>
          </a:p>
          <a:p>
            <a:pPr marL="720000" indent="-342900" algn="just">
              <a:lnSpc>
                <a:spcPct val="150000"/>
              </a:lnSpc>
              <a:buFont typeface="Wingdings" panose="05000000000000000000" pitchFamily="2" charset="2"/>
              <a:buChar char="ü"/>
            </a:pPr>
            <a:r>
              <a:rPr lang="en-US" altLang="zh-TW" sz="2400" dirty="0" err="1">
                <a:latin typeface="微軟正黑體" panose="020B0604030504040204" pitchFamily="34" charset="-120"/>
                <a:ea typeface="微軟正黑體" panose="020B0604030504040204" pitchFamily="34" charset="-120"/>
                <a:cs typeface="Times New Roman" panose="02020603050405020304" pitchFamily="18" charset="0"/>
              </a:rPr>
              <a:t>ProShares</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 Bitcoin Strategy ETF (BITO)</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：這是美國首個獲批的比特幣期貨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，於</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月上市。</a:t>
            </a:r>
          </a:p>
          <a:p>
            <a:pPr marL="720000" indent="-342900" algn="just">
              <a:lnSpc>
                <a:spcPct val="150000"/>
              </a:lnSpc>
              <a:buFont typeface="Wingdings" panose="05000000000000000000" pitchFamily="2" charset="2"/>
              <a:buChar char="ü"/>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Valkyrie Bitcoin Strategy ETF (BTF)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：美國另一家比特幣期貨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，也於</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2021</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年上市。</a:t>
            </a:r>
          </a:p>
        </p:txBody>
      </p:sp>
      <p:sp>
        <p:nvSpPr>
          <p:cNvPr id="3" name="文字方塊 2">
            <a:extLst>
              <a:ext uri="{FF2B5EF4-FFF2-40B4-BE49-F238E27FC236}">
                <a16:creationId xmlns:a16="http://schemas.microsoft.com/office/drawing/2014/main" id="{A41599BB-ED7A-ECE1-E724-CB363CB0D2D6}"/>
              </a:ext>
            </a:extLst>
          </p:cNvPr>
          <p:cNvSpPr txBox="1"/>
          <p:nvPr/>
        </p:nvSpPr>
        <p:spPr>
          <a:xfrm>
            <a:off x="10275319" y="1743474"/>
            <a:ext cx="1748190" cy="1685526"/>
          </a:xfrm>
          <a:prstGeom prst="rect">
            <a:avLst/>
          </a:prstGeom>
          <a:noFill/>
        </p:spPr>
        <p:txBody>
          <a:bodyPr wrap="square" rtlCol="0">
            <a:spAutoFit/>
          </a:bodyPr>
          <a:lstStyle/>
          <a:p>
            <a:pPr>
              <a:lnSpc>
                <a:spcPct val="150000"/>
              </a:lnSpc>
            </a:pPr>
            <a:r>
              <a:rPr lang="zh-TW" altLang="en-US" sz="2400" dirty="0"/>
              <a:t>主題一：</a:t>
            </a:r>
            <a:endParaRPr lang="en-US" altLang="zh-TW" sz="2400" dirty="0"/>
          </a:p>
          <a:p>
            <a:pPr>
              <a:lnSpc>
                <a:spcPct val="150000"/>
              </a:lnSpc>
            </a:pPr>
            <a:r>
              <a:rPr lang="zh-TW" altLang="en-US" sz="2400" dirty="0"/>
              <a:t>比特幣指數</a:t>
            </a:r>
            <a:r>
              <a:rPr lang="en-US" altLang="zh-TW" sz="2400" dirty="0"/>
              <a:t>ETF</a:t>
            </a:r>
          </a:p>
        </p:txBody>
      </p:sp>
    </p:spTree>
    <p:extLst>
      <p:ext uri="{BB962C8B-B14F-4D97-AF65-F5344CB8AC3E}">
        <p14:creationId xmlns:p14="http://schemas.microsoft.com/office/powerpoint/2010/main" val="2162488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020EE-BD5E-982F-3DF4-DE0FF2CF69D9}"/>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8D264E28-363D-35D0-3F07-17DADA1BC003}"/>
              </a:ext>
            </a:extLst>
          </p:cNvPr>
          <p:cNvSpPr txBox="1"/>
          <p:nvPr/>
        </p:nvSpPr>
        <p:spPr>
          <a:xfrm>
            <a:off x="1016631" y="837655"/>
            <a:ext cx="8541974" cy="5010474"/>
          </a:xfrm>
          <a:prstGeom prst="rect">
            <a:avLst/>
          </a:prstGeom>
          <a:noFill/>
        </p:spPr>
        <p:txBody>
          <a:bodyPr wrap="square" rtlCol="0">
            <a:spAutoFit/>
          </a:bodyPr>
          <a:lstStyle/>
          <a:p>
            <a:pPr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比特幣指數</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的優點</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減少技術和安全風險：投資者無需管理私鑰或數位資產存儲風險，</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由基金管理公司來管理比特幣的持有或期貨合約的運作。</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合規透明：</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通常受到監管機構的監管，交易和披露標準透明，這能讓投資者在受監管的金融市場中接觸比特幣。</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流動性強：投資者可以像購買股票一樣，方便地通過證券賬戶購買和出售比特幣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，而無需額外的加密貨幣交易所賬戶。</a:t>
            </a:r>
          </a:p>
        </p:txBody>
      </p:sp>
      <p:sp>
        <p:nvSpPr>
          <p:cNvPr id="3" name="文字方塊 2">
            <a:extLst>
              <a:ext uri="{FF2B5EF4-FFF2-40B4-BE49-F238E27FC236}">
                <a16:creationId xmlns:a16="http://schemas.microsoft.com/office/drawing/2014/main" id="{0B0CC3B8-FE40-3350-5D5F-B534898FE9CB}"/>
              </a:ext>
            </a:extLst>
          </p:cNvPr>
          <p:cNvSpPr txBox="1"/>
          <p:nvPr/>
        </p:nvSpPr>
        <p:spPr>
          <a:xfrm>
            <a:off x="10275319" y="1743474"/>
            <a:ext cx="1748190" cy="1685526"/>
          </a:xfrm>
          <a:prstGeom prst="rect">
            <a:avLst/>
          </a:prstGeom>
          <a:noFill/>
        </p:spPr>
        <p:txBody>
          <a:bodyPr wrap="square" rtlCol="0">
            <a:spAutoFit/>
          </a:bodyPr>
          <a:lstStyle/>
          <a:p>
            <a:pPr>
              <a:lnSpc>
                <a:spcPct val="150000"/>
              </a:lnSpc>
            </a:pPr>
            <a:r>
              <a:rPr lang="zh-TW" altLang="en-US" sz="2400" dirty="0"/>
              <a:t>主題一：</a:t>
            </a:r>
            <a:endParaRPr lang="en-US" altLang="zh-TW" sz="2400" dirty="0"/>
          </a:p>
          <a:p>
            <a:pPr>
              <a:lnSpc>
                <a:spcPct val="150000"/>
              </a:lnSpc>
            </a:pPr>
            <a:r>
              <a:rPr lang="zh-TW" altLang="en-US" sz="2400" dirty="0"/>
              <a:t>比特幣指數</a:t>
            </a:r>
            <a:r>
              <a:rPr lang="en-US" altLang="zh-TW" sz="2400" dirty="0"/>
              <a:t>ETF</a:t>
            </a:r>
          </a:p>
        </p:txBody>
      </p:sp>
    </p:spTree>
    <p:extLst>
      <p:ext uri="{BB962C8B-B14F-4D97-AF65-F5344CB8AC3E}">
        <p14:creationId xmlns:p14="http://schemas.microsoft.com/office/powerpoint/2010/main" val="987159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DD51-9DAA-EEA8-942D-EA9279C2DE33}"/>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45F68A17-D77C-D7D9-C7DB-C94959ECD526}"/>
              </a:ext>
            </a:extLst>
          </p:cNvPr>
          <p:cNvSpPr txBox="1"/>
          <p:nvPr/>
        </p:nvSpPr>
        <p:spPr>
          <a:xfrm>
            <a:off x="948477" y="513924"/>
            <a:ext cx="8541974" cy="6118470"/>
          </a:xfrm>
          <a:prstGeom prst="rect">
            <a:avLst/>
          </a:prstGeom>
          <a:noFill/>
        </p:spPr>
        <p:txBody>
          <a:bodyPr wrap="square" rtlCol="0">
            <a:spAutoFit/>
          </a:bodyPr>
          <a:lstStyle/>
          <a:p>
            <a:pPr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比特幣指數</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的潛在風險</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價格波動：比特幣的價格波動性較大，因此比特幣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的價格也可能受到劇烈的市場波動影響。</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期貨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風險：期貨</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可能會因為合約到期和滾動（</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rollover</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）而與比特幣的現貨價格出現偏差，導致追蹤誤差。</a:t>
            </a:r>
          </a:p>
          <a:p>
            <a:pPr algn="just">
              <a:lnSpc>
                <a:spcPct val="150000"/>
              </a:lnSpc>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比特幣指數</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是一種讓傳統投資者接觸比特幣市場的便捷工具，尤其是對於那些不願意直接購買或持有加密貨幣的人。現貨比特幣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和期貨比特幣</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ETF</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提供了不同的風險和回報結構，讓投資者可以根據自己的需求進行選擇。隨著加密貨幣市場的進一步發展和監管的完善，預計將有更多此類產品上市。</a:t>
            </a:r>
          </a:p>
        </p:txBody>
      </p:sp>
      <p:sp>
        <p:nvSpPr>
          <p:cNvPr id="3" name="文字方塊 2">
            <a:extLst>
              <a:ext uri="{FF2B5EF4-FFF2-40B4-BE49-F238E27FC236}">
                <a16:creationId xmlns:a16="http://schemas.microsoft.com/office/drawing/2014/main" id="{7C0C7E02-FC4C-7E35-E150-F1A884CBC240}"/>
              </a:ext>
            </a:extLst>
          </p:cNvPr>
          <p:cNvSpPr txBox="1"/>
          <p:nvPr/>
        </p:nvSpPr>
        <p:spPr>
          <a:xfrm>
            <a:off x="10275319" y="1743474"/>
            <a:ext cx="1748190" cy="1685526"/>
          </a:xfrm>
          <a:prstGeom prst="rect">
            <a:avLst/>
          </a:prstGeom>
          <a:noFill/>
        </p:spPr>
        <p:txBody>
          <a:bodyPr wrap="square" rtlCol="0">
            <a:spAutoFit/>
          </a:bodyPr>
          <a:lstStyle/>
          <a:p>
            <a:pPr>
              <a:lnSpc>
                <a:spcPct val="150000"/>
              </a:lnSpc>
            </a:pPr>
            <a:r>
              <a:rPr lang="zh-TW" altLang="en-US" sz="2400" dirty="0"/>
              <a:t>主題一：</a:t>
            </a:r>
            <a:endParaRPr lang="en-US" altLang="zh-TW" sz="2400" dirty="0"/>
          </a:p>
          <a:p>
            <a:pPr>
              <a:lnSpc>
                <a:spcPct val="150000"/>
              </a:lnSpc>
            </a:pPr>
            <a:r>
              <a:rPr lang="zh-TW" altLang="en-US" sz="2400" dirty="0"/>
              <a:t>比特幣指數</a:t>
            </a:r>
            <a:r>
              <a:rPr lang="en-US" altLang="zh-TW" sz="2400" dirty="0"/>
              <a:t>ETF</a:t>
            </a:r>
          </a:p>
        </p:txBody>
      </p:sp>
    </p:spTree>
    <p:extLst>
      <p:ext uri="{BB962C8B-B14F-4D97-AF65-F5344CB8AC3E}">
        <p14:creationId xmlns:p14="http://schemas.microsoft.com/office/powerpoint/2010/main" val="1423236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D59EA-2063-8A3C-A21D-CD981BC95185}"/>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3E4F1C45-3779-FD96-3AD3-0F11EB84CC9A}"/>
              </a:ext>
            </a:extLst>
          </p:cNvPr>
          <p:cNvSpPr txBox="1"/>
          <p:nvPr/>
        </p:nvSpPr>
        <p:spPr>
          <a:xfrm>
            <a:off x="675860" y="565040"/>
            <a:ext cx="8950897" cy="5575757"/>
          </a:xfrm>
          <a:prstGeom prst="rect">
            <a:avLst/>
          </a:prstGeom>
          <a:noFill/>
        </p:spPr>
        <p:txBody>
          <a:bodyPr wrap="square" rtlCol="0">
            <a:spAutoFit/>
          </a:bodyPr>
          <a:lstStyle/>
          <a:p>
            <a:pPr algn="just">
              <a:lnSpc>
                <a:spcPct val="150000"/>
              </a:lnSpc>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在台灣投資比特幣的方式多樣化，既可以通過加密貨幣交易所直接購買比特幣，也可以利用金融衍生工具或區塊鏈相關的投資產品進行間接投資。以下是幾種主要的投資比特幣的方式：</a:t>
            </a:r>
          </a:p>
          <a:p>
            <a:pPr algn="just">
              <a:lnSpc>
                <a:spcPct val="150000"/>
              </a:lnSpc>
            </a:pP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透過台灣的加密貨幣交易所</a:t>
            </a:r>
          </a:p>
          <a:p>
            <a:pPr marL="342900" indent="-342900" algn="just">
              <a:lnSpc>
                <a:spcPct val="150000"/>
              </a:lnSpc>
              <a:buFont typeface="Wingdings" panose="05000000000000000000" pitchFamily="2" charset="2"/>
              <a:buChar char="Ø"/>
            </a:pPr>
            <a:r>
              <a:rPr lang="en-US" altLang="zh-TW" sz="2000" dirty="0" err="1">
                <a:latin typeface="微軟正黑體" panose="020B0604030504040204" pitchFamily="34" charset="-120"/>
                <a:ea typeface="微軟正黑體" panose="020B0604030504040204" pitchFamily="34" charset="-120"/>
                <a:cs typeface="Times New Roman" panose="02020603050405020304" pitchFamily="18" charset="0"/>
              </a:rPr>
              <a:t>MaiCoin</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和 </a:t>
            </a:r>
            <a:r>
              <a:rPr lang="en-US" altLang="zh-TW" sz="2000" dirty="0" err="1">
                <a:latin typeface="微軟正黑體" panose="020B0604030504040204" pitchFamily="34" charset="-120"/>
                <a:ea typeface="微軟正黑體" panose="020B0604030504040204" pitchFamily="34" charset="-120"/>
                <a:cs typeface="Times New Roman" panose="02020603050405020304" pitchFamily="18" charset="0"/>
              </a:rPr>
              <a:t>BitoPro</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是台灣主要的本地加密貨幣交易所，用戶可以透過這些平台以台幣（</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TWD</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）購買比特幣和其他加密貨幣。這些交易所操作簡單，且支持本地銀行轉賬或信用卡充值。</a:t>
            </a:r>
          </a:p>
          <a:p>
            <a:pPr marL="342900" indent="-342900" algn="just">
              <a:lnSpc>
                <a:spcPct val="150000"/>
              </a:lnSpc>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操作步驟：</a:t>
            </a:r>
          </a:p>
          <a:p>
            <a:pPr marL="720000" indent="-342900" algn="just">
              <a:lnSpc>
                <a:spcPct val="150000"/>
              </a:lnSpc>
              <a:buFont typeface="Wingdings" panose="05000000000000000000" pitchFamily="2" charset="2"/>
              <a:buChar char="ü"/>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在交易所註冊帳戶，並完成 </a:t>
            </a:r>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KYC</a:t>
            </a: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（身分認證）。</a:t>
            </a:r>
          </a:p>
          <a:p>
            <a:pPr marL="720000" indent="-342900" algn="just">
              <a:lnSpc>
                <a:spcPct val="150000"/>
              </a:lnSpc>
              <a:buFont typeface="Wingdings" panose="05000000000000000000" pitchFamily="2" charset="2"/>
              <a:buChar char="ü"/>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綁定銀行帳戶並存入台幣資金。</a:t>
            </a:r>
          </a:p>
          <a:p>
            <a:pPr marL="720000" indent="-342900" algn="just">
              <a:lnSpc>
                <a:spcPct val="150000"/>
              </a:lnSpc>
              <a:buFont typeface="Wingdings" panose="05000000000000000000" pitchFamily="2" charset="2"/>
              <a:buChar char="ü"/>
            </a:pPr>
            <a:r>
              <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rPr>
              <a:t>使用資金購買比特幣，並可選擇將比特幣存放在交易所內或轉移到個人錢包中。</a:t>
            </a:r>
          </a:p>
        </p:txBody>
      </p:sp>
      <p:sp>
        <p:nvSpPr>
          <p:cNvPr id="3" name="文字方塊 2">
            <a:extLst>
              <a:ext uri="{FF2B5EF4-FFF2-40B4-BE49-F238E27FC236}">
                <a16:creationId xmlns:a16="http://schemas.microsoft.com/office/drawing/2014/main" id="{567F5BB2-D76B-DCB2-34E2-970AA090E8E2}"/>
              </a:ext>
            </a:extLst>
          </p:cNvPr>
          <p:cNvSpPr txBox="1"/>
          <p:nvPr/>
        </p:nvSpPr>
        <p:spPr>
          <a:xfrm>
            <a:off x="10275319" y="1743474"/>
            <a:ext cx="1748190" cy="1685526"/>
          </a:xfrm>
          <a:prstGeom prst="rect">
            <a:avLst/>
          </a:prstGeom>
          <a:noFill/>
        </p:spPr>
        <p:txBody>
          <a:bodyPr wrap="square" rtlCol="0">
            <a:spAutoFit/>
          </a:bodyPr>
          <a:lstStyle/>
          <a:p>
            <a:pPr>
              <a:lnSpc>
                <a:spcPct val="150000"/>
              </a:lnSpc>
            </a:pPr>
            <a:r>
              <a:rPr lang="zh-TW" altLang="en-US" sz="2400" dirty="0"/>
              <a:t>主題二：投資比特幣的方式</a:t>
            </a:r>
          </a:p>
        </p:txBody>
      </p:sp>
    </p:spTree>
    <p:extLst>
      <p:ext uri="{BB962C8B-B14F-4D97-AF65-F5344CB8AC3E}">
        <p14:creationId xmlns:p14="http://schemas.microsoft.com/office/powerpoint/2010/main" val="157953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A020D-01DE-3DBC-D959-A2D4FB4751A4}"/>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0C437B9D-F39A-00B3-3916-DF7DF76CEFE7}"/>
              </a:ext>
            </a:extLst>
          </p:cNvPr>
          <p:cNvSpPr txBox="1"/>
          <p:nvPr/>
        </p:nvSpPr>
        <p:spPr>
          <a:xfrm>
            <a:off x="721296" y="678630"/>
            <a:ext cx="8950897" cy="4456476"/>
          </a:xfrm>
          <a:prstGeom prst="rect">
            <a:avLst/>
          </a:prstGeom>
          <a:noFill/>
        </p:spPr>
        <p:txBody>
          <a:bodyPr wrap="square" rtlCol="0">
            <a:spAutoFit/>
          </a:bodyPr>
          <a:lstStyle/>
          <a:p>
            <a:pPr algn="just">
              <a:lnSpc>
                <a:spcPct val="150000"/>
              </a:lnSpc>
            </a:pP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使用國際加密貨幣交易所</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除了本地交易所，投資者還可以使用國際知名的加密貨幣交易所，如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Binance</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Coinbase</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Kraken </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和 </a:t>
            </a:r>
            <a:r>
              <a:rPr lang="en-US" altLang="zh-TW" sz="2400" dirty="0">
                <a:latin typeface="微軟正黑體" panose="020B0604030504040204" pitchFamily="34" charset="-120"/>
                <a:ea typeface="微軟正黑體" panose="020B0604030504040204" pitchFamily="34" charset="-120"/>
                <a:cs typeface="Times New Roman" panose="02020603050405020304" pitchFamily="18" charset="0"/>
              </a:rPr>
              <a:t>OKX</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，這些平台提供更多的交易對和金融產品。</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國際交易所通常提供更多進階的交易工具，如槓桿交易、期貨、現貨市場等，適合有經驗的投資者。</a:t>
            </a:r>
          </a:p>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需要注意的是，使用國際交易所可能需要使用外幣進行交易或透過台灣銀行進行外幣轉賬。</a:t>
            </a:r>
          </a:p>
        </p:txBody>
      </p:sp>
      <p:sp>
        <p:nvSpPr>
          <p:cNvPr id="3" name="文字方塊 2">
            <a:extLst>
              <a:ext uri="{FF2B5EF4-FFF2-40B4-BE49-F238E27FC236}">
                <a16:creationId xmlns:a16="http://schemas.microsoft.com/office/drawing/2014/main" id="{A6464594-C35A-B494-152F-37628669D0BE}"/>
              </a:ext>
            </a:extLst>
          </p:cNvPr>
          <p:cNvSpPr txBox="1"/>
          <p:nvPr/>
        </p:nvSpPr>
        <p:spPr>
          <a:xfrm>
            <a:off x="10275319" y="1743474"/>
            <a:ext cx="1748190" cy="1685526"/>
          </a:xfrm>
          <a:prstGeom prst="rect">
            <a:avLst/>
          </a:prstGeom>
          <a:noFill/>
        </p:spPr>
        <p:txBody>
          <a:bodyPr wrap="square" rtlCol="0">
            <a:spAutoFit/>
          </a:bodyPr>
          <a:lstStyle/>
          <a:p>
            <a:pPr>
              <a:lnSpc>
                <a:spcPct val="150000"/>
              </a:lnSpc>
            </a:pPr>
            <a:r>
              <a:rPr lang="zh-TW" altLang="en-US" sz="2400" dirty="0"/>
              <a:t>主題二：投資比特幣的方式</a:t>
            </a:r>
          </a:p>
        </p:txBody>
      </p:sp>
    </p:spTree>
    <p:extLst>
      <p:ext uri="{BB962C8B-B14F-4D97-AF65-F5344CB8AC3E}">
        <p14:creationId xmlns:p14="http://schemas.microsoft.com/office/powerpoint/2010/main" val="22103999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2628D-011A-9D63-FB8F-80ED84F3E547}"/>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639D8046-F7D6-8E72-8CEB-9D224E1C462F}"/>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比特幣的區塊鏈技術帶來的最大創新是？</a:t>
            </a:r>
            <a:br>
              <a:rPr lang="zh-TW" altLang="en-US" sz="2400" dirty="0"/>
            </a:br>
            <a:r>
              <a:rPr lang="zh-TW" altLang="en-US" sz="2400" dirty="0"/>
              <a:t>　</a:t>
            </a:r>
            <a:r>
              <a:rPr lang="en-US" altLang="zh-TW" sz="2400" dirty="0"/>
              <a:t>A. </a:t>
            </a:r>
            <a:r>
              <a:rPr lang="zh-TW" altLang="en-US" sz="2400" dirty="0"/>
              <a:t>更好的社交媒體演算法</a:t>
            </a:r>
            <a:br>
              <a:rPr lang="zh-TW" altLang="en-US" sz="2400" dirty="0"/>
            </a:br>
            <a:r>
              <a:rPr lang="zh-TW" altLang="en-US" sz="2400" dirty="0"/>
              <a:t>　</a:t>
            </a:r>
            <a:r>
              <a:rPr lang="en-US" altLang="zh-TW" sz="2400" dirty="0"/>
              <a:t>B. </a:t>
            </a:r>
            <a:r>
              <a:rPr lang="zh-TW" altLang="en-US" sz="2400" dirty="0"/>
              <a:t>自動利率調控</a:t>
            </a:r>
            <a:br>
              <a:rPr lang="zh-TW" altLang="en-US" sz="2400" dirty="0"/>
            </a:br>
            <a:r>
              <a:rPr lang="zh-TW" altLang="en-US" sz="2400" dirty="0"/>
              <a:t>　</a:t>
            </a:r>
            <a:r>
              <a:rPr lang="en-US" altLang="zh-TW" sz="2400" dirty="0"/>
              <a:t>C. </a:t>
            </a:r>
            <a:r>
              <a:rPr lang="zh-TW" altLang="en-US" sz="2400" dirty="0"/>
              <a:t>不可竄改且公開透明的帳本機制</a:t>
            </a:r>
            <a:br>
              <a:rPr lang="zh-TW" altLang="en-US" sz="2400" dirty="0"/>
            </a:br>
            <a:r>
              <a:rPr lang="zh-TW" altLang="en-US" sz="2400" dirty="0"/>
              <a:t>　</a:t>
            </a:r>
            <a:r>
              <a:rPr lang="en-US" altLang="zh-TW" sz="2400" dirty="0"/>
              <a:t>D. </a:t>
            </a:r>
            <a:r>
              <a:rPr lang="zh-TW" altLang="en-US" sz="2400" dirty="0"/>
              <a:t>加速政府發債</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C372E0DA-3259-8838-C139-94DD051307F2}"/>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投資比特幣</a:t>
            </a:r>
            <a:endParaRPr lang="zh-TW" altLang="en-US" sz="2400" dirty="0"/>
          </a:p>
        </p:txBody>
      </p:sp>
    </p:spTree>
    <p:extLst>
      <p:ext uri="{BB962C8B-B14F-4D97-AF65-F5344CB8AC3E}">
        <p14:creationId xmlns:p14="http://schemas.microsoft.com/office/powerpoint/2010/main" val="3035510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74027-58C0-320F-1965-E3327241508D}"/>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72AC991B-AEE7-9C17-EB6D-B5624023C272}"/>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比特幣的區塊鏈技術帶來的最大創新是？</a:t>
            </a:r>
            <a:br>
              <a:rPr lang="zh-TW" altLang="en-US" sz="2400" dirty="0"/>
            </a:br>
            <a:r>
              <a:rPr lang="zh-TW" altLang="en-US" sz="2400" dirty="0"/>
              <a:t>　</a:t>
            </a:r>
            <a:r>
              <a:rPr lang="en-US" altLang="zh-TW" sz="2400" dirty="0"/>
              <a:t>A. </a:t>
            </a:r>
            <a:r>
              <a:rPr lang="zh-TW" altLang="en-US" sz="2400" dirty="0"/>
              <a:t>更好的社交媒體演算法</a:t>
            </a:r>
            <a:br>
              <a:rPr lang="zh-TW" altLang="en-US" sz="2400" dirty="0"/>
            </a:br>
            <a:r>
              <a:rPr lang="zh-TW" altLang="en-US" sz="2400" dirty="0"/>
              <a:t>　</a:t>
            </a:r>
            <a:r>
              <a:rPr lang="en-US" altLang="zh-TW" sz="2400" dirty="0"/>
              <a:t>B. </a:t>
            </a:r>
            <a:r>
              <a:rPr lang="zh-TW" altLang="en-US" sz="2400" dirty="0"/>
              <a:t>自動利率調控</a:t>
            </a:r>
            <a:br>
              <a:rPr lang="zh-TW" altLang="en-US" sz="2400" dirty="0"/>
            </a:br>
            <a:r>
              <a:rPr lang="zh-TW" altLang="en-US" sz="2400" dirty="0"/>
              <a:t>　</a:t>
            </a:r>
            <a:r>
              <a:rPr lang="en-US" altLang="zh-TW" sz="2400" dirty="0"/>
              <a:t>C. </a:t>
            </a:r>
            <a:r>
              <a:rPr lang="zh-TW" altLang="en-US" sz="2400" dirty="0"/>
              <a:t>不可竄改且公開透明的帳本機制</a:t>
            </a:r>
            <a:br>
              <a:rPr lang="zh-TW" altLang="en-US" sz="2400" dirty="0"/>
            </a:br>
            <a:r>
              <a:rPr lang="zh-TW" altLang="en-US" sz="2400" dirty="0"/>
              <a:t>　</a:t>
            </a:r>
            <a:r>
              <a:rPr lang="en-US" altLang="zh-TW" sz="2400" dirty="0"/>
              <a:t>D. </a:t>
            </a:r>
            <a:r>
              <a:rPr lang="zh-TW" altLang="en-US" sz="2400" dirty="0"/>
              <a:t>加速政府發債</a:t>
            </a:r>
            <a:br>
              <a:rPr lang="zh-TW" altLang="en-US" sz="2400" dirty="0"/>
            </a:br>
            <a:r>
              <a:rPr lang="zh-TW" altLang="en-US" sz="2400" dirty="0"/>
              <a:t>　 正解：</a:t>
            </a:r>
            <a:r>
              <a:rPr lang="en-US" altLang="zh-TW" sz="2400" b="1" dirty="0"/>
              <a:t>C</a:t>
            </a:r>
            <a:endParaRPr lang="en-US" altLang="zh-TW" sz="2000"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D2B7B939-8BE4-EFEB-C804-2340F6DD11D2}"/>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投資比特幣</a:t>
            </a:r>
            <a:endParaRPr lang="zh-TW" altLang="en-US" sz="2400" dirty="0"/>
          </a:p>
        </p:txBody>
      </p:sp>
    </p:spTree>
    <p:extLst>
      <p:ext uri="{BB962C8B-B14F-4D97-AF65-F5344CB8AC3E}">
        <p14:creationId xmlns:p14="http://schemas.microsoft.com/office/powerpoint/2010/main" val="7177720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F5C34-6AAA-1B03-D29F-4C02528080D9}"/>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5EC6C85-111B-19BA-E1E8-6BD936314424}"/>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下列哪一項是比特幣面臨的主要道德／社會爭議？</a:t>
            </a:r>
            <a:br>
              <a:rPr lang="zh-TW" altLang="en-US" sz="2400" dirty="0"/>
            </a:br>
            <a:r>
              <a:rPr lang="zh-TW" altLang="en-US" sz="2400" dirty="0"/>
              <a:t>　</a:t>
            </a:r>
            <a:r>
              <a:rPr lang="en-US" altLang="zh-TW" sz="2400" dirty="0"/>
              <a:t>A. </a:t>
            </a:r>
            <a:r>
              <a:rPr lang="zh-TW" altLang="en-US" sz="2400" dirty="0"/>
              <a:t>被用於非法交易與洗錢</a:t>
            </a:r>
            <a:br>
              <a:rPr lang="zh-TW" altLang="en-US" sz="2400" dirty="0"/>
            </a:br>
            <a:r>
              <a:rPr lang="zh-TW" altLang="en-US" sz="2400" dirty="0"/>
              <a:t>　</a:t>
            </a:r>
            <a:r>
              <a:rPr lang="en-US" altLang="zh-TW" sz="2400" dirty="0"/>
              <a:t>B. </a:t>
            </a:r>
            <a:r>
              <a:rPr lang="zh-TW" altLang="en-US" sz="2400" dirty="0"/>
              <a:t>太多學者擁護</a:t>
            </a:r>
            <a:br>
              <a:rPr lang="zh-TW" altLang="en-US" sz="2400" dirty="0"/>
            </a:br>
            <a:r>
              <a:rPr lang="zh-TW" altLang="en-US" sz="2400" dirty="0"/>
              <a:t>　</a:t>
            </a:r>
            <a:r>
              <a:rPr lang="en-US" altLang="zh-TW" sz="2400" dirty="0"/>
              <a:t>C. </a:t>
            </a:r>
            <a:r>
              <a:rPr lang="zh-TW" altLang="en-US" sz="2400" dirty="0"/>
              <a:t>無法產生利息</a:t>
            </a:r>
            <a:br>
              <a:rPr lang="zh-TW" altLang="en-US" sz="2400" dirty="0"/>
            </a:br>
            <a:r>
              <a:rPr lang="zh-TW" altLang="en-US" sz="2400" dirty="0"/>
              <a:t>　</a:t>
            </a:r>
            <a:r>
              <a:rPr lang="en-US" altLang="zh-TW" sz="2400" dirty="0"/>
              <a:t>D. </a:t>
            </a:r>
            <a:r>
              <a:rPr lang="zh-TW" altLang="en-US" sz="2400" dirty="0"/>
              <a:t>幣值只會上漲</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26E902BD-E77B-D44B-AEEA-17D97B7AB830}"/>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投資比特幣</a:t>
            </a:r>
            <a:endParaRPr lang="zh-TW" altLang="en-US" sz="2400" dirty="0"/>
          </a:p>
        </p:txBody>
      </p:sp>
    </p:spTree>
    <p:extLst>
      <p:ext uri="{BB962C8B-B14F-4D97-AF65-F5344CB8AC3E}">
        <p14:creationId xmlns:p14="http://schemas.microsoft.com/office/powerpoint/2010/main" val="38176142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C4D3-2BCB-FFFD-40A9-2B1FDC6A665B}"/>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6859561A-4777-981F-6CA9-43D8025FACB1}"/>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下列哪一項是比特幣面臨的主要道德／社會爭議？</a:t>
            </a:r>
            <a:br>
              <a:rPr lang="zh-TW" altLang="en-US" sz="2400" dirty="0"/>
            </a:br>
            <a:r>
              <a:rPr lang="zh-TW" altLang="en-US" sz="2400" dirty="0"/>
              <a:t>　</a:t>
            </a:r>
            <a:r>
              <a:rPr lang="en-US" altLang="zh-TW" sz="2400" dirty="0"/>
              <a:t>A. </a:t>
            </a:r>
            <a:r>
              <a:rPr lang="zh-TW" altLang="en-US" sz="2400" dirty="0"/>
              <a:t>被用於非法交易與洗錢</a:t>
            </a:r>
            <a:br>
              <a:rPr lang="zh-TW" altLang="en-US" sz="2400" dirty="0"/>
            </a:br>
            <a:r>
              <a:rPr lang="zh-TW" altLang="en-US" sz="2400" dirty="0"/>
              <a:t>　</a:t>
            </a:r>
            <a:r>
              <a:rPr lang="en-US" altLang="zh-TW" sz="2400" dirty="0"/>
              <a:t>B. </a:t>
            </a:r>
            <a:r>
              <a:rPr lang="zh-TW" altLang="en-US" sz="2400" dirty="0"/>
              <a:t>太多學者擁護</a:t>
            </a:r>
            <a:br>
              <a:rPr lang="zh-TW" altLang="en-US" sz="2400" dirty="0"/>
            </a:br>
            <a:r>
              <a:rPr lang="zh-TW" altLang="en-US" sz="2400" dirty="0"/>
              <a:t>　</a:t>
            </a:r>
            <a:r>
              <a:rPr lang="en-US" altLang="zh-TW" sz="2400" dirty="0"/>
              <a:t>C. </a:t>
            </a:r>
            <a:r>
              <a:rPr lang="zh-TW" altLang="en-US" sz="2400" dirty="0"/>
              <a:t>無法產生利息</a:t>
            </a:r>
            <a:br>
              <a:rPr lang="zh-TW" altLang="en-US" sz="2400" dirty="0"/>
            </a:br>
            <a:r>
              <a:rPr lang="zh-TW" altLang="en-US" sz="2400" dirty="0"/>
              <a:t>　</a:t>
            </a:r>
            <a:r>
              <a:rPr lang="en-US" altLang="zh-TW" sz="2400" dirty="0"/>
              <a:t>D. </a:t>
            </a:r>
            <a:r>
              <a:rPr lang="zh-TW" altLang="en-US" sz="2400" dirty="0"/>
              <a:t>幣值只會上漲</a:t>
            </a:r>
            <a:br>
              <a:rPr lang="zh-TW" altLang="en-US" sz="2400" dirty="0"/>
            </a:br>
            <a:r>
              <a:rPr lang="zh-TW" altLang="en-US" sz="2400" dirty="0"/>
              <a:t>　 正解：</a:t>
            </a:r>
            <a:r>
              <a:rPr lang="en-US" altLang="zh-TW" sz="2400" b="1" dirty="0"/>
              <a:t>A</a:t>
            </a:r>
            <a:endParaRPr lang="en-US" altLang="zh-TW" sz="2000"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10FBF158-4B64-B52D-42B0-E9039BBF32B0}"/>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投資比特幣</a:t>
            </a:r>
            <a:endParaRPr lang="zh-TW" altLang="en-US" sz="2400" dirty="0"/>
          </a:p>
        </p:txBody>
      </p:sp>
    </p:spTree>
    <p:extLst>
      <p:ext uri="{BB962C8B-B14F-4D97-AF65-F5344CB8AC3E}">
        <p14:creationId xmlns:p14="http://schemas.microsoft.com/office/powerpoint/2010/main" val="131576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A91B7-98FF-8747-004E-C5A9A74E5271}"/>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BEBFE722-AC67-3288-F275-C503E873E930}"/>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比特幣礦工的角色主要是？</a:t>
            </a:r>
            <a:br>
              <a:rPr lang="zh-TW" altLang="en-US" sz="2400" dirty="0"/>
            </a:br>
            <a:r>
              <a:rPr lang="zh-TW" altLang="en-US" sz="2400" dirty="0"/>
              <a:t>　</a:t>
            </a:r>
            <a:r>
              <a:rPr lang="en-US" altLang="zh-TW" sz="2400" dirty="0"/>
              <a:t>A. </a:t>
            </a:r>
            <a:r>
              <a:rPr lang="zh-TW" altLang="en-US" sz="2400" dirty="0"/>
              <a:t>管理比特幣投資平台</a:t>
            </a:r>
            <a:br>
              <a:rPr lang="zh-TW" altLang="en-US" sz="2400" dirty="0"/>
            </a:br>
            <a:r>
              <a:rPr lang="zh-TW" altLang="en-US" sz="2400" dirty="0"/>
              <a:t>　</a:t>
            </a:r>
            <a:r>
              <a:rPr lang="en-US" altLang="zh-TW" sz="2400" dirty="0"/>
              <a:t>B. </a:t>
            </a:r>
            <a:r>
              <a:rPr lang="zh-TW" altLang="en-US" sz="2400" dirty="0"/>
              <a:t>分配比特幣給國家</a:t>
            </a:r>
            <a:br>
              <a:rPr lang="zh-TW" altLang="en-US" sz="2400" dirty="0"/>
            </a:br>
            <a:r>
              <a:rPr lang="zh-TW" altLang="en-US" sz="2400" dirty="0"/>
              <a:t>　</a:t>
            </a:r>
            <a:r>
              <a:rPr lang="en-US" altLang="zh-TW" sz="2400" dirty="0"/>
              <a:t>C. </a:t>
            </a:r>
            <a:r>
              <a:rPr lang="zh-TW" altLang="en-US" sz="2400" dirty="0"/>
              <a:t>驗證交易與維護區塊鏈運作</a:t>
            </a:r>
            <a:br>
              <a:rPr lang="zh-TW" altLang="en-US" sz="2400" dirty="0"/>
            </a:br>
            <a:r>
              <a:rPr lang="zh-TW" altLang="en-US" sz="2400" dirty="0"/>
              <a:t>　</a:t>
            </a:r>
            <a:r>
              <a:rPr lang="en-US" altLang="zh-TW" sz="2400" dirty="0"/>
              <a:t>D. </a:t>
            </a:r>
            <a:r>
              <a:rPr lang="zh-TW" altLang="en-US" sz="2400" dirty="0"/>
              <a:t>負責控制比特幣發行速度</a:t>
            </a:r>
            <a:br>
              <a:rPr lang="zh-TW" altLang="en-US" sz="2400" dirty="0"/>
            </a:br>
            <a:r>
              <a:rPr lang="zh-TW" altLang="en-US" sz="2400" dirty="0"/>
              <a:t>　</a:t>
            </a:r>
            <a:endParaRPr lang="en-US" altLang="zh-TW" sz="20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A5E0ED0F-897F-468A-5C7F-81E51AEF4DDC}"/>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投資比特幣</a:t>
            </a:r>
            <a:endParaRPr lang="zh-TW" altLang="en-US" sz="2400" dirty="0"/>
          </a:p>
        </p:txBody>
      </p:sp>
    </p:spTree>
    <p:extLst>
      <p:ext uri="{BB962C8B-B14F-4D97-AF65-F5344CB8AC3E}">
        <p14:creationId xmlns:p14="http://schemas.microsoft.com/office/powerpoint/2010/main" val="26109421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4371F-826F-18EC-F274-9FF2AC3B8D9C}"/>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AB3E79F-E7D1-47D2-8B8D-5A0CAEA1AF52}"/>
              </a:ext>
            </a:extLst>
          </p:cNvPr>
          <p:cNvSpPr txBox="1"/>
          <p:nvPr/>
        </p:nvSpPr>
        <p:spPr>
          <a:xfrm>
            <a:off x="556590" y="414085"/>
            <a:ext cx="9399577" cy="39022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zh-TW" altLang="en-US" sz="2400" dirty="0">
                <a:latin typeface="微軟正黑體" panose="020B0604030504040204" pitchFamily="34" charset="-120"/>
                <a:ea typeface="微軟正黑體" panose="020B0604030504040204" pitchFamily="34" charset="-120"/>
              </a:rPr>
              <a:t>課堂活動：</a:t>
            </a:r>
            <a:endParaRPr lang="en-US" altLang="zh-TW" sz="2400" dirty="0">
              <a:latin typeface="微軟正黑體" panose="020B0604030504040204" pitchFamily="34" charset="-120"/>
              <a:ea typeface="微軟正黑體" panose="020B0604030504040204" pitchFamily="34" charset="-120"/>
            </a:endParaRPr>
          </a:p>
          <a:p>
            <a:pPr marL="360000">
              <a:lnSpc>
                <a:spcPct val="150000"/>
              </a:lnSpc>
            </a:pPr>
            <a:r>
              <a:rPr lang="zh-TW" altLang="en-US" sz="2400" b="1" dirty="0"/>
              <a:t>比特幣礦工的角色主要是？</a:t>
            </a:r>
            <a:br>
              <a:rPr lang="zh-TW" altLang="en-US" sz="2400" dirty="0"/>
            </a:br>
            <a:r>
              <a:rPr lang="zh-TW" altLang="en-US" sz="2400" dirty="0"/>
              <a:t>　</a:t>
            </a:r>
            <a:r>
              <a:rPr lang="en-US" altLang="zh-TW" sz="2400" dirty="0"/>
              <a:t>A. </a:t>
            </a:r>
            <a:r>
              <a:rPr lang="zh-TW" altLang="en-US" sz="2400" dirty="0"/>
              <a:t>管理比特幣投資平台</a:t>
            </a:r>
            <a:br>
              <a:rPr lang="zh-TW" altLang="en-US" sz="2400" dirty="0"/>
            </a:br>
            <a:r>
              <a:rPr lang="zh-TW" altLang="en-US" sz="2400" dirty="0"/>
              <a:t>　</a:t>
            </a:r>
            <a:r>
              <a:rPr lang="en-US" altLang="zh-TW" sz="2400" dirty="0"/>
              <a:t>B. </a:t>
            </a:r>
            <a:r>
              <a:rPr lang="zh-TW" altLang="en-US" sz="2400" dirty="0"/>
              <a:t>分配比特幣給國家</a:t>
            </a:r>
            <a:br>
              <a:rPr lang="zh-TW" altLang="en-US" sz="2400" dirty="0"/>
            </a:br>
            <a:r>
              <a:rPr lang="zh-TW" altLang="en-US" sz="2400" dirty="0"/>
              <a:t>　</a:t>
            </a:r>
            <a:r>
              <a:rPr lang="en-US" altLang="zh-TW" sz="2400" dirty="0"/>
              <a:t>C. </a:t>
            </a:r>
            <a:r>
              <a:rPr lang="zh-TW" altLang="en-US" sz="2400" dirty="0"/>
              <a:t>驗證交易與維護區塊鏈運作</a:t>
            </a:r>
            <a:br>
              <a:rPr lang="zh-TW" altLang="en-US" sz="2400" dirty="0"/>
            </a:br>
            <a:r>
              <a:rPr lang="zh-TW" altLang="en-US" sz="2400" dirty="0"/>
              <a:t>　</a:t>
            </a:r>
            <a:r>
              <a:rPr lang="en-US" altLang="zh-TW" sz="2400" dirty="0"/>
              <a:t>D. </a:t>
            </a:r>
            <a:r>
              <a:rPr lang="zh-TW" altLang="en-US" sz="2400" dirty="0"/>
              <a:t>負責控制比特幣發行速度</a:t>
            </a:r>
            <a:br>
              <a:rPr lang="zh-TW" altLang="en-US" sz="2400" dirty="0"/>
            </a:br>
            <a:r>
              <a:rPr lang="zh-TW" altLang="en-US" sz="2400"/>
              <a:t>　 </a:t>
            </a:r>
            <a:r>
              <a:rPr lang="zh-TW" altLang="en-US" sz="2400" dirty="0"/>
              <a:t>正解：</a:t>
            </a:r>
            <a:r>
              <a:rPr lang="en-US" altLang="zh-TW" sz="2400" b="1" dirty="0"/>
              <a:t>C</a:t>
            </a:r>
            <a:endParaRPr lang="en-US" altLang="zh-TW" sz="2000"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A249E7A3-1D0F-32BB-FABC-F6157694A363}"/>
              </a:ext>
            </a:extLst>
          </p:cNvPr>
          <p:cNvSpPr txBox="1"/>
          <p:nvPr/>
        </p:nvSpPr>
        <p:spPr>
          <a:xfrm>
            <a:off x="10400267" y="979828"/>
            <a:ext cx="1700141" cy="1132298"/>
          </a:xfrm>
          <a:prstGeom prst="rect">
            <a:avLst/>
          </a:prstGeom>
          <a:noFill/>
        </p:spPr>
        <p:txBody>
          <a:bodyPr wrap="square" rtlCol="0">
            <a:spAutoFit/>
          </a:bodyPr>
          <a:lstStyle/>
          <a:p>
            <a:pPr>
              <a:lnSpc>
                <a:spcPct val="150000"/>
              </a:lnSpc>
            </a:pPr>
            <a:r>
              <a:rPr lang="zh-TW" altLang="en-US" sz="2400" dirty="0">
                <a:latin typeface="微軟正黑體" panose="020B0604030504040204" pitchFamily="34" charset="-120"/>
                <a:ea typeface="微軟正黑體" panose="020B0604030504040204" pitchFamily="34" charset="-120"/>
              </a:rPr>
              <a:t>投資比特幣</a:t>
            </a:r>
            <a:endParaRPr lang="zh-TW" altLang="en-US" sz="2400" dirty="0"/>
          </a:p>
        </p:txBody>
      </p:sp>
    </p:spTree>
    <p:extLst>
      <p:ext uri="{BB962C8B-B14F-4D97-AF65-F5344CB8AC3E}">
        <p14:creationId xmlns:p14="http://schemas.microsoft.com/office/powerpoint/2010/main" val="583022360"/>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Props1.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2.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556</TotalTime>
  <Words>5460</Words>
  <Application>Microsoft Office PowerPoint</Application>
  <PresentationFormat>寬螢幕</PresentationFormat>
  <Paragraphs>243</Paragraphs>
  <Slides>49</Slides>
  <Notes>19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49</vt:i4>
      </vt:variant>
    </vt:vector>
  </HeadingPairs>
  <TitlesOfParts>
    <vt:vector size="55" baseType="lpstr">
      <vt:lpstr>微軟正黑體</vt:lpstr>
      <vt:lpstr>Arial</vt:lpstr>
      <vt:lpstr>Calibri</vt:lpstr>
      <vt:lpstr>Segoe UI Light</vt:lpstr>
      <vt:lpstr>Wingdings</vt:lpstr>
      <vt:lpstr>Custom</vt:lpstr>
      <vt:lpstr>比特幣之歷史與貨幣</vt:lpstr>
      <vt:lpstr>課程主題</vt:lpstr>
      <vt:lpstr>第一部分：比特幣之發展</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第二部分：比特幣作為支付工具</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第三部分：投資比特幣</vt:lpstr>
      <vt:lpstr>比特幣指數ETF（Bitcoin Index ETF）</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Acer</dc:creator>
  <cp:lastModifiedBy>桂珍 邱</cp:lastModifiedBy>
  <cp:revision>28</cp:revision>
  <dcterms:created xsi:type="dcterms:W3CDTF">2021-05-30T14:58:49Z</dcterms:created>
  <dcterms:modified xsi:type="dcterms:W3CDTF">2026-10-26T08:11:15Z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